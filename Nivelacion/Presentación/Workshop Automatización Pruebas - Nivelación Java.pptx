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metadata/core-properties" Target="docProps/core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7772400" cy="100584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969" autoAdjust="0"/>
  </p:normalViewPr>
  <p:slideViewPr>
    <p:cSldViewPr snapToGrid="0" showGuides="1">
      <p:cViewPr varScale="1">
        <p:scale>
          <a:sx n="65" d="100"/>
          <a:sy n="65" d="100"/>
        </p:scale>
        <p:origin x="834" y="66"/>
      </p:cViewPr>
      <p:guideLst>
        <p:guide orient="horz" pos="2160"/>
        <p:guide pos="384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5B0C0CF5-12FE-4BF1-8840-F8E529D58F17}" type="datetimeFigureOut">
              <a:rPr lang="es-CO" smtClean="0"/>
              <a:t>23/11/2025</a:t>
            </a:fld>
            <a:endParaRPr lang="es-CO"/>
          </a:p>
        </p:txBody>
      </p:sp>
      <p:sp>
        <p:nvSpPr>
          <p:cNvPr id="4" name="Marcador de imagen de diapositiva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4FE8759D-4EE3-4B6A-B037-0972B1BD290E}" type="slidenum">
              <a:rPr lang="es-CO" smtClean="0"/>
              <a:t>‹Nº›</a:t>
            </a:fld>
            <a:endParaRPr lang="es-CO"/>
          </a:p>
        </p:txBody>
      </p:sp>
    </p:spTree>
    <p:extLst>
      <p:ext uri="{BB962C8B-B14F-4D97-AF65-F5344CB8AC3E}">
        <p14:creationId xmlns:p14="http://schemas.microsoft.com/office/powerpoint/2010/main" val="208463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1" dirty="0"/>
              <a:t>Introducción a la programación</a:t>
            </a:r>
            <a:endParaRPr lang="es-MX" dirty="0"/>
          </a:p>
          <a:p>
            <a:r>
              <a:rPr lang="es-MX" dirty="0"/>
              <a:t>La programación hace referencia al efecto de programar, es decir, organizar una secuencia de pasos ordenados que se deben seguir para realizar cierta tarea o alcanzar un objetivo. En otras palabras, programar implica planificar y estructurar acciones de manera lógica para que se ejecuten en un orden específico.</a:t>
            </a:r>
          </a:p>
          <a:p>
            <a:endParaRPr lang="es-MX" dirty="0"/>
          </a:p>
          <a:p>
            <a:r>
              <a:rPr lang="es-MX" dirty="0"/>
              <a:t>Este término no se limita únicamente al ámbito tecnológico; se utiliza en muchos contextos cotidianos. Por ejemplo, cuando decimos: </a:t>
            </a:r>
          </a:p>
          <a:p>
            <a:r>
              <a:rPr lang="es-MX" i="1" dirty="0"/>
              <a:t>-“Vamos a programar una salida para este fin de semana largo”</a:t>
            </a:r>
            <a:r>
              <a:rPr lang="es-MX" dirty="0"/>
              <a:t>, estamos organizando actividades para un momento determinado. </a:t>
            </a:r>
          </a:p>
          <a:p>
            <a:r>
              <a:rPr lang="es-MX" dirty="0"/>
              <a:t>De igual forma, cuando alguien comenta: </a:t>
            </a:r>
          </a:p>
          <a:p>
            <a:r>
              <a:rPr lang="es-MX" i="1" dirty="0"/>
              <a:t>-“La programación de ese canal de televisión está bien lograda”</a:t>
            </a:r>
            <a:r>
              <a:rPr lang="es-MX" dirty="0"/>
              <a:t>, se refiere a la planificación de contenidos en una parrilla de canales.</a:t>
            </a:r>
          </a:p>
          <a:p>
            <a:endParaRPr lang="es-MX" dirty="0"/>
          </a:p>
          <a:p>
            <a:r>
              <a:rPr lang="es-MX" dirty="0"/>
              <a:t>En el mundo del software, la programación aplica esta misma idea, pero con un enfoque más técnico: consiste en escribir instrucciones que una computadora pueda interpretar y ejecutar para resolver problemas o realizar tareas específicas. </a:t>
            </a:r>
          </a:p>
          <a:p>
            <a:r>
              <a:rPr lang="es-MX" dirty="0"/>
              <a:t>Estas instrucciones deben seguir una lógica clara y estar organizadas en secuencia, porque las máquinas no improvisan; simplemente ejecutan lo que se les indica.</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4</a:t>
            </a:fld>
            <a:endParaRPr lang="es-CO"/>
          </a:p>
        </p:txBody>
      </p:sp>
    </p:spTree>
    <p:extLst>
      <p:ext uri="{BB962C8B-B14F-4D97-AF65-F5344CB8AC3E}">
        <p14:creationId xmlns:p14="http://schemas.microsoft.com/office/powerpoint/2010/main" val="945521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1" dirty="0"/>
              <a:t>¿Qué se requiere para ser un buen programador?</a:t>
            </a:r>
            <a:endParaRPr lang="es-MX" dirty="0"/>
          </a:p>
          <a:p>
            <a:r>
              <a:rPr lang="es-MX" dirty="0"/>
              <a:t>Ser un buen programador no depende únicamente de conocer lenguajes de programación o dominar herramientas tecnológicas. Existen habilidades y actitudes esenciales que marcan la diferencia en este campo. Una de las más importantes es la </a:t>
            </a:r>
            <a:r>
              <a:rPr lang="es-MX" b="1" dirty="0"/>
              <a:t>curiosidad</a:t>
            </a:r>
            <a:r>
              <a:rPr lang="es-MX" dirty="0"/>
              <a:t>, ya que la programación implica explorar, investigar y comprender cómo funcionan las cosas para encontrar soluciones innovadoras.</a:t>
            </a:r>
          </a:p>
          <a:p>
            <a:r>
              <a:rPr lang="es-MX" dirty="0"/>
              <a:t>Otra habilidad clave es el </a:t>
            </a:r>
            <a:r>
              <a:rPr lang="es-MX" b="1" dirty="0"/>
              <a:t>análisis de problemas</a:t>
            </a:r>
            <a:r>
              <a:rPr lang="es-MX" dirty="0"/>
              <a:t>. Programar no es solo escribir código, sino entender el problema, descomponerlo en partes más pequeñas y diseñar una solución lógica y eficiente. Junto a esto, la </a:t>
            </a:r>
            <a:r>
              <a:rPr lang="es-MX" b="1" dirty="0"/>
              <a:t>interacción social</a:t>
            </a:r>
            <a:r>
              <a:rPr lang="es-MX" dirty="0"/>
              <a:t> juega un papel fundamental, porque el desarrollo de software suele ser un trabajo en equipo donde la comunicación clara y la colaboración son indispensables.</a:t>
            </a:r>
          </a:p>
          <a:p>
            <a:r>
              <a:rPr lang="es-MX" dirty="0"/>
              <a:t>La </a:t>
            </a:r>
            <a:r>
              <a:rPr lang="es-MX" b="1" dirty="0"/>
              <a:t>creatividad</a:t>
            </a:r>
            <a:r>
              <a:rPr lang="es-MX" dirty="0"/>
              <a:t> también es esencial. Aunque la programación se basa en lógica, muchas veces se requiere pensar de manera diferente para resolver problemas complejos o crear soluciones únicas. Además, el </a:t>
            </a:r>
            <a:r>
              <a:rPr lang="es-MX" b="1" dirty="0"/>
              <a:t>manejo del tiempo</a:t>
            </a:r>
            <a:r>
              <a:rPr lang="es-MX" dirty="0"/>
              <a:t> es crucial, ya que los proyectos tienen plazos y es necesario organizarse para cumplir objetivos sin sacrificar calidad.</a:t>
            </a:r>
          </a:p>
          <a:p>
            <a:r>
              <a:rPr lang="es-MX" dirty="0"/>
              <a:t>Finalmente, está el </a:t>
            </a:r>
            <a:r>
              <a:rPr lang="es-MX" b="1" dirty="0"/>
              <a:t>aprendizaje constante</a:t>
            </a:r>
            <a:r>
              <a:rPr lang="es-MX" dirty="0"/>
              <a:t>. La tecnología evoluciona rápidamente, por lo que un buen programador debe estar dispuesto a actualizar sus conocimientos, aprender nuevos lenguajes, herramientas y metodologías para mantenerse vigente en el mercado.</a:t>
            </a:r>
          </a:p>
          <a:p>
            <a:r>
              <a:rPr lang="es-MX" dirty="0"/>
              <a:t>En resumen, ser un buen programador es una combinación de habilidades técnicas y blandas, donde la curiosidad, el análisis, la creatividad, la comunicación, la organización y el aprendizaje continuo son pilares fundamentales.</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5</a:t>
            </a:fld>
            <a:endParaRPr lang="es-CO"/>
          </a:p>
        </p:txBody>
      </p:sp>
    </p:spTree>
    <p:extLst>
      <p:ext uri="{BB962C8B-B14F-4D97-AF65-F5344CB8AC3E}">
        <p14:creationId xmlns:p14="http://schemas.microsoft.com/office/powerpoint/2010/main" val="1205911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1" dirty="0"/>
              <a:t>Pilares de la Programación Orientada a Objetos (POO)</a:t>
            </a:r>
            <a:endParaRPr lang="es-MX" dirty="0"/>
          </a:p>
          <a:p>
            <a:r>
              <a:rPr lang="es-MX" dirty="0"/>
              <a:t>La Programación Orientada a Objetos (POO) es un paradigma que organiza el software en torno a objetos, los cuales combinan datos y comportamientos. Este enfoque facilita la reutilización, el mantenimiento y la escalabilidad del código. Para comprender POO, es fundamental conocer sus cuatro pilares principales:</a:t>
            </a:r>
          </a:p>
          <a:p>
            <a:r>
              <a:rPr lang="es-MX" b="1" dirty="0"/>
              <a:t>Abstracción</a:t>
            </a:r>
            <a:br>
              <a:rPr lang="es-MX" dirty="0"/>
            </a:br>
            <a:r>
              <a:rPr lang="es-MX" dirty="0"/>
              <a:t>La abstracción consiste en representar las características esenciales de un objeto, ocultando los detalles innecesarios. Esto permite centrarse en lo que realmente importa para resolver el problema, simplificando la complejidad del sistema.</a:t>
            </a:r>
          </a:p>
          <a:p>
            <a:r>
              <a:rPr lang="es-MX" b="1" dirty="0"/>
              <a:t>Encapsulamiento</a:t>
            </a:r>
            <a:br>
              <a:rPr lang="es-MX" dirty="0"/>
            </a:br>
            <a:r>
              <a:rPr lang="es-MX" dirty="0"/>
              <a:t>El encapsulamiento implica agrupar los datos y los métodos que operan sobre ellos dentro de una misma unidad: la clase. Además, protege la información mediante niveles de acceso, evitando que partes externas modifiquen el estado interno de manera indebida.</a:t>
            </a:r>
          </a:p>
          <a:p>
            <a:r>
              <a:rPr lang="es-MX" b="1" dirty="0"/>
              <a:t>Herencia</a:t>
            </a:r>
            <a:br>
              <a:rPr lang="es-MX" dirty="0"/>
            </a:br>
            <a:r>
              <a:rPr lang="es-MX" dirty="0"/>
              <a:t>La herencia permite que una clase pueda adquirir las propiedades y comportamientos de otra, promoviendo la reutilización del código y la creación de jerarquías lógicas. Gracias a esto, se pueden construir sistemas más organizados y fáciles de mantener.</a:t>
            </a:r>
          </a:p>
          <a:p>
            <a:r>
              <a:rPr lang="es-MX" b="1" dirty="0"/>
              <a:t>Polimorfismo</a:t>
            </a:r>
            <a:br>
              <a:rPr lang="es-MX" dirty="0"/>
            </a:br>
            <a:r>
              <a:rPr lang="es-MX" dirty="0"/>
              <a:t>El polimorfismo ofrece la capacidad de que un mismo método o función se comporte de manera diferente según el objeto que lo invoque. Esto aporta flexibilidad y facilita la extensión del sistema sin alterar su estructura básica.</a:t>
            </a:r>
          </a:p>
          <a:p>
            <a:r>
              <a:rPr lang="es-MX" dirty="0"/>
              <a:t>En conjunto, estos pilares hacen que la POO sea una herramienta poderosa para desarrollar aplicaciones robustas, modulares y escalables.</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6</a:t>
            </a:fld>
            <a:endParaRPr lang="es-CO"/>
          </a:p>
        </p:txBody>
      </p:sp>
    </p:spTree>
    <p:extLst>
      <p:ext uri="{BB962C8B-B14F-4D97-AF65-F5344CB8AC3E}">
        <p14:creationId xmlns:p14="http://schemas.microsoft.com/office/powerpoint/2010/main" val="1448488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Los principios SOLID son un conjunto de buenas prácticas diseñadas para mejorar la estructura y mantenibilidad del código en sistemas orientados a objetos. Cada letra de la palabra SOLID representa un principio fundamental:</a:t>
            </a:r>
          </a:p>
          <a:p>
            <a:r>
              <a:rPr lang="es-MX" b="1" dirty="0"/>
              <a:t>S – Single </a:t>
            </a:r>
            <a:r>
              <a:rPr lang="es-MX" b="1" dirty="0" err="1"/>
              <a:t>Responsibility</a:t>
            </a:r>
            <a:r>
              <a:rPr lang="es-MX" b="1" dirty="0"/>
              <a:t> </a:t>
            </a:r>
            <a:r>
              <a:rPr lang="es-MX" b="1" dirty="0" err="1"/>
              <a:t>Principle</a:t>
            </a:r>
            <a:r>
              <a:rPr lang="es-MX" b="1" dirty="0"/>
              <a:t> (Principio de Responsabilidad Única)</a:t>
            </a:r>
            <a:br>
              <a:rPr lang="es-MX" dirty="0"/>
            </a:br>
            <a:r>
              <a:rPr lang="es-MX" dirty="0"/>
              <a:t>Cada clase debe tener una única responsabilidad, es decir, una sola razón para cambiar. Esto evita que una clase se vuelva demasiado compleja y difícil de mantener.</a:t>
            </a:r>
          </a:p>
          <a:p>
            <a:r>
              <a:rPr lang="es-MX" b="1" dirty="0"/>
              <a:t>O – Open/</a:t>
            </a:r>
            <a:r>
              <a:rPr lang="es-MX" b="1" dirty="0" err="1"/>
              <a:t>Closed</a:t>
            </a:r>
            <a:r>
              <a:rPr lang="es-MX" b="1" dirty="0"/>
              <a:t> </a:t>
            </a:r>
            <a:r>
              <a:rPr lang="es-MX" b="1" dirty="0" err="1"/>
              <a:t>Principle</a:t>
            </a:r>
            <a:r>
              <a:rPr lang="es-MX" b="1" dirty="0"/>
              <a:t> (Principio de Abierto/Cerrado)</a:t>
            </a:r>
            <a:br>
              <a:rPr lang="es-MX" dirty="0"/>
            </a:br>
            <a:r>
              <a:rPr lang="es-MX" dirty="0"/>
              <a:t>Las clases deben estar abiertas para su extensión, pero cerradas para su modificación. Esto significa que podemos agregar nuevas funcionalidades sin alterar el código existente, reduciendo riesgos de errores.</a:t>
            </a:r>
          </a:p>
          <a:p>
            <a:r>
              <a:rPr lang="es-MX" b="1" dirty="0"/>
              <a:t>L – </a:t>
            </a:r>
            <a:r>
              <a:rPr lang="es-MX" b="1" dirty="0" err="1"/>
              <a:t>Liskov</a:t>
            </a:r>
            <a:r>
              <a:rPr lang="es-MX" b="1" dirty="0"/>
              <a:t> </a:t>
            </a:r>
            <a:r>
              <a:rPr lang="es-MX" b="1" dirty="0" err="1"/>
              <a:t>Substitution</a:t>
            </a:r>
            <a:r>
              <a:rPr lang="es-MX" b="1" dirty="0"/>
              <a:t> </a:t>
            </a:r>
            <a:r>
              <a:rPr lang="es-MX" b="1" dirty="0" err="1"/>
              <a:t>Principle</a:t>
            </a:r>
            <a:r>
              <a:rPr lang="es-MX" b="1" dirty="0"/>
              <a:t> (Principio de Sustitución de </a:t>
            </a:r>
            <a:r>
              <a:rPr lang="es-MX" b="1" dirty="0" err="1"/>
              <a:t>Liskov</a:t>
            </a:r>
            <a:r>
              <a:rPr lang="es-MX" b="1" dirty="0"/>
              <a:t>)</a:t>
            </a:r>
            <a:br>
              <a:rPr lang="es-MX" dirty="0"/>
            </a:br>
            <a:r>
              <a:rPr lang="es-MX" dirty="0"/>
              <a:t>Las clases derivadas deben poder sustituir a sus clases base sin alterar el comportamiento esperado del programa. Este principio garantiza la coherencia en la jerarquía de herencia.</a:t>
            </a:r>
          </a:p>
          <a:p>
            <a:r>
              <a:rPr lang="es-MX" b="1" dirty="0"/>
              <a:t>I – Interface </a:t>
            </a:r>
            <a:r>
              <a:rPr lang="es-MX" b="1" dirty="0" err="1"/>
              <a:t>Segregation</a:t>
            </a:r>
            <a:r>
              <a:rPr lang="es-MX" b="1" dirty="0"/>
              <a:t> </a:t>
            </a:r>
            <a:r>
              <a:rPr lang="es-MX" b="1" dirty="0" err="1"/>
              <a:t>Principle</a:t>
            </a:r>
            <a:r>
              <a:rPr lang="es-MX" b="1" dirty="0"/>
              <a:t> (Principio de Segregación de Interfaces)</a:t>
            </a:r>
            <a:br>
              <a:rPr lang="es-MX" dirty="0"/>
            </a:br>
            <a:r>
              <a:rPr lang="es-MX" dirty="0"/>
              <a:t>Es mejor tener interfaces específicas y pequeñas que una interfaz general y grande. Así, las clases solo implementan lo que realmente necesitan, evitando dependencias innecesarias.</a:t>
            </a:r>
          </a:p>
          <a:p>
            <a:r>
              <a:rPr lang="es-MX" b="1" dirty="0"/>
              <a:t>D – </a:t>
            </a:r>
            <a:r>
              <a:rPr lang="es-MX" b="1" dirty="0" err="1"/>
              <a:t>Dependency</a:t>
            </a:r>
            <a:r>
              <a:rPr lang="es-MX" b="1" dirty="0"/>
              <a:t> </a:t>
            </a:r>
            <a:r>
              <a:rPr lang="es-MX" b="1" dirty="0" err="1"/>
              <a:t>Inversion</a:t>
            </a:r>
            <a:r>
              <a:rPr lang="es-MX" b="1" dirty="0"/>
              <a:t> </a:t>
            </a:r>
            <a:r>
              <a:rPr lang="es-MX" b="1" dirty="0" err="1"/>
              <a:t>Principle</a:t>
            </a:r>
            <a:r>
              <a:rPr lang="es-MX" b="1" dirty="0"/>
              <a:t> (Principio de Inversión de Dependencias)</a:t>
            </a:r>
            <a:br>
              <a:rPr lang="es-MX" dirty="0"/>
            </a:br>
            <a:r>
              <a:rPr lang="es-MX" dirty="0"/>
              <a:t>Los módulos de alto nivel no deben depender de módulos de bajo nivel, sino de abstracciones. Esto promueve un diseño más flexible y desacoplado, facilitando cambios y pruebas.</a:t>
            </a:r>
          </a:p>
          <a:p>
            <a:r>
              <a:rPr lang="es-MX" dirty="0"/>
              <a:t>Aplicar estos principios ayuda a crear sistemas más robustos, escalables y fáciles de mantener, reduciendo la complejidad y mejorando la calidad del software.</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7</a:t>
            </a:fld>
            <a:endParaRPr lang="es-CO"/>
          </a:p>
        </p:txBody>
      </p:sp>
    </p:spTree>
    <p:extLst>
      <p:ext uri="{BB962C8B-B14F-4D97-AF65-F5344CB8AC3E}">
        <p14:creationId xmlns:p14="http://schemas.microsoft.com/office/powerpoint/2010/main" val="1743520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1" dirty="0"/>
              <a:t>Cohesión y Acoplamiento</a:t>
            </a:r>
          </a:p>
          <a:p>
            <a:r>
              <a:rPr lang="es-MX" dirty="0"/>
              <a:t>En el diseño de software, dos conceptos fundamentales son </a:t>
            </a:r>
            <a:r>
              <a:rPr lang="es-MX" b="1" dirty="0"/>
              <a:t>cohesión</a:t>
            </a:r>
            <a:r>
              <a:rPr lang="es-MX" dirty="0"/>
              <a:t> y </a:t>
            </a:r>
            <a:r>
              <a:rPr lang="es-MX" b="1" dirty="0"/>
              <a:t>acoplamiento</a:t>
            </a:r>
            <a:r>
              <a:rPr lang="es-MX" dirty="0"/>
              <a:t>, ya que influyen directamente en la calidad, mantenibilidad y escalabilidad del código.</a:t>
            </a:r>
          </a:p>
          <a:p>
            <a:endParaRPr lang="es-MX" b="1" dirty="0"/>
          </a:p>
          <a:p>
            <a:r>
              <a:rPr lang="es-MX" b="1" dirty="0"/>
              <a:t>¿Qué es el acoplamiento?</a:t>
            </a:r>
          </a:p>
          <a:p>
            <a:r>
              <a:rPr lang="es-MX" dirty="0"/>
              <a:t>El acoplamiento se refiere al grado en que los módulos de un programa dependen unos de otros. Si para modificar un módulo es necesario cambiar otro, existe un alto acoplamiento. Esto puede generar problemas porque cualquier cambio pequeño puede afectar varias partes del sistema.</a:t>
            </a:r>
          </a:p>
          <a:p>
            <a:r>
              <a:rPr lang="es-MX" b="1" dirty="0"/>
              <a:t>Ejemplo práctico:</a:t>
            </a:r>
            <a:br>
              <a:rPr lang="es-MX" dirty="0"/>
            </a:br>
            <a:r>
              <a:rPr lang="es-MX" dirty="0"/>
              <a:t>Imagina dos clases:</a:t>
            </a:r>
          </a:p>
          <a:p>
            <a:r>
              <a:rPr lang="es-MX" sz="1200" kern="1200" dirty="0" err="1">
                <a:solidFill>
                  <a:schemeClr val="tx1"/>
                </a:solidFill>
                <a:latin typeface="+mn-lt"/>
                <a:ea typeface="+mn-ea"/>
                <a:cs typeface="+mn-cs"/>
              </a:rPr>
              <a:t>ClaseFactura</a:t>
            </a:r>
            <a:r>
              <a:rPr lang="es-MX" dirty="0"/>
              <a:t> que calcula el total de una factura.</a:t>
            </a:r>
          </a:p>
          <a:p>
            <a:r>
              <a:rPr lang="es-MX" sz="1200" kern="1200" dirty="0" err="1">
                <a:solidFill>
                  <a:schemeClr val="tx1"/>
                </a:solidFill>
                <a:latin typeface="+mn-lt"/>
                <a:ea typeface="+mn-ea"/>
                <a:cs typeface="+mn-cs"/>
              </a:rPr>
              <a:t>ClaseCliente</a:t>
            </a:r>
            <a:r>
              <a:rPr lang="es-MX" dirty="0"/>
              <a:t> que almacena datos del cliente.</a:t>
            </a:r>
          </a:p>
          <a:p>
            <a:r>
              <a:rPr lang="es-MX" dirty="0"/>
              <a:t>Si </a:t>
            </a:r>
            <a:r>
              <a:rPr lang="es-MX" sz="1200" kern="1200" dirty="0" err="1">
                <a:solidFill>
                  <a:schemeClr val="tx1"/>
                </a:solidFill>
                <a:latin typeface="+mn-lt"/>
                <a:ea typeface="+mn-ea"/>
                <a:cs typeface="+mn-cs"/>
              </a:rPr>
              <a:t>ClaseFactura</a:t>
            </a:r>
            <a:r>
              <a:rPr lang="es-MX" dirty="0"/>
              <a:t> accede directamente a los atributos internos de </a:t>
            </a:r>
            <a:r>
              <a:rPr lang="es-MX" sz="1200" kern="1200" dirty="0" err="1">
                <a:solidFill>
                  <a:schemeClr val="tx1"/>
                </a:solidFill>
                <a:latin typeface="+mn-lt"/>
                <a:ea typeface="+mn-ea"/>
                <a:cs typeface="+mn-cs"/>
              </a:rPr>
              <a:t>ClaseCliente</a:t>
            </a:r>
            <a:r>
              <a:rPr lang="es-MX" dirty="0"/>
              <a:t> para calcular descuentos, hay un acoplamiento fuerte. Si cambias la estructura de </a:t>
            </a:r>
            <a:r>
              <a:rPr lang="es-MX" sz="1200" kern="1200" dirty="0" err="1">
                <a:solidFill>
                  <a:schemeClr val="tx1"/>
                </a:solidFill>
                <a:latin typeface="+mn-lt"/>
                <a:ea typeface="+mn-ea"/>
                <a:cs typeface="+mn-cs"/>
              </a:rPr>
              <a:t>ClaseCliente</a:t>
            </a:r>
            <a:r>
              <a:rPr lang="es-MX" dirty="0"/>
              <a:t>, también tendrás que modificar </a:t>
            </a:r>
            <a:r>
              <a:rPr lang="es-MX" sz="1200" kern="1200" dirty="0" err="1">
                <a:solidFill>
                  <a:schemeClr val="tx1"/>
                </a:solidFill>
                <a:latin typeface="+mn-lt"/>
                <a:ea typeface="+mn-ea"/>
                <a:cs typeface="+mn-cs"/>
              </a:rPr>
              <a:t>ClaseFactura</a:t>
            </a:r>
            <a:r>
              <a:rPr lang="es-MX" dirty="0"/>
              <a:t>.</a:t>
            </a:r>
            <a:br>
              <a:rPr lang="es-MX" dirty="0"/>
            </a:br>
            <a:r>
              <a:rPr lang="es-MX" b="1" dirty="0"/>
              <a:t>Solución:</a:t>
            </a:r>
            <a:r>
              <a:rPr lang="es-MX" dirty="0"/>
              <a:t> usar métodos públicos (</a:t>
            </a:r>
            <a:r>
              <a:rPr lang="es-MX" dirty="0" err="1"/>
              <a:t>getters</a:t>
            </a:r>
            <a:r>
              <a:rPr lang="es-MX" dirty="0"/>
              <a:t>) o interfaces para reducir la dependencia.</a:t>
            </a:r>
          </a:p>
          <a:p>
            <a:br>
              <a:rPr lang="es-MX" dirty="0"/>
            </a:br>
            <a:endParaRPr lang="es-MX" dirty="0"/>
          </a:p>
          <a:p>
            <a:r>
              <a:rPr lang="es-MX" b="1" dirty="0"/>
              <a:t>¿Qué es la cohesión?</a:t>
            </a:r>
          </a:p>
          <a:p>
            <a:r>
              <a:rPr lang="es-MX" dirty="0"/>
              <a:t>La cohesión indica qué tan relacionadas están las responsabilidades dentro de un módulo. Un módulo con alta cohesión realiza tareas que tienen un propósito común, mientras que uno con baja cohesión mezcla funciones que no están directamente relacionadas.</a:t>
            </a:r>
          </a:p>
          <a:p>
            <a:r>
              <a:rPr lang="es-MX" b="1" dirty="0"/>
              <a:t>Ejemplo práctico:</a:t>
            </a:r>
            <a:br>
              <a:rPr lang="es-MX" dirty="0"/>
            </a:br>
            <a:r>
              <a:rPr lang="es-MX" dirty="0"/>
              <a:t>Supongamos una clase </a:t>
            </a:r>
            <a:r>
              <a:rPr lang="es-MX" sz="1200" kern="1200" dirty="0" err="1">
                <a:solidFill>
                  <a:schemeClr val="tx1"/>
                </a:solidFill>
                <a:latin typeface="+mn-lt"/>
                <a:ea typeface="+mn-ea"/>
                <a:cs typeface="+mn-cs"/>
              </a:rPr>
              <a:t>ClaseArchivo</a:t>
            </a:r>
            <a:r>
              <a:rPr lang="es-MX" dirty="0"/>
              <a:t> que:</a:t>
            </a:r>
          </a:p>
          <a:p>
            <a:r>
              <a:rPr lang="es-MX" dirty="0"/>
              <a:t>Lee datos de un archivo.</a:t>
            </a:r>
          </a:p>
          <a:p>
            <a:r>
              <a:rPr lang="es-MX" dirty="0"/>
              <a:t>Calcula estadísticas.</a:t>
            </a:r>
          </a:p>
          <a:p>
            <a:r>
              <a:rPr lang="es-MX" dirty="0"/>
              <a:t>Envía correos con los resultados.</a:t>
            </a:r>
          </a:p>
          <a:p>
            <a:r>
              <a:rPr lang="es-MX" dirty="0"/>
              <a:t>Esta clase tiene </a:t>
            </a:r>
            <a:r>
              <a:rPr lang="es-MX" b="1" dirty="0"/>
              <a:t>baja cohesión</a:t>
            </a:r>
            <a:r>
              <a:rPr lang="es-MX" dirty="0"/>
              <a:t>, porque mezcla operaciones de lectura, cálculo y comunicación.</a:t>
            </a:r>
            <a:br>
              <a:rPr lang="es-MX" dirty="0"/>
            </a:br>
            <a:r>
              <a:rPr lang="es-MX" b="1" dirty="0"/>
              <a:t>Solución:</a:t>
            </a:r>
            <a:r>
              <a:rPr lang="es-MX" dirty="0"/>
              <a:t> dividirla en tres clases: </a:t>
            </a:r>
            <a:r>
              <a:rPr lang="es-MX" sz="1200" kern="1200" dirty="0" err="1">
                <a:solidFill>
                  <a:schemeClr val="tx1"/>
                </a:solidFill>
                <a:latin typeface="+mn-lt"/>
                <a:ea typeface="+mn-ea"/>
                <a:cs typeface="+mn-cs"/>
              </a:rPr>
              <a:t>LectorArchivo</a:t>
            </a:r>
            <a:r>
              <a:rPr lang="es-MX" dirty="0"/>
              <a:t>, </a:t>
            </a:r>
            <a:r>
              <a:rPr lang="es-MX" sz="1200" kern="1200" dirty="0" err="1">
                <a:solidFill>
                  <a:schemeClr val="tx1"/>
                </a:solidFill>
                <a:latin typeface="+mn-lt"/>
                <a:ea typeface="+mn-ea"/>
                <a:cs typeface="+mn-cs"/>
              </a:rPr>
              <a:t>CalculadorEstadisticas</a:t>
            </a:r>
            <a:r>
              <a:rPr lang="es-MX" dirty="0"/>
              <a:t> y </a:t>
            </a:r>
            <a:r>
              <a:rPr lang="es-MX" sz="1200" kern="1200" dirty="0" err="1">
                <a:solidFill>
                  <a:schemeClr val="tx1"/>
                </a:solidFill>
                <a:latin typeface="+mn-lt"/>
                <a:ea typeface="+mn-ea"/>
                <a:cs typeface="+mn-cs"/>
              </a:rPr>
              <a:t>NotificadorCorreo</a:t>
            </a:r>
            <a:r>
              <a:rPr lang="es-MX" dirty="0"/>
              <a:t>. Cada una con una responsabilidad clara.</a:t>
            </a:r>
          </a:p>
          <a:p>
            <a:endParaRPr lang="es-MX" dirty="0"/>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8</a:t>
            </a:fld>
            <a:endParaRPr lang="es-CO"/>
          </a:p>
        </p:txBody>
      </p:sp>
    </p:spTree>
    <p:extLst>
      <p:ext uri="{BB962C8B-B14F-4D97-AF65-F5344CB8AC3E}">
        <p14:creationId xmlns:p14="http://schemas.microsoft.com/office/powerpoint/2010/main" val="831911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1" dirty="0"/>
              <a:t>En resumen:</a:t>
            </a:r>
            <a:endParaRPr lang="es-MX" dirty="0"/>
          </a:p>
          <a:p>
            <a:r>
              <a:rPr lang="es-MX" b="1" dirty="0"/>
              <a:t>Alta cohesión</a:t>
            </a:r>
            <a:r>
              <a:rPr lang="es-MX" dirty="0"/>
              <a:t> = cada módulo tiene una única responsabilidad clara.</a:t>
            </a:r>
          </a:p>
          <a:p>
            <a:r>
              <a:rPr lang="es-MX" b="1" dirty="0"/>
              <a:t>Bajo acoplamiento</a:t>
            </a:r>
            <a:r>
              <a:rPr lang="es-MX" dirty="0"/>
              <a:t> = los módulos dependen lo menos posible entre sí.</a:t>
            </a:r>
          </a:p>
          <a:p>
            <a:r>
              <a:rPr lang="es-MX" dirty="0"/>
              <a:t>Aplicar estos principios mejora la modularidad y facilita el mantenimiento del software.</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9</a:t>
            </a:fld>
            <a:endParaRPr lang="es-CO"/>
          </a:p>
        </p:txBody>
      </p:sp>
    </p:spTree>
    <p:extLst>
      <p:ext uri="{BB962C8B-B14F-4D97-AF65-F5344CB8AC3E}">
        <p14:creationId xmlns:p14="http://schemas.microsoft.com/office/powerpoint/2010/main" val="3443655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1" dirty="0"/>
              <a:t>Comentario sobre buenas prácticas en programación</a:t>
            </a:r>
            <a:endParaRPr lang="es-MX" dirty="0"/>
          </a:p>
          <a:p>
            <a:r>
              <a:rPr lang="es-MX" dirty="0"/>
              <a:t>Para desarrollar software de calidad, es fundamental seguir buenas prácticas que faciliten la organización, el mantenimiento y la seguridad del código.</a:t>
            </a:r>
          </a:p>
          <a:p>
            <a:r>
              <a:rPr lang="es-MX" dirty="0"/>
              <a:t>1-Define bien qué se necesita y cuál es el alcance para evitar confusiones.</a:t>
            </a:r>
          </a:p>
          <a:p>
            <a:r>
              <a:rPr lang="es-MX" dirty="0"/>
              <a:t>2-Divide el trabajo en partes pequeñas para avanzar de forma ordenada.</a:t>
            </a:r>
          </a:p>
          <a:p>
            <a:r>
              <a:rPr lang="es-MX" dirty="0"/>
              <a:t>3-Usa un IDE que facilite tu desarrollo y se ajuste a tu proyecto.</a:t>
            </a:r>
          </a:p>
          <a:p>
            <a:r>
              <a:rPr lang="es-MX" dirty="0"/>
              <a:t>4-Mantén reglas claras para escribir código consistente.</a:t>
            </a:r>
          </a:p>
          <a:p>
            <a:r>
              <a:rPr lang="es-MX" dirty="0"/>
              <a:t>5-No repitas código; reutiliza funciones y evita duplicaciones.</a:t>
            </a:r>
          </a:p>
          <a:p>
            <a:r>
              <a:rPr lang="es-MX" dirty="0"/>
              <a:t>6-Aprovecha librerías y módulos existentes en lugar de crear todo desde cero.</a:t>
            </a:r>
          </a:p>
          <a:p>
            <a:r>
              <a:rPr lang="es-MX" dirty="0"/>
              <a:t>7-Agrega comentarios para que el código sea fácil de entender y mantener.</a:t>
            </a:r>
          </a:p>
          <a:p>
            <a:r>
              <a:rPr lang="es-MX" dirty="0"/>
              <a:t>8-Separa el problema en componentes simples para resolverlo mejor.</a:t>
            </a:r>
          </a:p>
          <a:p>
            <a:r>
              <a:rPr lang="es-MX" dirty="0"/>
              <a:t>9-Prueba el código para detectar errores antes de entregar.</a:t>
            </a:r>
          </a:p>
          <a:p>
            <a:r>
              <a:rPr lang="es-MX" dirty="0"/>
              <a:t>10-Mejora el rendimiento sin perder claridad en la lógica.</a:t>
            </a:r>
          </a:p>
          <a:p>
            <a:r>
              <a:rPr lang="es-MX" dirty="0"/>
              <a:t>11-Protege datos y accesos, evita vulnerabilidades y usa cifrado.</a:t>
            </a:r>
          </a:p>
          <a:p>
            <a:r>
              <a:rPr lang="es-MX" dirty="0"/>
              <a:t>12-Documenta el proyecto para que otros puedan comprenderlo y mantenerlo.</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10</a:t>
            </a:fld>
            <a:endParaRPr lang="es-CO"/>
          </a:p>
        </p:txBody>
      </p:sp>
    </p:spTree>
    <p:extLst>
      <p:ext uri="{BB962C8B-B14F-4D97-AF65-F5344CB8AC3E}">
        <p14:creationId xmlns:p14="http://schemas.microsoft.com/office/powerpoint/2010/main" val="2858458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“Cuando hablamos de buenas prácticas en programación, no se trata solo de escribir código que funcione, sino de hacerlo de manera organizada y sostenible. </a:t>
            </a:r>
          </a:p>
          <a:p>
            <a:r>
              <a:rPr lang="es-MX" dirty="0"/>
              <a:t>Estas 12 prácticas nos ayudan a seguir una metodología clara que garantiza calidad y eficiencia en el desarrollo.</a:t>
            </a:r>
          </a:p>
          <a:p>
            <a:r>
              <a:rPr lang="es-MX" dirty="0"/>
              <a:t>¿Por qué son importantes? </a:t>
            </a:r>
          </a:p>
          <a:p>
            <a:r>
              <a:rPr lang="es-MX" dirty="0"/>
              <a:t>Porque nos permiten obtener beneficios concretos. </a:t>
            </a:r>
          </a:p>
          <a:p>
            <a:r>
              <a:rPr lang="es-MX" dirty="0"/>
              <a:t>- El primero es </a:t>
            </a:r>
            <a:r>
              <a:rPr lang="es-MX" b="1" dirty="0"/>
              <a:t>facilitar el mantenimiento</a:t>
            </a:r>
            <a:r>
              <a:rPr lang="es-MX" dirty="0"/>
              <a:t>: cuando el código está bien estructurado y documentado, cualquier actualización o corrección se hace más rápido y con menos riesgo.</a:t>
            </a:r>
          </a:p>
          <a:p>
            <a:r>
              <a:rPr lang="es-MX" dirty="0"/>
              <a:t>- El segundo beneficio es </a:t>
            </a:r>
            <a:r>
              <a:rPr lang="es-MX" b="1" dirty="0"/>
              <a:t>la escalabilidad</a:t>
            </a:r>
            <a:r>
              <a:rPr lang="es-MX" dirty="0"/>
              <a:t>: si diseñamos una arquitectura flexible, el proyecto puede crecer sin comprometer la calidad, algo esencial en sistemas que evolucionan constantemente.</a:t>
            </a:r>
          </a:p>
          <a:p>
            <a:r>
              <a:rPr lang="es-MX" dirty="0"/>
              <a:t>- Y el tercero es </a:t>
            </a:r>
            <a:r>
              <a:rPr lang="es-MX" b="1" dirty="0"/>
              <a:t>facilitar el testeo y la resolución de errores</a:t>
            </a:r>
            <a:r>
              <a:rPr lang="es-MX" dirty="0"/>
              <a:t>: un código modular nos ayuda a identificar y corregir problemas de forma más sencilla, reduciendo tiempos y evitando fallos en producción.</a:t>
            </a:r>
          </a:p>
          <a:p>
            <a:endParaRPr lang="es-MX" dirty="0"/>
          </a:p>
          <a:p>
            <a:r>
              <a:rPr lang="es-MX" dirty="0"/>
              <a:t>En resumen, aplicar estas prácticas no solo mejora la calidad del software, sino que también optimiza el trabajo en equipo y reduce costos a largo plazo. Como dice Robert C. Martin, uno de los referentes en este tema, escribir código limpio es una inversión que siempre vale la pena.”</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11</a:t>
            </a:fld>
            <a:endParaRPr lang="es-CO"/>
          </a:p>
        </p:txBody>
      </p:sp>
    </p:spTree>
    <p:extLst>
      <p:ext uri="{BB962C8B-B14F-4D97-AF65-F5344CB8AC3E}">
        <p14:creationId xmlns:p14="http://schemas.microsoft.com/office/powerpoint/2010/main" val="537969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“Ahora hablemos de </a:t>
            </a:r>
            <a:r>
              <a:rPr lang="es-MX" b="1" dirty="0"/>
              <a:t>patrones de diseño</a:t>
            </a:r>
            <a:r>
              <a:rPr lang="es-MX" dirty="0"/>
              <a:t>. </a:t>
            </a:r>
          </a:p>
          <a:p>
            <a:r>
              <a:rPr lang="es-MX" dirty="0"/>
              <a:t>¿Qué son? </a:t>
            </a:r>
          </a:p>
          <a:p>
            <a:r>
              <a:rPr lang="es-MX" dirty="0"/>
              <a:t>Son soluciones generales y reutilizables para problemas que se presentan con frecuencia en el desarrollo de software. En otras palabras, no son código listo para copiar y pegar, sino una plantilla o guía que nos indica cómo resolver un problema de manera eficiente y consistente.</a:t>
            </a:r>
          </a:p>
          <a:p>
            <a:r>
              <a:rPr lang="es-MX" dirty="0"/>
              <a:t>¿Por qué son importantes? </a:t>
            </a:r>
          </a:p>
          <a:p>
            <a:r>
              <a:rPr lang="es-MX" dirty="0"/>
              <a:t>Porque nos permiten trabajar con estándares probados por la comunidad, lo que reduce riesgos y asegura calidad. Además, los patrones son </a:t>
            </a:r>
            <a:r>
              <a:rPr lang="es-MX" b="1" dirty="0"/>
              <a:t>expresivos</a:t>
            </a:r>
            <a:r>
              <a:rPr lang="es-MX" dirty="0"/>
              <a:t>, ya que comunican claramente la intención del diseño, facilitando la comprensión entre desarrolladores. Y lo más valioso: hacen que el código sea </a:t>
            </a:r>
            <a:r>
              <a:rPr lang="es-MX" b="1" dirty="0"/>
              <a:t>más fácil de mantener</a:t>
            </a:r>
            <a:r>
              <a:rPr lang="es-MX" dirty="0"/>
              <a:t>, porque simplifican la estructura y promueven buenas prácticas.</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12</a:t>
            </a:fld>
            <a:endParaRPr lang="es-CO"/>
          </a:p>
        </p:txBody>
      </p:sp>
    </p:spTree>
    <p:extLst>
      <p:ext uri="{BB962C8B-B14F-4D97-AF65-F5344CB8AC3E}">
        <p14:creationId xmlns:p14="http://schemas.microsoft.com/office/powerpoint/2010/main" val="2450959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Se clasifican en tres tipos principales:</a:t>
            </a:r>
          </a:p>
          <a:p>
            <a:r>
              <a:rPr lang="es-MX" b="1" dirty="0"/>
              <a:t>Patrones Creacionales</a:t>
            </a:r>
            <a:br>
              <a:rPr lang="es-MX" dirty="0"/>
            </a:br>
            <a:r>
              <a:rPr lang="es-MX" dirty="0"/>
              <a:t>Estos nos ayudan a crear objetos de manera eficiente. Por ejemplo, el patrón </a:t>
            </a:r>
            <a:r>
              <a:rPr lang="es-MX" i="1" dirty="0" err="1"/>
              <a:t>Singleton</a:t>
            </a:r>
            <a:r>
              <a:rPr lang="es-MX" dirty="0"/>
              <a:t> asegura que solo exista una única instancia de un objeto en todo el sistema.</a:t>
            </a:r>
          </a:p>
          <a:p>
            <a:r>
              <a:rPr lang="es-MX" b="1" dirty="0"/>
              <a:t>Patrones Estructurales</a:t>
            </a:r>
            <a:br>
              <a:rPr lang="es-MX" dirty="0"/>
            </a:br>
            <a:r>
              <a:rPr lang="es-MX" dirty="0"/>
              <a:t>Se enfocan en cómo se organizan y conectan los objetos. Un ejemplo es el patrón </a:t>
            </a:r>
            <a:r>
              <a:rPr lang="es-MX" i="1" dirty="0" err="1"/>
              <a:t>Adapter</a:t>
            </a:r>
            <a:r>
              <a:rPr lang="es-MX" dirty="0"/>
              <a:t>, que permite que dos componentes que no son compatibles trabajen juntos.</a:t>
            </a:r>
          </a:p>
          <a:p>
            <a:r>
              <a:rPr lang="es-MX" b="1" dirty="0"/>
              <a:t>Patrones de Comportamiento</a:t>
            </a:r>
            <a:br>
              <a:rPr lang="es-MX" dirty="0"/>
            </a:br>
            <a:r>
              <a:rPr lang="es-MX" dirty="0"/>
              <a:t>Mejoran la comunicación entre los objetos. Por ejemplo, el patrón </a:t>
            </a:r>
            <a:r>
              <a:rPr lang="es-MX" i="1" dirty="0" err="1"/>
              <a:t>Observer</a:t>
            </a:r>
            <a:r>
              <a:rPr lang="es-MX" dirty="0"/>
              <a:t> permite que varios objetos estén atentos a los cambios de otro objeto y reaccionen automáticamente.</a:t>
            </a:r>
          </a:p>
          <a:p>
            <a:endParaRPr lang="es-MX" dirty="0"/>
          </a:p>
          <a:p>
            <a:r>
              <a:rPr lang="es-MX" dirty="0"/>
              <a:t>En resumen, los patrones de diseño son como recetas que nos ayudan a resolver problemas de forma ordenada y probada, haciendo que el código sea más fácil de entender y mantener.”</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14</a:t>
            </a:fld>
            <a:endParaRPr lang="es-CO"/>
          </a:p>
        </p:txBody>
      </p:sp>
    </p:spTree>
    <p:extLst>
      <p:ext uri="{BB962C8B-B14F-4D97-AF65-F5344CB8AC3E}">
        <p14:creationId xmlns:p14="http://schemas.microsoft.com/office/powerpoint/2010/main" val="3624985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desarrollo de software existen diferentes modelos que nos ayudan a escribir código más confiable y organizado. Los tres más conocidos son </a:t>
            </a:r>
            <a:r>
              <a:rPr lang="es-MX" b="1" dirty="0"/>
              <a:t>TDD</a:t>
            </a:r>
            <a:r>
              <a:rPr lang="es-MX" dirty="0"/>
              <a:t>, </a:t>
            </a:r>
            <a:r>
              <a:rPr lang="es-MX" b="1" dirty="0"/>
              <a:t>BDD</a:t>
            </a:r>
            <a:r>
              <a:rPr lang="es-MX" dirty="0"/>
              <a:t> y </a:t>
            </a:r>
            <a:r>
              <a:rPr lang="es-MX" b="1" dirty="0"/>
              <a:t>ATDD</a:t>
            </a:r>
            <a:r>
              <a:rPr lang="es-MX" dirty="0"/>
              <a:t>.</a:t>
            </a:r>
          </a:p>
          <a:p>
            <a:endParaRPr lang="es-MX" b="1" dirty="0"/>
          </a:p>
          <a:p>
            <a:r>
              <a:rPr lang="es-MX" b="1" dirty="0"/>
              <a:t>TDD (Test </a:t>
            </a:r>
            <a:r>
              <a:rPr lang="es-MX" b="1" dirty="0" err="1"/>
              <a:t>Driven</a:t>
            </a:r>
            <a:r>
              <a:rPr lang="es-MX" b="1" dirty="0"/>
              <a:t> </a:t>
            </a:r>
            <a:r>
              <a:rPr lang="es-MX" b="1" dirty="0" err="1"/>
              <a:t>Development</a:t>
            </a:r>
            <a:r>
              <a:rPr lang="es-MX" b="1" dirty="0"/>
              <a:t>)</a:t>
            </a:r>
            <a:br>
              <a:rPr lang="es-MX" dirty="0"/>
            </a:br>
            <a:r>
              <a:rPr lang="es-MX" dirty="0"/>
              <a:t>Este modelo consiste en escribir primero una prueba que falla porque la funcionalidad aún no existe. Luego, se desarrolla el código mínimo necesario para que la prueba pase y finalmente se refactoriza para mejorar la calidad.</a:t>
            </a:r>
            <a:br>
              <a:rPr lang="es-MX" dirty="0"/>
            </a:br>
            <a:r>
              <a:rPr lang="es-MX" b="1" dirty="0"/>
              <a:t>Ejemplo sencillo:</a:t>
            </a:r>
            <a:r>
              <a:rPr lang="es-MX" dirty="0"/>
              <a:t> Imagina que queremos una función que sume dos números. Primero escribimos una prueba: </a:t>
            </a:r>
            <a:r>
              <a:rPr lang="es-MX" sz="1200" kern="1200" dirty="0">
                <a:solidFill>
                  <a:schemeClr val="tx1"/>
                </a:solidFill>
                <a:latin typeface="+mn-lt"/>
                <a:ea typeface="+mn-ea"/>
                <a:cs typeface="+mn-cs"/>
              </a:rPr>
              <a:t>sumar(2,3)</a:t>
            </a:r>
            <a:r>
              <a:rPr lang="es-MX" dirty="0"/>
              <a:t> debe devolver </a:t>
            </a:r>
            <a:r>
              <a:rPr lang="es-MX" sz="1200" kern="1200" dirty="0">
                <a:solidFill>
                  <a:schemeClr val="tx1"/>
                </a:solidFill>
                <a:latin typeface="+mn-lt"/>
                <a:ea typeface="+mn-ea"/>
                <a:cs typeface="+mn-cs"/>
              </a:rPr>
              <a:t>5</a:t>
            </a:r>
            <a:r>
              <a:rPr lang="es-MX" dirty="0"/>
              <a:t>. Como no existe la función, la prueba falla. Creamos la función </a:t>
            </a:r>
            <a:r>
              <a:rPr lang="es-MX" sz="1200" kern="1200" dirty="0">
                <a:solidFill>
                  <a:schemeClr val="tx1"/>
                </a:solidFill>
                <a:latin typeface="+mn-lt"/>
                <a:ea typeface="+mn-ea"/>
                <a:cs typeface="+mn-cs"/>
              </a:rPr>
              <a:t>sumar(</a:t>
            </a:r>
            <a:r>
              <a:rPr lang="es-MX" sz="1200" kern="1200" dirty="0" err="1">
                <a:solidFill>
                  <a:schemeClr val="tx1"/>
                </a:solidFill>
                <a:latin typeface="+mn-lt"/>
                <a:ea typeface="+mn-ea"/>
                <a:cs typeface="+mn-cs"/>
              </a:rPr>
              <a:t>a,b</a:t>
            </a:r>
            <a:r>
              <a:rPr lang="es-MX" sz="1200" kern="1200" dirty="0">
                <a:solidFill>
                  <a:schemeClr val="tx1"/>
                </a:solidFill>
                <a:latin typeface="+mn-lt"/>
                <a:ea typeface="+mn-ea"/>
                <a:cs typeface="+mn-cs"/>
              </a:rPr>
              <a:t>)</a:t>
            </a:r>
            <a:r>
              <a:rPr lang="es-MX" dirty="0"/>
              <a:t> que retorna </a:t>
            </a:r>
            <a:r>
              <a:rPr lang="es-MX" sz="1200" kern="1200" dirty="0" err="1">
                <a:solidFill>
                  <a:schemeClr val="tx1"/>
                </a:solidFill>
                <a:latin typeface="+mn-lt"/>
                <a:ea typeface="+mn-ea"/>
                <a:cs typeface="+mn-cs"/>
              </a:rPr>
              <a:t>a+b</a:t>
            </a:r>
            <a:r>
              <a:rPr lang="es-MX" dirty="0"/>
              <a:t>. Ahora la prueba pasa y podemos mejorar el código si es necesario.</a:t>
            </a:r>
          </a:p>
          <a:p>
            <a:endParaRPr lang="es-MX" b="1" dirty="0"/>
          </a:p>
          <a:p>
            <a:r>
              <a:rPr lang="es-MX" b="1" dirty="0"/>
              <a:t>BDD (</a:t>
            </a:r>
            <a:r>
              <a:rPr lang="es-MX" b="1" dirty="0" err="1"/>
              <a:t>Behavior</a:t>
            </a:r>
            <a:r>
              <a:rPr lang="es-MX" b="1" dirty="0"/>
              <a:t> </a:t>
            </a:r>
            <a:r>
              <a:rPr lang="es-MX" b="1" dirty="0" err="1"/>
              <a:t>Driven</a:t>
            </a:r>
            <a:r>
              <a:rPr lang="es-MX" b="1" dirty="0"/>
              <a:t> </a:t>
            </a:r>
            <a:r>
              <a:rPr lang="es-MX" b="1" dirty="0" err="1"/>
              <a:t>Development</a:t>
            </a:r>
            <a:r>
              <a:rPr lang="es-MX" b="1" dirty="0"/>
              <a:t>)</a:t>
            </a:r>
            <a:br>
              <a:rPr lang="es-MX" dirty="0"/>
            </a:br>
            <a:r>
              <a:rPr lang="es-MX" dirty="0"/>
              <a:t>Aquí se define el comportamiento esperado en lenguaje natural, para que todos lo entiendan, y luego se crean pruebas basadas en esa descripción.</a:t>
            </a:r>
            <a:br>
              <a:rPr lang="es-MX" dirty="0"/>
            </a:br>
            <a:r>
              <a:rPr lang="es-MX" b="1" dirty="0"/>
              <a:t>Ejemplo práctico:</a:t>
            </a:r>
            <a:r>
              <a:rPr lang="es-MX" dirty="0"/>
              <a:t> “Dado que el usuario está en la página de inicio, cuando hace clic en ‘</a:t>
            </a:r>
            <a:r>
              <a:rPr lang="es-MX" dirty="0" err="1"/>
              <a:t>Login</a:t>
            </a:r>
            <a:r>
              <a:rPr lang="es-MX" dirty="0"/>
              <a:t>’, entonces debe ver el formulario de acceso.” Esta frase se convierte en una prueba automatizada que valida ese comportamiento.</a:t>
            </a:r>
          </a:p>
          <a:p>
            <a:endParaRPr lang="es-MX" b="1" dirty="0"/>
          </a:p>
          <a:p>
            <a:r>
              <a:rPr lang="es-MX" b="1" dirty="0"/>
              <a:t>ATDD (</a:t>
            </a:r>
            <a:r>
              <a:rPr lang="es-MX" b="1" dirty="0" err="1"/>
              <a:t>Acceptance</a:t>
            </a:r>
            <a:r>
              <a:rPr lang="es-MX" b="1" dirty="0"/>
              <a:t> Test </a:t>
            </a:r>
            <a:r>
              <a:rPr lang="es-MX" b="1" dirty="0" err="1"/>
              <a:t>Driven</a:t>
            </a:r>
            <a:r>
              <a:rPr lang="es-MX" b="1" dirty="0"/>
              <a:t> </a:t>
            </a:r>
            <a:r>
              <a:rPr lang="es-MX" b="1" dirty="0" err="1"/>
              <a:t>Development</a:t>
            </a:r>
            <a:r>
              <a:rPr lang="es-MX" b="1" dirty="0"/>
              <a:t>)</a:t>
            </a:r>
            <a:br>
              <a:rPr lang="es-MX" dirty="0"/>
            </a:br>
            <a:r>
              <a:rPr lang="es-MX" dirty="0"/>
              <a:t>Este modelo involucra a todo el equipo (desarrolladores, </a:t>
            </a:r>
            <a:r>
              <a:rPr lang="es-MX" dirty="0" err="1"/>
              <a:t>testers</a:t>
            </a:r>
            <a:r>
              <a:rPr lang="es-MX" dirty="0"/>
              <a:t> y negocio) para definir criterios de aceptación antes de programar.</a:t>
            </a:r>
            <a:br>
              <a:rPr lang="es-MX" dirty="0"/>
            </a:br>
            <a:r>
              <a:rPr lang="es-MX" b="1" dirty="0"/>
              <a:t>Ejemplo sencillo:</a:t>
            </a:r>
            <a:r>
              <a:rPr lang="es-MX" dirty="0"/>
              <a:t> Antes de crear la funcionalidad de registro, el equipo acuerda: “El sistema debe permitir crear una cuenta con correo válido y contraseña segura.” Luego se escriben pruebas que validan esos criterios antes de comenzar el desarrollo.</a:t>
            </a:r>
          </a:p>
          <a:p>
            <a:endParaRPr lang="es-MX" dirty="0"/>
          </a:p>
          <a:p>
            <a:r>
              <a:rPr lang="es-MX" dirty="0"/>
              <a:t>En resumen, estos modelos nos ayudan a asegurar calidad desde el inicio, evitando errores y alineando el desarrollo con las expectativas del cliente.”</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15</a:t>
            </a:fld>
            <a:endParaRPr lang="es-CO"/>
          </a:p>
        </p:txBody>
      </p:sp>
    </p:spTree>
    <p:extLst>
      <p:ext uri="{BB962C8B-B14F-4D97-AF65-F5344CB8AC3E}">
        <p14:creationId xmlns:p14="http://schemas.microsoft.com/office/powerpoint/2010/main" val="3922123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DevOps es una metodología que busca integrar el desarrollo de software y las operaciones en un solo flujo continuo. ¿Por qué? Porque tradicionalmente, los equipos de desarrollo y los de operaciones trabajaban separados, lo que generaba retrasos y problemas al pasar el código a producción. DevOps rompe esa barrera y promueve la colaboración, la automatización y la entrega continua.</a:t>
            </a:r>
          </a:p>
          <a:p>
            <a:endParaRPr lang="es-MX" dirty="0"/>
          </a:p>
          <a:p>
            <a:r>
              <a:rPr lang="es-MX" dirty="0"/>
              <a:t>En la imagen vemos tres ciclos principales:</a:t>
            </a:r>
          </a:p>
          <a:p>
            <a:r>
              <a:rPr lang="es-MX" b="1" dirty="0"/>
              <a:t>1. Integración continua (</a:t>
            </a:r>
            <a:r>
              <a:rPr lang="es-MX" b="1" dirty="0" err="1"/>
              <a:t>Continuous</a:t>
            </a:r>
            <a:r>
              <a:rPr lang="es-MX" b="1" dirty="0"/>
              <a:t> </a:t>
            </a:r>
            <a:r>
              <a:rPr lang="es-MX" b="1" dirty="0" err="1"/>
              <a:t>Integration</a:t>
            </a:r>
            <a:r>
              <a:rPr lang="es-MX" b="1" dirty="0"/>
              <a:t>)</a:t>
            </a:r>
            <a:br>
              <a:rPr lang="es-MX" dirty="0"/>
            </a:br>
            <a:r>
              <a:rPr lang="es-MX" dirty="0"/>
              <a:t>Aquí los desarrolladores suben su código a un repositorio compartido y se ejecutan pruebas automáticas para detectar errores rápidamente. Herramientas como Jenkins, SonarQube o Git se usan en esta etapa.</a:t>
            </a:r>
          </a:p>
          <a:p>
            <a:r>
              <a:rPr lang="es-MX" b="1" dirty="0"/>
              <a:t>2. Despliegue continuo (</a:t>
            </a:r>
            <a:r>
              <a:rPr lang="es-MX" b="1" dirty="0" err="1"/>
              <a:t>Continuous</a:t>
            </a:r>
            <a:r>
              <a:rPr lang="es-MX" b="1" dirty="0"/>
              <a:t> </a:t>
            </a:r>
            <a:r>
              <a:rPr lang="es-MX" b="1" dirty="0" err="1"/>
              <a:t>Deployment</a:t>
            </a:r>
            <a:r>
              <a:rPr lang="es-MX" b="1" dirty="0"/>
              <a:t>)</a:t>
            </a:r>
            <a:br>
              <a:rPr lang="es-MX" dirty="0"/>
            </a:br>
            <a:r>
              <a:rPr lang="es-MX" dirty="0"/>
              <a:t>Una vez que el código pasa las pruebas, se prepara para ser desplegado automáticamente en entornos de prueba o producción. Esto reduce tiempos y evita errores manuales.</a:t>
            </a:r>
          </a:p>
          <a:p>
            <a:r>
              <a:rPr lang="es-MX" b="1" dirty="0"/>
              <a:t>3. Automatización de pruebas (</a:t>
            </a:r>
            <a:r>
              <a:rPr lang="es-MX" b="1" dirty="0" err="1"/>
              <a:t>Continuous</a:t>
            </a:r>
            <a:r>
              <a:rPr lang="es-MX" b="1" dirty="0"/>
              <a:t> Testing)</a:t>
            </a:r>
            <a:br>
              <a:rPr lang="es-MX" dirty="0"/>
            </a:br>
            <a:r>
              <a:rPr lang="es-MX" dirty="0"/>
              <a:t>Se realizan pruebas automatizadas para garantizar que todo funciona correctamente antes de liberar el software. Herramientas como </a:t>
            </a:r>
            <a:r>
              <a:rPr lang="es-MX" dirty="0" err="1"/>
              <a:t>Selenium</a:t>
            </a:r>
            <a:r>
              <a:rPr lang="es-MX" dirty="0"/>
              <a:t> o </a:t>
            </a:r>
            <a:r>
              <a:rPr lang="es-MX" dirty="0" err="1"/>
              <a:t>JMeter</a:t>
            </a:r>
            <a:r>
              <a:rPr lang="es-MX" dirty="0"/>
              <a:t> son comunes aquí.</a:t>
            </a:r>
          </a:p>
          <a:p>
            <a:r>
              <a:rPr lang="es-MX" dirty="0"/>
              <a:t>Todo esto se apoya en </a:t>
            </a:r>
            <a:r>
              <a:rPr lang="es-MX" b="1" dirty="0"/>
              <a:t>retroalimentación continua</a:t>
            </a:r>
            <a:r>
              <a:rPr lang="es-MX" dirty="0"/>
              <a:t>, lo que significa que cada cambio se monitorea y se ajusta rápidamente. El objetivo final es entregar software de calidad más rápido y con menos riesgos.</a:t>
            </a:r>
          </a:p>
          <a:p>
            <a:endParaRPr lang="es-MX" b="1" dirty="0"/>
          </a:p>
          <a:p>
            <a:r>
              <a:rPr lang="es-MX" b="1" dirty="0"/>
              <a:t>Ejemplo sencillo:</a:t>
            </a:r>
            <a:br>
              <a:rPr lang="es-MX" dirty="0"/>
            </a:br>
            <a:r>
              <a:rPr lang="es-MX" dirty="0"/>
              <a:t>Imagina que desarrollas una aplicación web. Con DevOps, cada vez que subes un cambio al repositorio, se ejecutan pruebas automáticas, se construye el proyecto y, si todo está bien, se despliega en un servidor sin intervención manual. Así, puedes liberar nuevas versiones varias veces al día sin interrumpir el servicio.</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17</a:t>
            </a:fld>
            <a:endParaRPr lang="es-CO"/>
          </a:p>
        </p:txBody>
      </p:sp>
    </p:spTree>
    <p:extLst>
      <p:ext uri="{BB962C8B-B14F-4D97-AF65-F5344CB8AC3E}">
        <p14:creationId xmlns:p14="http://schemas.microsoft.com/office/powerpoint/2010/main" val="11941657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Una </a:t>
            </a:r>
            <a:r>
              <a:rPr lang="es-MX" b="1" dirty="0"/>
              <a:t>máquina virtual</a:t>
            </a:r>
            <a:r>
              <a:rPr lang="es-MX" dirty="0"/>
              <a:t>, en el contexto de programación, no es lo mismo que las máquinas virtuales que usamos para ejecutar sistemas operativos completos. Aquí hablamos de un componente que se coloca entre el código compilado y el sistema operativo, y que se encarga de ejecutar el programa.</a:t>
            </a:r>
          </a:p>
          <a:p>
            <a:r>
              <a:rPr lang="es-MX" dirty="0"/>
              <a:t>Por ejemplo, en Java, el proceso funciona así:</a:t>
            </a:r>
            <a:br>
              <a:rPr lang="es-MX" dirty="0"/>
            </a:br>
            <a:r>
              <a:rPr lang="es-MX" dirty="0"/>
              <a:t>Primero escribimos el </a:t>
            </a:r>
            <a:r>
              <a:rPr lang="es-MX" b="1" dirty="0"/>
              <a:t>código Java</a:t>
            </a:r>
            <a:r>
              <a:rPr lang="es-MX" dirty="0"/>
              <a:t> en un archivo </a:t>
            </a:r>
            <a:r>
              <a:rPr lang="es-MX" sz="1200" kern="1200" dirty="0">
                <a:solidFill>
                  <a:schemeClr val="tx1"/>
                </a:solidFill>
                <a:latin typeface="+mn-lt"/>
                <a:ea typeface="+mn-ea"/>
                <a:cs typeface="+mn-cs"/>
              </a:rPr>
              <a:t>.java</a:t>
            </a:r>
            <a:r>
              <a:rPr lang="es-MX" dirty="0"/>
              <a:t>. Luego, el compilador </a:t>
            </a:r>
            <a:r>
              <a:rPr lang="es-MX" b="1" dirty="0" err="1"/>
              <a:t>javac</a:t>
            </a:r>
            <a:r>
              <a:rPr lang="es-MX" dirty="0"/>
              <a:t> lo convierte en </a:t>
            </a:r>
            <a:r>
              <a:rPr lang="es-MX" b="1" dirty="0" err="1"/>
              <a:t>Bytecode</a:t>
            </a:r>
            <a:r>
              <a:rPr lang="es-MX" dirty="0"/>
              <a:t>, que son instrucciones intermedias guardadas en archivos </a:t>
            </a:r>
            <a:r>
              <a:rPr lang="es-MX" sz="1200" kern="1200" dirty="0">
                <a:solidFill>
                  <a:schemeClr val="tx1"/>
                </a:solidFill>
                <a:latin typeface="+mn-lt"/>
                <a:ea typeface="+mn-ea"/>
                <a:cs typeface="+mn-cs"/>
              </a:rPr>
              <a:t>.</a:t>
            </a:r>
            <a:r>
              <a:rPr lang="es-MX" sz="1200" kern="1200" dirty="0" err="1">
                <a:solidFill>
                  <a:schemeClr val="tx1"/>
                </a:solidFill>
                <a:latin typeface="+mn-lt"/>
                <a:ea typeface="+mn-ea"/>
                <a:cs typeface="+mn-cs"/>
              </a:rPr>
              <a:t>class</a:t>
            </a:r>
            <a:r>
              <a:rPr lang="es-MX" dirty="0"/>
              <a:t>. Este </a:t>
            </a:r>
            <a:r>
              <a:rPr lang="es-MX" dirty="0" err="1"/>
              <a:t>Bytecode</a:t>
            </a:r>
            <a:r>
              <a:rPr lang="es-MX" dirty="0"/>
              <a:t> no se ejecuta directamente en el sistema operativo, sino que pasa por la </a:t>
            </a:r>
            <a:r>
              <a:rPr lang="es-MX" b="1" dirty="0"/>
              <a:t>JVM (Java Virtual Machine)</a:t>
            </a:r>
            <a:r>
              <a:rPr lang="es-MX" dirty="0"/>
              <a:t>. La JVM interpreta ese </a:t>
            </a:r>
            <a:r>
              <a:rPr lang="es-MX" dirty="0" err="1"/>
              <a:t>Bytecode</a:t>
            </a:r>
            <a:r>
              <a:rPr lang="es-MX" dirty="0"/>
              <a:t> y lo traduce para que funcione en cualquier sistema operativo, ya sea Windows, Mac o Linux.</a:t>
            </a:r>
          </a:p>
          <a:p>
            <a:endParaRPr lang="es-MX" b="1" dirty="0"/>
          </a:p>
          <a:p>
            <a:r>
              <a:rPr lang="es-MX" b="1" dirty="0"/>
              <a:t>¿Por qué es importante?</a:t>
            </a:r>
            <a:br>
              <a:rPr lang="es-MX" dirty="0"/>
            </a:br>
            <a:r>
              <a:rPr lang="es-MX" dirty="0"/>
              <a:t>Porque gracias a la máquina virtual, el mismo programa puede ejecutarse en diferentes plataformas sin necesidad de modificar el código. Esto es lo que hace que Java sea tan popular: “escribe una vez, ejecuta en cualquier lugar”.</a:t>
            </a:r>
          </a:p>
          <a:p>
            <a:endParaRPr lang="es-MX" b="1" dirty="0"/>
          </a:p>
          <a:p>
            <a:r>
              <a:rPr lang="es-MX" b="1" dirty="0"/>
              <a:t>Ejemplo sencillo:</a:t>
            </a:r>
            <a:br>
              <a:rPr lang="es-MX" dirty="0"/>
            </a:br>
            <a:r>
              <a:rPr lang="es-MX" dirty="0"/>
              <a:t>Si creas un programa en Java en tu computadora con Windows, no necesitas cambiar nada para que funcione en Linux o Mac. Solo necesitas que en esos sistemas esté instalada la JVM.</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19</a:t>
            </a:fld>
            <a:endParaRPr lang="es-CO"/>
          </a:p>
        </p:txBody>
      </p:sp>
    </p:spTree>
    <p:extLst>
      <p:ext uri="{BB962C8B-B14F-4D97-AF65-F5344CB8AC3E}">
        <p14:creationId xmlns:p14="http://schemas.microsoft.com/office/powerpoint/2010/main" val="2751525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el ecosistema de Java, dos conceptos son fundamentales: </a:t>
            </a:r>
            <a:r>
              <a:rPr lang="es-MX" b="1" dirty="0"/>
              <a:t>JDK</a:t>
            </a:r>
            <a:r>
              <a:rPr lang="es-MX" dirty="0"/>
              <a:t> y </a:t>
            </a:r>
            <a:r>
              <a:rPr lang="es-MX" b="1" dirty="0"/>
              <a:t>JRE</a:t>
            </a:r>
            <a:r>
              <a:rPr lang="es-MX" dirty="0"/>
              <a:t>. Aunque suenan parecidos, cumplen funciones diferentes.</a:t>
            </a:r>
          </a:p>
          <a:p>
            <a:r>
              <a:rPr lang="es-MX" b="1" dirty="0"/>
              <a:t>JRE (Java </a:t>
            </a:r>
            <a:r>
              <a:rPr lang="es-MX" b="1" dirty="0" err="1"/>
              <a:t>Runtime</a:t>
            </a:r>
            <a:r>
              <a:rPr lang="es-MX" b="1" dirty="0"/>
              <a:t> </a:t>
            </a:r>
            <a:r>
              <a:rPr lang="es-MX" b="1" dirty="0" err="1"/>
              <a:t>Environment</a:t>
            </a:r>
            <a:r>
              <a:rPr lang="es-MX" b="1" dirty="0"/>
              <a:t>)</a:t>
            </a:r>
            <a:br>
              <a:rPr lang="es-MX" dirty="0"/>
            </a:br>
            <a:r>
              <a:rPr lang="es-MX" dirty="0"/>
              <a:t>Es el entorno que permite ejecutar programas en Java. Incluye la </a:t>
            </a:r>
            <a:r>
              <a:rPr lang="es-MX" b="1" dirty="0"/>
              <a:t>Máquina Virtual de Java (JVM)</a:t>
            </a:r>
            <a:r>
              <a:rPr lang="es-MX" dirty="0"/>
              <a:t>, que interpreta el </a:t>
            </a:r>
            <a:r>
              <a:rPr lang="es-MX" dirty="0" err="1"/>
              <a:t>Bytecode</a:t>
            </a:r>
            <a:r>
              <a:rPr lang="es-MX" dirty="0"/>
              <a:t> y lo traduce para que funcione en cualquier sistema operativo. El JRE está pensado para usuarios que solo necesitan correr aplicaciones, no desarrollarlas.</a:t>
            </a:r>
          </a:p>
          <a:p>
            <a:r>
              <a:rPr lang="es-MX" b="1" dirty="0"/>
              <a:t>JDK (Java </a:t>
            </a:r>
            <a:r>
              <a:rPr lang="es-MX" b="1" dirty="0" err="1"/>
              <a:t>Development</a:t>
            </a:r>
            <a:r>
              <a:rPr lang="es-MX" b="1" dirty="0"/>
              <a:t> Kit)</a:t>
            </a:r>
            <a:br>
              <a:rPr lang="es-MX" dirty="0"/>
            </a:br>
            <a:r>
              <a:rPr lang="es-MX" dirty="0"/>
              <a:t>Es el kit para desarrolladores. Contiene todo lo que tiene el JRE, pero además incluye herramientas para programar, como el compilador </a:t>
            </a:r>
            <a:r>
              <a:rPr lang="es-MX" b="1" dirty="0" err="1"/>
              <a:t>javac</a:t>
            </a:r>
            <a:r>
              <a:rPr lang="es-MX" dirty="0"/>
              <a:t>, que convierte nuestro código fuente </a:t>
            </a:r>
            <a:r>
              <a:rPr lang="es-MX" sz="1200" kern="1200" dirty="0">
                <a:solidFill>
                  <a:schemeClr val="tx1"/>
                </a:solidFill>
                <a:latin typeface="+mn-lt"/>
                <a:ea typeface="+mn-ea"/>
                <a:cs typeface="+mn-cs"/>
              </a:rPr>
              <a:t>.java</a:t>
            </a:r>
            <a:r>
              <a:rPr lang="es-MX" dirty="0"/>
              <a:t> en </a:t>
            </a:r>
            <a:r>
              <a:rPr lang="es-MX" dirty="0" err="1"/>
              <a:t>Bytecode</a:t>
            </a:r>
            <a:r>
              <a:rPr lang="es-MX" dirty="0"/>
              <a:t> </a:t>
            </a:r>
            <a:r>
              <a:rPr lang="es-MX" sz="1200" kern="1200" dirty="0">
                <a:solidFill>
                  <a:schemeClr val="tx1"/>
                </a:solidFill>
                <a:latin typeface="+mn-lt"/>
                <a:ea typeface="+mn-ea"/>
                <a:cs typeface="+mn-cs"/>
              </a:rPr>
              <a:t>.</a:t>
            </a:r>
            <a:r>
              <a:rPr lang="es-MX" sz="1200" kern="1200" dirty="0" err="1">
                <a:solidFill>
                  <a:schemeClr val="tx1"/>
                </a:solidFill>
                <a:latin typeface="+mn-lt"/>
                <a:ea typeface="+mn-ea"/>
                <a:cs typeface="+mn-cs"/>
              </a:rPr>
              <a:t>class</a:t>
            </a:r>
            <a:r>
              <a:rPr lang="es-MX" dirty="0"/>
              <a:t>. Sin el JDK no podríamos crear aplicaciones en Java.</a:t>
            </a:r>
          </a:p>
          <a:p>
            <a:r>
              <a:rPr lang="es-MX" b="1" dirty="0"/>
              <a:t>Ejemplo sencillo:</a:t>
            </a:r>
            <a:br>
              <a:rPr lang="es-MX" dirty="0"/>
            </a:br>
            <a:r>
              <a:rPr lang="es-MX" dirty="0"/>
              <a:t>Si solo quieres usar una aplicación hecha en Java, necesitas el JRE. Pero si quieres crear tu propia aplicación, necesitas el JDK, porque ahí está el compilador y las herramientas de desarrollo.</a:t>
            </a:r>
          </a:p>
          <a:p>
            <a:r>
              <a:rPr lang="es-MX" dirty="0"/>
              <a:t>En resumen:</a:t>
            </a:r>
          </a:p>
          <a:p>
            <a:r>
              <a:rPr lang="es-MX" b="1" dirty="0"/>
              <a:t>JRE = ejecutar programas</a:t>
            </a:r>
            <a:endParaRPr lang="es-MX" dirty="0"/>
          </a:p>
          <a:p>
            <a:r>
              <a:rPr lang="es-MX" b="1" dirty="0"/>
              <a:t>JDK = desarrollar programas</a:t>
            </a:r>
            <a:r>
              <a:rPr lang="es-MX" dirty="0"/>
              <a:t> (e incluye el JRE)</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20</a:t>
            </a:fld>
            <a:endParaRPr lang="es-CO"/>
          </a:p>
        </p:txBody>
      </p:sp>
    </p:spTree>
    <p:extLst>
      <p:ext uri="{BB962C8B-B14F-4D97-AF65-F5344CB8AC3E}">
        <p14:creationId xmlns:p14="http://schemas.microsoft.com/office/powerpoint/2010/main" val="3357901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Java, los </a:t>
            </a:r>
            <a:r>
              <a:rPr lang="es-MX" b="1" dirty="0"/>
              <a:t>tipos de datos</a:t>
            </a:r>
            <a:r>
              <a:rPr lang="es-MX" dirty="0"/>
              <a:t> son fundamentales porque definen qué tipo de información puede almacenar una variable. Se dividen en dos grandes grupos: </a:t>
            </a:r>
            <a:r>
              <a:rPr lang="es-MX" b="1" dirty="0"/>
              <a:t>primitivos</a:t>
            </a:r>
            <a:r>
              <a:rPr lang="es-MX" dirty="0"/>
              <a:t> y </a:t>
            </a:r>
            <a:r>
              <a:rPr lang="es-MX" b="1" dirty="0"/>
              <a:t>no primitivos</a:t>
            </a:r>
            <a:r>
              <a:rPr lang="es-MX" dirty="0"/>
              <a:t>.</a:t>
            </a:r>
          </a:p>
          <a:p>
            <a:endParaRPr lang="es-MX" b="1" dirty="0"/>
          </a:p>
          <a:p>
            <a:r>
              <a:rPr lang="es-MX" b="1" dirty="0"/>
              <a:t>Tipos primitivos</a:t>
            </a:r>
            <a:br>
              <a:rPr lang="es-MX" dirty="0"/>
            </a:br>
            <a:r>
              <a:rPr lang="es-MX" dirty="0"/>
              <a:t>Son los más básicos y están directamente soportados por el lenguaje. Incluyen:</a:t>
            </a:r>
          </a:p>
          <a:p>
            <a:r>
              <a:rPr lang="es-MX" b="1" dirty="0"/>
              <a:t>-</a:t>
            </a:r>
            <a:r>
              <a:rPr lang="es-MX" b="1" dirty="0" err="1"/>
              <a:t>boolean</a:t>
            </a:r>
            <a:r>
              <a:rPr lang="es-MX" dirty="0"/>
              <a:t>: almacena valores lógicos, </a:t>
            </a:r>
            <a:r>
              <a:rPr lang="es-MX" sz="1200" kern="1200" dirty="0">
                <a:solidFill>
                  <a:schemeClr val="tx1"/>
                </a:solidFill>
                <a:latin typeface="+mn-lt"/>
                <a:ea typeface="+mn-ea"/>
                <a:cs typeface="+mn-cs"/>
              </a:rPr>
              <a:t>true</a:t>
            </a:r>
            <a:r>
              <a:rPr lang="es-MX" dirty="0"/>
              <a:t> o </a:t>
            </a:r>
            <a:r>
              <a:rPr lang="es-MX" sz="1200" kern="1200" dirty="0">
                <a:solidFill>
                  <a:schemeClr val="tx1"/>
                </a:solidFill>
                <a:latin typeface="+mn-lt"/>
                <a:ea typeface="+mn-ea"/>
                <a:cs typeface="+mn-cs"/>
              </a:rPr>
              <a:t>false</a:t>
            </a:r>
            <a:r>
              <a:rPr lang="es-MX" dirty="0"/>
              <a:t>.</a:t>
            </a:r>
          </a:p>
          <a:p>
            <a:r>
              <a:rPr lang="es-MX" b="1" dirty="0"/>
              <a:t>-numéricos</a:t>
            </a:r>
            <a:r>
              <a:rPr lang="es-MX" dirty="0"/>
              <a:t>: </a:t>
            </a:r>
          </a:p>
          <a:p>
            <a:pPr lvl="1"/>
            <a:r>
              <a:rPr lang="es-MX" dirty="0"/>
              <a:t>Enteros: </a:t>
            </a:r>
            <a:r>
              <a:rPr lang="es-MX" sz="1200" kern="1200" dirty="0">
                <a:solidFill>
                  <a:schemeClr val="tx1"/>
                </a:solidFill>
                <a:latin typeface="+mn-lt"/>
                <a:ea typeface="+mn-ea"/>
                <a:cs typeface="+mn-cs"/>
              </a:rPr>
              <a:t>byte</a:t>
            </a:r>
            <a:r>
              <a:rPr lang="es-MX" dirty="0"/>
              <a:t>, </a:t>
            </a:r>
            <a:r>
              <a:rPr lang="es-MX" sz="1200" kern="1200" dirty="0">
                <a:solidFill>
                  <a:schemeClr val="tx1"/>
                </a:solidFill>
                <a:latin typeface="+mn-lt"/>
                <a:ea typeface="+mn-ea"/>
                <a:cs typeface="+mn-cs"/>
              </a:rPr>
              <a:t>short</a:t>
            </a:r>
            <a:r>
              <a:rPr lang="es-MX" dirty="0"/>
              <a:t>, </a:t>
            </a:r>
            <a:r>
              <a:rPr lang="es-MX" sz="1200" kern="1200" dirty="0" err="1">
                <a:solidFill>
                  <a:schemeClr val="tx1"/>
                </a:solidFill>
                <a:latin typeface="+mn-lt"/>
                <a:ea typeface="+mn-ea"/>
                <a:cs typeface="+mn-cs"/>
              </a:rPr>
              <a:t>int</a:t>
            </a:r>
            <a:r>
              <a:rPr lang="es-MX" dirty="0"/>
              <a:t>, </a:t>
            </a:r>
            <a:r>
              <a:rPr lang="es-MX" sz="1200" kern="1200" dirty="0" err="1">
                <a:solidFill>
                  <a:schemeClr val="tx1"/>
                </a:solidFill>
                <a:latin typeface="+mn-lt"/>
                <a:ea typeface="+mn-ea"/>
                <a:cs typeface="+mn-cs"/>
              </a:rPr>
              <a:t>long</a:t>
            </a:r>
            <a:r>
              <a:rPr lang="es-MX" dirty="0"/>
              <a:t> (diferentes tamaños para números enteros).</a:t>
            </a:r>
          </a:p>
          <a:p>
            <a:pPr lvl="1"/>
            <a:r>
              <a:rPr lang="es-MX" dirty="0"/>
              <a:t>Flotantes: </a:t>
            </a:r>
            <a:r>
              <a:rPr lang="es-MX" sz="1200" kern="1200" dirty="0" err="1">
                <a:solidFill>
                  <a:schemeClr val="tx1"/>
                </a:solidFill>
                <a:latin typeface="+mn-lt"/>
                <a:ea typeface="+mn-ea"/>
                <a:cs typeface="+mn-cs"/>
              </a:rPr>
              <a:t>float</a:t>
            </a:r>
            <a:r>
              <a:rPr lang="es-MX" dirty="0"/>
              <a:t> y </a:t>
            </a:r>
            <a:r>
              <a:rPr lang="es-MX" sz="1200" kern="1200" dirty="0" err="1">
                <a:solidFill>
                  <a:schemeClr val="tx1"/>
                </a:solidFill>
                <a:latin typeface="+mn-lt"/>
                <a:ea typeface="+mn-ea"/>
                <a:cs typeface="+mn-cs"/>
              </a:rPr>
              <a:t>double</a:t>
            </a:r>
            <a:r>
              <a:rPr lang="es-MX" dirty="0"/>
              <a:t> (para números con decimales).</a:t>
            </a:r>
          </a:p>
          <a:p>
            <a:r>
              <a:rPr lang="es-MX" b="1" dirty="0"/>
              <a:t>-</a:t>
            </a:r>
            <a:r>
              <a:rPr lang="es-MX" b="1" dirty="0" err="1"/>
              <a:t>char</a:t>
            </a:r>
            <a:r>
              <a:rPr lang="es-MX" dirty="0"/>
              <a:t>: almacena un solo carácter, como </a:t>
            </a:r>
            <a:r>
              <a:rPr lang="es-MX" sz="1200" kern="1200" dirty="0">
                <a:solidFill>
                  <a:schemeClr val="tx1"/>
                </a:solidFill>
                <a:latin typeface="+mn-lt"/>
                <a:ea typeface="+mn-ea"/>
                <a:cs typeface="+mn-cs"/>
              </a:rPr>
              <a:t>'A’</a:t>
            </a:r>
            <a:r>
              <a:rPr lang="es-MX" dirty="0"/>
              <a:t>.</a:t>
            </a:r>
          </a:p>
          <a:p>
            <a:endParaRPr lang="es-MX" b="1" dirty="0"/>
          </a:p>
          <a:p>
            <a:r>
              <a:rPr lang="es-MX" b="1" dirty="0"/>
              <a:t>Tipos no primitivos</a:t>
            </a:r>
            <a:br>
              <a:rPr lang="es-MX" dirty="0"/>
            </a:br>
            <a:r>
              <a:rPr lang="es-MX" dirty="0"/>
              <a:t>Son más complejos y se basan en clases. Los más comunes son:</a:t>
            </a:r>
          </a:p>
          <a:p>
            <a:r>
              <a:rPr lang="es-MX" b="1" dirty="0"/>
              <a:t>-</a:t>
            </a:r>
            <a:r>
              <a:rPr lang="es-MX" b="1" dirty="0" err="1"/>
              <a:t>String</a:t>
            </a:r>
            <a:r>
              <a:rPr lang="es-MX" dirty="0"/>
              <a:t>: para cadenas de texto.</a:t>
            </a:r>
          </a:p>
          <a:p>
            <a:r>
              <a:rPr lang="es-MX" b="1" dirty="0"/>
              <a:t>-</a:t>
            </a:r>
            <a:r>
              <a:rPr lang="es-MX" b="1" dirty="0" err="1"/>
              <a:t>Arrays</a:t>
            </a:r>
            <a:r>
              <a:rPr lang="es-MX" dirty="0"/>
              <a:t>: para listas de elementos del mismo tipo.</a:t>
            </a:r>
          </a:p>
          <a:p>
            <a:r>
              <a:rPr lang="es-MX" dirty="0"/>
              <a:t>Y otros objetos definidos por el programador.</a:t>
            </a:r>
          </a:p>
          <a:p>
            <a:endParaRPr lang="es-MX" dirty="0"/>
          </a:p>
          <a:p>
            <a:r>
              <a:rPr lang="es-CO" dirty="0" err="1"/>
              <a:t>public</a:t>
            </a:r>
            <a:r>
              <a:rPr lang="es-CO" dirty="0"/>
              <a:t> </a:t>
            </a:r>
            <a:r>
              <a:rPr lang="es-CO" dirty="0" err="1"/>
              <a:t>class</a:t>
            </a:r>
            <a:r>
              <a:rPr lang="es-CO" dirty="0"/>
              <a:t> </a:t>
            </a:r>
            <a:r>
              <a:rPr lang="es-CO" dirty="0" err="1"/>
              <a:t>TiposDeDatos</a:t>
            </a:r>
            <a:r>
              <a:rPr lang="es-CO" dirty="0"/>
              <a:t> {</a:t>
            </a:r>
          </a:p>
          <a:p>
            <a:r>
              <a:rPr lang="es-CO" dirty="0"/>
              <a:t>    </a:t>
            </a:r>
            <a:r>
              <a:rPr lang="es-CO" dirty="0" err="1"/>
              <a:t>public</a:t>
            </a:r>
            <a:r>
              <a:rPr lang="es-CO" dirty="0"/>
              <a:t> </a:t>
            </a:r>
            <a:r>
              <a:rPr lang="es-CO" dirty="0" err="1"/>
              <a:t>static</a:t>
            </a:r>
            <a:r>
              <a:rPr lang="es-CO" dirty="0"/>
              <a:t> </a:t>
            </a:r>
            <a:r>
              <a:rPr lang="es-CO" dirty="0" err="1"/>
              <a:t>void</a:t>
            </a:r>
            <a:r>
              <a:rPr lang="es-CO" dirty="0"/>
              <a:t> </a:t>
            </a:r>
            <a:r>
              <a:rPr lang="es-CO" dirty="0" err="1"/>
              <a:t>main</a:t>
            </a:r>
            <a:r>
              <a:rPr lang="es-CO" dirty="0"/>
              <a:t>(</a:t>
            </a:r>
            <a:r>
              <a:rPr lang="es-CO" dirty="0" err="1"/>
              <a:t>String</a:t>
            </a:r>
            <a:r>
              <a:rPr lang="es-CO" dirty="0"/>
              <a:t>[] </a:t>
            </a:r>
            <a:r>
              <a:rPr lang="es-CO" dirty="0" err="1"/>
              <a:t>args</a:t>
            </a:r>
            <a:r>
              <a:rPr lang="es-CO" dirty="0"/>
              <a:t>) {</a:t>
            </a:r>
          </a:p>
          <a:p>
            <a:r>
              <a:rPr lang="es-CO" dirty="0"/>
              <a:t>        // Tipos primitivos</a:t>
            </a:r>
          </a:p>
          <a:p>
            <a:r>
              <a:rPr lang="es-CO" dirty="0"/>
              <a:t>        </a:t>
            </a:r>
            <a:r>
              <a:rPr lang="es-CO" dirty="0" err="1"/>
              <a:t>boolean</a:t>
            </a:r>
            <a:r>
              <a:rPr lang="es-CO" dirty="0"/>
              <a:t> activo = true;           // Booleano</a:t>
            </a:r>
          </a:p>
          <a:p>
            <a:r>
              <a:rPr lang="es-CO" dirty="0"/>
              <a:t>        byte </a:t>
            </a:r>
            <a:r>
              <a:rPr lang="es-CO" dirty="0" err="1"/>
              <a:t>edadPequena</a:t>
            </a:r>
            <a:r>
              <a:rPr lang="es-CO" dirty="0"/>
              <a:t> = 10;           // Entero pequeño</a:t>
            </a:r>
          </a:p>
          <a:p>
            <a:r>
              <a:rPr lang="es-CO" dirty="0"/>
              <a:t>        short </a:t>
            </a:r>
            <a:r>
              <a:rPr lang="es-CO" dirty="0" err="1"/>
              <a:t>numeroCorto</a:t>
            </a:r>
            <a:r>
              <a:rPr lang="es-CO" dirty="0"/>
              <a:t> = 300;         // Entero corto</a:t>
            </a:r>
          </a:p>
          <a:p>
            <a:r>
              <a:rPr lang="es-CO" dirty="0"/>
              <a:t>        </a:t>
            </a:r>
            <a:r>
              <a:rPr lang="es-CO" dirty="0" err="1"/>
              <a:t>int</a:t>
            </a:r>
            <a:r>
              <a:rPr lang="es-CO" dirty="0"/>
              <a:t> edad = 25;                   // Entero</a:t>
            </a:r>
          </a:p>
          <a:p>
            <a:r>
              <a:rPr lang="es-CO" dirty="0"/>
              <a:t>        </a:t>
            </a:r>
            <a:r>
              <a:rPr lang="es-CO" dirty="0" err="1"/>
              <a:t>long</a:t>
            </a:r>
            <a:r>
              <a:rPr lang="es-CO" dirty="0"/>
              <a:t> </a:t>
            </a:r>
            <a:r>
              <a:rPr lang="es-CO" dirty="0" err="1"/>
              <a:t>poblacion</a:t>
            </a:r>
            <a:r>
              <a:rPr lang="es-CO" dirty="0"/>
              <a:t> = 7800000000L;    // Entero largo</a:t>
            </a:r>
          </a:p>
          <a:p>
            <a:r>
              <a:rPr lang="es-CO" dirty="0"/>
              <a:t>        </a:t>
            </a:r>
            <a:r>
              <a:rPr lang="es-CO" dirty="0" err="1"/>
              <a:t>float</a:t>
            </a:r>
            <a:r>
              <a:rPr lang="es-CO" dirty="0"/>
              <a:t> precio = 19.99f;           // Número decimal simple</a:t>
            </a:r>
          </a:p>
          <a:p>
            <a:r>
              <a:rPr lang="es-CO" dirty="0"/>
              <a:t>        </a:t>
            </a:r>
            <a:r>
              <a:rPr lang="es-CO" dirty="0" err="1"/>
              <a:t>double</a:t>
            </a:r>
            <a:r>
              <a:rPr lang="es-CO" dirty="0"/>
              <a:t> saldo = 1500.75;          // Número decimal doble precisión</a:t>
            </a:r>
          </a:p>
          <a:p>
            <a:r>
              <a:rPr lang="es-CO" dirty="0"/>
              <a:t>        </a:t>
            </a:r>
            <a:r>
              <a:rPr lang="es-CO" dirty="0" err="1"/>
              <a:t>char</a:t>
            </a:r>
            <a:r>
              <a:rPr lang="es-CO" dirty="0"/>
              <a:t> letra = 'A';                // Carácter</a:t>
            </a:r>
          </a:p>
          <a:p>
            <a:br>
              <a:rPr lang="es-CO" dirty="0"/>
            </a:br>
            <a:endParaRPr lang="es-CO" dirty="0"/>
          </a:p>
          <a:p>
            <a:r>
              <a:rPr lang="es-CO" dirty="0"/>
              <a:t>        // Tipo no primitivo</a:t>
            </a:r>
          </a:p>
          <a:p>
            <a:r>
              <a:rPr lang="es-CO" dirty="0"/>
              <a:t>        </a:t>
            </a:r>
            <a:r>
              <a:rPr lang="es-CO" dirty="0" err="1"/>
              <a:t>String</a:t>
            </a:r>
            <a:r>
              <a:rPr lang="es-CO" dirty="0"/>
              <a:t> nombre = "Ana";           // Cadena de texto</a:t>
            </a:r>
          </a:p>
          <a:p>
            <a:br>
              <a:rPr lang="es-CO" dirty="0"/>
            </a:br>
            <a:endParaRPr lang="es-CO" dirty="0"/>
          </a:p>
          <a:p>
            <a:r>
              <a:rPr lang="es-CO" dirty="0"/>
              <a:t>        // Mostrar valores</a:t>
            </a:r>
          </a:p>
          <a:p>
            <a:r>
              <a:rPr lang="es-CO" dirty="0"/>
              <a:t>        </a:t>
            </a:r>
            <a:r>
              <a:rPr lang="es-CO" dirty="0" err="1"/>
              <a:t>System.out.println</a:t>
            </a:r>
            <a:r>
              <a:rPr lang="es-CO" dirty="0"/>
              <a:t>("Activo: " + activo);</a:t>
            </a:r>
          </a:p>
          <a:p>
            <a:r>
              <a:rPr lang="es-CO" dirty="0"/>
              <a:t>        </a:t>
            </a:r>
            <a:r>
              <a:rPr lang="es-CO" dirty="0" err="1"/>
              <a:t>System.out.println</a:t>
            </a:r>
            <a:r>
              <a:rPr lang="es-CO" dirty="0"/>
              <a:t>("Edad pequeña: " + </a:t>
            </a:r>
            <a:r>
              <a:rPr lang="es-CO" dirty="0" err="1"/>
              <a:t>edadPequena</a:t>
            </a:r>
            <a:r>
              <a:rPr lang="es-CO" dirty="0"/>
              <a:t>);</a:t>
            </a:r>
          </a:p>
          <a:p>
            <a:r>
              <a:rPr lang="es-CO" dirty="0"/>
              <a:t>        </a:t>
            </a:r>
            <a:r>
              <a:rPr lang="es-CO" dirty="0" err="1"/>
              <a:t>System.out.println</a:t>
            </a:r>
            <a:r>
              <a:rPr lang="es-CO" dirty="0"/>
              <a:t>("Número corto: " + </a:t>
            </a:r>
            <a:r>
              <a:rPr lang="es-CO" dirty="0" err="1"/>
              <a:t>numeroCorto</a:t>
            </a:r>
            <a:r>
              <a:rPr lang="es-CO" dirty="0"/>
              <a:t>);</a:t>
            </a:r>
          </a:p>
          <a:p>
            <a:r>
              <a:rPr lang="es-CO" dirty="0"/>
              <a:t>        </a:t>
            </a:r>
            <a:r>
              <a:rPr lang="es-CO" dirty="0" err="1"/>
              <a:t>System.out.println</a:t>
            </a:r>
            <a:r>
              <a:rPr lang="es-CO" dirty="0"/>
              <a:t>("Edad: " + edad);</a:t>
            </a:r>
          </a:p>
          <a:p>
            <a:r>
              <a:rPr lang="es-CO" dirty="0"/>
              <a:t>        </a:t>
            </a:r>
            <a:r>
              <a:rPr lang="es-CO" dirty="0" err="1"/>
              <a:t>System.out.println</a:t>
            </a:r>
            <a:r>
              <a:rPr lang="es-CO" dirty="0"/>
              <a:t>("Población: " + </a:t>
            </a:r>
            <a:r>
              <a:rPr lang="es-CO" dirty="0" err="1"/>
              <a:t>poblacion</a:t>
            </a:r>
            <a:r>
              <a:rPr lang="es-CO" dirty="0"/>
              <a:t>);</a:t>
            </a:r>
          </a:p>
          <a:p>
            <a:r>
              <a:rPr lang="es-CO" dirty="0"/>
              <a:t>        </a:t>
            </a:r>
            <a:r>
              <a:rPr lang="es-CO" dirty="0" err="1"/>
              <a:t>System.out.println</a:t>
            </a:r>
            <a:r>
              <a:rPr lang="es-CO" dirty="0"/>
              <a:t>("Precio: " + precio);</a:t>
            </a:r>
          </a:p>
          <a:p>
            <a:r>
              <a:rPr lang="es-CO" dirty="0"/>
              <a:t>        </a:t>
            </a:r>
            <a:r>
              <a:rPr lang="es-CO" dirty="0" err="1"/>
              <a:t>System.out.println</a:t>
            </a:r>
            <a:r>
              <a:rPr lang="es-CO" dirty="0"/>
              <a:t>("Saldo: " + saldo);</a:t>
            </a:r>
          </a:p>
          <a:p>
            <a:r>
              <a:rPr lang="es-CO" dirty="0"/>
              <a:t>        </a:t>
            </a:r>
            <a:r>
              <a:rPr lang="es-CO" dirty="0" err="1"/>
              <a:t>System.out.println</a:t>
            </a:r>
            <a:r>
              <a:rPr lang="es-CO" dirty="0"/>
              <a:t>("Letra: " + letra);</a:t>
            </a:r>
          </a:p>
          <a:p>
            <a:r>
              <a:rPr lang="es-CO" dirty="0"/>
              <a:t>        </a:t>
            </a:r>
            <a:r>
              <a:rPr lang="es-CO" dirty="0" err="1"/>
              <a:t>System.out.println</a:t>
            </a:r>
            <a:r>
              <a:rPr lang="es-CO" dirty="0"/>
              <a:t>("Nombre: " + nombre);</a:t>
            </a:r>
          </a:p>
          <a:p>
            <a:r>
              <a:rPr lang="es-CO" dirty="0"/>
              <a:t>    }</a:t>
            </a:r>
          </a:p>
          <a:p>
            <a:r>
              <a:rPr lang="es-CO" dirty="0"/>
              <a:t>}</a:t>
            </a:r>
          </a:p>
          <a:p>
            <a:endParaRPr lang="es-MX" dirty="0"/>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21</a:t>
            </a:fld>
            <a:endParaRPr lang="es-CO"/>
          </a:p>
        </p:txBody>
      </p:sp>
    </p:spTree>
    <p:extLst>
      <p:ext uri="{BB962C8B-B14F-4D97-AF65-F5344CB8AC3E}">
        <p14:creationId xmlns:p14="http://schemas.microsoft.com/office/powerpoint/2010/main" val="1580361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22</a:t>
            </a:fld>
            <a:endParaRPr lang="es-CO"/>
          </a:p>
        </p:txBody>
      </p:sp>
    </p:spTree>
    <p:extLst>
      <p:ext uri="{BB962C8B-B14F-4D97-AF65-F5344CB8AC3E}">
        <p14:creationId xmlns:p14="http://schemas.microsoft.com/office/powerpoint/2010/main" val="18956017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200" kern="1200" dirty="0">
                <a:solidFill>
                  <a:schemeClr val="tx1"/>
                </a:solidFill>
                <a:effectLst/>
                <a:latin typeface="+mn-lt"/>
                <a:ea typeface="+mn-ea"/>
                <a:cs typeface="+mn-cs"/>
              </a:rPr>
              <a:t>//Ejercicio </a:t>
            </a:r>
            <a:r>
              <a:rPr lang="es-CO" sz="1200" kern="1200" dirty="0" err="1">
                <a:solidFill>
                  <a:schemeClr val="tx1"/>
                </a:solidFill>
                <a:effectLst/>
                <a:latin typeface="+mn-lt"/>
                <a:ea typeface="+mn-ea"/>
                <a:cs typeface="+mn-cs"/>
              </a:rPr>
              <a:t>Basico</a:t>
            </a:r>
            <a:endParaRPr lang="es-CO"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CO" sz="1200" kern="1200" dirty="0" err="1">
                <a:solidFill>
                  <a:schemeClr val="tx1"/>
                </a:solidFill>
                <a:effectLst/>
                <a:latin typeface="+mn-lt"/>
                <a:ea typeface="+mn-ea"/>
                <a:cs typeface="+mn-cs"/>
              </a:rPr>
              <a:t>public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class</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VolumenCaja</a:t>
            </a: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public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static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void</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main</a:t>
            </a:r>
            <a:r>
              <a:rPr lang="es-CO" sz="1200" kern="1200" dirty="0">
                <a:solidFill>
                  <a:schemeClr val="tx1"/>
                </a:solidFill>
                <a:effectLst/>
                <a:latin typeface="+mn-lt"/>
                <a:ea typeface="+mn-ea"/>
                <a:cs typeface="+mn-cs"/>
              </a:rPr>
              <a:t>(</a:t>
            </a:r>
            <a:r>
              <a:rPr lang="es-CO" sz="1200" kern="1200" dirty="0" err="1">
                <a:solidFill>
                  <a:schemeClr val="tx1"/>
                </a:solidFill>
                <a:effectLst/>
                <a:latin typeface="+mn-lt"/>
                <a:ea typeface="+mn-ea"/>
                <a:cs typeface="+mn-cs"/>
              </a:rPr>
              <a:t>String</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args</a:t>
            </a: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double</a:t>
            </a:r>
            <a:r>
              <a:rPr lang="es-CO" sz="1200" kern="1200" dirty="0">
                <a:solidFill>
                  <a:schemeClr val="tx1"/>
                </a:solidFill>
                <a:effectLst/>
                <a:latin typeface="+mn-lt"/>
                <a:ea typeface="+mn-ea"/>
                <a:cs typeface="+mn-cs"/>
              </a:rPr>
              <a:t> volumen;</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double</a:t>
            </a:r>
            <a:r>
              <a:rPr lang="es-CO" sz="1200" kern="1200" dirty="0">
                <a:solidFill>
                  <a:schemeClr val="tx1"/>
                </a:solidFill>
                <a:effectLst/>
                <a:latin typeface="+mn-lt"/>
                <a:ea typeface="+mn-ea"/>
                <a:cs typeface="+mn-cs"/>
              </a:rPr>
              <a:t> ancho = 5;</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double</a:t>
            </a:r>
            <a:r>
              <a:rPr lang="es-CO" sz="1200" kern="1200" dirty="0">
                <a:solidFill>
                  <a:schemeClr val="tx1"/>
                </a:solidFill>
                <a:effectLst/>
                <a:latin typeface="+mn-lt"/>
                <a:ea typeface="+mn-ea"/>
                <a:cs typeface="+mn-cs"/>
              </a:rPr>
              <a:t> alto = 10;</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double</a:t>
            </a:r>
            <a:r>
              <a:rPr lang="es-CO" sz="1200" kern="1200" dirty="0">
                <a:solidFill>
                  <a:schemeClr val="tx1"/>
                </a:solidFill>
                <a:effectLst/>
                <a:latin typeface="+mn-lt"/>
                <a:ea typeface="+mn-ea"/>
                <a:cs typeface="+mn-cs"/>
              </a:rPr>
              <a:t> profundo = 15;</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volumen = ancho * alto * profundo;</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("El volumen de la caja es: " + volumen);</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a:t>
            </a:r>
          </a:p>
          <a:p>
            <a:endParaRPr lang="es-CO" dirty="0"/>
          </a:p>
          <a:p>
            <a:endParaRPr lang="es-CO" dirty="0"/>
          </a:p>
          <a:p>
            <a:r>
              <a:rPr lang="es-CO" dirty="0"/>
              <a:t>//Versión mejorada</a:t>
            </a:r>
          </a:p>
          <a:p>
            <a:r>
              <a:rPr lang="es-CO" dirty="0" err="1"/>
              <a:t>import</a:t>
            </a:r>
            <a:r>
              <a:rPr lang="es-CO" dirty="0"/>
              <a:t> </a:t>
            </a:r>
            <a:r>
              <a:rPr lang="es-CO" dirty="0" err="1"/>
              <a:t>java.util.Scanner</a:t>
            </a:r>
            <a:r>
              <a:rPr lang="es-CO" dirty="0"/>
              <a:t>;</a:t>
            </a:r>
          </a:p>
          <a:p>
            <a:br>
              <a:rPr lang="es-CO" dirty="0"/>
            </a:br>
            <a:r>
              <a:rPr lang="es-CO" dirty="0" err="1"/>
              <a:t>public</a:t>
            </a:r>
            <a:r>
              <a:rPr lang="es-CO" dirty="0"/>
              <a:t> </a:t>
            </a:r>
            <a:r>
              <a:rPr lang="es-CO" dirty="0" err="1"/>
              <a:t>class</a:t>
            </a:r>
            <a:r>
              <a:rPr lang="es-CO" dirty="0"/>
              <a:t> </a:t>
            </a:r>
            <a:r>
              <a:rPr lang="es-CO" dirty="0" err="1"/>
              <a:t>VolumenCaja</a:t>
            </a:r>
            <a:r>
              <a:rPr lang="es-CO" dirty="0"/>
              <a:t> {</a:t>
            </a:r>
          </a:p>
          <a:p>
            <a:r>
              <a:rPr lang="es-CO" dirty="0"/>
              <a:t>    </a:t>
            </a:r>
            <a:r>
              <a:rPr lang="es-CO" dirty="0" err="1"/>
              <a:t>public</a:t>
            </a:r>
            <a:r>
              <a:rPr lang="es-CO" dirty="0"/>
              <a:t> </a:t>
            </a:r>
            <a:r>
              <a:rPr lang="es-CO" dirty="0" err="1"/>
              <a:t>static</a:t>
            </a:r>
            <a:r>
              <a:rPr lang="es-CO" dirty="0"/>
              <a:t> </a:t>
            </a:r>
            <a:r>
              <a:rPr lang="es-CO" dirty="0" err="1"/>
              <a:t>void</a:t>
            </a:r>
            <a:r>
              <a:rPr lang="es-CO" dirty="0"/>
              <a:t> </a:t>
            </a:r>
            <a:r>
              <a:rPr lang="es-CO" dirty="0" err="1"/>
              <a:t>main</a:t>
            </a:r>
            <a:r>
              <a:rPr lang="es-CO" dirty="0"/>
              <a:t>(</a:t>
            </a:r>
            <a:r>
              <a:rPr lang="es-CO" dirty="0" err="1"/>
              <a:t>String</a:t>
            </a:r>
            <a:r>
              <a:rPr lang="es-CO" dirty="0"/>
              <a:t>[] </a:t>
            </a:r>
            <a:r>
              <a:rPr lang="es-CO" dirty="0" err="1"/>
              <a:t>args</a:t>
            </a:r>
            <a:r>
              <a:rPr lang="es-CO" dirty="0"/>
              <a:t>) {</a:t>
            </a:r>
          </a:p>
          <a:p>
            <a:r>
              <a:rPr lang="es-CO" dirty="0"/>
              <a:t>        Scanner </a:t>
            </a:r>
            <a:r>
              <a:rPr lang="es-CO" dirty="0" err="1"/>
              <a:t>scanner</a:t>
            </a:r>
            <a:r>
              <a:rPr lang="es-CO" dirty="0"/>
              <a:t> = new Scanner(System.in);</a:t>
            </a:r>
          </a:p>
          <a:p>
            <a:endParaRPr lang="es-CO" dirty="0"/>
          </a:p>
          <a:p>
            <a:r>
              <a:rPr lang="es-CO" dirty="0"/>
              <a:t>        // Solicitar dimensiones al usuario</a:t>
            </a:r>
          </a:p>
          <a:p>
            <a:r>
              <a:rPr lang="es-CO" dirty="0"/>
              <a:t>        </a:t>
            </a:r>
            <a:r>
              <a:rPr lang="es-CO" dirty="0" err="1"/>
              <a:t>System.out.print</a:t>
            </a:r>
            <a:r>
              <a:rPr lang="es-CO" dirty="0"/>
              <a:t>("Ingrese la dimensión A: ");</a:t>
            </a:r>
          </a:p>
          <a:p>
            <a:r>
              <a:rPr lang="es-CO" dirty="0"/>
              <a:t>        </a:t>
            </a:r>
            <a:r>
              <a:rPr lang="es-CO" dirty="0" err="1"/>
              <a:t>double</a:t>
            </a:r>
            <a:r>
              <a:rPr lang="es-CO" dirty="0"/>
              <a:t> A = </a:t>
            </a:r>
            <a:r>
              <a:rPr lang="es-CO" dirty="0" err="1"/>
              <a:t>scanner.nextDouble</a:t>
            </a:r>
            <a:r>
              <a:rPr lang="es-CO" dirty="0"/>
              <a:t>();</a:t>
            </a:r>
            <a:br>
              <a:rPr lang="es-CO" dirty="0"/>
            </a:br>
            <a:endParaRPr lang="es-CO" dirty="0"/>
          </a:p>
          <a:p>
            <a:r>
              <a:rPr lang="es-CO" dirty="0"/>
              <a:t>        </a:t>
            </a:r>
            <a:r>
              <a:rPr lang="es-CO" dirty="0" err="1"/>
              <a:t>System.out.print</a:t>
            </a:r>
            <a:r>
              <a:rPr lang="es-CO" dirty="0"/>
              <a:t>("Ingrese la dimensión B: ");</a:t>
            </a:r>
          </a:p>
          <a:p>
            <a:r>
              <a:rPr lang="es-CO" dirty="0"/>
              <a:t>        </a:t>
            </a:r>
            <a:r>
              <a:rPr lang="es-CO" dirty="0" err="1"/>
              <a:t>double</a:t>
            </a:r>
            <a:r>
              <a:rPr lang="es-CO" dirty="0"/>
              <a:t> B = </a:t>
            </a:r>
            <a:r>
              <a:rPr lang="es-CO" dirty="0" err="1"/>
              <a:t>scanner.nextDouble</a:t>
            </a:r>
            <a:r>
              <a:rPr lang="es-CO" dirty="0"/>
              <a:t>();</a:t>
            </a:r>
          </a:p>
          <a:p>
            <a:endParaRPr lang="es-CO" dirty="0"/>
          </a:p>
          <a:p>
            <a:r>
              <a:rPr lang="es-CO" dirty="0"/>
              <a:t>        </a:t>
            </a:r>
            <a:r>
              <a:rPr lang="es-CO" dirty="0" err="1"/>
              <a:t>System.out.print</a:t>
            </a:r>
            <a:r>
              <a:rPr lang="es-CO" dirty="0"/>
              <a:t>("Ingrese la dimensión C: ");</a:t>
            </a:r>
          </a:p>
          <a:p>
            <a:r>
              <a:rPr lang="es-CO" dirty="0"/>
              <a:t>        </a:t>
            </a:r>
            <a:r>
              <a:rPr lang="es-CO" dirty="0" err="1"/>
              <a:t>double</a:t>
            </a:r>
            <a:r>
              <a:rPr lang="es-CO" dirty="0"/>
              <a:t> C = </a:t>
            </a:r>
            <a:r>
              <a:rPr lang="es-CO" dirty="0" err="1"/>
              <a:t>scanner.nextDouble</a:t>
            </a:r>
            <a:r>
              <a:rPr lang="es-CO" dirty="0"/>
              <a:t>();</a:t>
            </a:r>
          </a:p>
          <a:p>
            <a:endParaRPr lang="es-CO" dirty="0"/>
          </a:p>
          <a:p>
            <a:r>
              <a:rPr lang="es-CO" dirty="0"/>
              <a:t>        // Calcular el volumen</a:t>
            </a:r>
          </a:p>
          <a:p>
            <a:r>
              <a:rPr lang="es-CO" dirty="0"/>
              <a:t>        </a:t>
            </a:r>
            <a:r>
              <a:rPr lang="es-CO" dirty="0" err="1"/>
              <a:t>double</a:t>
            </a:r>
            <a:r>
              <a:rPr lang="es-CO" dirty="0"/>
              <a:t> volumen = A * B * C;</a:t>
            </a:r>
            <a:br>
              <a:rPr lang="es-CO" dirty="0"/>
            </a:br>
            <a:endParaRPr lang="es-CO" dirty="0"/>
          </a:p>
          <a:p>
            <a:r>
              <a:rPr lang="es-CO" dirty="0"/>
              <a:t>        // Mostrar el resultado</a:t>
            </a:r>
          </a:p>
          <a:p>
            <a:r>
              <a:rPr lang="es-CO" dirty="0"/>
              <a:t>        </a:t>
            </a:r>
            <a:r>
              <a:rPr lang="es-CO" dirty="0" err="1"/>
              <a:t>System.out.println</a:t>
            </a:r>
            <a:r>
              <a:rPr lang="es-CO" dirty="0"/>
              <a:t>("El volumen de la caja es: " + volumen);</a:t>
            </a:r>
          </a:p>
          <a:p>
            <a:endParaRPr lang="es-CO" dirty="0"/>
          </a:p>
          <a:p>
            <a:r>
              <a:rPr lang="es-CO" dirty="0"/>
              <a:t>        </a:t>
            </a:r>
            <a:r>
              <a:rPr lang="es-CO" dirty="0" err="1"/>
              <a:t>scanner.close</a:t>
            </a:r>
            <a:r>
              <a:rPr lang="es-CO" dirty="0"/>
              <a:t>();</a:t>
            </a:r>
          </a:p>
          <a:p>
            <a:r>
              <a:rPr lang="es-CO" dirty="0"/>
              <a:t>    }</a:t>
            </a:r>
          </a:p>
          <a:p>
            <a:r>
              <a:rPr lang="es-CO" dirty="0"/>
              <a:t>}</a:t>
            </a:r>
          </a:p>
          <a:p>
            <a:endParaRPr lang="es-CO" dirty="0"/>
          </a:p>
          <a:p>
            <a:r>
              <a:rPr lang="es-CO" dirty="0"/>
              <a:t>Scanner </a:t>
            </a:r>
            <a:r>
              <a:rPr lang="es-CO" dirty="0" err="1"/>
              <a:t>scanner</a:t>
            </a:r>
            <a:r>
              <a:rPr lang="es-CO" dirty="0"/>
              <a:t> = new Scanner(System.in);</a:t>
            </a:r>
            <a:br>
              <a:rPr lang="es-CO" dirty="0"/>
            </a:br>
            <a:r>
              <a:rPr lang="es-MX" dirty="0"/>
              <a:t>en </a:t>
            </a:r>
            <a:r>
              <a:rPr lang="es-MX" b="1" dirty="0"/>
              <a:t>Java</a:t>
            </a:r>
            <a:r>
              <a:rPr lang="es-MX" dirty="0"/>
              <a:t> se llama </a:t>
            </a:r>
            <a:r>
              <a:rPr lang="es-MX" b="1" dirty="0"/>
              <a:t>creación de un objeto (instanciación) usando un constructor</a:t>
            </a:r>
            <a:r>
              <a:rPr lang="es-MX" dirty="0"/>
              <a:t>.</a:t>
            </a:r>
          </a:p>
          <a:p>
            <a:r>
              <a:rPr lang="es-MX" b="1" dirty="0"/>
              <a:t>✅ ¿Por qué?</a:t>
            </a:r>
          </a:p>
          <a:p>
            <a:r>
              <a:rPr lang="es-MX" sz="1200" b="1" kern="1200" dirty="0">
                <a:solidFill>
                  <a:schemeClr val="tx1"/>
                </a:solidFill>
                <a:latin typeface="+mn-lt"/>
                <a:ea typeface="+mn-ea"/>
                <a:cs typeface="+mn-cs"/>
              </a:rPr>
              <a:t>Scanner</a:t>
            </a:r>
            <a:r>
              <a:rPr lang="es-MX" dirty="0"/>
              <a:t> es una </a:t>
            </a:r>
            <a:r>
              <a:rPr lang="es-MX" b="1" dirty="0"/>
              <a:t>clase</a:t>
            </a:r>
            <a:r>
              <a:rPr lang="es-MX" dirty="0"/>
              <a:t> de la librería </a:t>
            </a:r>
            <a:r>
              <a:rPr lang="es-MX" sz="1200" kern="1200" dirty="0" err="1">
                <a:solidFill>
                  <a:schemeClr val="tx1"/>
                </a:solidFill>
                <a:latin typeface="+mn-lt"/>
                <a:ea typeface="+mn-ea"/>
                <a:cs typeface="+mn-cs"/>
              </a:rPr>
              <a:t>java.util</a:t>
            </a:r>
            <a:r>
              <a:rPr lang="es-MX" dirty="0"/>
              <a:t>.</a:t>
            </a:r>
          </a:p>
          <a:p>
            <a:r>
              <a:rPr lang="es-MX" sz="1200" b="1" kern="1200" dirty="0">
                <a:solidFill>
                  <a:schemeClr val="tx1"/>
                </a:solidFill>
                <a:latin typeface="+mn-lt"/>
                <a:ea typeface="+mn-ea"/>
                <a:cs typeface="+mn-cs"/>
              </a:rPr>
              <a:t>new Scanner(System.in)</a:t>
            </a:r>
            <a:r>
              <a:rPr lang="es-MX" dirty="0"/>
              <a:t> invoca el </a:t>
            </a:r>
            <a:r>
              <a:rPr lang="es-MX" b="1" dirty="0"/>
              <a:t>constructor</a:t>
            </a:r>
            <a:r>
              <a:rPr lang="es-MX" dirty="0"/>
              <a:t> de la clase </a:t>
            </a:r>
            <a:r>
              <a:rPr lang="es-MX" sz="1200" kern="1200" dirty="0">
                <a:solidFill>
                  <a:schemeClr val="tx1"/>
                </a:solidFill>
                <a:latin typeface="+mn-lt"/>
                <a:ea typeface="+mn-ea"/>
                <a:cs typeface="+mn-cs"/>
              </a:rPr>
              <a:t>Scanner</a:t>
            </a:r>
            <a:r>
              <a:rPr lang="es-MX" dirty="0"/>
              <a:t> para crear un </a:t>
            </a:r>
            <a:r>
              <a:rPr lang="es-MX" b="1" dirty="0"/>
              <a:t>objeto</a:t>
            </a:r>
            <a:r>
              <a:rPr lang="es-MX" dirty="0"/>
              <a:t> que leerá datos desde la entrada estándar (el teclado).</a:t>
            </a:r>
          </a:p>
          <a:p>
            <a:r>
              <a:rPr lang="es-MX" sz="1200" b="1" kern="1200" dirty="0">
                <a:solidFill>
                  <a:schemeClr val="tx1"/>
                </a:solidFill>
                <a:latin typeface="+mn-lt"/>
                <a:ea typeface="+mn-ea"/>
                <a:cs typeface="+mn-cs"/>
              </a:rPr>
              <a:t>scanner</a:t>
            </a:r>
            <a:r>
              <a:rPr lang="es-MX" dirty="0"/>
              <a:t> es la </a:t>
            </a:r>
            <a:r>
              <a:rPr lang="es-MX" b="1" dirty="0"/>
              <a:t>referencia</a:t>
            </a:r>
            <a:r>
              <a:rPr lang="es-MX" dirty="0"/>
              <a:t> al objeto creado.</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23</a:t>
            </a:fld>
            <a:endParaRPr lang="es-CO"/>
          </a:p>
        </p:txBody>
      </p:sp>
    </p:spTree>
    <p:extLst>
      <p:ext uri="{BB962C8B-B14F-4D97-AF65-F5344CB8AC3E}">
        <p14:creationId xmlns:p14="http://schemas.microsoft.com/office/powerpoint/2010/main" val="29378735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El manejo de control de flujos en programación nos permite decidir qué instrucciones ejecutar según ciertas condiciones. Es como darle al programa la capacidad de tomar decisiones.</a:t>
            </a:r>
          </a:p>
          <a:p>
            <a:r>
              <a:rPr lang="es-MX" dirty="0"/>
              <a:t>Existen dos estructuras muy comunes:</a:t>
            </a:r>
          </a:p>
          <a:p>
            <a:r>
              <a:rPr lang="es-MX" b="1" dirty="0" err="1"/>
              <a:t>If-Else</a:t>
            </a:r>
            <a:br>
              <a:rPr lang="es-MX" dirty="0"/>
            </a:br>
            <a:r>
              <a:rPr lang="es-MX" dirty="0"/>
              <a:t>Se utiliza cuando queremos ejecutar una acción si se cumple una condición y otra acción si no se cumple. Es ideal para decisiones simples, como verificar si un usuario tiene acceso o no.</a:t>
            </a:r>
          </a:p>
          <a:p>
            <a:r>
              <a:rPr lang="es-MX" b="1" dirty="0"/>
              <a:t>Switch</a:t>
            </a:r>
            <a:br>
              <a:rPr lang="es-MX" dirty="0"/>
            </a:br>
            <a:r>
              <a:rPr lang="es-MX" dirty="0"/>
              <a:t>Se usa cuando tenemos varias opciones posibles para una misma expresión. En lugar de escribir muchos ‘</a:t>
            </a:r>
            <a:r>
              <a:rPr lang="es-MX" dirty="0" err="1"/>
              <a:t>if</a:t>
            </a:r>
            <a:r>
              <a:rPr lang="es-MX" dirty="0"/>
              <a:t>’, el switch organiza las alternativas de forma más clara. Por ejemplo, elegir qué mensaje mostrar según el día de la semana.</a:t>
            </a:r>
          </a:p>
          <a:p>
            <a:r>
              <a:rPr lang="es-MX" dirty="0"/>
              <a:t>En resumen:</a:t>
            </a:r>
          </a:p>
          <a:p>
            <a:r>
              <a:rPr lang="es-MX" b="1" dirty="0" err="1"/>
              <a:t>If-Else</a:t>
            </a:r>
            <a:r>
              <a:rPr lang="es-MX" dirty="0"/>
              <a:t> = decisiones simples, dos caminos.</a:t>
            </a:r>
          </a:p>
          <a:p>
            <a:r>
              <a:rPr lang="es-MX" b="1" dirty="0"/>
              <a:t>Switch</a:t>
            </a:r>
            <a:r>
              <a:rPr lang="es-MX" dirty="0"/>
              <a:t> = múltiples opciones para una misma condición.</a:t>
            </a:r>
          </a:p>
          <a:p>
            <a:r>
              <a:rPr lang="es-MX" dirty="0"/>
              <a:t>Estas estructuras son esenciales porque permiten que el programa sea dinámico y responda a diferentes escenarios.</a:t>
            </a:r>
          </a:p>
          <a:p>
            <a:endParaRPr lang="es-MX" dirty="0"/>
          </a:p>
          <a:p>
            <a:r>
              <a:rPr lang="es-CO" sz="1200" kern="1200" dirty="0" err="1">
                <a:solidFill>
                  <a:schemeClr val="tx1"/>
                </a:solidFill>
                <a:effectLst/>
                <a:latin typeface="+mn-lt"/>
                <a:ea typeface="+mn-ea"/>
                <a:cs typeface="+mn-cs"/>
              </a:rPr>
              <a:t>import</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java.util.Scanner</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err="1">
                <a:solidFill>
                  <a:schemeClr val="tx1"/>
                </a:solidFill>
                <a:effectLst/>
                <a:latin typeface="+mn-lt"/>
                <a:ea typeface="+mn-ea"/>
                <a:cs typeface="+mn-cs"/>
              </a:rPr>
              <a:t>public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class</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VolumenCaja</a:t>
            </a: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public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static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void</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main</a:t>
            </a:r>
            <a:r>
              <a:rPr lang="es-CO" sz="1200" kern="1200" dirty="0">
                <a:solidFill>
                  <a:schemeClr val="tx1"/>
                </a:solidFill>
                <a:effectLst/>
                <a:latin typeface="+mn-lt"/>
                <a:ea typeface="+mn-ea"/>
                <a:cs typeface="+mn-cs"/>
              </a:rPr>
              <a:t>(</a:t>
            </a:r>
            <a:r>
              <a:rPr lang="es-CO" sz="1200" kern="1200" dirty="0" err="1">
                <a:solidFill>
                  <a:schemeClr val="tx1"/>
                </a:solidFill>
                <a:effectLst/>
                <a:latin typeface="+mn-lt"/>
                <a:ea typeface="+mn-ea"/>
                <a:cs typeface="+mn-cs"/>
              </a:rPr>
              <a:t>String</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args</a:t>
            </a: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Scanner </a:t>
            </a:r>
            <a:r>
              <a:rPr lang="es-CO" sz="1200" kern="1200" dirty="0" err="1">
                <a:solidFill>
                  <a:schemeClr val="tx1"/>
                </a:solidFill>
                <a:effectLst/>
                <a:latin typeface="+mn-lt"/>
                <a:ea typeface="+mn-ea"/>
                <a:cs typeface="+mn-cs"/>
              </a:rPr>
              <a:t>sc</a:t>
            </a:r>
            <a:r>
              <a:rPr lang="es-CO" sz="1200" kern="1200" dirty="0">
                <a:solidFill>
                  <a:schemeClr val="tx1"/>
                </a:solidFill>
                <a:effectLst/>
                <a:latin typeface="+mn-lt"/>
                <a:ea typeface="+mn-ea"/>
                <a:cs typeface="+mn-cs"/>
              </a:rPr>
              <a:t> = new Scanner(System.</a:t>
            </a:r>
            <a:r>
              <a:rPr lang="es-CO" sz="1200" i="1" kern="1200" dirty="0">
                <a:solidFill>
                  <a:schemeClr val="tx1"/>
                </a:solidFill>
                <a:effectLst/>
                <a:latin typeface="+mn-lt"/>
                <a:ea typeface="+mn-ea"/>
                <a:cs typeface="+mn-cs"/>
              </a:rPr>
              <a:t>in</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i="1" kern="1200" dirty="0">
                <a:solidFill>
                  <a:schemeClr val="tx1"/>
                </a:solidFill>
                <a:effectLst/>
                <a:latin typeface="+mn-lt"/>
                <a:ea typeface="+mn-ea"/>
                <a:cs typeface="+mn-cs"/>
              </a:rPr>
              <a:t>// Solicitar dimensiones</a:t>
            </a:r>
            <a:br>
              <a:rPr lang="es-CO" sz="1200" i="1" kern="1200" dirty="0">
                <a:solidFill>
                  <a:schemeClr val="tx1"/>
                </a:solidFill>
                <a:effectLst/>
                <a:latin typeface="+mn-lt"/>
                <a:ea typeface="+mn-ea"/>
                <a:cs typeface="+mn-cs"/>
              </a:rPr>
            </a:br>
            <a:r>
              <a:rPr lang="es-CO" sz="1200" i="1"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a:t>
            </a:r>
            <a:r>
              <a:rPr lang="es-CO" sz="1200" kern="1200" dirty="0">
                <a:solidFill>
                  <a:schemeClr val="tx1"/>
                </a:solidFill>
                <a:effectLst/>
                <a:latin typeface="+mn-lt"/>
                <a:ea typeface="+mn-ea"/>
                <a:cs typeface="+mn-cs"/>
              </a:rPr>
              <a:t>("Ingrese la dimensión A: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double</a:t>
            </a:r>
            <a:r>
              <a:rPr lang="es-CO" sz="1200" kern="1200" dirty="0">
                <a:solidFill>
                  <a:schemeClr val="tx1"/>
                </a:solidFill>
                <a:effectLst/>
                <a:latin typeface="+mn-lt"/>
                <a:ea typeface="+mn-ea"/>
                <a:cs typeface="+mn-cs"/>
              </a:rPr>
              <a:t> A = </a:t>
            </a:r>
            <a:r>
              <a:rPr lang="es-CO" sz="1200" kern="1200" dirty="0" err="1">
                <a:solidFill>
                  <a:schemeClr val="tx1"/>
                </a:solidFill>
                <a:effectLst/>
                <a:latin typeface="+mn-lt"/>
                <a:ea typeface="+mn-ea"/>
                <a:cs typeface="+mn-cs"/>
              </a:rPr>
              <a:t>sc.nextDouble</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a:t>
            </a:r>
            <a:r>
              <a:rPr lang="es-CO" sz="1200" kern="1200" dirty="0">
                <a:solidFill>
                  <a:schemeClr val="tx1"/>
                </a:solidFill>
                <a:effectLst/>
                <a:latin typeface="+mn-lt"/>
                <a:ea typeface="+mn-ea"/>
                <a:cs typeface="+mn-cs"/>
              </a:rPr>
              <a:t>("Ingrese la dimensión B: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double</a:t>
            </a:r>
            <a:r>
              <a:rPr lang="es-CO" sz="1200" kern="1200" dirty="0">
                <a:solidFill>
                  <a:schemeClr val="tx1"/>
                </a:solidFill>
                <a:effectLst/>
                <a:latin typeface="+mn-lt"/>
                <a:ea typeface="+mn-ea"/>
                <a:cs typeface="+mn-cs"/>
              </a:rPr>
              <a:t> B = </a:t>
            </a:r>
            <a:r>
              <a:rPr lang="es-CO" sz="1200" kern="1200" dirty="0" err="1">
                <a:solidFill>
                  <a:schemeClr val="tx1"/>
                </a:solidFill>
                <a:effectLst/>
                <a:latin typeface="+mn-lt"/>
                <a:ea typeface="+mn-ea"/>
                <a:cs typeface="+mn-cs"/>
              </a:rPr>
              <a:t>sc.nextDouble</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a:t>
            </a:r>
            <a:r>
              <a:rPr lang="es-CO" sz="1200" kern="1200" dirty="0">
                <a:solidFill>
                  <a:schemeClr val="tx1"/>
                </a:solidFill>
                <a:effectLst/>
                <a:latin typeface="+mn-lt"/>
                <a:ea typeface="+mn-ea"/>
                <a:cs typeface="+mn-cs"/>
              </a:rPr>
              <a:t>("Ingrese la dimensión C: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double</a:t>
            </a:r>
            <a:r>
              <a:rPr lang="es-CO" sz="1200" kern="1200" dirty="0">
                <a:solidFill>
                  <a:schemeClr val="tx1"/>
                </a:solidFill>
                <a:effectLst/>
                <a:latin typeface="+mn-lt"/>
                <a:ea typeface="+mn-ea"/>
                <a:cs typeface="+mn-cs"/>
              </a:rPr>
              <a:t> C = </a:t>
            </a:r>
            <a:r>
              <a:rPr lang="es-CO" sz="1200" kern="1200" dirty="0" err="1">
                <a:solidFill>
                  <a:schemeClr val="tx1"/>
                </a:solidFill>
                <a:effectLst/>
                <a:latin typeface="+mn-lt"/>
                <a:ea typeface="+mn-ea"/>
                <a:cs typeface="+mn-cs"/>
              </a:rPr>
              <a:t>sc.nextDouble</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i="1" kern="1200" dirty="0">
                <a:solidFill>
                  <a:schemeClr val="tx1"/>
                </a:solidFill>
                <a:effectLst/>
                <a:latin typeface="+mn-lt"/>
                <a:ea typeface="+mn-ea"/>
                <a:cs typeface="+mn-cs"/>
              </a:rPr>
              <a:t>// Validar dimensiones con </a:t>
            </a:r>
            <a:r>
              <a:rPr lang="es-CO" sz="1200" i="1" kern="1200" dirty="0" err="1">
                <a:solidFill>
                  <a:schemeClr val="tx1"/>
                </a:solidFill>
                <a:effectLst/>
                <a:latin typeface="+mn-lt"/>
                <a:ea typeface="+mn-ea"/>
                <a:cs typeface="+mn-cs"/>
              </a:rPr>
              <a:t>if</a:t>
            </a:r>
            <a:r>
              <a:rPr lang="es-CO" sz="1200" i="1" kern="1200" dirty="0">
                <a:solidFill>
                  <a:schemeClr val="tx1"/>
                </a:solidFill>
                <a:effectLst/>
                <a:latin typeface="+mn-lt"/>
                <a:ea typeface="+mn-ea"/>
                <a:cs typeface="+mn-cs"/>
              </a:rPr>
              <a:t> anidados</a:t>
            </a:r>
            <a:br>
              <a:rPr lang="es-CO" sz="1200" i="1" kern="1200" dirty="0">
                <a:solidFill>
                  <a:schemeClr val="tx1"/>
                </a:solidFill>
                <a:effectLst/>
                <a:latin typeface="+mn-lt"/>
                <a:ea typeface="+mn-ea"/>
                <a:cs typeface="+mn-cs"/>
              </a:rPr>
            </a:br>
            <a:r>
              <a:rPr lang="es-CO" sz="1200" i="1"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if</a:t>
            </a:r>
            <a:r>
              <a:rPr lang="es-CO" sz="1200" kern="1200" dirty="0">
                <a:solidFill>
                  <a:schemeClr val="tx1"/>
                </a:solidFill>
                <a:effectLst/>
                <a:latin typeface="+mn-lt"/>
                <a:ea typeface="+mn-ea"/>
                <a:cs typeface="+mn-cs"/>
              </a:rPr>
              <a:t> (A &gt; 0)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if</a:t>
            </a:r>
            <a:r>
              <a:rPr lang="es-CO" sz="1200" kern="1200" dirty="0">
                <a:solidFill>
                  <a:schemeClr val="tx1"/>
                </a:solidFill>
                <a:effectLst/>
                <a:latin typeface="+mn-lt"/>
                <a:ea typeface="+mn-ea"/>
                <a:cs typeface="+mn-cs"/>
              </a:rPr>
              <a:t> (B &gt; 0)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if</a:t>
            </a:r>
            <a:r>
              <a:rPr lang="es-CO" sz="1200" kern="1200" dirty="0">
                <a:solidFill>
                  <a:schemeClr val="tx1"/>
                </a:solidFill>
                <a:effectLst/>
                <a:latin typeface="+mn-lt"/>
                <a:ea typeface="+mn-ea"/>
                <a:cs typeface="+mn-cs"/>
              </a:rPr>
              <a:t> (C &gt; 0)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double</a:t>
            </a:r>
            <a:r>
              <a:rPr lang="es-CO" sz="1200" kern="1200" dirty="0">
                <a:solidFill>
                  <a:schemeClr val="tx1"/>
                </a:solidFill>
                <a:effectLst/>
                <a:latin typeface="+mn-lt"/>
                <a:ea typeface="+mn-ea"/>
                <a:cs typeface="+mn-cs"/>
              </a:rPr>
              <a:t> volumen = A * B * C;</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("El volumen de la caja es: " + volumen);</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 </a:t>
            </a:r>
            <a:r>
              <a:rPr lang="es-CO" sz="1200" kern="1200" dirty="0" err="1">
                <a:solidFill>
                  <a:schemeClr val="tx1"/>
                </a:solidFill>
                <a:effectLst/>
                <a:latin typeface="+mn-lt"/>
                <a:ea typeface="+mn-ea"/>
                <a:cs typeface="+mn-cs"/>
              </a:rPr>
              <a:t>else</a:t>
            </a: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("Error: Las dimensiones deben ser positivas y mayores que cero.");</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 </a:t>
            </a:r>
            <a:r>
              <a:rPr lang="es-CO" sz="1200" kern="1200" dirty="0" err="1">
                <a:solidFill>
                  <a:schemeClr val="tx1"/>
                </a:solidFill>
                <a:effectLst/>
                <a:latin typeface="+mn-lt"/>
                <a:ea typeface="+mn-ea"/>
                <a:cs typeface="+mn-cs"/>
              </a:rPr>
              <a:t>else</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("Error: Las dimensiones deben ser positivas y mayores que cero.");</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else</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("Error: Las dimensiones deben ser positivas y mayores que cero.");</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sc.close</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a:t>
            </a:r>
          </a:p>
          <a:p>
            <a:endParaRPr lang="es-CO" dirty="0"/>
          </a:p>
          <a:p>
            <a:endParaRPr lang="es-MX" dirty="0"/>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24</a:t>
            </a:fld>
            <a:endParaRPr lang="es-CO"/>
          </a:p>
        </p:txBody>
      </p:sp>
    </p:spTree>
    <p:extLst>
      <p:ext uri="{BB962C8B-B14F-4D97-AF65-F5344CB8AC3E}">
        <p14:creationId xmlns:p14="http://schemas.microsoft.com/office/powerpoint/2010/main" val="11658167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La tabla de la verdad nos ayuda a entender cómo funcionan los operadores lógicos en programación. Aquí tenemos dos variables, </a:t>
            </a:r>
            <a:r>
              <a:rPr lang="es-MX" b="1" dirty="0"/>
              <a:t>P</a:t>
            </a:r>
            <a:r>
              <a:rPr lang="es-MX" dirty="0"/>
              <a:t> y </a:t>
            </a:r>
            <a:r>
              <a:rPr lang="es-MX" b="1" dirty="0"/>
              <a:t>Q</a:t>
            </a:r>
            <a:r>
              <a:rPr lang="es-MX" dirty="0"/>
              <a:t>, que pueden ser verdaderas (True) o falsas (False). A partir de ellas, evaluamos tres operaciones:</a:t>
            </a:r>
          </a:p>
          <a:p>
            <a:r>
              <a:rPr lang="es-MX" b="1" dirty="0"/>
              <a:t>-P &amp;&amp; Q (AND lógico)</a:t>
            </a:r>
            <a:br>
              <a:rPr lang="es-MX" dirty="0"/>
            </a:br>
            <a:r>
              <a:rPr lang="es-MX" dirty="0"/>
              <a:t>Solo es verdadero cuando </a:t>
            </a:r>
            <a:r>
              <a:rPr lang="es-MX" b="1" dirty="0"/>
              <a:t>P y Q son verdaderos al mismo tiempo</a:t>
            </a:r>
            <a:r>
              <a:rPr lang="es-MX" dirty="0"/>
              <a:t>. Si una de las dos es falsa, el resultado será falso.</a:t>
            </a:r>
          </a:p>
          <a:p>
            <a:r>
              <a:rPr lang="es-MX" b="1" dirty="0"/>
              <a:t>-P || Q (OR lógico)</a:t>
            </a:r>
            <a:br>
              <a:rPr lang="es-MX" dirty="0"/>
            </a:br>
            <a:r>
              <a:rPr lang="es-MX" dirty="0"/>
              <a:t>Es verdadero si </a:t>
            </a:r>
            <a:r>
              <a:rPr lang="es-MX" b="1" dirty="0"/>
              <a:t>al menos una de las dos condiciones es verdadera</a:t>
            </a:r>
            <a:r>
              <a:rPr lang="es-MX" dirty="0"/>
              <a:t>. Solo será falso cuando ambas sean falsas.</a:t>
            </a:r>
          </a:p>
          <a:p>
            <a:r>
              <a:rPr lang="es-MX" b="1" dirty="0"/>
              <a:t>-!P (NOT lógico)</a:t>
            </a:r>
            <a:br>
              <a:rPr lang="es-MX" dirty="0"/>
            </a:br>
            <a:r>
              <a:rPr lang="es-MX" dirty="0"/>
              <a:t>Invierte el valor de P. Si P es verdadero, !P será falso; si P es falso, !P será verdadero.</a:t>
            </a:r>
          </a:p>
          <a:p>
            <a:endParaRPr lang="es-MX" dirty="0"/>
          </a:p>
          <a:p>
            <a:r>
              <a:rPr lang="es-CO" dirty="0" err="1"/>
              <a:t>import</a:t>
            </a:r>
            <a:r>
              <a:rPr lang="es-CO" dirty="0"/>
              <a:t> </a:t>
            </a:r>
            <a:r>
              <a:rPr lang="es-CO" dirty="0" err="1"/>
              <a:t>java.util.Scanner</a:t>
            </a:r>
            <a:r>
              <a:rPr lang="es-CO" dirty="0"/>
              <a:t>;</a:t>
            </a:r>
          </a:p>
          <a:p>
            <a:br>
              <a:rPr lang="es-CO" dirty="0"/>
            </a:br>
            <a:r>
              <a:rPr lang="es-CO" dirty="0" err="1"/>
              <a:t>public</a:t>
            </a:r>
            <a:r>
              <a:rPr lang="es-CO" dirty="0"/>
              <a:t> </a:t>
            </a:r>
            <a:r>
              <a:rPr lang="es-CO" dirty="0" err="1"/>
              <a:t>class</a:t>
            </a:r>
            <a:r>
              <a:rPr lang="es-CO" dirty="0"/>
              <a:t> </a:t>
            </a:r>
            <a:r>
              <a:rPr lang="es-CO" dirty="0" err="1"/>
              <a:t>VolumenCaja</a:t>
            </a:r>
            <a:r>
              <a:rPr lang="es-CO" dirty="0"/>
              <a:t> {</a:t>
            </a:r>
          </a:p>
          <a:p>
            <a:r>
              <a:rPr lang="es-CO" dirty="0"/>
              <a:t>    </a:t>
            </a:r>
            <a:r>
              <a:rPr lang="es-CO" dirty="0" err="1"/>
              <a:t>public</a:t>
            </a:r>
            <a:r>
              <a:rPr lang="es-CO" dirty="0"/>
              <a:t> </a:t>
            </a:r>
            <a:r>
              <a:rPr lang="es-CO" dirty="0" err="1"/>
              <a:t>static</a:t>
            </a:r>
            <a:r>
              <a:rPr lang="es-CO" dirty="0"/>
              <a:t> </a:t>
            </a:r>
            <a:r>
              <a:rPr lang="es-CO" dirty="0" err="1"/>
              <a:t>void</a:t>
            </a:r>
            <a:r>
              <a:rPr lang="es-CO" dirty="0"/>
              <a:t> </a:t>
            </a:r>
            <a:r>
              <a:rPr lang="es-CO" dirty="0" err="1"/>
              <a:t>main</a:t>
            </a:r>
            <a:r>
              <a:rPr lang="es-CO" dirty="0"/>
              <a:t>(</a:t>
            </a:r>
            <a:r>
              <a:rPr lang="es-CO" dirty="0" err="1"/>
              <a:t>String</a:t>
            </a:r>
            <a:r>
              <a:rPr lang="es-CO" dirty="0"/>
              <a:t>[] </a:t>
            </a:r>
            <a:r>
              <a:rPr lang="es-CO" dirty="0" err="1"/>
              <a:t>args</a:t>
            </a:r>
            <a:r>
              <a:rPr lang="es-CO" dirty="0"/>
              <a:t>) {</a:t>
            </a:r>
          </a:p>
          <a:p>
            <a:r>
              <a:rPr lang="es-CO" dirty="0"/>
              <a:t>        Scanner </a:t>
            </a:r>
            <a:r>
              <a:rPr lang="es-CO" dirty="0" err="1"/>
              <a:t>sc</a:t>
            </a:r>
            <a:r>
              <a:rPr lang="es-CO" dirty="0"/>
              <a:t> = new Scanner(System.in);</a:t>
            </a:r>
          </a:p>
          <a:p>
            <a:endParaRPr lang="es-CO" dirty="0"/>
          </a:p>
          <a:p>
            <a:r>
              <a:rPr lang="es-CO" dirty="0"/>
              <a:t>        // Solicitar dimensiones</a:t>
            </a:r>
          </a:p>
          <a:p>
            <a:r>
              <a:rPr lang="es-CO" dirty="0"/>
              <a:t>        </a:t>
            </a:r>
            <a:r>
              <a:rPr lang="es-CO" dirty="0" err="1"/>
              <a:t>System.out.print</a:t>
            </a:r>
            <a:r>
              <a:rPr lang="es-CO" dirty="0"/>
              <a:t>("Ingrese la dimensión A: ");</a:t>
            </a:r>
          </a:p>
          <a:p>
            <a:r>
              <a:rPr lang="es-CO" dirty="0"/>
              <a:t>        </a:t>
            </a:r>
            <a:r>
              <a:rPr lang="es-CO" dirty="0" err="1"/>
              <a:t>double</a:t>
            </a:r>
            <a:r>
              <a:rPr lang="es-CO" dirty="0"/>
              <a:t> A = </a:t>
            </a:r>
            <a:r>
              <a:rPr lang="es-CO" dirty="0" err="1"/>
              <a:t>sc.nextDouble</a:t>
            </a:r>
            <a:r>
              <a:rPr lang="es-CO" dirty="0"/>
              <a:t>();</a:t>
            </a:r>
          </a:p>
          <a:p>
            <a:endParaRPr lang="es-CO" dirty="0"/>
          </a:p>
          <a:p>
            <a:r>
              <a:rPr lang="es-CO" dirty="0"/>
              <a:t>        </a:t>
            </a:r>
            <a:r>
              <a:rPr lang="es-CO" dirty="0" err="1"/>
              <a:t>System.out.print</a:t>
            </a:r>
            <a:r>
              <a:rPr lang="es-CO" dirty="0"/>
              <a:t>("Ingrese la dimensión B: ");</a:t>
            </a:r>
          </a:p>
          <a:p>
            <a:r>
              <a:rPr lang="es-CO" dirty="0"/>
              <a:t>        </a:t>
            </a:r>
            <a:r>
              <a:rPr lang="es-CO" dirty="0" err="1"/>
              <a:t>double</a:t>
            </a:r>
            <a:r>
              <a:rPr lang="es-CO" dirty="0"/>
              <a:t> B = </a:t>
            </a:r>
            <a:r>
              <a:rPr lang="es-CO" dirty="0" err="1"/>
              <a:t>sc.nextDouble</a:t>
            </a:r>
            <a:r>
              <a:rPr lang="es-CO" dirty="0"/>
              <a:t>();</a:t>
            </a:r>
          </a:p>
          <a:p>
            <a:endParaRPr lang="es-CO" dirty="0"/>
          </a:p>
          <a:p>
            <a:r>
              <a:rPr lang="es-CO" dirty="0"/>
              <a:t>        </a:t>
            </a:r>
            <a:r>
              <a:rPr lang="es-CO" dirty="0" err="1"/>
              <a:t>System.out.print</a:t>
            </a:r>
            <a:r>
              <a:rPr lang="es-CO" dirty="0"/>
              <a:t>("Ingrese la dimensión C: ");</a:t>
            </a:r>
          </a:p>
          <a:p>
            <a:r>
              <a:rPr lang="es-CO" dirty="0"/>
              <a:t>        </a:t>
            </a:r>
            <a:r>
              <a:rPr lang="es-CO" dirty="0" err="1"/>
              <a:t>double</a:t>
            </a:r>
            <a:r>
              <a:rPr lang="es-CO" dirty="0"/>
              <a:t> C = </a:t>
            </a:r>
            <a:r>
              <a:rPr lang="es-CO" dirty="0" err="1"/>
              <a:t>sc.nextDouble</a:t>
            </a:r>
            <a:r>
              <a:rPr lang="es-CO" dirty="0"/>
              <a:t>();</a:t>
            </a:r>
          </a:p>
          <a:p>
            <a:endParaRPr lang="es-CO" dirty="0"/>
          </a:p>
          <a:p>
            <a:r>
              <a:rPr lang="es-CO" dirty="0"/>
              <a:t>        // Validar dimensiones</a:t>
            </a:r>
          </a:p>
          <a:p>
            <a:r>
              <a:rPr lang="es-CO" dirty="0"/>
              <a:t>        </a:t>
            </a:r>
            <a:r>
              <a:rPr lang="es-CO" dirty="0" err="1"/>
              <a:t>if</a:t>
            </a:r>
            <a:r>
              <a:rPr lang="es-CO" dirty="0"/>
              <a:t> (A &gt; 0 &amp;&amp; B &gt; 0 &amp;&amp; C &gt; 0) {</a:t>
            </a:r>
          </a:p>
          <a:p>
            <a:r>
              <a:rPr lang="es-CO" dirty="0"/>
              <a:t>            </a:t>
            </a:r>
            <a:r>
              <a:rPr lang="es-CO" dirty="0" err="1"/>
              <a:t>double</a:t>
            </a:r>
            <a:r>
              <a:rPr lang="es-CO" dirty="0"/>
              <a:t> volumen = A * B * C;</a:t>
            </a:r>
          </a:p>
          <a:p>
            <a:r>
              <a:rPr lang="es-CO" dirty="0"/>
              <a:t>            </a:t>
            </a:r>
            <a:r>
              <a:rPr lang="es-CO" dirty="0" err="1"/>
              <a:t>System.out.println</a:t>
            </a:r>
            <a:r>
              <a:rPr lang="es-CO" dirty="0"/>
              <a:t>("El volumen de la caja es: " + volumen);</a:t>
            </a:r>
          </a:p>
          <a:p>
            <a:r>
              <a:rPr lang="es-CO" dirty="0"/>
              <a:t>        } </a:t>
            </a:r>
            <a:r>
              <a:rPr lang="es-CO" dirty="0" err="1"/>
              <a:t>else</a:t>
            </a:r>
            <a:r>
              <a:rPr lang="es-CO" dirty="0"/>
              <a:t> {</a:t>
            </a:r>
          </a:p>
          <a:p>
            <a:r>
              <a:rPr lang="es-CO" dirty="0"/>
              <a:t>            </a:t>
            </a:r>
            <a:r>
              <a:rPr lang="es-CO" dirty="0" err="1"/>
              <a:t>System.out.println</a:t>
            </a:r>
            <a:r>
              <a:rPr lang="es-CO" dirty="0"/>
              <a:t>("Error: Las dimensiones deben ser positivas y mayores que cero.");</a:t>
            </a:r>
          </a:p>
          <a:p>
            <a:r>
              <a:rPr lang="es-CO" dirty="0"/>
              <a:t>        }</a:t>
            </a:r>
          </a:p>
          <a:p>
            <a:r>
              <a:rPr lang="es-CO" dirty="0"/>
              <a:t>        </a:t>
            </a:r>
            <a:r>
              <a:rPr lang="es-CO" dirty="0" err="1"/>
              <a:t>sc.close</a:t>
            </a:r>
            <a:r>
              <a:rPr lang="es-CO" dirty="0"/>
              <a:t>();</a:t>
            </a:r>
          </a:p>
          <a:p>
            <a:r>
              <a:rPr lang="es-CO" dirty="0"/>
              <a:t>    }</a:t>
            </a:r>
          </a:p>
          <a:p>
            <a:r>
              <a:rPr lang="es-CO" dirty="0"/>
              <a:t>}</a:t>
            </a:r>
          </a:p>
          <a:p>
            <a:endParaRPr lang="es-MX" dirty="0"/>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25</a:t>
            </a:fld>
            <a:endParaRPr lang="es-CO"/>
          </a:p>
        </p:txBody>
      </p:sp>
    </p:spTree>
    <p:extLst>
      <p:ext uri="{BB962C8B-B14F-4D97-AF65-F5344CB8AC3E}">
        <p14:creationId xmlns:p14="http://schemas.microsoft.com/office/powerpoint/2010/main" val="1687516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err="1"/>
              <a:t>import</a:t>
            </a:r>
            <a:r>
              <a:rPr lang="es-CO" dirty="0"/>
              <a:t> </a:t>
            </a:r>
            <a:r>
              <a:rPr lang="es-CO" dirty="0" err="1"/>
              <a:t>java.util.Scanner</a:t>
            </a:r>
            <a:r>
              <a:rPr lang="es-CO" dirty="0"/>
              <a:t>;</a:t>
            </a:r>
          </a:p>
          <a:p>
            <a:br>
              <a:rPr lang="es-CO" dirty="0"/>
            </a:br>
            <a:endParaRPr lang="es-CO" dirty="0"/>
          </a:p>
          <a:p>
            <a:r>
              <a:rPr lang="es-CO" dirty="0" err="1"/>
              <a:t>public</a:t>
            </a:r>
            <a:r>
              <a:rPr lang="es-CO" dirty="0"/>
              <a:t> </a:t>
            </a:r>
            <a:r>
              <a:rPr lang="es-CO" dirty="0" err="1"/>
              <a:t>class</a:t>
            </a:r>
            <a:r>
              <a:rPr lang="es-CO" dirty="0"/>
              <a:t> </a:t>
            </a:r>
            <a:r>
              <a:rPr lang="es-CO" dirty="0" err="1"/>
              <a:t>ClasificacionEdad</a:t>
            </a:r>
            <a:r>
              <a:rPr lang="es-CO" dirty="0"/>
              <a:t> {</a:t>
            </a:r>
          </a:p>
          <a:p>
            <a:r>
              <a:rPr lang="es-CO" dirty="0"/>
              <a:t>    </a:t>
            </a:r>
            <a:r>
              <a:rPr lang="es-CO" dirty="0" err="1"/>
              <a:t>public</a:t>
            </a:r>
            <a:r>
              <a:rPr lang="es-CO" dirty="0"/>
              <a:t> </a:t>
            </a:r>
            <a:r>
              <a:rPr lang="es-CO" dirty="0" err="1"/>
              <a:t>static</a:t>
            </a:r>
            <a:r>
              <a:rPr lang="es-CO" dirty="0"/>
              <a:t> </a:t>
            </a:r>
            <a:r>
              <a:rPr lang="es-CO" dirty="0" err="1"/>
              <a:t>void</a:t>
            </a:r>
            <a:r>
              <a:rPr lang="es-CO" dirty="0"/>
              <a:t> </a:t>
            </a:r>
            <a:r>
              <a:rPr lang="es-CO" dirty="0" err="1"/>
              <a:t>main</a:t>
            </a:r>
            <a:r>
              <a:rPr lang="es-CO" dirty="0"/>
              <a:t>(</a:t>
            </a:r>
            <a:r>
              <a:rPr lang="es-CO" dirty="0" err="1"/>
              <a:t>String</a:t>
            </a:r>
            <a:r>
              <a:rPr lang="es-CO" dirty="0"/>
              <a:t>[] </a:t>
            </a:r>
            <a:r>
              <a:rPr lang="es-CO" dirty="0" err="1"/>
              <a:t>args</a:t>
            </a:r>
            <a:r>
              <a:rPr lang="es-CO" dirty="0"/>
              <a:t>) {</a:t>
            </a:r>
          </a:p>
          <a:p>
            <a:r>
              <a:rPr lang="es-CO" dirty="0"/>
              <a:t>        Scanner </a:t>
            </a:r>
            <a:r>
              <a:rPr lang="es-CO" dirty="0" err="1"/>
              <a:t>sc</a:t>
            </a:r>
            <a:r>
              <a:rPr lang="es-CO" dirty="0"/>
              <a:t> = new Scanner(System.in);</a:t>
            </a:r>
          </a:p>
          <a:p>
            <a:br>
              <a:rPr lang="es-CO" dirty="0"/>
            </a:br>
            <a:endParaRPr lang="es-CO" dirty="0"/>
          </a:p>
          <a:p>
            <a:r>
              <a:rPr lang="es-CO" dirty="0"/>
              <a:t>        // Solicitar la edad</a:t>
            </a:r>
          </a:p>
          <a:p>
            <a:r>
              <a:rPr lang="es-CO" dirty="0"/>
              <a:t>        </a:t>
            </a:r>
            <a:r>
              <a:rPr lang="es-CO" dirty="0" err="1"/>
              <a:t>System.out.print</a:t>
            </a:r>
            <a:r>
              <a:rPr lang="es-CO" dirty="0"/>
              <a:t>("Ingrese la edad: ");</a:t>
            </a:r>
          </a:p>
          <a:p>
            <a:r>
              <a:rPr lang="es-CO" dirty="0"/>
              <a:t>        </a:t>
            </a:r>
            <a:r>
              <a:rPr lang="es-CO" dirty="0" err="1"/>
              <a:t>int</a:t>
            </a:r>
            <a:r>
              <a:rPr lang="es-CO" dirty="0"/>
              <a:t> edad = </a:t>
            </a:r>
            <a:r>
              <a:rPr lang="es-CO" dirty="0" err="1"/>
              <a:t>sc.nextInt</a:t>
            </a:r>
            <a:r>
              <a:rPr lang="es-CO" dirty="0"/>
              <a:t>();</a:t>
            </a:r>
          </a:p>
          <a:p>
            <a:br>
              <a:rPr lang="es-CO" dirty="0"/>
            </a:br>
            <a:endParaRPr lang="es-CO" dirty="0"/>
          </a:p>
          <a:p>
            <a:r>
              <a:rPr lang="es-CO" dirty="0"/>
              <a:t>        // Clasificación según la edad</a:t>
            </a:r>
          </a:p>
          <a:p>
            <a:r>
              <a:rPr lang="es-CO" dirty="0"/>
              <a:t>        </a:t>
            </a:r>
            <a:r>
              <a:rPr lang="es-CO" dirty="0" err="1"/>
              <a:t>if</a:t>
            </a:r>
            <a:r>
              <a:rPr lang="es-CO" dirty="0"/>
              <a:t> (edad &gt;= 0 &amp;&amp; edad &lt;= 10) {</a:t>
            </a:r>
          </a:p>
          <a:p>
            <a:r>
              <a:rPr lang="es-CO" dirty="0"/>
              <a:t>            </a:t>
            </a:r>
            <a:r>
              <a:rPr lang="es-CO" dirty="0" err="1"/>
              <a:t>System.out.println</a:t>
            </a:r>
            <a:r>
              <a:rPr lang="es-CO" dirty="0"/>
              <a:t>("Niño");</a:t>
            </a:r>
          </a:p>
          <a:p>
            <a:r>
              <a:rPr lang="es-CO" dirty="0"/>
              <a:t>        } </a:t>
            </a:r>
            <a:r>
              <a:rPr lang="es-CO" dirty="0" err="1"/>
              <a:t>else</a:t>
            </a:r>
            <a:r>
              <a:rPr lang="es-CO" dirty="0"/>
              <a:t> </a:t>
            </a:r>
            <a:r>
              <a:rPr lang="es-CO" dirty="0" err="1"/>
              <a:t>if</a:t>
            </a:r>
            <a:r>
              <a:rPr lang="es-CO" dirty="0"/>
              <a:t> (edad &gt;= 11 &amp;&amp; edad &lt;= 14) {</a:t>
            </a:r>
          </a:p>
          <a:p>
            <a:r>
              <a:rPr lang="es-CO" dirty="0"/>
              <a:t>            </a:t>
            </a:r>
            <a:r>
              <a:rPr lang="es-CO" dirty="0" err="1"/>
              <a:t>System.out.println</a:t>
            </a:r>
            <a:r>
              <a:rPr lang="es-CO" dirty="0"/>
              <a:t>("</a:t>
            </a:r>
            <a:r>
              <a:rPr lang="es-CO" dirty="0" err="1"/>
              <a:t>Pre-adolescente</a:t>
            </a:r>
            <a:r>
              <a:rPr lang="es-CO" dirty="0"/>
              <a:t>");</a:t>
            </a:r>
          </a:p>
          <a:p>
            <a:r>
              <a:rPr lang="es-CO" dirty="0"/>
              <a:t>        } </a:t>
            </a:r>
            <a:r>
              <a:rPr lang="es-CO" dirty="0" err="1"/>
              <a:t>else</a:t>
            </a:r>
            <a:r>
              <a:rPr lang="es-CO" dirty="0"/>
              <a:t> </a:t>
            </a:r>
            <a:r>
              <a:rPr lang="es-CO" dirty="0" err="1"/>
              <a:t>if</a:t>
            </a:r>
            <a:r>
              <a:rPr lang="es-CO" dirty="0"/>
              <a:t> (edad &gt;= 15 &amp;&amp; edad &lt;= 18) {</a:t>
            </a:r>
          </a:p>
          <a:p>
            <a:r>
              <a:rPr lang="es-CO" dirty="0"/>
              <a:t>            </a:t>
            </a:r>
            <a:r>
              <a:rPr lang="es-CO" dirty="0" err="1"/>
              <a:t>System.out.println</a:t>
            </a:r>
            <a:r>
              <a:rPr lang="es-CO" dirty="0"/>
              <a:t>("Adolescente");</a:t>
            </a:r>
          </a:p>
          <a:p>
            <a:r>
              <a:rPr lang="es-CO" dirty="0"/>
              <a:t>        } </a:t>
            </a:r>
            <a:r>
              <a:rPr lang="es-CO" dirty="0" err="1"/>
              <a:t>else</a:t>
            </a:r>
            <a:r>
              <a:rPr lang="es-CO" dirty="0"/>
              <a:t> </a:t>
            </a:r>
            <a:r>
              <a:rPr lang="es-CO" dirty="0" err="1"/>
              <a:t>if</a:t>
            </a:r>
            <a:r>
              <a:rPr lang="es-CO" dirty="0"/>
              <a:t> (edad &gt;= 19 &amp;&amp; edad &lt;= 25) {</a:t>
            </a:r>
          </a:p>
          <a:p>
            <a:r>
              <a:rPr lang="es-CO" dirty="0"/>
              <a:t>            </a:t>
            </a:r>
            <a:r>
              <a:rPr lang="es-CO" dirty="0" err="1"/>
              <a:t>System.out.println</a:t>
            </a:r>
            <a:r>
              <a:rPr lang="es-CO" dirty="0"/>
              <a:t>("Joven");</a:t>
            </a:r>
          </a:p>
          <a:p>
            <a:r>
              <a:rPr lang="es-CO" dirty="0"/>
              <a:t>        } </a:t>
            </a:r>
            <a:r>
              <a:rPr lang="es-CO" dirty="0" err="1"/>
              <a:t>else</a:t>
            </a:r>
            <a:r>
              <a:rPr lang="es-CO" dirty="0"/>
              <a:t> </a:t>
            </a:r>
            <a:r>
              <a:rPr lang="es-CO" dirty="0" err="1"/>
              <a:t>if</a:t>
            </a:r>
            <a:r>
              <a:rPr lang="es-CO" dirty="0"/>
              <a:t> (edad &gt;= 26 &amp;&amp; edad &lt;= 65) {</a:t>
            </a:r>
          </a:p>
          <a:p>
            <a:r>
              <a:rPr lang="es-CO" dirty="0"/>
              <a:t>            </a:t>
            </a:r>
            <a:r>
              <a:rPr lang="es-CO" dirty="0" err="1"/>
              <a:t>System.out.println</a:t>
            </a:r>
            <a:r>
              <a:rPr lang="es-CO" dirty="0"/>
              <a:t>("Adulto");</a:t>
            </a:r>
          </a:p>
          <a:p>
            <a:r>
              <a:rPr lang="es-CO" dirty="0"/>
              <a:t>        } </a:t>
            </a:r>
            <a:r>
              <a:rPr lang="es-CO" dirty="0" err="1"/>
              <a:t>else</a:t>
            </a:r>
            <a:r>
              <a:rPr lang="es-CO" dirty="0"/>
              <a:t> </a:t>
            </a:r>
            <a:r>
              <a:rPr lang="es-CO" dirty="0" err="1"/>
              <a:t>if</a:t>
            </a:r>
            <a:r>
              <a:rPr lang="es-CO" dirty="0"/>
              <a:t> (edad &gt; 65) {</a:t>
            </a:r>
          </a:p>
          <a:p>
            <a:r>
              <a:rPr lang="es-CO" dirty="0"/>
              <a:t>            </a:t>
            </a:r>
            <a:r>
              <a:rPr lang="es-CO" dirty="0" err="1"/>
              <a:t>System.out.println</a:t>
            </a:r>
            <a:r>
              <a:rPr lang="es-CO" dirty="0"/>
              <a:t>("Anciano");</a:t>
            </a:r>
          </a:p>
          <a:p>
            <a:r>
              <a:rPr lang="es-CO" dirty="0"/>
              <a:t>        } </a:t>
            </a:r>
            <a:r>
              <a:rPr lang="es-CO" dirty="0" err="1"/>
              <a:t>else</a:t>
            </a:r>
            <a:r>
              <a:rPr lang="es-CO" dirty="0"/>
              <a:t> {</a:t>
            </a:r>
          </a:p>
          <a:p>
            <a:r>
              <a:rPr lang="es-CO" dirty="0"/>
              <a:t>            </a:t>
            </a:r>
            <a:r>
              <a:rPr lang="es-CO" dirty="0" err="1"/>
              <a:t>System.out.println</a:t>
            </a:r>
            <a:r>
              <a:rPr lang="es-CO" dirty="0"/>
              <a:t>("Edad no válida");</a:t>
            </a:r>
          </a:p>
          <a:p>
            <a:r>
              <a:rPr lang="es-CO" dirty="0"/>
              <a:t>        }</a:t>
            </a:r>
          </a:p>
          <a:p>
            <a:br>
              <a:rPr lang="es-CO" dirty="0"/>
            </a:br>
            <a:endParaRPr lang="es-CO" dirty="0"/>
          </a:p>
          <a:p>
            <a:r>
              <a:rPr lang="es-CO" dirty="0"/>
              <a:t>        </a:t>
            </a:r>
            <a:r>
              <a:rPr lang="es-CO" dirty="0" err="1"/>
              <a:t>sc.close</a:t>
            </a:r>
            <a:r>
              <a:rPr lang="es-CO" dirty="0"/>
              <a:t>();</a:t>
            </a:r>
          </a:p>
          <a:p>
            <a:r>
              <a:rPr lang="es-CO" dirty="0"/>
              <a:t>    }</a:t>
            </a:r>
          </a:p>
          <a:p>
            <a:r>
              <a:rPr lang="es-CO" dirty="0"/>
              <a:t>}</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26</a:t>
            </a:fld>
            <a:endParaRPr lang="es-CO"/>
          </a:p>
        </p:txBody>
      </p:sp>
    </p:spTree>
    <p:extLst>
      <p:ext uri="{BB962C8B-B14F-4D97-AF65-F5344CB8AC3E}">
        <p14:creationId xmlns:p14="http://schemas.microsoft.com/office/powerpoint/2010/main" val="777300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200" kern="1200" dirty="0" err="1">
                <a:solidFill>
                  <a:schemeClr val="tx1"/>
                </a:solidFill>
                <a:effectLst/>
                <a:latin typeface="+mn-lt"/>
                <a:ea typeface="+mn-ea"/>
                <a:cs typeface="+mn-cs"/>
              </a:rPr>
              <a:t>import</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java.util.Scanner</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err="1">
                <a:solidFill>
                  <a:schemeClr val="tx1"/>
                </a:solidFill>
                <a:effectLst/>
                <a:latin typeface="+mn-lt"/>
                <a:ea typeface="+mn-ea"/>
                <a:cs typeface="+mn-cs"/>
              </a:rPr>
              <a:t>public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class</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VolumenCaja</a:t>
            </a: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public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static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void</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main</a:t>
            </a:r>
            <a:r>
              <a:rPr lang="es-CO" sz="1200" kern="1200" dirty="0">
                <a:solidFill>
                  <a:schemeClr val="tx1"/>
                </a:solidFill>
                <a:effectLst/>
                <a:latin typeface="+mn-lt"/>
                <a:ea typeface="+mn-ea"/>
                <a:cs typeface="+mn-cs"/>
              </a:rPr>
              <a:t>(</a:t>
            </a:r>
            <a:r>
              <a:rPr lang="es-CO" sz="1200" kern="1200" dirty="0" err="1">
                <a:solidFill>
                  <a:schemeClr val="tx1"/>
                </a:solidFill>
                <a:effectLst/>
                <a:latin typeface="+mn-lt"/>
                <a:ea typeface="+mn-ea"/>
                <a:cs typeface="+mn-cs"/>
              </a:rPr>
              <a:t>String</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args</a:t>
            </a: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Scanner </a:t>
            </a:r>
            <a:r>
              <a:rPr lang="es-CO" sz="1200" kern="1200" dirty="0" err="1">
                <a:solidFill>
                  <a:schemeClr val="tx1"/>
                </a:solidFill>
                <a:effectLst/>
                <a:latin typeface="+mn-lt"/>
                <a:ea typeface="+mn-ea"/>
                <a:cs typeface="+mn-cs"/>
              </a:rPr>
              <a:t>sc</a:t>
            </a:r>
            <a:r>
              <a:rPr lang="es-CO" sz="1200" kern="1200" dirty="0">
                <a:solidFill>
                  <a:schemeClr val="tx1"/>
                </a:solidFill>
                <a:effectLst/>
                <a:latin typeface="+mn-lt"/>
                <a:ea typeface="+mn-ea"/>
                <a:cs typeface="+mn-cs"/>
              </a:rPr>
              <a:t> = new Scanner(System.</a:t>
            </a:r>
            <a:r>
              <a:rPr lang="es-CO" sz="1200" i="1" kern="1200" dirty="0">
                <a:solidFill>
                  <a:schemeClr val="tx1"/>
                </a:solidFill>
                <a:effectLst/>
                <a:latin typeface="+mn-lt"/>
                <a:ea typeface="+mn-ea"/>
                <a:cs typeface="+mn-cs"/>
              </a:rPr>
              <a:t>in</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i="1" kern="1200" dirty="0">
                <a:solidFill>
                  <a:schemeClr val="tx1"/>
                </a:solidFill>
                <a:effectLst/>
                <a:latin typeface="+mn-lt"/>
                <a:ea typeface="+mn-ea"/>
                <a:cs typeface="+mn-cs"/>
              </a:rPr>
              <a:t>// Solicitar el número del día</a:t>
            </a:r>
            <a:br>
              <a:rPr lang="es-CO" sz="1200" i="1" kern="1200" dirty="0">
                <a:solidFill>
                  <a:schemeClr val="tx1"/>
                </a:solidFill>
                <a:effectLst/>
                <a:latin typeface="+mn-lt"/>
                <a:ea typeface="+mn-ea"/>
                <a:cs typeface="+mn-cs"/>
              </a:rPr>
            </a:br>
            <a:r>
              <a:rPr lang="es-CO" sz="1200" i="1"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a:t>
            </a:r>
            <a:r>
              <a:rPr lang="es-CO" sz="1200" kern="1200" dirty="0">
                <a:solidFill>
                  <a:schemeClr val="tx1"/>
                </a:solidFill>
                <a:effectLst/>
                <a:latin typeface="+mn-lt"/>
                <a:ea typeface="+mn-ea"/>
                <a:cs typeface="+mn-cs"/>
              </a:rPr>
              <a:t>("Ingrese un número del 1 al 7: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int</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dia</a:t>
            </a:r>
            <a:r>
              <a:rPr lang="es-CO" sz="1200" kern="1200" dirty="0">
                <a:solidFill>
                  <a:schemeClr val="tx1"/>
                </a:solidFill>
                <a:effectLst/>
                <a:latin typeface="+mn-lt"/>
                <a:ea typeface="+mn-ea"/>
                <a:cs typeface="+mn-cs"/>
              </a:rPr>
              <a:t> = </a:t>
            </a:r>
            <a:r>
              <a:rPr lang="es-CO" sz="1200" kern="1200" dirty="0" err="1">
                <a:solidFill>
                  <a:schemeClr val="tx1"/>
                </a:solidFill>
                <a:effectLst/>
                <a:latin typeface="+mn-lt"/>
                <a:ea typeface="+mn-ea"/>
                <a:cs typeface="+mn-cs"/>
              </a:rPr>
              <a:t>sc.nextInt</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i="1" kern="1200" dirty="0">
                <a:solidFill>
                  <a:schemeClr val="tx1"/>
                </a:solidFill>
                <a:effectLst/>
                <a:latin typeface="+mn-lt"/>
                <a:ea typeface="+mn-ea"/>
                <a:cs typeface="+mn-cs"/>
              </a:rPr>
              <a:t>// Control de flujo con switch</a:t>
            </a:r>
            <a:br>
              <a:rPr lang="es-CO" sz="1200" i="1" kern="1200" dirty="0">
                <a:solidFill>
                  <a:schemeClr val="tx1"/>
                </a:solidFill>
                <a:effectLst/>
                <a:latin typeface="+mn-lt"/>
                <a:ea typeface="+mn-ea"/>
                <a:cs typeface="+mn-cs"/>
              </a:rPr>
            </a:br>
            <a:r>
              <a:rPr lang="es-CO" sz="1200" i="1"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switch</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dia</a:t>
            </a: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case 1:</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("Lunes");</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break;</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case 2:</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("Martes");</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break;</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case 3:</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("Miércoles");</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break;</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case 4:</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("Jueves");</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break;</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case 5:</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("Viernes");</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break;</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case 6:</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("Sábado");</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break;</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case 7:</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a:t>
            </a:r>
            <a:r>
              <a:rPr lang="es-CO" sz="1200" kern="1200" dirty="0" err="1">
                <a:solidFill>
                  <a:schemeClr val="tx1"/>
                </a:solidFill>
                <a:effectLst/>
                <a:latin typeface="+mn-lt"/>
                <a:ea typeface="+mn-ea"/>
                <a:cs typeface="+mn-cs"/>
              </a:rPr>
              <a:t>Domingp</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break;</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default:</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("Número no válido. Debe ser entre 1 y 7.");</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sc.close</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27</a:t>
            </a:fld>
            <a:endParaRPr lang="es-CO"/>
          </a:p>
        </p:txBody>
      </p:sp>
    </p:spTree>
    <p:extLst>
      <p:ext uri="{BB962C8B-B14F-4D97-AF65-F5344CB8AC3E}">
        <p14:creationId xmlns:p14="http://schemas.microsoft.com/office/powerpoint/2010/main" val="1194201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El método </a:t>
            </a:r>
            <a:r>
              <a:rPr lang="es-CO" sz="1200" b="1" kern="1200" dirty="0" err="1">
                <a:solidFill>
                  <a:schemeClr val="tx1"/>
                </a:solidFill>
                <a:latin typeface="+mn-lt"/>
                <a:ea typeface="+mn-ea"/>
                <a:cs typeface="+mn-cs"/>
              </a:rPr>
              <a:t>equals</a:t>
            </a:r>
            <a:r>
              <a:rPr lang="es-CO" sz="1200" b="1" kern="1200" dirty="0">
                <a:solidFill>
                  <a:schemeClr val="tx1"/>
                </a:solidFill>
                <a:latin typeface="+mn-lt"/>
                <a:ea typeface="+mn-ea"/>
                <a:cs typeface="+mn-cs"/>
              </a:rPr>
              <a:t>()</a:t>
            </a:r>
            <a:r>
              <a:rPr lang="es-CO" dirty="0"/>
              <a:t> en Java, se utiliza para comparar el contenido de dos objetos, normalmente cadenas de texto (</a:t>
            </a:r>
            <a:r>
              <a:rPr lang="es-CO" sz="1200" kern="1200" dirty="0" err="1">
                <a:solidFill>
                  <a:schemeClr val="tx1"/>
                </a:solidFill>
                <a:latin typeface="+mn-lt"/>
                <a:ea typeface="+mn-ea"/>
                <a:cs typeface="+mn-cs"/>
              </a:rPr>
              <a:t>String</a:t>
            </a:r>
            <a:r>
              <a:rPr lang="es-CO" dirty="0"/>
              <a:t>).</a:t>
            </a:r>
          </a:p>
          <a:p>
            <a:r>
              <a:rPr lang="es-MX" b="1" dirty="0"/>
              <a:t>Devuelve </a:t>
            </a:r>
            <a:r>
              <a:rPr lang="es-MX" sz="1200" b="1" kern="1200" dirty="0">
                <a:solidFill>
                  <a:schemeClr val="tx1"/>
                </a:solidFill>
                <a:latin typeface="+mn-lt"/>
                <a:ea typeface="+mn-ea"/>
                <a:cs typeface="+mn-cs"/>
              </a:rPr>
              <a:t>true</a:t>
            </a:r>
            <a:r>
              <a:rPr lang="es-MX" dirty="0"/>
              <a:t> si los contenidos son iguales, y </a:t>
            </a:r>
            <a:r>
              <a:rPr lang="es-MX" sz="1200" b="1" kern="1200" dirty="0">
                <a:solidFill>
                  <a:schemeClr val="tx1"/>
                </a:solidFill>
                <a:latin typeface="+mn-lt"/>
                <a:ea typeface="+mn-ea"/>
                <a:cs typeface="+mn-cs"/>
              </a:rPr>
              <a:t>false</a:t>
            </a:r>
            <a:r>
              <a:rPr lang="es-MX" dirty="0"/>
              <a:t> si son diferentes.</a:t>
            </a:r>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28</a:t>
            </a:fld>
            <a:endParaRPr lang="es-CO"/>
          </a:p>
        </p:txBody>
      </p:sp>
    </p:spTree>
    <p:extLst>
      <p:ext uri="{BB962C8B-B14F-4D97-AF65-F5344CB8AC3E}">
        <p14:creationId xmlns:p14="http://schemas.microsoft.com/office/powerpoint/2010/main" val="24454617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Java, tanto el operador </a:t>
            </a:r>
            <a:r>
              <a:rPr lang="es-MX" sz="1200" kern="1200" dirty="0">
                <a:solidFill>
                  <a:schemeClr val="tx1"/>
                </a:solidFill>
                <a:latin typeface="+mn-lt"/>
                <a:ea typeface="+mn-ea"/>
                <a:cs typeface="+mn-cs"/>
              </a:rPr>
              <a:t>==</a:t>
            </a:r>
            <a:r>
              <a:rPr lang="es-MX" dirty="0"/>
              <a:t> como el método </a:t>
            </a:r>
            <a:r>
              <a:rPr lang="es-MX" sz="1200" kern="1200" dirty="0" err="1">
                <a:solidFill>
                  <a:schemeClr val="tx1"/>
                </a:solidFill>
                <a:latin typeface="+mn-lt"/>
                <a:ea typeface="+mn-ea"/>
                <a:cs typeface="+mn-cs"/>
              </a:rPr>
              <a:t>equals</a:t>
            </a:r>
            <a:r>
              <a:rPr lang="es-MX" sz="1200" kern="1200" dirty="0">
                <a:solidFill>
                  <a:schemeClr val="tx1"/>
                </a:solidFill>
                <a:latin typeface="+mn-lt"/>
                <a:ea typeface="+mn-ea"/>
                <a:cs typeface="+mn-cs"/>
              </a:rPr>
              <a:t>()</a:t>
            </a:r>
            <a:r>
              <a:rPr lang="es-MX" dirty="0"/>
              <a:t> se utilizan para comparar, pero </a:t>
            </a:r>
            <a:r>
              <a:rPr lang="es-MX" b="1" dirty="0"/>
              <a:t>no hacen lo mismo</a:t>
            </a:r>
            <a:r>
              <a:rPr lang="es-MX" dirty="0"/>
              <a:t>. </a:t>
            </a:r>
          </a:p>
          <a:p>
            <a:br>
              <a:rPr lang="es-MX" dirty="0"/>
            </a:br>
            <a:r>
              <a:rPr lang="es-MX" b="1" dirty="0"/>
              <a:t>1. Método </a:t>
            </a:r>
            <a:r>
              <a:rPr lang="es-MX" sz="1200" b="1" kern="1200" dirty="0" err="1">
                <a:solidFill>
                  <a:schemeClr val="tx1"/>
                </a:solidFill>
                <a:latin typeface="+mn-lt"/>
                <a:ea typeface="+mn-ea"/>
                <a:cs typeface="+mn-cs"/>
              </a:rPr>
              <a:t>equals</a:t>
            </a:r>
            <a:r>
              <a:rPr lang="es-MX" sz="1200" b="1" kern="1200" dirty="0">
                <a:solidFill>
                  <a:schemeClr val="tx1"/>
                </a:solidFill>
                <a:latin typeface="+mn-lt"/>
                <a:ea typeface="+mn-ea"/>
                <a:cs typeface="+mn-cs"/>
              </a:rPr>
              <a:t>()</a:t>
            </a:r>
            <a:endParaRPr lang="es-MX" b="1" dirty="0"/>
          </a:p>
          <a:p>
            <a:r>
              <a:rPr lang="es-MX" dirty="0"/>
              <a:t>Compara el </a:t>
            </a:r>
            <a:r>
              <a:rPr lang="es-MX" b="1" dirty="0"/>
              <a:t>contenido</a:t>
            </a:r>
            <a:r>
              <a:rPr lang="es-MX" dirty="0"/>
              <a:t> de los objetos.</a:t>
            </a:r>
          </a:p>
          <a:p>
            <a:r>
              <a:rPr lang="es-MX" dirty="0"/>
              <a:t>En la clase </a:t>
            </a:r>
            <a:r>
              <a:rPr lang="es-MX" sz="1200" kern="1200" dirty="0" err="1">
                <a:solidFill>
                  <a:schemeClr val="tx1"/>
                </a:solidFill>
                <a:latin typeface="+mn-lt"/>
                <a:ea typeface="+mn-ea"/>
                <a:cs typeface="+mn-cs"/>
              </a:rPr>
              <a:t>String</a:t>
            </a:r>
            <a:r>
              <a:rPr lang="es-MX" dirty="0"/>
              <a:t>, está sobrescrito para verificar si las cadenas tienen los mismos caracteres.</a:t>
            </a:r>
          </a:p>
          <a:p>
            <a:endParaRPr lang="es-MX" b="1" dirty="0"/>
          </a:p>
          <a:p>
            <a:r>
              <a:rPr lang="es-MX" b="1" dirty="0"/>
              <a:t>2. Operador </a:t>
            </a:r>
            <a:r>
              <a:rPr lang="es-MX" sz="1200" b="1" kern="1200" dirty="0">
                <a:solidFill>
                  <a:schemeClr val="tx1"/>
                </a:solidFill>
                <a:latin typeface="+mn-lt"/>
                <a:ea typeface="+mn-ea"/>
                <a:cs typeface="+mn-cs"/>
              </a:rPr>
              <a:t>==</a:t>
            </a:r>
            <a:endParaRPr lang="es-MX" b="1" dirty="0"/>
          </a:p>
          <a:p>
            <a:r>
              <a:rPr lang="es-MX" dirty="0"/>
              <a:t>Compara </a:t>
            </a:r>
            <a:r>
              <a:rPr lang="es-MX" b="1" dirty="0"/>
              <a:t>referencias en memoria</a:t>
            </a:r>
            <a:r>
              <a:rPr lang="es-MX" dirty="0"/>
              <a:t> cuando se trata de objetos.</a:t>
            </a:r>
          </a:p>
          <a:p>
            <a:r>
              <a:rPr lang="es-MX" dirty="0"/>
              <a:t>Verifica si </a:t>
            </a:r>
            <a:r>
              <a:rPr lang="es-MX" b="1" dirty="0"/>
              <a:t>dos variables apuntan al mismo objeto</a:t>
            </a:r>
            <a:r>
              <a:rPr lang="es-MX" dirty="0"/>
              <a:t> (misma dirección en memoria).</a:t>
            </a:r>
          </a:p>
          <a:p>
            <a:r>
              <a:rPr lang="es-MX" dirty="0"/>
              <a:t>Para </a:t>
            </a:r>
            <a:r>
              <a:rPr lang="es-MX" b="1" dirty="0"/>
              <a:t>tipos primitivos</a:t>
            </a:r>
            <a:r>
              <a:rPr lang="es-MX" dirty="0"/>
              <a:t> (</a:t>
            </a:r>
            <a:r>
              <a:rPr lang="es-MX" dirty="0" err="1"/>
              <a:t>int</a:t>
            </a:r>
            <a:r>
              <a:rPr lang="es-MX" dirty="0"/>
              <a:t>, </a:t>
            </a:r>
            <a:r>
              <a:rPr lang="es-MX" dirty="0" err="1"/>
              <a:t>char</a:t>
            </a:r>
            <a:r>
              <a:rPr lang="es-MX" dirty="0"/>
              <a:t>, etc.), compara directamente el valor.</a:t>
            </a:r>
          </a:p>
          <a:p>
            <a:endParaRPr lang="es-MX" dirty="0"/>
          </a:p>
          <a:p>
            <a:r>
              <a:rPr lang="es-CO" b="1" dirty="0"/>
              <a:t>Regla práctica</a:t>
            </a:r>
          </a:p>
          <a:p>
            <a:r>
              <a:rPr lang="es-CO" dirty="0"/>
              <a:t>Usa </a:t>
            </a:r>
            <a:r>
              <a:rPr lang="es-CO" sz="1200" kern="1200" dirty="0">
                <a:solidFill>
                  <a:schemeClr val="tx1"/>
                </a:solidFill>
                <a:latin typeface="+mn-lt"/>
                <a:ea typeface="+mn-ea"/>
                <a:cs typeface="+mn-cs"/>
              </a:rPr>
              <a:t>==</a:t>
            </a:r>
            <a:r>
              <a:rPr lang="es-CO" dirty="0"/>
              <a:t> para </a:t>
            </a:r>
            <a:r>
              <a:rPr lang="es-CO" b="1" dirty="0"/>
              <a:t>tipos primitivos</a:t>
            </a:r>
            <a:r>
              <a:rPr lang="es-CO" dirty="0"/>
              <a:t>.</a:t>
            </a:r>
          </a:p>
          <a:p>
            <a:r>
              <a:rPr lang="es-MX" b="1" dirty="0"/>
              <a:t>	-</a:t>
            </a:r>
            <a:r>
              <a:rPr lang="es-MX" b="1" dirty="0" err="1"/>
              <a:t>boolean</a:t>
            </a:r>
            <a:r>
              <a:rPr lang="es-MX" dirty="0"/>
              <a:t>: almacena valores lógicos, </a:t>
            </a:r>
            <a:r>
              <a:rPr lang="es-MX" sz="1200" kern="1200" dirty="0">
                <a:solidFill>
                  <a:schemeClr val="tx1"/>
                </a:solidFill>
                <a:latin typeface="+mn-lt"/>
                <a:ea typeface="+mn-ea"/>
                <a:cs typeface="+mn-cs"/>
              </a:rPr>
              <a:t>true</a:t>
            </a:r>
            <a:r>
              <a:rPr lang="es-MX" dirty="0"/>
              <a:t> o </a:t>
            </a:r>
            <a:r>
              <a:rPr lang="es-MX" sz="1200" kern="1200" dirty="0">
                <a:solidFill>
                  <a:schemeClr val="tx1"/>
                </a:solidFill>
                <a:latin typeface="+mn-lt"/>
                <a:ea typeface="+mn-ea"/>
                <a:cs typeface="+mn-cs"/>
              </a:rPr>
              <a:t>false</a:t>
            </a:r>
            <a:r>
              <a:rPr lang="es-MX" dirty="0"/>
              <a:t>.</a:t>
            </a:r>
          </a:p>
          <a:p>
            <a:r>
              <a:rPr lang="es-MX" b="1" dirty="0"/>
              <a:t>	-numéricos</a:t>
            </a:r>
            <a:r>
              <a:rPr lang="es-MX" dirty="0"/>
              <a:t>: </a:t>
            </a:r>
          </a:p>
          <a:p>
            <a:r>
              <a:rPr lang="es-MX" b="1" dirty="0"/>
              <a:t>	-</a:t>
            </a:r>
            <a:r>
              <a:rPr lang="es-MX" b="1" dirty="0" err="1"/>
              <a:t>char</a:t>
            </a:r>
            <a:r>
              <a:rPr lang="es-MX" dirty="0"/>
              <a:t>: </a:t>
            </a:r>
            <a:endParaRPr lang="es-CO" dirty="0"/>
          </a:p>
          <a:p>
            <a:r>
              <a:rPr lang="es-CO" dirty="0"/>
              <a:t>Usa </a:t>
            </a:r>
            <a:r>
              <a:rPr lang="es-CO" sz="1200" kern="1200" dirty="0" err="1">
                <a:solidFill>
                  <a:schemeClr val="tx1"/>
                </a:solidFill>
                <a:latin typeface="+mn-lt"/>
                <a:ea typeface="+mn-ea"/>
                <a:cs typeface="+mn-cs"/>
              </a:rPr>
              <a:t>equals</a:t>
            </a:r>
            <a:r>
              <a:rPr lang="es-CO" sz="1200" kern="1200" dirty="0">
                <a:solidFill>
                  <a:schemeClr val="tx1"/>
                </a:solidFill>
                <a:latin typeface="+mn-lt"/>
                <a:ea typeface="+mn-ea"/>
                <a:cs typeface="+mn-cs"/>
              </a:rPr>
              <a:t>()</a:t>
            </a:r>
            <a:r>
              <a:rPr lang="es-CO" dirty="0"/>
              <a:t> para </a:t>
            </a:r>
            <a:r>
              <a:rPr lang="es-CO" b="1" dirty="0"/>
              <a:t>comparar contenido de objetos</a:t>
            </a:r>
            <a:r>
              <a:rPr lang="es-CO" dirty="0"/>
              <a:t>, especialmente cadenas.</a:t>
            </a:r>
          </a:p>
          <a:p>
            <a:endParaRPr lang="es-MX"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29</a:t>
            </a:fld>
            <a:endParaRPr lang="es-CO"/>
          </a:p>
        </p:txBody>
      </p:sp>
    </p:spTree>
    <p:extLst>
      <p:ext uri="{BB962C8B-B14F-4D97-AF65-F5344CB8AC3E}">
        <p14:creationId xmlns:p14="http://schemas.microsoft.com/office/powerpoint/2010/main" val="36565162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b="1" dirty="0"/>
              <a:t>Bucles</a:t>
            </a:r>
          </a:p>
          <a:p>
            <a:endParaRPr lang="es-CO" dirty="0"/>
          </a:p>
          <a:p>
            <a:r>
              <a:rPr lang="es-CO" dirty="0" err="1"/>
              <a:t>public</a:t>
            </a:r>
            <a:r>
              <a:rPr lang="es-CO" dirty="0"/>
              <a:t> </a:t>
            </a:r>
            <a:r>
              <a:rPr lang="es-CO" dirty="0" err="1"/>
              <a:t>class</a:t>
            </a:r>
            <a:r>
              <a:rPr lang="es-CO" dirty="0"/>
              <a:t> </a:t>
            </a:r>
            <a:r>
              <a:rPr lang="es-CO" dirty="0" err="1"/>
              <a:t>NumerosDelUnoAlCien</a:t>
            </a:r>
            <a:r>
              <a:rPr lang="es-CO" dirty="0"/>
              <a:t> {</a:t>
            </a:r>
          </a:p>
          <a:p>
            <a:r>
              <a:rPr lang="es-CO" dirty="0"/>
              <a:t>    </a:t>
            </a:r>
            <a:r>
              <a:rPr lang="es-CO" dirty="0" err="1"/>
              <a:t>public</a:t>
            </a:r>
            <a:r>
              <a:rPr lang="es-CO" dirty="0"/>
              <a:t> </a:t>
            </a:r>
            <a:r>
              <a:rPr lang="es-CO" dirty="0" err="1"/>
              <a:t>static</a:t>
            </a:r>
            <a:r>
              <a:rPr lang="es-CO" dirty="0"/>
              <a:t> </a:t>
            </a:r>
            <a:r>
              <a:rPr lang="es-CO" dirty="0" err="1"/>
              <a:t>void</a:t>
            </a:r>
            <a:r>
              <a:rPr lang="es-CO" dirty="0"/>
              <a:t> </a:t>
            </a:r>
            <a:r>
              <a:rPr lang="es-CO" dirty="0" err="1"/>
              <a:t>main</a:t>
            </a:r>
            <a:r>
              <a:rPr lang="es-CO" dirty="0"/>
              <a:t>(</a:t>
            </a:r>
            <a:r>
              <a:rPr lang="es-CO" dirty="0" err="1"/>
              <a:t>String</a:t>
            </a:r>
            <a:r>
              <a:rPr lang="es-CO" dirty="0"/>
              <a:t>[] </a:t>
            </a:r>
            <a:r>
              <a:rPr lang="es-CO" dirty="0" err="1"/>
              <a:t>args</a:t>
            </a:r>
            <a:r>
              <a:rPr lang="es-CO" dirty="0"/>
              <a:t>) {</a:t>
            </a:r>
          </a:p>
          <a:p>
            <a:r>
              <a:rPr lang="es-CO" dirty="0"/>
              <a:t>        // Usamos un ciclo </a:t>
            </a:r>
            <a:r>
              <a:rPr lang="es-CO" dirty="0" err="1"/>
              <a:t>for</a:t>
            </a:r>
            <a:r>
              <a:rPr lang="es-CO" dirty="0"/>
              <a:t> para recorrer del 1 al 100</a:t>
            </a:r>
          </a:p>
          <a:p>
            <a:r>
              <a:rPr lang="es-CO" dirty="0"/>
              <a:t>        </a:t>
            </a:r>
            <a:r>
              <a:rPr lang="es-CO" dirty="0" err="1"/>
              <a:t>for</a:t>
            </a:r>
            <a:r>
              <a:rPr lang="es-CO" dirty="0"/>
              <a:t> (</a:t>
            </a:r>
            <a:r>
              <a:rPr lang="es-CO" dirty="0" err="1"/>
              <a:t>int</a:t>
            </a:r>
            <a:r>
              <a:rPr lang="es-CO" dirty="0"/>
              <a:t> i = 1; i &lt;= 100; i++) {</a:t>
            </a:r>
          </a:p>
          <a:p>
            <a:r>
              <a:rPr lang="es-CO" dirty="0"/>
              <a:t>            </a:t>
            </a:r>
            <a:r>
              <a:rPr lang="es-CO" dirty="0" err="1"/>
              <a:t>System.out.println</a:t>
            </a:r>
            <a:r>
              <a:rPr lang="es-CO" dirty="0"/>
              <a:t>(i);</a:t>
            </a:r>
          </a:p>
          <a:p>
            <a:r>
              <a:rPr lang="es-CO" dirty="0"/>
              <a:t>        }</a:t>
            </a:r>
          </a:p>
          <a:p>
            <a:r>
              <a:rPr lang="es-CO" dirty="0"/>
              <a:t>    }</a:t>
            </a:r>
          </a:p>
          <a:p>
            <a:r>
              <a:rPr lang="es-CO" dirty="0"/>
              <a:t>}</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31</a:t>
            </a:fld>
            <a:endParaRPr lang="es-CO"/>
          </a:p>
        </p:txBody>
      </p:sp>
    </p:spTree>
    <p:extLst>
      <p:ext uri="{BB962C8B-B14F-4D97-AF65-F5344CB8AC3E}">
        <p14:creationId xmlns:p14="http://schemas.microsoft.com/office/powerpoint/2010/main" val="16505463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s-CO" sz="1200" kern="1200" dirty="0">
                <a:solidFill>
                  <a:schemeClr val="tx1"/>
                </a:solidFill>
                <a:effectLst/>
                <a:latin typeface="+mn-lt"/>
                <a:ea typeface="+mn-ea"/>
                <a:cs typeface="+mn-cs"/>
              </a:rPr>
            </a:br>
            <a:r>
              <a:rPr lang="es-CO" sz="1200" kern="1200" dirty="0" err="1">
                <a:solidFill>
                  <a:schemeClr val="tx1"/>
                </a:solidFill>
                <a:effectLst/>
                <a:latin typeface="+mn-lt"/>
                <a:ea typeface="+mn-ea"/>
                <a:cs typeface="+mn-cs"/>
              </a:rPr>
              <a:t>import</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java.util.Scanner</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err="1">
                <a:solidFill>
                  <a:schemeClr val="tx1"/>
                </a:solidFill>
                <a:effectLst/>
                <a:latin typeface="+mn-lt"/>
                <a:ea typeface="+mn-ea"/>
                <a:cs typeface="+mn-cs"/>
              </a:rPr>
              <a:t>public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class</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TablaDeMultiplicar</a:t>
            </a: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public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static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void</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main</a:t>
            </a:r>
            <a:r>
              <a:rPr lang="es-CO" sz="1200" kern="1200" dirty="0">
                <a:solidFill>
                  <a:schemeClr val="tx1"/>
                </a:solidFill>
                <a:effectLst/>
                <a:latin typeface="+mn-lt"/>
                <a:ea typeface="+mn-ea"/>
                <a:cs typeface="+mn-cs"/>
              </a:rPr>
              <a:t>(</a:t>
            </a:r>
            <a:r>
              <a:rPr lang="es-CO" sz="1200" kern="1200" dirty="0" err="1">
                <a:solidFill>
                  <a:schemeClr val="tx1"/>
                </a:solidFill>
                <a:effectLst/>
                <a:latin typeface="+mn-lt"/>
                <a:ea typeface="+mn-ea"/>
                <a:cs typeface="+mn-cs"/>
              </a:rPr>
              <a:t>String</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args</a:t>
            </a: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Scanner </a:t>
            </a:r>
            <a:r>
              <a:rPr lang="es-CO" sz="1200" kern="1200" dirty="0" err="1">
                <a:solidFill>
                  <a:schemeClr val="tx1"/>
                </a:solidFill>
                <a:effectLst/>
                <a:latin typeface="+mn-lt"/>
                <a:ea typeface="+mn-ea"/>
                <a:cs typeface="+mn-cs"/>
              </a:rPr>
              <a:t>scanner</a:t>
            </a:r>
            <a:r>
              <a:rPr lang="es-CO" sz="1200" kern="1200" dirty="0">
                <a:solidFill>
                  <a:schemeClr val="tx1"/>
                </a:solidFill>
                <a:effectLst/>
                <a:latin typeface="+mn-lt"/>
                <a:ea typeface="+mn-ea"/>
                <a:cs typeface="+mn-cs"/>
              </a:rPr>
              <a:t> = new Scanner(System.</a:t>
            </a:r>
            <a:r>
              <a:rPr lang="es-CO" sz="1200" i="1" kern="1200" dirty="0">
                <a:solidFill>
                  <a:schemeClr val="tx1"/>
                </a:solidFill>
                <a:effectLst/>
                <a:latin typeface="+mn-lt"/>
                <a:ea typeface="+mn-ea"/>
                <a:cs typeface="+mn-cs"/>
              </a:rPr>
              <a:t>in</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i="1" kern="1200" dirty="0">
                <a:solidFill>
                  <a:schemeClr val="tx1"/>
                </a:solidFill>
                <a:effectLst/>
                <a:latin typeface="+mn-lt"/>
                <a:ea typeface="+mn-ea"/>
                <a:cs typeface="+mn-cs"/>
              </a:rPr>
              <a:t>// Solicitar al usuario el número</a:t>
            </a:r>
            <a:br>
              <a:rPr lang="es-CO" sz="1200" i="1" kern="1200" dirty="0">
                <a:solidFill>
                  <a:schemeClr val="tx1"/>
                </a:solidFill>
                <a:effectLst/>
                <a:latin typeface="+mn-lt"/>
                <a:ea typeface="+mn-ea"/>
                <a:cs typeface="+mn-cs"/>
              </a:rPr>
            </a:br>
            <a:r>
              <a:rPr lang="es-CO" sz="1200" i="1"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a:t>
            </a:r>
            <a:r>
              <a:rPr lang="es-CO" sz="1200" kern="1200" dirty="0">
                <a:solidFill>
                  <a:schemeClr val="tx1"/>
                </a:solidFill>
                <a:effectLst/>
                <a:latin typeface="+mn-lt"/>
                <a:ea typeface="+mn-ea"/>
                <a:cs typeface="+mn-cs"/>
              </a:rPr>
              <a:t>("Ingrese un número para mostrar su tabla de multiplicar: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int</a:t>
            </a:r>
            <a:r>
              <a:rPr lang="es-CO" sz="1200" kern="1200" dirty="0">
                <a:solidFill>
                  <a:schemeClr val="tx1"/>
                </a:solidFill>
                <a:effectLst/>
                <a:latin typeface="+mn-lt"/>
                <a:ea typeface="+mn-ea"/>
                <a:cs typeface="+mn-cs"/>
              </a:rPr>
              <a:t> numero = </a:t>
            </a:r>
            <a:r>
              <a:rPr lang="es-CO" sz="1200" kern="1200" dirty="0" err="1">
                <a:solidFill>
                  <a:schemeClr val="tx1"/>
                </a:solidFill>
                <a:effectLst/>
                <a:latin typeface="+mn-lt"/>
                <a:ea typeface="+mn-ea"/>
                <a:cs typeface="+mn-cs"/>
              </a:rPr>
              <a:t>scanner.nextInt</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i="1" kern="1200" dirty="0">
                <a:solidFill>
                  <a:schemeClr val="tx1"/>
                </a:solidFill>
                <a:effectLst/>
                <a:latin typeface="+mn-lt"/>
                <a:ea typeface="+mn-ea"/>
                <a:cs typeface="+mn-cs"/>
              </a:rPr>
              <a:t>// Mostrar la tabla de multiplicar del número hasta el 10</a:t>
            </a:r>
            <a:br>
              <a:rPr lang="es-CO" sz="1200" i="1" kern="1200" dirty="0">
                <a:solidFill>
                  <a:schemeClr val="tx1"/>
                </a:solidFill>
                <a:effectLst/>
                <a:latin typeface="+mn-lt"/>
                <a:ea typeface="+mn-ea"/>
                <a:cs typeface="+mn-cs"/>
              </a:rPr>
            </a:br>
            <a:r>
              <a:rPr lang="es-CO" sz="1200" i="1"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("Tabla de multiplicar del " + numero +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for</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int</a:t>
            </a:r>
            <a:r>
              <a:rPr lang="es-CO" sz="1200" kern="1200" dirty="0">
                <a:solidFill>
                  <a:schemeClr val="tx1"/>
                </a:solidFill>
                <a:effectLst/>
                <a:latin typeface="+mn-lt"/>
                <a:ea typeface="+mn-ea"/>
                <a:cs typeface="+mn-cs"/>
              </a:rPr>
              <a:t> i = 1; i &lt;= 10; i++)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(numero + " x " + i + " = " + (numero * i));</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scanner.close</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a:t>
            </a: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35</a:t>
            </a:fld>
            <a:endParaRPr lang="es-CO"/>
          </a:p>
        </p:txBody>
      </p:sp>
    </p:spTree>
    <p:extLst>
      <p:ext uri="{BB962C8B-B14F-4D97-AF65-F5344CB8AC3E}">
        <p14:creationId xmlns:p14="http://schemas.microsoft.com/office/powerpoint/2010/main" val="30675648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s-CO" sz="1200" kern="1200" dirty="0">
                <a:solidFill>
                  <a:schemeClr val="tx1"/>
                </a:solidFill>
                <a:effectLst/>
                <a:latin typeface="+mn-lt"/>
                <a:ea typeface="+mn-ea"/>
                <a:cs typeface="+mn-cs"/>
              </a:rPr>
            </a:br>
            <a:r>
              <a:rPr lang="es-CO" sz="1200" kern="1200" dirty="0" err="1">
                <a:solidFill>
                  <a:schemeClr val="tx1"/>
                </a:solidFill>
                <a:effectLst/>
                <a:latin typeface="+mn-lt"/>
                <a:ea typeface="+mn-ea"/>
                <a:cs typeface="+mn-cs"/>
              </a:rPr>
              <a:t>import</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java.util.Scanner</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err="1">
                <a:solidFill>
                  <a:schemeClr val="tx1"/>
                </a:solidFill>
                <a:effectLst/>
                <a:latin typeface="+mn-lt"/>
                <a:ea typeface="+mn-ea"/>
                <a:cs typeface="+mn-cs"/>
              </a:rPr>
              <a:t>public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class</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TablaMultiplicarDoWhile</a:t>
            </a: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public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static</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void</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main</a:t>
            </a:r>
            <a:r>
              <a:rPr lang="es-CO" sz="1200" kern="1200" dirty="0">
                <a:solidFill>
                  <a:schemeClr val="tx1"/>
                </a:solidFill>
                <a:effectLst/>
                <a:latin typeface="+mn-lt"/>
                <a:ea typeface="+mn-ea"/>
                <a:cs typeface="+mn-cs"/>
              </a:rPr>
              <a:t>(</a:t>
            </a:r>
            <a:r>
              <a:rPr lang="es-CO" sz="1200" kern="1200" dirty="0" err="1">
                <a:solidFill>
                  <a:schemeClr val="tx1"/>
                </a:solidFill>
                <a:effectLst/>
                <a:latin typeface="+mn-lt"/>
                <a:ea typeface="+mn-ea"/>
                <a:cs typeface="+mn-cs"/>
              </a:rPr>
              <a:t>String</a:t>
            </a: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args</a:t>
            </a: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Scanner </a:t>
            </a:r>
            <a:r>
              <a:rPr lang="es-CO" sz="1200" kern="1200" dirty="0" err="1">
                <a:solidFill>
                  <a:schemeClr val="tx1"/>
                </a:solidFill>
                <a:effectLst/>
                <a:latin typeface="+mn-lt"/>
                <a:ea typeface="+mn-ea"/>
                <a:cs typeface="+mn-cs"/>
              </a:rPr>
              <a:t>scanner</a:t>
            </a:r>
            <a:r>
              <a:rPr lang="es-CO" sz="1200" kern="1200" dirty="0">
                <a:solidFill>
                  <a:schemeClr val="tx1"/>
                </a:solidFill>
                <a:effectLst/>
                <a:latin typeface="+mn-lt"/>
                <a:ea typeface="+mn-ea"/>
                <a:cs typeface="+mn-cs"/>
              </a:rPr>
              <a:t> = new Scanner(System.</a:t>
            </a:r>
            <a:r>
              <a:rPr lang="es-CO" sz="1200" i="1" kern="1200" dirty="0">
                <a:solidFill>
                  <a:schemeClr val="tx1"/>
                </a:solidFill>
                <a:effectLst/>
                <a:latin typeface="+mn-lt"/>
                <a:ea typeface="+mn-ea"/>
                <a:cs typeface="+mn-cs"/>
              </a:rPr>
              <a:t>in</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i="1" kern="1200" dirty="0">
                <a:solidFill>
                  <a:schemeClr val="tx1"/>
                </a:solidFill>
                <a:effectLst/>
                <a:latin typeface="+mn-lt"/>
                <a:ea typeface="+mn-ea"/>
                <a:cs typeface="+mn-cs"/>
              </a:rPr>
              <a:t>// Solicitar al usuario el número</a:t>
            </a:r>
            <a:br>
              <a:rPr lang="es-CO" sz="1200" i="1" kern="1200" dirty="0">
                <a:solidFill>
                  <a:schemeClr val="tx1"/>
                </a:solidFill>
                <a:effectLst/>
                <a:latin typeface="+mn-lt"/>
                <a:ea typeface="+mn-ea"/>
                <a:cs typeface="+mn-cs"/>
              </a:rPr>
            </a:br>
            <a:r>
              <a:rPr lang="es-CO" sz="1200" i="1"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a:t>
            </a:r>
            <a:r>
              <a:rPr lang="es-CO" sz="1200" kern="1200" dirty="0">
                <a:solidFill>
                  <a:schemeClr val="tx1"/>
                </a:solidFill>
                <a:effectLst/>
                <a:latin typeface="+mn-lt"/>
                <a:ea typeface="+mn-ea"/>
                <a:cs typeface="+mn-cs"/>
              </a:rPr>
              <a:t>("Ingrese un número para mostrar su tabla de multiplicar: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int</a:t>
            </a:r>
            <a:r>
              <a:rPr lang="es-CO" sz="1200" kern="1200" dirty="0">
                <a:solidFill>
                  <a:schemeClr val="tx1"/>
                </a:solidFill>
                <a:effectLst/>
                <a:latin typeface="+mn-lt"/>
                <a:ea typeface="+mn-ea"/>
                <a:cs typeface="+mn-cs"/>
              </a:rPr>
              <a:t> numero = </a:t>
            </a:r>
            <a:r>
              <a:rPr lang="es-CO" sz="1200" kern="1200" dirty="0" err="1">
                <a:solidFill>
                  <a:schemeClr val="tx1"/>
                </a:solidFill>
                <a:effectLst/>
                <a:latin typeface="+mn-lt"/>
                <a:ea typeface="+mn-ea"/>
                <a:cs typeface="+mn-cs"/>
              </a:rPr>
              <a:t>scanner.nextInt</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i="1" kern="1200" dirty="0">
                <a:solidFill>
                  <a:schemeClr val="tx1"/>
                </a:solidFill>
                <a:effectLst/>
                <a:latin typeface="+mn-lt"/>
                <a:ea typeface="+mn-ea"/>
                <a:cs typeface="+mn-cs"/>
              </a:rPr>
              <a:t>// Inicializamos el contador</a:t>
            </a:r>
            <a:br>
              <a:rPr lang="es-CO" sz="1200" i="1" kern="1200" dirty="0">
                <a:solidFill>
                  <a:schemeClr val="tx1"/>
                </a:solidFill>
                <a:effectLst/>
                <a:latin typeface="+mn-lt"/>
                <a:ea typeface="+mn-ea"/>
                <a:cs typeface="+mn-cs"/>
              </a:rPr>
            </a:br>
            <a:r>
              <a:rPr lang="es-CO" sz="1200" i="1"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int</a:t>
            </a:r>
            <a:r>
              <a:rPr lang="es-CO" sz="1200" kern="1200" dirty="0">
                <a:solidFill>
                  <a:schemeClr val="tx1"/>
                </a:solidFill>
                <a:effectLst/>
                <a:latin typeface="+mn-lt"/>
                <a:ea typeface="+mn-ea"/>
                <a:cs typeface="+mn-cs"/>
              </a:rPr>
              <a:t> i = 1;</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i="1" kern="1200" dirty="0">
                <a:solidFill>
                  <a:schemeClr val="tx1"/>
                </a:solidFill>
                <a:effectLst/>
                <a:latin typeface="+mn-lt"/>
                <a:ea typeface="+mn-ea"/>
                <a:cs typeface="+mn-cs"/>
              </a:rPr>
              <a:t>// Ciclo DO-WHILE para mostrar la tabla hasta el 10</a:t>
            </a:r>
            <a:br>
              <a:rPr lang="es-CO" sz="1200" i="1" kern="1200" dirty="0">
                <a:solidFill>
                  <a:schemeClr val="tx1"/>
                </a:solidFill>
                <a:effectLst/>
                <a:latin typeface="+mn-lt"/>
                <a:ea typeface="+mn-ea"/>
                <a:cs typeface="+mn-cs"/>
              </a:rPr>
            </a:br>
            <a:r>
              <a:rPr lang="es-CO" sz="1200" i="1"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("Tabla de multiplicar del " + numero +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do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System.</a:t>
            </a:r>
            <a:r>
              <a:rPr lang="es-CO" sz="1200" i="1" kern="1200" dirty="0" err="1">
                <a:solidFill>
                  <a:schemeClr val="tx1"/>
                </a:solidFill>
                <a:effectLst/>
                <a:latin typeface="+mn-lt"/>
                <a:ea typeface="+mn-ea"/>
                <a:cs typeface="+mn-cs"/>
              </a:rPr>
              <a:t>out</a:t>
            </a:r>
            <a:r>
              <a:rPr lang="es-CO" sz="1200" kern="1200" dirty="0" err="1">
                <a:solidFill>
                  <a:schemeClr val="tx1"/>
                </a:solidFill>
                <a:effectLst/>
                <a:latin typeface="+mn-lt"/>
                <a:ea typeface="+mn-ea"/>
                <a:cs typeface="+mn-cs"/>
              </a:rPr>
              <a:t>.println</a:t>
            </a:r>
            <a:r>
              <a:rPr lang="es-CO" sz="1200" kern="1200" dirty="0">
                <a:solidFill>
                  <a:schemeClr val="tx1"/>
                </a:solidFill>
                <a:effectLst/>
                <a:latin typeface="+mn-lt"/>
                <a:ea typeface="+mn-ea"/>
                <a:cs typeface="+mn-cs"/>
              </a:rPr>
              <a:t>(numero + " x " + i + " = " + (numero * i));</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i++;</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 </a:t>
            </a:r>
            <a:r>
              <a:rPr lang="es-CO" sz="1200" kern="1200" dirty="0" err="1">
                <a:solidFill>
                  <a:schemeClr val="tx1"/>
                </a:solidFill>
                <a:effectLst/>
                <a:latin typeface="+mn-lt"/>
                <a:ea typeface="+mn-ea"/>
                <a:cs typeface="+mn-cs"/>
              </a:rPr>
              <a:t>while</a:t>
            </a:r>
            <a:r>
              <a:rPr lang="es-CO" sz="1200" kern="1200" dirty="0">
                <a:solidFill>
                  <a:schemeClr val="tx1"/>
                </a:solidFill>
                <a:effectLst/>
                <a:latin typeface="+mn-lt"/>
                <a:ea typeface="+mn-ea"/>
                <a:cs typeface="+mn-cs"/>
              </a:rPr>
              <a:t> (i &lt;= 10);</a:t>
            </a:r>
            <a:br>
              <a:rPr lang="es-CO" sz="1200" kern="1200" dirty="0">
                <a:solidFill>
                  <a:schemeClr val="tx1"/>
                </a:solidFill>
                <a:effectLst/>
                <a:latin typeface="+mn-lt"/>
                <a:ea typeface="+mn-ea"/>
                <a:cs typeface="+mn-cs"/>
              </a:rPr>
            </a:b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r>
              <a:rPr lang="es-CO" sz="1200" kern="1200" dirty="0" err="1">
                <a:solidFill>
                  <a:schemeClr val="tx1"/>
                </a:solidFill>
                <a:effectLst/>
                <a:latin typeface="+mn-lt"/>
                <a:ea typeface="+mn-ea"/>
                <a:cs typeface="+mn-cs"/>
              </a:rPr>
              <a:t>scanner.close</a:t>
            </a: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    }</a:t>
            </a:r>
            <a:br>
              <a:rPr lang="es-CO" sz="1200" kern="1200" dirty="0">
                <a:solidFill>
                  <a:schemeClr val="tx1"/>
                </a:solidFill>
                <a:effectLst/>
                <a:latin typeface="+mn-lt"/>
                <a:ea typeface="+mn-ea"/>
                <a:cs typeface="+mn-cs"/>
              </a:rPr>
            </a:br>
            <a:r>
              <a:rPr lang="es-CO" sz="1200" kern="1200" dirty="0">
                <a:solidFill>
                  <a:schemeClr val="tx1"/>
                </a:solidFill>
                <a:effectLst/>
                <a:latin typeface="+mn-lt"/>
                <a:ea typeface="+mn-ea"/>
                <a:cs typeface="+mn-cs"/>
              </a:rPr>
              <a:t>}</a:t>
            </a:r>
            <a:br>
              <a:rPr lang="es-CO" sz="1200" kern="1200" dirty="0">
                <a:solidFill>
                  <a:schemeClr val="tx1"/>
                </a:solidFill>
                <a:effectLst/>
                <a:latin typeface="+mn-lt"/>
                <a:ea typeface="+mn-ea"/>
                <a:cs typeface="+mn-cs"/>
              </a:rPr>
            </a:br>
            <a:endParaRPr lang="es-CO" sz="1200" kern="1200" dirty="0">
              <a:solidFill>
                <a:schemeClr val="tx1"/>
              </a:solidFill>
              <a:effectLst/>
              <a:latin typeface="+mn-lt"/>
              <a:ea typeface="+mn-ea"/>
              <a:cs typeface="+mn-cs"/>
            </a:endParaRPr>
          </a:p>
          <a:p>
            <a:endParaRPr lang="es-CO" dirty="0"/>
          </a:p>
        </p:txBody>
      </p:sp>
      <p:sp>
        <p:nvSpPr>
          <p:cNvPr id="4" name="Marcador de número de diapositiva 3"/>
          <p:cNvSpPr>
            <a:spLocks noGrp="1"/>
          </p:cNvSpPr>
          <p:nvPr>
            <p:ph type="sldNum" sz="quarter" idx="5"/>
          </p:nvPr>
        </p:nvSpPr>
        <p:spPr/>
        <p:txBody>
          <a:bodyPr/>
          <a:lstStyle/>
          <a:p>
            <a:fld id="{4FE8759D-4EE3-4B6A-B037-0972B1BD290E}" type="slidenum">
              <a:rPr lang="es-CO" smtClean="0"/>
              <a:t>40</a:t>
            </a:fld>
            <a:endParaRPr lang="es-CO"/>
          </a:p>
        </p:txBody>
      </p:sp>
    </p:spTree>
    <p:extLst>
      <p:ext uri="{BB962C8B-B14F-4D97-AF65-F5344CB8AC3E}">
        <p14:creationId xmlns:p14="http://schemas.microsoft.com/office/powerpoint/2010/main" val="4822092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2_Agenda">
    <p:spTree>
      <p:nvGrpSpPr>
        <p:cNvPr id="1" name=""/>
        <p:cNvGrpSpPr/>
        <p:nvPr/>
      </p:nvGrpSpPr>
      <p:grpSpPr>
        <a:xfrm>
          <a:off x="0" y="0"/>
          <a:ext cx="0" cy="0"/>
          <a:chOff x="0" y="0"/>
          <a:chExt cx="0" cy="0"/>
        </a:xfrm>
      </p:grpSpPr>
      <p:pic>
        <p:nvPicPr>
          <p:cNvPr id="4" name="Imagen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3" name="2 Marcador de contenido"/>
          <p:cNvSpPr>
            <a:spLocks noGrp="1"/>
          </p:cNvSpPr>
          <p:nvPr>
            <p:ph idx="1" hasCustomPrompt="1"/>
          </p:nvPr>
        </p:nvSpPr>
        <p:spPr>
          <a:xfrm>
            <a:off x="609600" y="1412777"/>
            <a:ext cx="10972800" cy="4525963"/>
          </a:xfrm>
          <a:prstGeom prst="rect">
            <a:avLst/>
          </a:prstGeom>
        </p:spPr>
        <p:txBody>
          <a:bodyPr/>
          <a:lstStyle>
            <a:lvl1pPr>
              <a:defRPr sz="1693">
                <a:latin typeface="Arial" pitchFamily="34" charset="0"/>
                <a:cs typeface="Arial" pitchFamily="34" charset="0"/>
              </a:defRPr>
            </a:lvl1pPr>
            <a:lvl2pPr>
              <a:defRPr sz="1693" baseline="0">
                <a:latin typeface="Arial" pitchFamily="34" charset="0"/>
                <a:cs typeface="Arial" pitchFamily="34" charset="0"/>
              </a:defRPr>
            </a:lvl2pPr>
          </a:lstStyle>
          <a:p>
            <a:pPr lvl="0"/>
            <a:r>
              <a:rPr lang="es-ES" dirty="0"/>
              <a:t>Haga clic para modificar el estilo de texto del patrón (Arial 16)</a:t>
            </a:r>
          </a:p>
          <a:p>
            <a:pPr lvl="1"/>
            <a:r>
              <a:rPr lang="es-ES" dirty="0"/>
              <a:t>Segundo nivel (Arial 16)</a:t>
            </a:r>
          </a:p>
          <a:p>
            <a:pPr lvl="1"/>
            <a:endParaRPr lang="es-ES" dirty="0"/>
          </a:p>
        </p:txBody>
      </p:sp>
    </p:spTree>
    <p:extLst>
      <p:ext uri="{BB962C8B-B14F-4D97-AF65-F5344CB8AC3E}">
        <p14:creationId xmlns:p14="http://schemas.microsoft.com/office/powerpoint/2010/main" val="339835620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1_Agenda">
    <p:spTree>
      <p:nvGrpSpPr>
        <p:cNvPr id="1" name=""/>
        <p:cNvGrpSpPr/>
        <p:nvPr/>
      </p:nvGrpSpPr>
      <p:grpSpPr>
        <a:xfrm>
          <a:off x="0" y="0"/>
          <a:ext cx="0" cy="0"/>
          <a:chOff x="0" y="0"/>
          <a:chExt cx="0" cy="0"/>
        </a:xfrm>
      </p:grpSpPr>
      <p:pic>
        <p:nvPicPr>
          <p:cNvPr id="4" name="Imagen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3" name="2 Marcador de contenido"/>
          <p:cNvSpPr>
            <a:spLocks noGrp="1"/>
          </p:cNvSpPr>
          <p:nvPr>
            <p:ph idx="1" hasCustomPrompt="1"/>
          </p:nvPr>
        </p:nvSpPr>
        <p:spPr>
          <a:xfrm>
            <a:off x="609600" y="1412777"/>
            <a:ext cx="10972800" cy="4525963"/>
          </a:xfrm>
          <a:prstGeom prst="rect">
            <a:avLst/>
          </a:prstGeom>
        </p:spPr>
        <p:txBody>
          <a:bodyPr/>
          <a:lstStyle>
            <a:lvl1pPr>
              <a:defRPr sz="1693">
                <a:latin typeface="Arial" pitchFamily="34" charset="0"/>
                <a:cs typeface="Arial" pitchFamily="34" charset="0"/>
              </a:defRPr>
            </a:lvl1pPr>
            <a:lvl2pPr>
              <a:defRPr sz="1693" baseline="0">
                <a:latin typeface="Arial" pitchFamily="34" charset="0"/>
                <a:cs typeface="Arial" pitchFamily="34" charset="0"/>
              </a:defRPr>
            </a:lvl2pPr>
          </a:lstStyle>
          <a:p>
            <a:pPr lvl="0"/>
            <a:r>
              <a:rPr lang="es-ES" dirty="0"/>
              <a:t>Haga clic para modificar el estilo de texto del patrón (Arial 16)</a:t>
            </a:r>
          </a:p>
          <a:p>
            <a:pPr lvl="1"/>
            <a:r>
              <a:rPr lang="es-ES" dirty="0"/>
              <a:t>Segundo nivel (Arial 16)</a:t>
            </a:r>
          </a:p>
          <a:p>
            <a:pPr lvl="1"/>
            <a:endParaRPr lang="es-ES" dirty="0"/>
          </a:p>
        </p:txBody>
      </p:sp>
    </p:spTree>
    <p:extLst>
      <p:ext uri="{BB962C8B-B14F-4D97-AF65-F5344CB8AC3E}">
        <p14:creationId xmlns:p14="http://schemas.microsoft.com/office/powerpoint/2010/main" val="380983935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master-page3">
    <p:spTree>
      <p:nvGrpSpPr>
        <p:cNvPr id="1" name=""/>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master-page3">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397E8BD-C636-891C-367F-6486B7EC6BD5}"/>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effectLst/>
                <a:uFillTx/>
                <a:latin typeface="Arial"/>
              </a:rPr>
              <a:t>Click to edit the title text format</a:t>
            </a: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
        <p:nvSpPr>
          <p:cNvPr id="5" name="CuadroTexto 4">
            <a:extLst>
              <a:ext uri="{FF2B5EF4-FFF2-40B4-BE49-F238E27FC236}">
                <a16:creationId xmlns:a16="http://schemas.microsoft.com/office/drawing/2014/main" id="{C7CF2193-E7D7-F792-9381-A5879EA0682C}"/>
              </a:ext>
            </a:extLst>
          </p:cNvPr>
          <p:cNvSpPr txBox="1"/>
          <p:nvPr userDrawn="1">
            <p:extLst>
              <p:ext uri="{1162E1C5-73C7-4A58-AE30-91384D911F3F}">
                <p184:classification xmlns:p184="http://schemas.microsoft.com/office/powerpoint/2018/4/main" val="hdr"/>
              </p:ext>
            </p:extLst>
          </p:nvPr>
        </p:nvSpPr>
        <p:spPr>
          <a:xfrm>
            <a:off x="10812463" y="63500"/>
            <a:ext cx="1354137" cy="228600"/>
          </a:xfrm>
          <a:prstGeom prst="rect">
            <a:avLst/>
          </a:prstGeom>
        </p:spPr>
        <p:txBody>
          <a:bodyPr horzOverflow="overflow" lIns="0" tIns="0" rIns="0" bIns="0">
            <a:spAutoFit/>
          </a:bodyPr>
          <a:lstStyle/>
          <a:p>
            <a:pPr algn="l"/>
            <a:r>
              <a:rPr lang="es-CO" sz="1500">
                <a:solidFill>
                  <a:srgbClr val="FF0000">
                    <a:alpha val="50000"/>
                  </a:srgbClr>
                </a:solidFill>
                <a:latin typeface="Aptos" panose="020B0004020202020204" pitchFamily="34" charset="0"/>
              </a:rPr>
              <a:t>CONFIDENCIAL</a:t>
            </a:r>
          </a:p>
        </p:txBody>
      </p:sp>
    </p:spTree>
  </p:cSld>
  <p:clrMap bg1="lt1" tx1="dk1" bg2="lt2" tx2="dk2" accent1="accent1" accent2="accent2" accent3="accent3" accent4="accent4" accent5="accent5" accent6="accent6" hlink="hlink" folHlink="folHlink"/>
  <p:sldLayoutIdLst>
    <p:sldLayoutId id="2147483652" r:id="rId1"/>
    <p:sldLayoutId id="2147483651" r:id="rId2"/>
    <p:sldLayoutId id="2147483649" r:id="rId3"/>
    <p:sldLayoutId id="214748365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rma libre: forma 5"/>
          <p:cNvSpPr/>
          <p:nvPr/>
        </p:nvSpPr>
        <p:spPr>
          <a:xfrm flipV="1">
            <a:off x="952199" y="4129548"/>
            <a:ext cx="9649693" cy="48572"/>
          </a:xfrm>
          <a:custGeom>
            <a:avLst/>
            <a:gdLst/>
            <a:ahLst/>
            <a:cxnLst/>
            <a:rect l="0" t="0" r="r" b="b"/>
            <a:pathLst>
              <a:path w="2118" h="107">
                <a:moveTo>
                  <a:pt x="0" y="0"/>
                </a:moveTo>
                <a:lnTo>
                  <a:pt x="2118" y="0"/>
                </a:lnTo>
                <a:lnTo>
                  <a:pt x="2118" y="107"/>
                </a:lnTo>
                <a:lnTo>
                  <a:pt x="0" y="107"/>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 name="CuadroTexto 6"/>
          <p:cNvSpPr txBox="1"/>
          <p:nvPr/>
        </p:nvSpPr>
        <p:spPr>
          <a:xfrm>
            <a:off x="952560" y="3287536"/>
            <a:ext cx="9649693" cy="692497"/>
          </a:xfrm>
          <a:prstGeom prst="rect">
            <a:avLst/>
          </a:prstGeom>
          <a:noFill/>
          <a:ln w="0">
            <a:noFill/>
          </a:ln>
        </p:spPr>
        <p:txBody>
          <a:bodyPr wrap="none" lIns="0" tIns="0" rIns="0" bIns="0" anchor="t">
            <a:spAutoFit/>
          </a:bodyPr>
          <a:lstStyle/>
          <a:p>
            <a:r>
              <a:rPr lang="en-US" sz="4500" b="0" u="none" strike="noStrike" dirty="0">
                <a:solidFill>
                  <a:srgbClr val="000000"/>
                </a:solidFill>
                <a:effectLst/>
                <a:uFillTx/>
                <a:latin typeface="CrimsonPro"/>
                <a:ea typeface="CrimsonPro"/>
              </a:rPr>
              <a:t>Workshop de</a:t>
            </a:r>
            <a:r>
              <a:rPr lang="en-US" sz="4500" dirty="0">
                <a:solidFill>
                  <a:srgbClr val="000000"/>
                </a:solidFill>
                <a:latin typeface="CrimsonPro"/>
                <a:ea typeface="CrimsonPro"/>
              </a:rPr>
              <a:t> </a:t>
            </a:r>
            <a:r>
              <a:rPr lang="en-US" sz="4500" dirty="0" err="1">
                <a:solidFill>
                  <a:srgbClr val="000000"/>
                </a:solidFill>
                <a:latin typeface="CrimsonPro"/>
                <a:ea typeface="CrimsonPro"/>
              </a:rPr>
              <a:t>Automatización</a:t>
            </a:r>
            <a:r>
              <a:rPr lang="en-US" sz="4500" dirty="0">
                <a:solidFill>
                  <a:srgbClr val="000000"/>
                </a:solidFill>
                <a:latin typeface="CrimsonPro"/>
                <a:ea typeface="CrimsonPro"/>
              </a:rPr>
              <a:t> de </a:t>
            </a:r>
            <a:r>
              <a:rPr lang="en-US" sz="4500" dirty="0" err="1">
                <a:solidFill>
                  <a:srgbClr val="000000"/>
                </a:solidFill>
                <a:latin typeface="CrimsonPro"/>
                <a:ea typeface="CrimsonPro"/>
              </a:rPr>
              <a:t>Pruebas</a:t>
            </a:r>
            <a:endParaRPr lang="en-US" sz="4500" dirty="0">
              <a:solidFill>
                <a:srgbClr val="000000"/>
              </a:solidFill>
              <a:latin typeface="Times New Roman"/>
            </a:endParaRPr>
          </a:p>
        </p:txBody>
      </p:sp>
      <p:sp>
        <p:nvSpPr>
          <p:cNvPr id="10" name="CuadroTexto 9"/>
          <p:cNvSpPr txBox="1"/>
          <p:nvPr/>
        </p:nvSpPr>
        <p:spPr>
          <a:xfrm>
            <a:off x="952560" y="4274280"/>
            <a:ext cx="2961067" cy="415498"/>
          </a:xfrm>
          <a:prstGeom prst="rect">
            <a:avLst/>
          </a:prstGeom>
          <a:noFill/>
          <a:ln w="0">
            <a:noFill/>
          </a:ln>
        </p:spPr>
        <p:txBody>
          <a:bodyPr wrap="none" lIns="0" tIns="0" rIns="0" bIns="0" anchor="t">
            <a:spAutoFit/>
          </a:bodyPr>
          <a:lstStyle/>
          <a:p>
            <a:r>
              <a:rPr lang="en-US" sz="2700" b="0" u="none" strike="noStrike" dirty="0">
                <a:solidFill>
                  <a:srgbClr val="DA7756"/>
                </a:solidFill>
                <a:effectLst/>
                <a:uFillTx/>
                <a:latin typeface="CrimsonPro"/>
                <a:ea typeface="CrimsonPro"/>
              </a:rPr>
              <a:t>NIVELACIÓN EN JAVA</a:t>
            </a:r>
            <a:endParaRPr lang="en-US" sz="2700" b="0" u="none" strike="noStrike" dirty="0">
              <a:solidFill>
                <a:srgbClr val="000000"/>
              </a:solidFill>
              <a:effectLst/>
              <a:uFillTx/>
              <a:latin typeface="Times New Roman"/>
            </a:endParaRPr>
          </a:p>
        </p:txBody>
      </p:sp>
      <p:sp>
        <p:nvSpPr>
          <p:cNvPr id="13" name="CuadroTexto 12"/>
          <p:cNvSpPr txBox="1"/>
          <p:nvPr/>
        </p:nvSpPr>
        <p:spPr>
          <a:xfrm>
            <a:off x="952560" y="5144400"/>
            <a:ext cx="1541897" cy="230832"/>
          </a:xfrm>
          <a:prstGeom prst="rect">
            <a:avLst/>
          </a:prstGeom>
          <a:noFill/>
          <a:ln w="0">
            <a:noFill/>
          </a:ln>
        </p:spPr>
        <p:txBody>
          <a:bodyPr wrap="none" lIns="0" tIns="0" rIns="0" bIns="0" anchor="t">
            <a:spAutoFit/>
          </a:bodyPr>
          <a:lstStyle/>
          <a:p>
            <a:r>
              <a:rPr lang="en-US" sz="1500" b="0" u="none" strike="noStrike" dirty="0" err="1">
                <a:solidFill>
                  <a:srgbClr val="666666"/>
                </a:solidFill>
                <a:effectLst/>
                <a:uFillTx/>
                <a:latin typeface="CrimsonPro"/>
                <a:ea typeface="CrimsonPro"/>
              </a:rPr>
              <a:t>Noviembre</a:t>
            </a:r>
            <a:r>
              <a:rPr lang="en-US" sz="1500" b="0" u="none" strike="noStrike" dirty="0">
                <a:solidFill>
                  <a:srgbClr val="666666"/>
                </a:solidFill>
                <a:effectLst/>
                <a:uFillTx/>
                <a:latin typeface="CrimsonPro"/>
                <a:ea typeface="CrimsonPro"/>
              </a:rPr>
              <a:t> de 2025</a:t>
            </a:r>
            <a:endParaRPr lang="en-US" sz="1500" b="0" u="none" strike="noStrike" dirty="0">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rma libre: forma 15"/>
          <p:cNvSpPr/>
          <p:nvPr/>
        </p:nvSpPr>
        <p:spPr>
          <a:xfrm>
            <a:off x="571320" y="1029060"/>
            <a:ext cx="1998920" cy="45719"/>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9" name="CuadroTexto 18"/>
          <p:cNvSpPr txBox="1"/>
          <p:nvPr/>
        </p:nvSpPr>
        <p:spPr>
          <a:xfrm>
            <a:off x="571320" y="569160"/>
            <a:ext cx="1369080" cy="381240"/>
          </a:xfrm>
          <a:prstGeom prst="rect">
            <a:avLst/>
          </a:prstGeom>
          <a:noFill/>
          <a:ln w="0">
            <a:noFill/>
          </a:ln>
        </p:spPr>
        <p:txBody>
          <a:bodyPr wrap="none" lIns="0" tIns="0" rIns="0" bIns="0" anchor="t">
            <a:spAutoFit/>
          </a:bodyPr>
          <a:lstStyle/>
          <a:p>
            <a:r>
              <a:rPr lang="en-US" sz="2700" b="0" u="none" strike="noStrike" dirty="0" err="1">
                <a:solidFill>
                  <a:srgbClr val="000000"/>
                </a:solidFill>
                <a:effectLst/>
                <a:uFillTx/>
                <a:latin typeface="CrimsonPro"/>
                <a:ea typeface="CrimsonPro"/>
              </a:rPr>
              <a:t>Formador</a:t>
            </a:r>
            <a:endParaRPr lang="en-US" sz="2700" b="0" u="none" strike="noStrike" dirty="0">
              <a:solidFill>
                <a:srgbClr val="000000"/>
              </a:solidFill>
              <a:effectLst/>
              <a:uFillTx/>
              <a:latin typeface="Times New Roman"/>
            </a:endParaRPr>
          </a:p>
        </p:txBody>
      </p:sp>
      <p:sp>
        <p:nvSpPr>
          <p:cNvPr id="20" name="Forma libre: forma 19"/>
          <p:cNvSpPr/>
          <p:nvPr/>
        </p:nvSpPr>
        <p:spPr>
          <a:xfrm>
            <a:off x="743040" y="2050920"/>
            <a:ext cx="2457720" cy="381240"/>
          </a:xfrm>
          <a:custGeom>
            <a:avLst/>
            <a:gdLst/>
            <a:ahLst/>
            <a:cxnLst/>
            <a:rect l="0" t="0" r="r" b="b"/>
            <a:pathLst>
              <a:path w="6827" h="1059">
                <a:moveTo>
                  <a:pt x="0" y="530"/>
                </a:moveTo>
                <a:cubicBezTo>
                  <a:pt x="0" y="495"/>
                  <a:pt x="4" y="461"/>
                  <a:pt x="10" y="427"/>
                </a:cubicBezTo>
                <a:cubicBezTo>
                  <a:pt x="17" y="392"/>
                  <a:pt x="27" y="359"/>
                  <a:pt x="40" y="327"/>
                </a:cubicBezTo>
                <a:cubicBezTo>
                  <a:pt x="54" y="295"/>
                  <a:pt x="70" y="265"/>
                  <a:pt x="89" y="236"/>
                </a:cubicBezTo>
                <a:cubicBezTo>
                  <a:pt x="109" y="207"/>
                  <a:pt x="131" y="180"/>
                  <a:pt x="155" y="156"/>
                </a:cubicBezTo>
                <a:cubicBezTo>
                  <a:pt x="180" y="131"/>
                  <a:pt x="206" y="109"/>
                  <a:pt x="235" y="90"/>
                </a:cubicBezTo>
                <a:cubicBezTo>
                  <a:pt x="264" y="70"/>
                  <a:pt x="295" y="53"/>
                  <a:pt x="327" y="40"/>
                </a:cubicBezTo>
                <a:cubicBezTo>
                  <a:pt x="359" y="27"/>
                  <a:pt x="392" y="17"/>
                  <a:pt x="426" y="10"/>
                </a:cubicBezTo>
                <a:cubicBezTo>
                  <a:pt x="460" y="3"/>
                  <a:pt x="495" y="0"/>
                  <a:pt x="529" y="0"/>
                </a:cubicBezTo>
                <a:lnTo>
                  <a:pt x="6298" y="0"/>
                </a:lnTo>
                <a:cubicBezTo>
                  <a:pt x="6333" y="0"/>
                  <a:pt x="6367" y="3"/>
                  <a:pt x="6402" y="10"/>
                </a:cubicBezTo>
                <a:cubicBezTo>
                  <a:pt x="6436" y="17"/>
                  <a:pt x="6469" y="27"/>
                  <a:pt x="6501" y="40"/>
                </a:cubicBezTo>
                <a:cubicBezTo>
                  <a:pt x="6533" y="53"/>
                  <a:pt x="6563" y="70"/>
                  <a:pt x="6592" y="90"/>
                </a:cubicBezTo>
                <a:cubicBezTo>
                  <a:pt x="6621" y="109"/>
                  <a:pt x="6648" y="131"/>
                  <a:pt x="6672" y="156"/>
                </a:cubicBezTo>
                <a:cubicBezTo>
                  <a:pt x="6697" y="180"/>
                  <a:pt x="6719" y="207"/>
                  <a:pt x="6738" y="236"/>
                </a:cubicBezTo>
                <a:cubicBezTo>
                  <a:pt x="6758" y="265"/>
                  <a:pt x="6774" y="295"/>
                  <a:pt x="6787" y="327"/>
                </a:cubicBezTo>
                <a:cubicBezTo>
                  <a:pt x="6800" y="359"/>
                  <a:pt x="6811" y="392"/>
                  <a:pt x="6817" y="427"/>
                </a:cubicBezTo>
                <a:cubicBezTo>
                  <a:pt x="6824" y="461"/>
                  <a:pt x="6827" y="495"/>
                  <a:pt x="6827" y="530"/>
                </a:cubicBezTo>
                <a:cubicBezTo>
                  <a:pt x="6827" y="565"/>
                  <a:pt x="6824" y="599"/>
                  <a:pt x="6817" y="633"/>
                </a:cubicBezTo>
                <a:cubicBezTo>
                  <a:pt x="6811" y="667"/>
                  <a:pt x="6800" y="700"/>
                  <a:pt x="6787" y="732"/>
                </a:cubicBezTo>
                <a:cubicBezTo>
                  <a:pt x="6774" y="764"/>
                  <a:pt x="6758" y="795"/>
                  <a:pt x="6738" y="824"/>
                </a:cubicBezTo>
                <a:cubicBezTo>
                  <a:pt x="6719" y="853"/>
                  <a:pt x="6697" y="879"/>
                  <a:pt x="6672" y="904"/>
                </a:cubicBezTo>
                <a:cubicBezTo>
                  <a:pt x="6648" y="929"/>
                  <a:pt x="6621" y="950"/>
                  <a:pt x="6592" y="970"/>
                </a:cubicBezTo>
                <a:cubicBezTo>
                  <a:pt x="6563" y="989"/>
                  <a:pt x="6533" y="1005"/>
                  <a:pt x="6501" y="1019"/>
                </a:cubicBezTo>
                <a:cubicBezTo>
                  <a:pt x="6469" y="1032"/>
                  <a:pt x="6436" y="1042"/>
                  <a:pt x="6402" y="1049"/>
                </a:cubicBezTo>
                <a:cubicBezTo>
                  <a:pt x="6367" y="1056"/>
                  <a:pt x="6333" y="1059"/>
                  <a:pt x="6298" y="1059"/>
                </a:cubicBezTo>
                <a:lnTo>
                  <a:pt x="529" y="1059"/>
                </a:lnTo>
                <a:cubicBezTo>
                  <a:pt x="495" y="1059"/>
                  <a:pt x="460" y="1056"/>
                  <a:pt x="426" y="1049"/>
                </a:cubicBezTo>
                <a:cubicBezTo>
                  <a:pt x="392" y="1042"/>
                  <a:pt x="359" y="1032"/>
                  <a:pt x="327" y="1019"/>
                </a:cubicBezTo>
                <a:cubicBezTo>
                  <a:pt x="295" y="1005"/>
                  <a:pt x="264" y="989"/>
                  <a:pt x="235" y="970"/>
                </a:cubicBezTo>
                <a:cubicBezTo>
                  <a:pt x="206" y="950"/>
                  <a:pt x="180" y="929"/>
                  <a:pt x="155" y="904"/>
                </a:cubicBezTo>
                <a:cubicBezTo>
                  <a:pt x="131" y="879"/>
                  <a:pt x="109" y="853"/>
                  <a:pt x="89" y="824"/>
                </a:cubicBezTo>
                <a:cubicBezTo>
                  <a:pt x="70" y="795"/>
                  <a:pt x="54" y="764"/>
                  <a:pt x="40" y="732"/>
                </a:cubicBezTo>
                <a:cubicBezTo>
                  <a:pt x="27" y="700"/>
                  <a:pt x="17" y="667"/>
                  <a:pt x="10" y="633"/>
                </a:cubicBezTo>
                <a:cubicBezTo>
                  <a:pt x="4" y="599"/>
                  <a:pt x="0" y="565"/>
                  <a:pt x="0" y="53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1" name="CuadroTexto 20"/>
          <p:cNvSpPr txBox="1"/>
          <p:nvPr/>
        </p:nvSpPr>
        <p:spPr>
          <a:xfrm>
            <a:off x="908640" y="1579320"/>
            <a:ext cx="2063520" cy="253440"/>
          </a:xfrm>
          <a:prstGeom prst="rect">
            <a:avLst/>
          </a:prstGeom>
          <a:noFill/>
          <a:ln w="0">
            <a:noFill/>
          </a:ln>
        </p:spPr>
        <p:txBody>
          <a:bodyPr wrap="none" lIns="0" tIns="0" rIns="0" bIns="0" anchor="t">
            <a:spAutoFit/>
          </a:bodyPr>
          <a:lstStyle/>
          <a:p>
            <a:r>
              <a:rPr lang="en-US" sz="1800" b="0" u="none" strike="noStrike" dirty="0">
                <a:solidFill>
                  <a:srgbClr val="000000"/>
                </a:solidFill>
                <a:effectLst/>
                <a:uFillTx/>
                <a:latin typeface="CrimsonPro"/>
                <a:ea typeface="CrimsonPro"/>
              </a:rPr>
              <a:t>Yeison Arias </a:t>
            </a:r>
            <a:r>
              <a:rPr lang="en-US" sz="1800" b="0" u="none" strike="noStrike" dirty="0" err="1">
                <a:solidFill>
                  <a:srgbClr val="000000"/>
                </a:solidFill>
                <a:effectLst/>
                <a:uFillTx/>
                <a:latin typeface="CrimsonPro"/>
                <a:ea typeface="CrimsonPro"/>
              </a:rPr>
              <a:t>Castrillón</a:t>
            </a:r>
            <a:endParaRPr lang="en-US" sz="1800" b="0" u="none" strike="noStrike" dirty="0">
              <a:solidFill>
                <a:srgbClr val="000000"/>
              </a:solidFill>
              <a:effectLst/>
              <a:uFillTx/>
              <a:latin typeface="Times New Roman"/>
            </a:endParaRPr>
          </a:p>
        </p:txBody>
      </p:sp>
      <p:sp>
        <p:nvSpPr>
          <p:cNvPr id="22" name="CuadroTexto 21"/>
          <p:cNvSpPr txBox="1"/>
          <p:nvPr/>
        </p:nvSpPr>
        <p:spPr>
          <a:xfrm>
            <a:off x="932400" y="2152440"/>
            <a:ext cx="2045160" cy="169560"/>
          </a:xfrm>
          <a:prstGeom prst="rect">
            <a:avLst/>
          </a:prstGeom>
          <a:noFill/>
          <a:ln w="0">
            <a:noFill/>
          </a:ln>
        </p:spPr>
        <p:txBody>
          <a:bodyPr wrap="none" lIns="0" tIns="0" rIns="0" bIns="0" anchor="t">
            <a:spAutoFit/>
          </a:bodyPr>
          <a:lstStyle/>
          <a:p>
            <a:r>
              <a:rPr lang="en-US" sz="1200" b="0" u="none" strike="noStrike">
                <a:solidFill>
                  <a:srgbClr val="DA7756"/>
                </a:solidFill>
                <a:effectLst/>
                <a:uFillTx/>
                <a:latin typeface="CrimsonPro"/>
                <a:ea typeface="CrimsonPro"/>
              </a:rPr>
              <a:t>14 años de experiencia en Pruebas</a:t>
            </a:r>
            <a:endParaRPr lang="en-US" sz="1200" b="0" u="none" strike="noStrike">
              <a:solidFill>
                <a:srgbClr val="000000"/>
              </a:solidFill>
              <a:effectLst/>
              <a:uFillTx/>
              <a:latin typeface="Times New Roman"/>
            </a:endParaRPr>
          </a:p>
        </p:txBody>
      </p:sp>
      <p:sp>
        <p:nvSpPr>
          <p:cNvPr id="23" name="Forma libre: forma 22"/>
          <p:cNvSpPr/>
          <p:nvPr/>
        </p:nvSpPr>
        <p:spPr>
          <a:xfrm>
            <a:off x="3996811" y="1885680"/>
            <a:ext cx="76320" cy="76680"/>
          </a:xfrm>
          <a:custGeom>
            <a:avLst/>
            <a:gdLst/>
            <a:ahLst/>
            <a:cxnLst/>
            <a:rect l="0" t="0" r="r" b="b"/>
            <a:pathLst>
              <a:path w="212" h="213">
                <a:moveTo>
                  <a:pt x="212" y="106"/>
                </a:moveTo>
                <a:cubicBezTo>
                  <a:pt x="212" y="120"/>
                  <a:pt x="210" y="134"/>
                  <a:pt x="204" y="148"/>
                </a:cubicBezTo>
                <a:cubicBezTo>
                  <a:pt x="199" y="161"/>
                  <a:pt x="191" y="172"/>
                  <a:pt x="181" y="182"/>
                </a:cubicBezTo>
                <a:cubicBezTo>
                  <a:pt x="170" y="192"/>
                  <a:pt x="159" y="199"/>
                  <a:pt x="146" y="205"/>
                </a:cubicBezTo>
                <a:cubicBezTo>
                  <a:pt x="133" y="210"/>
                  <a:pt x="120" y="213"/>
                  <a:pt x="105" y="213"/>
                </a:cubicBezTo>
                <a:cubicBezTo>
                  <a:pt x="91" y="213"/>
                  <a:pt x="78" y="210"/>
                  <a:pt x="65" y="205"/>
                </a:cubicBezTo>
                <a:cubicBezTo>
                  <a:pt x="52" y="199"/>
                  <a:pt x="41" y="192"/>
                  <a:pt x="31" y="182"/>
                </a:cubicBezTo>
                <a:cubicBezTo>
                  <a:pt x="21" y="172"/>
                  <a:pt x="13" y="161"/>
                  <a:pt x="8" y="148"/>
                </a:cubicBezTo>
                <a:cubicBezTo>
                  <a:pt x="2" y="134"/>
                  <a:pt x="0" y="120"/>
                  <a:pt x="0" y="106"/>
                </a:cubicBezTo>
                <a:cubicBezTo>
                  <a:pt x="0" y="92"/>
                  <a:pt x="2" y="79"/>
                  <a:pt x="8" y="66"/>
                </a:cubicBezTo>
                <a:cubicBezTo>
                  <a:pt x="13" y="53"/>
                  <a:pt x="21" y="41"/>
                  <a:pt x="31" y="31"/>
                </a:cubicBezTo>
                <a:cubicBezTo>
                  <a:pt x="41" y="21"/>
                  <a:pt x="52" y="14"/>
                  <a:pt x="65" y="8"/>
                </a:cubicBezTo>
                <a:cubicBezTo>
                  <a:pt x="78" y="3"/>
                  <a:pt x="91" y="0"/>
                  <a:pt x="105" y="0"/>
                </a:cubicBezTo>
                <a:cubicBezTo>
                  <a:pt x="120" y="0"/>
                  <a:pt x="133" y="3"/>
                  <a:pt x="146" y="8"/>
                </a:cubicBezTo>
                <a:cubicBezTo>
                  <a:pt x="159" y="14"/>
                  <a:pt x="170" y="21"/>
                  <a:pt x="181" y="31"/>
                </a:cubicBezTo>
                <a:cubicBezTo>
                  <a:pt x="191" y="41"/>
                  <a:pt x="199" y="53"/>
                  <a:pt x="204" y="66"/>
                </a:cubicBezTo>
                <a:cubicBezTo>
                  <a:pt x="210" y="79"/>
                  <a:pt x="212" y="92"/>
                  <a:pt x="212"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4" name="CuadroTexto 23"/>
          <p:cNvSpPr txBox="1"/>
          <p:nvPr/>
        </p:nvSpPr>
        <p:spPr>
          <a:xfrm>
            <a:off x="4000440" y="1249400"/>
            <a:ext cx="2846100" cy="369332"/>
          </a:xfrm>
          <a:prstGeom prst="rect">
            <a:avLst/>
          </a:prstGeom>
          <a:noFill/>
          <a:ln w="0">
            <a:noFill/>
          </a:ln>
        </p:spPr>
        <p:txBody>
          <a:bodyPr wrap="none" lIns="0" tIns="0" rIns="0" bIns="0" anchor="t">
            <a:spAutoFit/>
          </a:bodyPr>
          <a:lstStyle/>
          <a:p>
            <a:r>
              <a:rPr lang="en-US" sz="2400" b="0" u="none" strike="noStrike" dirty="0" err="1">
                <a:solidFill>
                  <a:srgbClr val="DA7756"/>
                </a:solidFill>
                <a:effectLst/>
                <a:uFillTx/>
                <a:latin typeface="CrimsonPro"/>
                <a:ea typeface="CrimsonPro"/>
              </a:rPr>
              <a:t>Trayectoria</a:t>
            </a:r>
            <a:r>
              <a:rPr lang="en-US" sz="2400" b="0" u="none" strike="noStrike" dirty="0">
                <a:solidFill>
                  <a:srgbClr val="DA7756"/>
                </a:solidFill>
                <a:effectLst/>
                <a:uFillTx/>
                <a:latin typeface="CrimsonPro"/>
                <a:ea typeface="CrimsonPro"/>
              </a:rPr>
              <a:t> </a:t>
            </a:r>
            <a:r>
              <a:rPr lang="en-US" sz="2400" b="0" u="none" strike="noStrike" dirty="0" err="1">
                <a:solidFill>
                  <a:srgbClr val="DA7756"/>
                </a:solidFill>
                <a:effectLst/>
                <a:uFillTx/>
                <a:latin typeface="CrimsonPro"/>
                <a:ea typeface="CrimsonPro"/>
              </a:rPr>
              <a:t>Profesional</a:t>
            </a:r>
            <a:endParaRPr lang="en-US" sz="2400" b="0" u="none" strike="noStrike" dirty="0">
              <a:solidFill>
                <a:srgbClr val="000000"/>
              </a:solidFill>
              <a:effectLst/>
              <a:uFillTx/>
              <a:latin typeface="Times New Roman"/>
            </a:endParaRPr>
          </a:p>
        </p:txBody>
      </p:sp>
      <p:sp>
        <p:nvSpPr>
          <p:cNvPr id="25" name="CuadroTexto 24"/>
          <p:cNvSpPr txBox="1"/>
          <p:nvPr/>
        </p:nvSpPr>
        <p:spPr>
          <a:xfrm>
            <a:off x="4117461" y="1846800"/>
            <a:ext cx="790200" cy="189360"/>
          </a:xfrm>
          <a:prstGeom prst="rect">
            <a:avLst/>
          </a:prstGeom>
          <a:noFill/>
          <a:ln w="0">
            <a:noFill/>
          </a:ln>
        </p:spPr>
        <p:txBody>
          <a:bodyPr wrap="none" lIns="0" tIns="0" rIns="0" bIns="0" anchor="t">
            <a:spAutoFit/>
          </a:bodyPr>
          <a:lstStyle/>
          <a:p>
            <a:r>
              <a:rPr lang="en-US" sz="1350" b="0" u="none" strike="noStrike" dirty="0">
                <a:solidFill>
                  <a:srgbClr val="000000"/>
                </a:solidFill>
                <a:effectLst/>
                <a:uFillTx/>
                <a:latin typeface="CrimsonPro"/>
                <a:ea typeface="CrimsonPro"/>
              </a:rPr>
              <a:t>2008-2009</a:t>
            </a:r>
            <a:endParaRPr lang="en-US" sz="1350" b="0" u="none" strike="noStrike" dirty="0">
              <a:solidFill>
                <a:srgbClr val="000000"/>
              </a:solidFill>
              <a:effectLst/>
              <a:uFillTx/>
              <a:latin typeface="Times New Roman"/>
            </a:endParaRPr>
          </a:p>
        </p:txBody>
      </p:sp>
      <p:sp>
        <p:nvSpPr>
          <p:cNvPr id="26" name="Forma libre: forma 25"/>
          <p:cNvSpPr/>
          <p:nvPr/>
        </p:nvSpPr>
        <p:spPr>
          <a:xfrm>
            <a:off x="3996811" y="2495520"/>
            <a:ext cx="76320" cy="76320"/>
          </a:xfrm>
          <a:custGeom>
            <a:avLst/>
            <a:gdLst/>
            <a:ahLst/>
            <a:cxnLst/>
            <a:rect l="0" t="0" r="r" b="b"/>
            <a:pathLst>
              <a:path w="212" h="212">
                <a:moveTo>
                  <a:pt x="212" y="105"/>
                </a:moveTo>
                <a:cubicBezTo>
                  <a:pt x="212" y="119"/>
                  <a:pt x="210" y="133"/>
                  <a:pt x="204" y="147"/>
                </a:cubicBezTo>
                <a:cubicBezTo>
                  <a:pt x="199" y="160"/>
                  <a:pt x="191" y="171"/>
                  <a:pt x="181" y="181"/>
                </a:cubicBezTo>
                <a:cubicBezTo>
                  <a:pt x="170" y="191"/>
                  <a:pt x="159" y="199"/>
                  <a:pt x="146" y="204"/>
                </a:cubicBezTo>
                <a:cubicBezTo>
                  <a:pt x="133" y="210"/>
                  <a:pt x="120" y="212"/>
                  <a:pt x="105" y="212"/>
                </a:cubicBezTo>
                <a:cubicBezTo>
                  <a:pt x="91" y="212"/>
                  <a:pt x="78" y="210"/>
                  <a:pt x="65" y="204"/>
                </a:cubicBezTo>
                <a:cubicBezTo>
                  <a:pt x="52" y="199"/>
                  <a:pt x="41" y="191"/>
                  <a:pt x="31" y="181"/>
                </a:cubicBezTo>
                <a:cubicBezTo>
                  <a:pt x="21" y="171"/>
                  <a:pt x="13" y="160"/>
                  <a:pt x="8" y="147"/>
                </a:cubicBezTo>
                <a:cubicBezTo>
                  <a:pt x="2" y="133"/>
                  <a:pt x="0" y="119"/>
                  <a:pt x="0" y="105"/>
                </a:cubicBezTo>
                <a:cubicBezTo>
                  <a:pt x="0" y="91"/>
                  <a:pt x="2" y="78"/>
                  <a:pt x="8" y="65"/>
                </a:cubicBezTo>
                <a:cubicBezTo>
                  <a:pt x="13" y="52"/>
                  <a:pt x="21" y="41"/>
                  <a:pt x="31" y="31"/>
                </a:cubicBezTo>
                <a:cubicBezTo>
                  <a:pt x="41" y="21"/>
                  <a:pt x="52" y="13"/>
                  <a:pt x="65" y="8"/>
                </a:cubicBezTo>
                <a:cubicBezTo>
                  <a:pt x="78" y="2"/>
                  <a:pt x="91" y="0"/>
                  <a:pt x="105" y="0"/>
                </a:cubicBezTo>
                <a:cubicBezTo>
                  <a:pt x="120" y="0"/>
                  <a:pt x="133" y="2"/>
                  <a:pt x="146" y="8"/>
                </a:cubicBezTo>
                <a:cubicBezTo>
                  <a:pt x="159" y="13"/>
                  <a:pt x="170" y="21"/>
                  <a:pt x="181" y="31"/>
                </a:cubicBezTo>
                <a:cubicBezTo>
                  <a:pt x="191" y="41"/>
                  <a:pt x="199" y="52"/>
                  <a:pt x="204" y="65"/>
                </a:cubicBezTo>
                <a:cubicBezTo>
                  <a:pt x="210" y="78"/>
                  <a:pt x="212" y="91"/>
                  <a:pt x="212" y="105"/>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7" name="CuadroTexto 26"/>
          <p:cNvSpPr txBox="1"/>
          <p:nvPr/>
        </p:nvSpPr>
        <p:spPr>
          <a:xfrm>
            <a:off x="3996811" y="2101680"/>
            <a:ext cx="11919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Analista de Pruebas</a:t>
            </a:r>
            <a:endParaRPr lang="en-US" sz="1200" b="0" u="none" strike="noStrike">
              <a:solidFill>
                <a:srgbClr val="000000"/>
              </a:solidFill>
              <a:effectLst/>
              <a:uFillTx/>
              <a:latin typeface="Times New Roman"/>
            </a:endParaRPr>
          </a:p>
        </p:txBody>
      </p:sp>
      <p:sp>
        <p:nvSpPr>
          <p:cNvPr id="28" name="CuadroTexto 27"/>
          <p:cNvSpPr txBox="1"/>
          <p:nvPr/>
        </p:nvSpPr>
        <p:spPr>
          <a:xfrm>
            <a:off x="4117461" y="2456280"/>
            <a:ext cx="739080" cy="189360"/>
          </a:xfrm>
          <a:prstGeom prst="rect">
            <a:avLst/>
          </a:prstGeom>
          <a:noFill/>
          <a:ln w="0">
            <a:noFill/>
          </a:ln>
        </p:spPr>
        <p:txBody>
          <a:bodyPr wrap="none" lIns="0" tIns="0" rIns="0" bIns="0" anchor="t">
            <a:spAutoFit/>
          </a:bodyPr>
          <a:lstStyle/>
          <a:p>
            <a:r>
              <a:rPr lang="en-US" sz="1350" b="0" u="none" strike="noStrike" dirty="0">
                <a:solidFill>
                  <a:srgbClr val="000000"/>
                </a:solidFill>
                <a:effectLst/>
                <a:uFillTx/>
                <a:latin typeface="CrimsonPro"/>
                <a:ea typeface="CrimsonPro"/>
              </a:rPr>
              <a:t>2009-2015</a:t>
            </a:r>
            <a:endParaRPr lang="en-US" sz="1350" b="0" u="none" strike="noStrike" dirty="0">
              <a:solidFill>
                <a:srgbClr val="000000"/>
              </a:solidFill>
              <a:effectLst/>
              <a:uFillTx/>
              <a:latin typeface="Times New Roman"/>
            </a:endParaRPr>
          </a:p>
        </p:txBody>
      </p:sp>
      <p:sp>
        <p:nvSpPr>
          <p:cNvPr id="29" name="Forma libre: forma 28"/>
          <p:cNvSpPr/>
          <p:nvPr/>
        </p:nvSpPr>
        <p:spPr>
          <a:xfrm>
            <a:off x="3996811" y="3105000"/>
            <a:ext cx="76320" cy="76680"/>
          </a:xfrm>
          <a:custGeom>
            <a:avLst/>
            <a:gdLst/>
            <a:ahLst/>
            <a:cxnLst/>
            <a:rect l="0" t="0" r="r" b="b"/>
            <a:pathLst>
              <a:path w="212" h="213">
                <a:moveTo>
                  <a:pt x="212" y="106"/>
                </a:moveTo>
                <a:cubicBezTo>
                  <a:pt x="212" y="120"/>
                  <a:pt x="210" y="134"/>
                  <a:pt x="204" y="147"/>
                </a:cubicBezTo>
                <a:cubicBezTo>
                  <a:pt x="199" y="160"/>
                  <a:pt x="191" y="172"/>
                  <a:pt x="181" y="182"/>
                </a:cubicBezTo>
                <a:cubicBezTo>
                  <a:pt x="170" y="192"/>
                  <a:pt x="159" y="199"/>
                  <a:pt x="146" y="205"/>
                </a:cubicBezTo>
                <a:cubicBezTo>
                  <a:pt x="133" y="210"/>
                  <a:pt x="120" y="213"/>
                  <a:pt x="105" y="213"/>
                </a:cubicBezTo>
                <a:cubicBezTo>
                  <a:pt x="91" y="213"/>
                  <a:pt x="78" y="210"/>
                  <a:pt x="65" y="205"/>
                </a:cubicBezTo>
                <a:cubicBezTo>
                  <a:pt x="52" y="199"/>
                  <a:pt x="41" y="192"/>
                  <a:pt x="31" y="182"/>
                </a:cubicBezTo>
                <a:cubicBezTo>
                  <a:pt x="21" y="172"/>
                  <a:pt x="13" y="160"/>
                  <a:pt x="8" y="147"/>
                </a:cubicBezTo>
                <a:cubicBezTo>
                  <a:pt x="2" y="134"/>
                  <a:pt x="0" y="120"/>
                  <a:pt x="0" y="106"/>
                </a:cubicBezTo>
                <a:cubicBezTo>
                  <a:pt x="0" y="92"/>
                  <a:pt x="2" y="78"/>
                  <a:pt x="8" y="65"/>
                </a:cubicBezTo>
                <a:cubicBezTo>
                  <a:pt x="13" y="52"/>
                  <a:pt x="21" y="41"/>
                  <a:pt x="31" y="31"/>
                </a:cubicBezTo>
                <a:cubicBezTo>
                  <a:pt x="41" y="21"/>
                  <a:pt x="52" y="13"/>
                  <a:pt x="65" y="8"/>
                </a:cubicBezTo>
                <a:cubicBezTo>
                  <a:pt x="78" y="3"/>
                  <a:pt x="91" y="0"/>
                  <a:pt x="105" y="0"/>
                </a:cubicBezTo>
                <a:cubicBezTo>
                  <a:pt x="120" y="0"/>
                  <a:pt x="133" y="3"/>
                  <a:pt x="146" y="8"/>
                </a:cubicBezTo>
                <a:cubicBezTo>
                  <a:pt x="159" y="13"/>
                  <a:pt x="170" y="21"/>
                  <a:pt x="181" y="31"/>
                </a:cubicBezTo>
                <a:cubicBezTo>
                  <a:pt x="191" y="41"/>
                  <a:pt x="199" y="52"/>
                  <a:pt x="204" y="65"/>
                </a:cubicBezTo>
                <a:cubicBezTo>
                  <a:pt x="210" y="78"/>
                  <a:pt x="212" y="92"/>
                  <a:pt x="212"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0" name="CuadroTexto 29"/>
          <p:cNvSpPr txBox="1"/>
          <p:nvPr/>
        </p:nvSpPr>
        <p:spPr>
          <a:xfrm>
            <a:off x="3996811" y="2711520"/>
            <a:ext cx="16142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Automatizador de Pruebas</a:t>
            </a:r>
            <a:endParaRPr lang="en-US" sz="1200" b="0" u="none" strike="noStrike">
              <a:solidFill>
                <a:srgbClr val="000000"/>
              </a:solidFill>
              <a:effectLst/>
              <a:uFillTx/>
              <a:latin typeface="Times New Roman"/>
            </a:endParaRPr>
          </a:p>
        </p:txBody>
      </p:sp>
      <p:sp>
        <p:nvSpPr>
          <p:cNvPr id="31" name="CuadroTexto 30"/>
          <p:cNvSpPr txBox="1"/>
          <p:nvPr/>
        </p:nvSpPr>
        <p:spPr>
          <a:xfrm>
            <a:off x="4117461" y="3065760"/>
            <a:ext cx="69120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2015-2017</a:t>
            </a:r>
            <a:endParaRPr lang="en-US" sz="1350" b="0" u="none" strike="noStrike">
              <a:solidFill>
                <a:srgbClr val="000000"/>
              </a:solidFill>
              <a:effectLst/>
              <a:uFillTx/>
              <a:latin typeface="Times New Roman"/>
            </a:endParaRPr>
          </a:p>
        </p:txBody>
      </p:sp>
      <p:sp>
        <p:nvSpPr>
          <p:cNvPr id="32" name="Forma libre: forma 31"/>
          <p:cNvSpPr/>
          <p:nvPr/>
        </p:nvSpPr>
        <p:spPr>
          <a:xfrm>
            <a:off x="3996811" y="3714480"/>
            <a:ext cx="76320" cy="76680"/>
          </a:xfrm>
          <a:custGeom>
            <a:avLst/>
            <a:gdLst/>
            <a:ahLst/>
            <a:cxnLst/>
            <a:rect l="0" t="0" r="r" b="b"/>
            <a:pathLst>
              <a:path w="212" h="213">
                <a:moveTo>
                  <a:pt x="212" y="106"/>
                </a:moveTo>
                <a:cubicBezTo>
                  <a:pt x="212" y="120"/>
                  <a:pt x="210" y="135"/>
                  <a:pt x="204" y="148"/>
                </a:cubicBezTo>
                <a:cubicBezTo>
                  <a:pt x="199" y="161"/>
                  <a:pt x="191" y="172"/>
                  <a:pt x="181" y="182"/>
                </a:cubicBezTo>
                <a:cubicBezTo>
                  <a:pt x="170" y="192"/>
                  <a:pt x="159" y="199"/>
                  <a:pt x="146" y="205"/>
                </a:cubicBezTo>
                <a:cubicBezTo>
                  <a:pt x="133" y="210"/>
                  <a:pt x="120" y="213"/>
                  <a:pt x="105" y="213"/>
                </a:cubicBezTo>
                <a:cubicBezTo>
                  <a:pt x="91" y="213"/>
                  <a:pt x="78" y="210"/>
                  <a:pt x="65" y="205"/>
                </a:cubicBezTo>
                <a:cubicBezTo>
                  <a:pt x="52" y="199"/>
                  <a:pt x="41" y="192"/>
                  <a:pt x="31" y="182"/>
                </a:cubicBezTo>
                <a:cubicBezTo>
                  <a:pt x="21" y="172"/>
                  <a:pt x="13" y="161"/>
                  <a:pt x="8" y="148"/>
                </a:cubicBezTo>
                <a:cubicBezTo>
                  <a:pt x="2" y="135"/>
                  <a:pt x="0" y="120"/>
                  <a:pt x="0" y="106"/>
                </a:cubicBezTo>
                <a:cubicBezTo>
                  <a:pt x="0" y="92"/>
                  <a:pt x="2" y="79"/>
                  <a:pt x="8" y="66"/>
                </a:cubicBezTo>
                <a:cubicBezTo>
                  <a:pt x="13" y="53"/>
                  <a:pt x="21" y="41"/>
                  <a:pt x="31" y="31"/>
                </a:cubicBezTo>
                <a:cubicBezTo>
                  <a:pt x="41" y="21"/>
                  <a:pt x="52" y="14"/>
                  <a:pt x="65" y="8"/>
                </a:cubicBezTo>
                <a:cubicBezTo>
                  <a:pt x="78" y="3"/>
                  <a:pt x="91" y="0"/>
                  <a:pt x="105" y="0"/>
                </a:cubicBezTo>
                <a:cubicBezTo>
                  <a:pt x="120" y="0"/>
                  <a:pt x="133" y="3"/>
                  <a:pt x="146" y="8"/>
                </a:cubicBezTo>
                <a:cubicBezTo>
                  <a:pt x="159" y="14"/>
                  <a:pt x="170" y="21"/>
                  <a:pt x="181" y="31"/>
                </a:cubicBezTo>
                <a:cubicBezTo>
                  <a:pt x="191" y="41"/>
                  <a:pt x="199" y="53"/>
                  <a:pt x="204" y="66"/>
                </a:cubicBezTo>
                <a:cubicBezTo>
                  <a:pt x="210" y="79"/>
                  <a:pt x="212" y="92"/>
                  <a:pt x="212"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3" name="CuadroTexto 32"/>
          <p:cNvSpPr txBox="1"/>
          <p:nvPr/>
        </p:nvSpPr>
        <p:spPr>
          <a:xfrm>
            <a:off x="3996811" y="3321000"/>
            <a:ext cx="222048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Coordinador de Pruebas de Software</a:t>
            </a:r>
            <a:endParaRPr lang="en-US" sz="1200" b="0" u="none" strike="noStrike">
              <a:solidFill>
                <a:srgbClr val="000000"/>
              </a:solidFill>
              <a:effectLst/>
              <a:uFillTx/>
              <a:latin typeface="Times New Roman"/>
            </a:endParaRPr>
          </a:p>
        </p:txBody>
      </p:sp>
      <p:sp>
        <p:nvSpPr>
          <p:cNvPr id="34" name="CuadroTexto 33"/>
          <p:cNvSpPr txBox="1"/>
          <p:nvPr/>
        </p:nvSpPr>
        <p:spPr>
          <a:xfrm>
            <a:off x="4117461" y="3675600"/>
            <a:ext cx="71676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2017-2022</a:t>
            </a:r>
            <a:endParaRPr lang="en-US" sz="1350" b="0" u="none" strike="noStrike">
              <a:solidFill>
                <a:srgbClr val="000000"/>
              </a:solidFill>
              <a:effectLst/>
              <a:uFillTx/>
              <a:latin typeface="Times New Roman"/>
            </a:endParaRPr>
          </a:p>
        </p:txBody>
      </p:sp>
      <p:sp>
        <p:nvSpPr>
          <p:cNvPr id="35" name="Forma libre: forma 34"/>
          <p:cNvSpPr/>
          <p:nvPr/>
        </p:nvSpPr>
        <p:spPr>
          <a:xfrm>
            <a:off x="3996811" y="4324320"/>
            <a:ext cx="76320" cy="76320"/>
          </a:xfrm>
          <a:custGeom>
            <a:avLst/>
            <a:gdLst/>
            <a:ahLst/>
            <a:cxnLst/>
            <a:rect l="0" t="0" r="r" b="b"/>
            <a:pathLst>
              <a:path w="212" h="212">
                <a:moveTo>
                  <a:pt x="212" y="105"/>
                </a:moveTo>
                <a:cubicBezTo>
                  <a:pt x="212" y="119"/>
                  <a:pt x="210" y="134"/>
                  <a:pt x="204" y="147"/>
                </a:cubicBezTo>
                <a:cubicBezTo>
                  <a:pt x="199" y="160"/>
                  <a:pt x="191" y="171"/>
                  <a:pt x="181" y="181"/>
                </a:cubicBezTo>
                <a:cubicBezTo>
                  <a:pt x="170" y="191"/>
                  <a:pt x="159" y="199"/>
                  <a:pt x="146" y="204"/>
                </a:cubicBezTo>
                <a:cubicBezTo>
                  <a:pt x="133" y="210"/>
                  <a:pt x="120" y="212"/>
                  <a:pt x="105" y="212"/>
                </a:cubicBezTo>
                <a:cubicBezTo>
                  <a:pt x="91" y="212"/>
                  <a:pt x="78" y="210"/>
                  <a:pt x="65" y="204"/>
                </a:cubicBezTo>
                <a:cubicBezTo>
                  <a:pt x="52" y="199"/>
                  <a:pt x="41" y="191"/>
                  <a:pt x="31" y="181"/>
                </a:cubicBezTo>
                <a:cubicBezTo>
                  <a:pt x="21" y="171"/>
                  <a:pt x="13" y="160"/>
                  <a:pt x="8" y="147"/>
                </a:cubicBezTo>
                <a:cubicBezTo>
                  <a:pt x="2" y="134"/>
                  <a:pt x="0" y="119"/>
                  <a:pt x="0" y="105"/>
                </a:cubicBezTo>
                <a:cubicBezTo>
                  <a:pt x="0" y="91"/>
                  <a:pt x="2" y="78"/>
                  <a:pt x="8" y="65"/>
                </a:cubicBezTo>
                <a:cubicBezTo>
                  <a:pt x="13" y="52"/>
                  <a:pt x="21" y="41"/>
                  <a:pt x="31" y="31"/>
                </a:cubicBezTo>
                <a:cubicBezTo>
                  <a:pt x="41" y="21"/>
                  <a:pt x="52" y="13"/>
                  <a:pt x="65" y="8"/>
                </a:cubicBezTo>
                <a:cubicBezTo>
                  <a:pt x="78" y="2"/>
                  <a:pt x="91" y="0"/>
                  <a:pt x="105" y="0"/>
                </a:cubicBezTo>
                <a:cubicBezTo>
                  <a:pt x="120" y="0"/>
                  <a:pt x="133" y="2"/>
                  <a:pt x="146" y="8"/>
                </a:cubicBezTo>
                <a:cubicBezTo>
                  <a:pt x="159" y="13"/>
                  <a:pt x="170" y="21"/>
                  <a:pt x="181" y="31"/>
                </a:cubicBezTo>
                <a:cubicBezTo>
                  <a:pt x="191" y="41"/>
                  <a:pt x="199" y="52"/>
                  <a:pt x="204" y="65"/>
                </a:cubicBezTo>
                <a:cubicBezTo>
                  <a:pt x="210" y="78"/>
                  <a:pt x="212" y="91"/>
                  <a:pt x="212" y="105"/>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6" name="CuadroTexto 35"/>
          <p:cNvSpPr txBox="1"/>
          <p:nvPr/>
        </p:nvSpPr>
        <p:spPr>
          <a:xfrm>
            <a:off x="3996811" y="3930480"/>
            <a:ext cx="18237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Arquitecto de Automatización</a:t>
            </a:r>
            <a:endParaRPr lang="en-US" sz="1200" b="0" u="none" strike="noStrike">
              <a:solidFill>
                <a:srgbClr val="000000"/>
              </a:solidFill>
              <a:effectLst/>
              <a:uFillTx/>
              <a:latin typeface="Times New Roman"/>
            </a:endParaRPr>
          </a:p>
        </p:txBody>
      </p:sp>
      <p:sp>
        <p:nvSpPr>
          <p:cNvPr id="37" name="CuadroTexto 36"/>
          <p:cNvSpPr txBox="1"/>
          <p:nvPr/>
        </p:nvSpPr>
        <p:spPr>
          <a:xfrm>
            <a:off x="4117461" y="4285080"/>
            <a:ext cx="1307794" cy="207749"/>
          </a:xfrm>
          <a:prstGeom prst="rect">
            <a:avLst/>
          </a:prstGeom>
          <a:noFill/>
          <a:ln w="0">
            <a:noFill/>
          </a:ln>
        </p:spPr>
        <p:txBody>
          <a:bodyPr wrap="none" lIns="0" tIns="0" rIns="0" bIns="0" anchor="t">
            <a:spAutoFit/>
          </a:bodyPr>
          <a:lstStyle/>
          <a:p>
            <a:r>
              <a:rPr lang="en-US" sz="1350" b="0" u="none" strike="noStrike" dirty="0">
                <a:solidFill>
                  <a:srgbClr val="000000"/>
                </a:solidFill>
                <a:effectLst/>
                <a:uFillTx/>
                <a:latin typeface="CrimsonPro"/>
                <a:ea typeface="CrimsonPro"/>
              </a:rPr>
              <a:t>2022-Actualmente</a:t>
            </a:r>
            <a:endParaRPr lang="en-US" sz="1350" b="0" u="none" strike="noStrike" dirty="0">
              <a:solidFill>
                <a:srgbClr val="000000"/>
              </a:solidFill>
              <a:effectLst/>
              <a:uFillTx/>
              <a:latin typeface="Times New Roman"/>
            </a:endParaRPr>
          </a:p>
        </p:txBody>
      </p:sp>
      <p:sp>
        <p:nvSpPr>
          <p:cNvPr id="39" name="CuadroTexto 38"/>
          <p:cNvSpPr txBox="1"/>
          <p:nvPr/>
        </p:nvSpPr>
        <p:spPr>
          <a:xfrm>
            <a:off x="3996811" y="4540320"/>
            <a:ext cx="1518493" cy="184666"/>
          </a:xfrm>
          <a:prstGeom prst="rect">
            <a:avLst/>
          </a:prstGeom>
          <a:noFill/>
          <a:ln w="0">
            <a:noFill/>
          </a:ln>
        </p:spPr>
        <p:txBody>
          <a:bodyPr wrap="none" lIns="0" tIns="0" rIns="0" bIns="0" anchor="t">
            <a:spAutoFit/>
          </a:bodyPr>
          <a:lstStyle/>
          <a:p>
            <a:r>
              <a:rPr lang="en-US" sz="1200" b="0" u="none" strike="noStrike" dirty="0" err="1">
                <a:solidFill>
                  <a:srgbClr val="666666"/>
                </a:solidFill>
                <a:effectLst/>
                <a:uFillTx/>
                <a:latin typeface="CrimsonPro"/>
                <a:ea typeface="CrimsonPro"/>
              </a:rPr>
              <a:t>Especialista</a:t>
            </a:r>
            <a:r>
              <a:rPr lang="en-US" sz="1200" b="0" u="none" strike="noStrike" dirty="0">
                <a:solidFill>
                  <a:srgbClr val="666666"/>
                </a:solidFill>
                <a:effectLst/>
                <a:uFillTx/>
                <a:latin typeface="CrimsonPro"/>
                <a:ea typeface="CrimsonPro"/>
              </a:rPr>
              <a:t> de </a:t>
            </a:r>
            <a:r>
              <a:rPr lang="en-US" sz="1200" b="0" u="none" strike="noStrike" dirty="0" err="1">
                <a:solidFill>
                  <a:srgbClr val="666666"/>
                </a:solidFill>
                <a:effectLst/>
                <a:uFillTx/>
                <a:latin typeface="CrimsonPro"/>
                <a:ea typeface="CrimsonPro"/>
              </a:rPr>
              <a:t>Producto</a:t>
            </a:r>
            <a:endParaRPr lang="en-US" sz="1200" b="0" u="none" strike="noStrike" dirty="0">
              <a:solidFill>
                <a:srgbClr val="000000"/>
              </a:solidFill>
              <a:effectLst/>
              <a:uFillTx/>
              <a:latin typeface="Times New Roman"/>
            </a:endParaRPr>
          </a:p>
        </p:txBody>
      </p:sp>
      <p:sp>
        <p:nvSpPr>
          <p:cNvPr id="40" name="CuadroTexto 39"/>
          <p:cNvSpPr txBox="1"/>
          <p:nvPr/>
        </p:nvSpPr>
        <p:spPr>
          <a:xfrm>
            <a:off x="4076640" y="5635073"/>
            <a:ext cx="697680" cy="212040"/>
          </a:xfrm>
          <a:prstGeom prst="rect">
            <a:avLst/>
          </a:prstGeom>
          <a:noFill/>
          <a:ln w="0">
            <a:noFill/>
          </a:ln>
        </p:spPr>
        <p:txBody>
          <a:bodyPr wrap="none" lIns="0" tIns="0" rIns="0" bIns="0" anchor="t">
            <a:spAutoFit/>
          </a:bodyPr>
          <a:lstStyle/>
          <a:p>
            <a:r>
              <a:rPr lang="en-US" sz="1500" b="0" u="none" strike="noStrike" dirty="0">
                <a:solidFill>
                  <a:srgbClr val="000000"/>
                </a:solidFill>
                <a:effectLst/>
                <a:uFillTx/>
                <a:latin typeface="CrimsonPro"/>
                <a:ea typeface="CrimsonPro"/>
              </a:rPr>
              <a:t>Contacto</a:t>
            </a:r>
            <a:endParaRPr lang="en-US" sz="1500" b="0" u="none" strike="noStrike" dirty="0">
              <a:solidFill>
                <a:srgbClr val="000000"/>
              </a:solidFill>
              <a:effectLst/>
              <a:uFillTx/>
              <a:latin typeface="Times New Roman"/>
            </a:endParaRPr>
          </a:p>
        </p:txBody>
      </p:sp>
      <p:sp>
        <p:nvSpPr>
          <p:cNvPr id="41" name="CuadroTexto 40"/>
          <p:cNvSpPr txBox="1"/>
          <p:nvPr/>
        </p:nvSpPr>
        <p:spPr>
          <a:xfrm>
            <a:off x="4076640" y="6011993"/>
            <a:ext cx="17492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yarias@choucairtesting.com</a:t>
            </a:r>
            <a:endParaRPr lang="en-US" sz="1200" b="0" u="none" strike="noStrike">
              <a:solidFill>
                <a:srgbClr val="000000"/>
              </a:solidFill>
              <a:effectLst/>
              <a:uFillTx/>
              <a:latin typeface="Times New Roman"/>
            </a:endParaRPr>
          </a:p>
        </p:txBody>
      </p:sp>
      <p:sp>
        <p:nvSpPr>
          <p:cNvPr id="42" name="Forma libre: forma 41"/>
          <p:cNvSpPr/>
          <p:nvPr/>
        </p:nvSpPr>
        <p:spPr>
          <a:xfrm>
            <a:off x="571320" y="6429240"/>
            <a:ext cx="11049480" cy="9720"/>
          </a:xfrm>
          <a:custGeom>
            <a:avLst/>
            <a:gdLst/>
            <a:ahLst/>
            <a:cxnLst/>
            <a:rect l="0" t="0" r="r" b="b"/>
            <a:pathLst>
              <a:path w="30693" h="27">
                <a:moveTo>
                  <a:pt x="0" y="0"/>
                </a:moveTo>
                <a:lnTo>
                  <a:pt x="30693" y="0"/>
                </a:lnTo>
                <a:lnTo>
                  <a:pt x="30693"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3" name="CuadroTexto 42"/>
          <p:cNvSpPr txBox="1"/>
          <p:nvPr/>
        </p:nvSpPr>
        <p:spPr>
          <a:xfrm>
            <a:off x="4076640" y="6316913"/>
            <a:ext cx="11883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yfarias@gmail.com</a:t>
            </a:r>
            <a:endParaRPr lang="en-US" sz="1200" b="0" u="none" strike="noStrike">
              <a:solidFill>
                <a:srgbClr val="000000"/>
              </a:solidFill>
              <a:effectLst/>
              <a:uFillTx/>
              <a:latin typeface="Times New Roman"/>
            </a:endParaRPr>
          </a:p>
        </p:txBody>
      </p:sp>
      <p:sp>
        <p:nvSpPr>
          <p:cNvPr id="44" name="CuadroTexto 43"/>
          <p:cNvSpPr txBox="1"/>
          <p:nvPr/>
        </p:nvSpPr>
        <p:spPr>
          <a:xfrm>
            <a:off x="571320" y="6616800"/>
            <a:ext cx="25088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a:t>
            </a:r>
            <a:endParaRPr lang="en-US" sz="1200" b="0" u="none" strike="noStrike">
              <a:solidFill>
                <a:srgbClr val="000000"/>
              </a:solidFill>
              <a:effectLst/>
              <a:uFillTx/>
              <a:latin typeface="Times New Roman"/>
            </a:endParaRPr>
          </a:p>
        </p:txBody>
      </p:sp>
      <p:sp>
        <p:nvSpPr>
          <p:cNvPr id="45" name="CuadroTexto 44"/>
          <p:cNvSpPr txBox="1"/>
          <p:nvPr/>
        </p:nvSpPr>
        <p:spPr>
          <a:xfrm>
            <a:off x="11463120" y="6616800"/>
            <a:ext cx="15948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02</a:t>
            </a:r>
            <a:endParaRPr lang="en-US" sz="1200" b="0" u="none" strike="noStrike">
              <a:solidFill>
                <a:srgbClr val="000000"/>
              </a:solidFill>
              <a:effectLst/>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adroTexto 48"/>
          <p:cNvSpPr txBox="1"/>
          <p:nvPr/>
        </p:nvSpPr>
        <p:spPr>
          <a:xfrm>
            <a:off x="571320" y="569160"/>
            <a:ext cx="9201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Pautas</a:t>
            </a:r>
            <a:endParaRPr lang="en-US" sz="2700" b="0" u="none" strike="noStrike">
              <a:solidFill>
                <a:srgbClr val="000000"/>
              </a:solidFill>
              <a:effectLst/>
              <a:uFillTx/>
              <a:latin typeface="Times New Roman"/>
            </a:endParaRPr>
          </a:p>
        </p:txBody>
      </p:sp>
      <p:grpSp>
        <p:nvGrpSpPr>
          <p:cNvPr id="2" name="Grupo 1">
            <a:extLst>
              <a:ext uri="{FF2B5EF4-FFF2-40B4-BE49-F238E27FC236}">
                <a16:creationId xmlns:a16="http://schemas.microsoft.com/office/drawing/2014/main" id="{EEECADE7-70A5-0B54-9123-84D6F2061A78}"/>
              </a:ext>
            </a:extLst>
          </p:cNvPr>
          <p:cNvGrpSpPr/>
          <p:nvPr/>
        </p:nvGrpSpPr>
        <p:grpSpPr>
          <a:xfrm>
            <a:off x="586695" y="975294"/>
            <a:ext cx="4030324" cy="2712851"/>
            <a:chOff x="571320" y="1690560"/>
            <a:chExt cx="2836745" cy="1909440"/>
          </a:xfrm>
        </p:grpSpPr>
        <p:pic>
          <p:nvPicPr>
            <p:cNvPr id="50" name="Imagen 49"/>
            <p:cNvPicPr/>
            <p:nvPr/>
          </p:nvPicPr>
          <p:blipFill>
            <a:blip r:embed="rId2"/>
            <a:stretch/>
          </p:blipFill>
          <p:spPr>
            <a:xfrm>
              <a:off x="600120" y="2162160"/>
              <a:ext cx="552240" cy="609120"/>
            </a:xfrm>
            <a:prstGeom prst="rect">
              <a:avLst/>
            </a:prstGeom>
            <a:noFill/>
            <a:ln w="0">
              <a:noFill/>
            </a:ln>
          </p:spPr>
        </p:pic>
        <p:sp>
          <p:nvSpPr>
            <p:cNvPr id="51" name="CuadroTexto 50"/>
            <p:cNvSpPr txBox="1"/>
            <p:nvPr/>
          </p:nvSpPr>
          <p:spPr>
            <a:xfrm>
              <a:off x="571320" y="1690560"/>
              <a:ext cx="892555" cy="303280"/>
            </a:xfrm>
            <a:prstGeom prst="rect">
              <a:avLst/>
            </a:prstGeom>
            <a:noFill/>
            <a:ln w="0">
              <a:noFill/>
            </a:ln>
          </p:spPr>
          <p:txBody>
            <a:bodyPr wrap="none" lIns="0" tIns="0" rIns="0" bIns="0" anchor="t">
              <a:spAutoFit/>
            </a:bodyPr>
            <a:lstStyle/>
            <a:p>
              <a:r>
                <a:rPr lang="en-US" sz="2800" b="1" u="none" strike="noStrike" dirty="0" err="1">
                  <a:solidFill>
                    <a:srgbClr val="DA7756"/>
                  </a:solidFill>
                  <a:effectLst/>
                  <a:uFillTx/>
                  <a:latin typeface="CrimsonPro"/>
                  <a:ea typeface="CrimsonPro"/>
                </a:rPr>
                <a:t>Horarios</a:t>
              </a:r>
              <a:endParaRPr lang="en-US" sz="2800" b="1" u="none" strike="noStrike" dirty="0">
                <a:solidFill>
                  <a:srgbClr val="000000"/>
                </a:solidFill>
                <a:effectLst/>
                <a:uFillTx/>
                <a:latin typeface="Times New Roman"/>
              </a:endParaRPr>
            </a:p>
          </p:txBody>
        </p:sp>
        <p:sp>
          <p:nvSpPr>
            <p:cNvPr id="52" name="CuadroTexto 51"/>
            <p:cNvSpPr txBox="1"/>
            <p:nvPr/>
          </p:nvSpPr>
          <p:spPr>
            <a:xfrm>
              <a:off x="1333440" y="2237040"/>
              <a:ext cx="1113427" cy="194966"/>
            </a:xfrm>
            <a:prstGeom prst="rect">
              <a:avLst/>
            </a:prstGeom>
            <a:noFill/>
            <a:ln w="0">
              <a:noFill/>
            </a:ln>
          </p:spPr>
          <p:txBody>
            <a:bodyPr wrap="none" lIns="0" tIns="0" rIns="0" bIns="0" anchor="t">
              <a:spAutoFit/>
            </a:bodyPr>
            <a:lstStyle/>
            <a:p>
              <a:r>
                <a:rPr lang="en-US" b="1" u="none" strike="noStrike" dirty="0" err="1">
                  <a:solidFill>
                    <a:srgbClr val="000000"/>
                  </a:solidFill>
                  <a:effectLst/>
                  <a:uFillTx/>
                  <a:latin typeface="CrimsonPro"/>
                  <a:ea typeface="CrimsonPro"/>
                </a:rPr>
                <a:t>Horario</a:t>
              </a:r>
              <a:r>
                <a:rPr lang="en-US" b="1" u="none" strike="noStrike" dirty="0">
                  <a:solidFill>
                    <a:srgbClr val="000000"/>
                  </a:solidFill>
                  <a:effectLst/>
                  <a:uFillTx/>
                  <a:latin typeface="CrimsonPro"/>
                  <a:ea typeface="CrimsonPro"/>
                </a:rPr>
                <a:t> de </a:t>
              </a:r>
              <a:r>
                <a:rPr lang="en-US" b="1" u="none" strike="noStrike" dirty="0" err="1">
                  <a:solidFill>
                    <a:srgbClr val="000000"/>
                  </a:solidFill>
                  <a:effectLst/>
                  <a:uFillTx/>
                  <a:latin typeface="CrimsonPro"/>
                  <a:ea typeface="CrimsonPro"/>
                </a:rPr>
                <a:t>Inicio</a:t>
              </a:r>
              <a:endParaRPr lang="en-US" b="1" u="none" strike="noStrike" dirty="0">
                <a:solidFill>
                  <a:srgbClr val="000000"/>
                </a:solidFill>
                <a:effectLst/>
                <a:uFillTx/>
                <a:latin typeface="Times New Roman"/>
              </a:endParaRPr>
            </a:p>
          </p:txBody>
        </p:sp>
        <p:sp>
          <p:nvSpPr>
            <p:cNvPr id="54" name="CuadroTexto 53"/>
            <p:cNvSpPr txBox="1"/>
            <p:nvPr/>
          </p:nvSpPr>
          <p:spPr>
            <a:xfrm>
              <a:off x="1333440" y="2496240"/>
              <a:ext cx="656656" cy="216629"/>
            </a:xfrm>
            <a:prstGeom prst="rect">
              <a:avLst/>
            </a:prstGeom>
            <a:noFill/>
            <a:ln w="0">
              <a:noFill/>
            </a:ln>
          </p:spPr>
          <p:txBody>
            <a:bodyPr wrap="none" lIns="0" tIns="0" rIns="0" bIns="0" anchor="t">
              <a:spAutoFit/>
            </a:bodyPr>
            <a:lstStyle/>
            <a:p>
              <a:r>
                <a:rPr lang="en-US" sz="2000" b="1" dirty="0">
                  <a:solidFill>
                    <a:srgbClr val="DA7756"/>
                  </a:solidFill>
                  <a:latin typeface="CrimsonPro"/>
                  <a:ea typeface="CrimsonPro"/>
                </a:rPr>
                <a:t>4</a:t>
              </a:r>
              <a:r>
                <a:rPr lang="en-US" sz="2000" b="1" u="none" strike="noStrike" dirty="0">
                  <a:solidFill>
                    <a:srgbClr val="DA7756"/>
                  </a:solidFill>
                  <a:effectLst/>
                  <a:uFillTx/>
                  <a:latin typeface="CrimsonPro"/>
                  <a:ea typeface="CrimsonPro"/>
                </a:rPr>
                <a:t>:30 </a:t>
              </a:r>
              <a:r>
                <a:rPr lang="en-US" sz="2000" b="1" u="none" strike="noStrike" dirty="0" err="1">
                  <a:solidFill>
                    <a:srgbClr val="DA7756"/>
                  </a:solidFill>
                  <a:effectLst/>
                  <a:uFillTx/>
                  <a:latin typeface="CrimsonPro"/>
                  <a:ea typeface="CrimsonPro"/>
                </a:rPr>
                <a:t>p.m</a:t>
              </a:r>
              <a:endParaRPr lang="en-US" sz="2000" b="1" u="none" strike="noStrike" dirty="0">
                <a:solidFill>
                  <a:srgbClr val="000000"/>
                </a:solidFill>
                <a:effectLst/>
                <a:uFillTx/>
                <a:latin typeface="Times New Roman"/>
              </a:endParaRPr>
            </a:p>
          </p:txBody>
        </p:sp>
        <p:pic>
          <p:nvPicPr>
            <p:cNvPr id="56" name="Imagen 55"/>
            <p:cNvPicPr/>
            <p:nvPr/>
          </p:nvPicPr>
          <p:blipFill>
            <a:blip r:embed="rId3"/>
            <a:stretch/>
          </p:blipFill>
          <p:spPr>
            <a:xfrm>
              <a:off x="571320" y="3009960"/>
              <a:ext cx="609120" cy="590040"/>
            </a:xfrm>
            <a:prstGeom prst="rect">
              <a:avLst/>
            </a:prstGeom>
            <a:noFill/>
            <a:ln w="0">
              <a:noFill/>
            </a:ln>
          </p:spPr>
        </p:pic>
        <p:sp>
          <p:nvSpPr>
            <p:cNvPr id="58" name="CuadroTexto 57"/>
            <p:cNvSpPr txBox="1"/>
            <p:nvPr/>
          </p:nvSpPr>
          <p:spPr>
            <a:xfrm>
              <a:off x="1333440" y="3075480"/>
              <a:ext cx="386321" cy="194966"/>
            </a:xfrm>
            <a:prstGeom prst="rect">
              <a:avLst/>
            </a:prstGeom>
            <a:noFill/>
            <a:ln w="0">
              <a:noFill/>
            </a:ln>
          </p:spPr>
          <p:txBody>
            <a:bodyPr wrap="none" lIns="0" tIns="0" rIns="0" bIns="0" anchor="t">
              <a:spAutoFit/>
            </a:bodyPr>
            <a:lstStyle/>
            <a:p>
              <a:r>
                <a:rPr lang="en-US" b="1" u="none" strike="noStrike">
                  <a:solidFill>
                    <a:srgbClr val="000000"/>
                  </a:solidFill>
                  <a:effectLst/>
                  <a:uFillTx/>
                  <a:latin typeface="CrimsonPro"/>
                  <a:ea typeface="CrimsonPro"/>
                </a:rPr>
                <a:t>Break</a:t>
              </a:r>
              <a:endParaRPr lang="en-US" b="1" u="none" strike="noStrike">
                <a:solidFill>
                  <a:srgbClr val="000000"/>
                </a:solidFill>
                <a:effectLst/>
                <a:uFillTx/>
                <a:latin typeface="Times New Roman"/>
              </a:endParaRPr>
            </a:p>
          </p:txBody>
        </p:sp>
        <p:sp>
          <p:nvSpPr>
            <p:cNvPr id="60" name="CuadroTexto 59"/>
            <p:cNvSpPr txBox="1"/>
            <p:nvPr/>
          </p:nvSpPr>
          <p:spPr>
            <a:xfrm>
              <a:off x="1406010" y="3334680"/>
              <a:ext cx="2002055" cy="216629"/>
            </a:xfrm>
            <a:prstGeom prst="rect">
              <a:avLst/>
            </a:prstGeom>
            <a:noFill/>
            <a:ln w="0">
              <a:noFill/>
            </a:ln>
          </p:spPr>
          <p:txBody>
            <a:bodyPr wrap="none" lIns="0" tIns="0" rIns="0" bIns="0" anchor="t">
              <a:spAutoFit/>
            </a:bodyPr>
            <a:lstStyle/>
            <a:p>
              <a:r>
                <a:rPr lang="en-US" sz="2000" b="1" dirty="0">
                  <a:solidFill>
                    <a:srgbClr val="DA7756"/>
                  </a:solidFill>
                  <a:latin typeface="CrimsonPro"/>
                  <a:ea typeface="CrimsonPro"/>
                </a:rPr>
                <a:t>6</a:t>
              </a:r>
              <a:r>
                <a:rPr lang="en-US" sz="2000" b="1" u="none" strike="noStrike" dirty="0">
                  <a:solidFill>
                    <a:srgbClr val="DA7756"/>
                  </a:solidFill>
                  <a:effectLst/>
                  <a:uFillTx/>
                  <a:latin typeface="CrimsonPro"/>
                  <a:ea typeface="CrimsonPro"/>
                </a:rPr>
                <a:t>:00 </a:t>
              </a:r>
              <a:r>
                <a:rPr lang="en-US" sz="2000" b="1" u="none" strike="noStrike" dirty="0" err="1">
                  <a:solidFill>
                    <a:srgbClr val="DA7756"/>
                  </a:solidFill>
                  <a:effectLst/>
                  <a:uFillTx/>
                  <a:latin typeface="CrimsonPro"/>
                  <a:ea typeface="CrimsonPro"/>
                </a:rPr>
                <a:t>p.m</a:t>
              </a:r>
              <a:r>
                <a:rPr lang="en-US" sz="2000" b="1" u="none" strike="noStrike" dirty="0">
                  <a:solidFill>
                    <a:srgbClr val="DA7756"/>
                  </a:solidFill>
                  <a:effectLst/>
                  <a:uFillTx/>
                  <a:latin typeface="CrimsonPro"/>
                  <a:ea typeface="CrimsonPro"/>
                </a:rPr>
                <a:t> (15 ~ 20 </a:t>
              </a:r>
              <a:r>
                <a:rPr lang="en-US" sz="2000" b="1" u="none" strike="noStrike" dirty="0" err="1">
                  <a:solidFill>
                    <a:srgbClr val="DA7756"/>
                  </a:solidFill>
                  <a:effectLst/>
                  <a:uFillTx/>
                  <a:latin typeface="CrimsonPro"/>
                  <a:ea typeface="CrimsonPro"/>
                </a:rPr>
                <a:t>minutos</a:t>
              </a:r>
              <a:r>
                <a:rPr lang="en-US" sz="2000" b="1" u="none" strike="noStrike" dirty="0">
                  <a:solidFill>
                    <a:srgbClr val="DA7756"/>
                  </a:solidFill>
                  <a:effectLst/>
                  <a:uFillTx/>
                  <a:latin typeface="CrimsonPro"/>
                  <a:ea typeface="CrimsonPro"/>
                </a:rPr>
                <a:t>)</a:t>
              </a:r>
              <a:endParaRPr lang="en-US" sz="2000" b="1" u="none" strike="noStrike" dirty="0">
                <a:solidFill>
                  <a:srgbClr val="000000"/>
                </a:solidFill>
                <a:effectLst/>
                <a:uFillTx/>
                <a:latin typeface="Times New Roman"/>
              </a:endParaRPr>
            </a:p>
          </p:txBody>
        </p:sp>
      </p:grpSp>
      <p:grpSp>
        <p:nvGrpSpPr>
          <p:cNvPr id="3" name="Grupo 2">
            <a:extLst>
              <a:ext uri="{FF2B5EF4-FFF2-40B4-BE49-F238E27FC236}">
                <a16:creationId xmlns:a16="http://schemas.microsoft.com/office/drawing/2014/main" id="{BA44A92E-F7C6-B15C-2C28-96EC375FCF28}"/>
              </a:ext>
            </a:extLst>
          </p:cNvPr>
          <p:cNvGrpSpPr/>
          <p:nvPr/>
        </p:nvGrpSpPr>
        <p:grpSpPr>
          <a:xfrm>
            <a:off x="6210000" y="1645323"/>
            <a:ext cx="5222806" cy="1964757"/>
            <a:chOff x="6210000" y="2162160"/>
            <a:chExt cx="3848927" cy="1447920"/>
          </a:xfrm>
        </p:grpSpPr>
        <p:pic>
          <p:nvPicPr>
            <p:cNvPr id="53" name="Imagen 52"/>
            <p:cNvPicPr/>
            <p:nvPr/>
          </p:nvPicPr>
          <p:blipFill>
            <a:blip r:embed="rId4"/>
            <a:stretch/>
          </p:blipFill>
          <p:spPr>
            <a:xfrm>
              <a:off x="6343560" y="2162160"/>
              <a:ext cx="342720" cy="609120"/>
            </a:xfrm>
            <a:prstGeom prst="rect">
              <a:avLst/>
            </a:prstGeom>
            <a:noFill/>
            <a:ln w="0">
              <a:noFill/>
            </a:ln>
          </p:spPr>
        </p:pic>
        <p:sp>
          <p:nvSpPr>
            <p:cNvPr id="55" name="CuadroTexto 54"/>
            <p:cNvSpPr txBox="1"/>
            <p:nvPr/>
          </p:nvSpPr>
          <p:spPr>
            <a:xfrm>
              <a:off x="6972120" y="2237040"/>
              <a:ext cx="1390422" cy="204133"/>
            </a:xfrm>
            <a:prstGeom prst="rect">
              <a:avLst/>
            </a:prstGeom>
            <a:noFill/>
            <a:ln w="0">
              <a:noFill/>
            </a:ln>
          </p:spPr>
          <p:txBody>
            <a:bodyPr wrap="none" lIns="0" tIns="0" rIns="0" bIns="0" anchor="t">
              <a:spAutoFit/>
            </a:bodyPr>
            <a:lstStyle/>
            <a:p>
              <a:r>
                <a:rPr lang="en-US" b="1" u="none" strike="noStrike">
                  <a:solidFill>
                    <a:srgbClr val="000000"/>
                  </a:solidFill>
                  <a:effectLst/>
                  <a:uFillTx/>
                  <a:latin typeface="CrimsonPro"/>
                  <a:ea typeface="CrimsonPro"/>
                </a:rPr>
                <a:t>Horario Finalización</a:t>
              </a:r>
              <a:endParaRPr lang="en-US" b="1" u="none" strike="noStrike">
                <a:solidFill>
                  <a:srgbClr val="000000"/>
                </a:solidFill>
                <a:effectLst/>
                <a:uFillTx/>
                <a:latin typeface="Times New Roman"/>
              </a:endParaRPr>
            </a:p>
          </p:txBody>
        </p:sp>
        <p:sp>
          <p:nvSpPr>
            <p:cNvPr id="57" name="CuadroTexto 56"/>
            <p:cNvSpPr txBox="1"/>
            <p:nvPr/>
          </p:nvSpPr>
          <p:spPr>
            <a:xfrm>
              <a:off x="6972120" y="2496240"/>
              <a:ext cx="687532" cy="226815"/>
            </a:xfrm>
            <a:prstGeom prst="rect">
              <a:avLst/>
            </a:prstGeom>
            <a:noFill/>
            <a:ln w="0">
              <a:noFill/>
            </a:ln>
          </p:spPr>
          <p:txBody>
            <a:bodyPr wrap="none" lIns="0" tIns="0" rIns="0" bIns="0" anchor="t">
              <a:spAutoFit/>
            </a:bodyPr>
            <a:lstStyle/>
            <a:p>
              <a:r>
                <a:rPr lang="en-US" sz="2000" b="1" dirty="0">
                  <a:solidFill>
                    <a:srgbClr val="DA7756"/>
                  </a:solidFill>
                  <a:latin typeface="CrimsonPro"/>
                  <a:ea typeface="CrimsonPro"/>
                </a:rPr>
                <a:t>7</a:t>
              </a:r>
              <a:r>
                <a:rPr lang="en-US" sz="2000" b="1" u="none" strike="noStrike" dirty="0">
                  <a:solidFill>
                    <a:srgbClr val="DA7756"/>
                  </a:solidFill>
                  <a:effectLst/>
                  <a:uFillTx/>
                  <a:latin typeface="CrimsonPro"/>
                  <a:ea typeface="CrimsonPro"/>
                </a:rPr>
                <a:t>:30 </a:t>
              </a:r>
              <a:r>
                <a:rPr lang="en-US" sz="2000" b="1" u="none" strike="noStrike" dirty="0" err="1">
                  <a:solidFill>
                    <a:srgbClr val="DA7756"/>
                  </a:solidFill>
                  <a:effectLst/>
                  <a:uFillTx/>
                  <a:latin typeface="CrimsonPro"/>
                  <a:ea typeface="CrimsonPro"/>
                </a:rPr>
                <a:t>p.m</a:t>
              </a:r>
              <a:endParaRPr lang="en-US" sz="2000" b="1" u="none" strike="noStrike" dirty="0">
                <a:solidFill>
                  <a:srgbClr val="000000"/>
                </a:solidFill>
                <a:effectLst/>
                <a:uFillTx/>
                <a:latin typeface="Times New Roman"/>
              </a:endParaRPr>
            </a:p>
          </p:txBody>
        </p:sp>
        <p:sp>
          <p:nvSpPr>
            <p:cNvPr id="59" name="Forma libre: forma 58"/>
            <p:cNvSpPr/>
            <p:nvPr/>
          </p:nvSpPr>
          <p:spPr>
            <a:xfrm>
              <a:off x="6210000" y="3000240"/>
              <a:ext cx="610200" cy="609840"/>
            </a:xfrm>
            <a:custGeom>
              <a:avLst/>
              <a:gdLst/>
              <a:ahLst/>
              <a:cxnLst/>
              <a:rect l="0" t="0" r="r" b="b"/>
              <a:pathLst>
                <a:path w="1695" h="1694">
                  <a:moveTo>
                    <a:pt x="0" y="1483"/>
                  </a:moveTo>
                  <a:lnTo>
                    <a:pt x="0" y="212"/>
                  </a:lnTo>
                  <a:cubicBezTo>
                    <a:pt x="0" y="198"/>
                    <a:pt x="2" y="184"/>
                    <a:pt x="4" y="170"/>
                  </a:cubicBezTo>
                  <a:cubicBezTo>
                    <a:pt x="7" y="157"/>
                    <a:pt x="11" y="143"/>
                    <a:pt x="16" y="131"/>
                  </a:cubicBezTo>
                  <a:cubicBezTo>
                    <a:pt x="22" y="118"/>
                    <a:pt x="28" y="106"/>
                    <a:pt x="36" y="94"/>
                  </a:cubicBezTo>
                  <a:cubicBezTo>
                    <a:pt x="44" y="82"/>
                    <a:pt x="52" y="72"/>
                    <a:pt x="62" y="62"/>
                  </a:cubicBezTo>
                  <a:cubicBezTo>
                    <a:pt x="72" y="52"/>
                    <a:pt x="83" y="43"/>
                    <a:pt x="94" y="36"/>
                  </a:cubicBezTo>
                  <a:cubicBezTo>
                    <a:pt x="106" y="28"/>
                    <a:pt x="118" y="21"/>
                    <a:pt x="131" y="16"/>
                  </a:cubicBezTo>
                  <a:cubicBezTo>
                    <a:pt x="144" y="11"/>
                    <a:pt x="157" y="7"/>
                    <a:pt x="171" y="4"/>
                  </a:cubicBezTo>
                  <a:cubicBezTo>
                    <a:pt x="184" y="1"/>
                    <a:pt x="198" y="0"/>
                    <a:pt x="212" y="0"/>
                  </a:cubicBezTo>
                  <a:lnTo>
                    <a:pt x="1483" y="0"/>
                  </a:lnTo>
                  <a:cubicBezTo>
                    <a:pt x="1497" y="0"/>
                    <a:pt x="1511" y="1"/>
                    <a:pt x="1524" y="4"/>
                  </a:cubicBezTo>
                  <a:cubicBezTo>
                    <a:pt x="1538" y="7"/>
                    <a:pt x="1551" y="11"/>
                    <a:pt x="1564" y="16"/>
                  </a:cubicBezTo>
                  <a:cubicBezTo>
                    <a:pt x="1577" y="21"/>
                    <a:pt x="1589" y="28"/>
                    <a:pt x="1601" y="36"/>
                  </a:cubicBezTo>
                  <a:cubicBezTo>
                    <a:pt x="1612" y="43"/>
                    <a:pt x="1623" y="52"/>
                    <a:pt x="1633" y="62"/>
                  </a:cubicBezTo>
                  <a:cubicBezTo>
                    <a:pt x="1642" y="72"/>
                    <a:pt x="1651" y="82"/>
                    <a:pt x="1659" y="94"/>
                  </a:cubicBezTo>
                  <a:cubicBezTo>
                    <a:pt x="1667" y="106"/>
                    <a:pt x="1673" y="118"/>
                    <a:pt x="1679" y="131"/>
                  </a:cubicBezTo>
                  <a:cubicBezTo>
                    <a:pt x="1684" y="143"/>
                    <a:pt x="1688" y="157"/>
                    <a:pt x="1691" y="170"/>
                  </a:cubicBezTo>
                  <a:cubicBezTo>
                    <a:pt x="1693" y="184"/>
                    <a:pt x="1695" y="198"/>
                    <a:pt x="1695" y="212"/>
                  </a:cubicBezTo>
                  <a:lnTo>
                    <a:pt x="1695" y="1483"/>
                  </a:lnTo>
                  <a:cubicBezTo>
                    <a:pt x="1695" y="1496"/>
                    <a:pt x="1693" y="1510"/>
                    <a:pt x="1691" y="1524"/>
                  </a:cubicBezTo>
                  <a:cubicBezTo>
                    <a:pt x="1688" y="1537"/>
                    <a:pt x="1684" y="1551"/>
                    <a:pt x="1679" y="1564"/>
                  </a:cubicBezTo>
                  <a:cubicBezTo>
                    <a:pt x="1673" y="1576"/>
                    <a:pt x="1667" y="1589"/>
                    <a:pt x="1659" y="1600"/>
                  </a:cubicBezTo>
                  <a:cubicBezTo>
                    <a:pt x="1651" y="1612"/>
                    <a:pt x="1642" y="1622"/>
                    <a:pt x="1633" y="1632"/>
                  </a:cubicBezTo>
                  <a:cubicBezTo>
                    <a:pt x="1623" y="1642"/>
                    <a:pt x="1612" y="1651"/>
                    <a:pt x="1601" y="1659"/>
                  </a:cubicBezTo>
                  <a:cubicBezTo>
                    <a:pt x="1589" y="1666"/>
                    <a:pt x="1577" y="1673"/>
                    <a:pt x="1564" y="1678"/>
                  </a:cubicBezTo>
                  <a:cubicBezTo>
                    <a:pt x="1551" y="1683"/>
                    <a:pt x="1538" y="1687"/>
                    <a:pt x="1524" y="1690"/>
                  </a:cubicBezTo>
                  <a:cubicBezTo>
                    <a:pt x="1511" y="1693"/>
                    <a:pt x="1497" y="1694"/>
                    <a:pt x="1483" y="1694"/>
                  </a:cubicBezTo>
                  <a:lnTo>
                    <a:pt x="212" y="1694"/>
                  </a:lnTo>
                  <a:cubicBezTo>
                    <a:pt x="198" y="1694"/>
                    <a:pt x="184" y="1693"/>
                    <a:pt x="171" y="1690"/>
                  </a:cubicBezTo>
                  <a:cubicBezTo>
                    <a:pt x="157" y="1687"/>
                    <a:pt x="144" y="1683"/>
                    <a:pt x="131" y="1678"/>
                  </a:cubicBezTo>
                  <a:cubicBezTo>
                    <a:pt x="118" y="1673"/>
                    <a:pt x="106" y="1666"/>
                    <a:pt x="94" y="1659"/>
                  </a:cubicBezTo>
                  <a:cubicBezTo>
                    <a:pt x="83" y="1651"/>
                    <a:pt x="72" y="1642"/>
                    <a:pt x="62" y="1632"/>
                  </a:cubicBezTo>
                  <a:cubicBezTo>
                    <a:pt x="52" y="1622"/>
                    <a:pt x="44" y="1612"/>
                    <a:pt x="36" y="1600"/>
                  </a:cubicBezTo>
                  <a:cubicBezTo>
                    <a:pt x="28" y="1589"/>
                    <a:pt x="22" y="1576"/>
                    <a:pt x="16" y="1564"/>
                  </a:cubicBezTo>
                  <a:cubicBezTo>
                    <a:pt x="11" y="1551"/>
                    <a:pt x="7" y="1537"/>
                    <a:pt x="4" y="1524"/>
                  </a:cubicBezTo>
                  <a:cubicBezTo>
                    <a:pt x="2" y="1510"/>
                    <a:pt x="0" y="1496"/>
                    <a:pt x="0" y="1483"/>
                  </a:cubicBezTo>
                  <a:close/>
                </a:path>
              </a:pathLst>
            </a:custGeom>
            <a:solidFill>
              <a:srgbClr val="F5E6E0"/>
            </a:solidFill>
            <a:ln w="0">
              <a:noFill/>
            </a:ln>
          </p:spPr>
          <p:txBody>
            <a:bodyPr lIns="0" tIns="0" rIns="0" bIns="0" anchor="t">
              <a:noAutofit/>
            </a:bodyPr>
            <a:lstStyle/>
            <a:p>
              <a:endParaRPr lang="en-US" sz="3600" b="1" u="none" strike="noStrike">
                <a:solidFill>
                  <a:srgbClr val="000000"/>
                </a:solidFill>
                <a:effectLst/>
                <a:uFillTx/>
                <a:latin typeface="Times New Roman"/>
              </a:endParaRPr>
            </a:p>
          </p:txBody>
        </p:sp>
        <p:sp>
          <p:nvSpPr>
            <p:cNvPr id="61" name="CuadroTexto 60"/>
            <p:cNvSpPr txBox="1"/>
            <p:nvPr/>
          </p:nvSpPr>
          <p:spPr>
            <a:xfrm>
              <a:off x="6472800" y="3176640"/>
              <a:ext cx="122858" cy="317540"/>
            </a:xfrm>
            <a:prstGeom prst="rect">
              <a:avLst/>
            </a:prstGeom>
            <a:noFill/>
            <a:ln w="0">
              <a:noFill/>
            </a:ln>
          </p:spPr>
          <p:txBody>
            <a:bodyPr wrap="none" lIns="0" tIns="0" rIns="0" bIns="0" anchor="t">
              <a:spAutoFit/>
            </a:bodyPr>
            <a:lstStyle/>
            <a:p>
              <a:r>
                <a:rPr lang="en-US" sz="2800" b="1" u="none" strike="noStrike">
                  <a:solidFill>
                    <a:srgbClr val="DA7756"/>
                  </a:solidFill>
                  <a:effectLst/>
                  <a:uFillTx/>
                  <a:latin typeface="CrimsonPro"/>
                  <a:ea typeface="CrimsonPro"/>
                </a:rPr>
                <a:t>?</a:t>
              </a:r>
              <a:endParaRPr lang="en-US" sz="2800" b="1" u="none" strike="noStrike">
                <a:solidFill>
                  <a:srgbClr val="000000"/>
                </a:solidFill>
                <a:effectLst/>
                <a:uFillTx/>
                <a:latin typeface="Times New Roman"/>
              </a:endParaRPr>
            </a:p>
          </p:txBody>
        </p:sp>
        <p:sp>
          <p:nvSpPr>
            <p:cNvPr id="62" name="CuadroTexto 61"/>
            <p:cNvSpPr txBox="1"/>
            <p:nvPr/>
          </p:nvSpPr>
          <p:spPr>
            <a:xfrm>
              <a:off x="6972120" y="3075480"/>
              <a:ext cx="3086807" cy="204133"/>
            </a:xfrm>
            <a:prstGeom prst="rect">
              <a:avLst/>
            </a:prstGeom>
            <a:noFill/>
            <a:ln w="0">
              <a:noFill/>
            </a:ln>
          </p:spPr>
          <p:txBody>
            <a:bodyPr wrap="none" lIns="0" tIns="0" rIns="0" bIns="0" anchor="t">
              <a:spAutoFit/>
            </a:bodyPr>
            <a:lstStyle/>
            <a:p>
              <a:r>
                <a:rPr lang="en-US" b="1" u="none" strike="noStrike" dirty="0">
                  <a:solidFill>
                    <a:srgbClr val="000000"/>
                  </a:solidFill>
                  <a:effectLst/>
                  <a:uFillTx/>
                  <a:latin typeface="CrimsonPro"/>
                  <a:ea typeface="CrimsonPro"/>
                </a:rPr>
                <a:t>Espacio de </a:t>
              </a:r>
              <a:r>
                <a:rPr lang="en-US" b="1" u="none" strike="noStrike" dirty="0" err="1">
                  <a:solidFill>
                    <a:srgbClr val="000000"/>
                  </a:solidFill>
                  <a:effectLst/>
                  <a:uFillTx/>
                  <a:latin typeface="CrimsonPro"/>
                  <a:ea typeface="CrimsonPro"/>
                </a:rPr>
                <a:t>Preguntas</a:t>
              </a:r>
              <a:r>
                <a:rPr lang="en-US" b="1" u="none" strike="noStrike" dirty="0">
                  <a:solidFill>
                    <a:srgbClr val="000000"/>
                  </a:solidFill>
                  <a:effectLst/>
                  <a:uFillTx/>
                  <a:latin typeface="CrimsonPro"/>
                  <a:ea typeface="CrimsonPro"/>
                </a:rPr>
                <a:t> y </a:t>
              </a:r>
              <a:r>
                <a:rPr lang="en-US" b="1" u="none" strike="noStrike" dirty="0" err="1">
                  <a:solidFill>
                    <a:srgbClr val="000000"/>
                  </a:solidFill>
                  <a:effectLst/>
                  <a:uFillTx/>
                  <a:latin typeface="CrimsonPro"/>
                  <a:ea typeface="CrimsonPro"/>
                </a:rPr>
                <a:t>Evaluar</a:t>
              </a:r>
              <a:r>
                <a:rPr lang="en-US" b="1" u="none" strike="noStrike" dirty="0">
                  <a:solidFill>
                    <a:srgbClr val="000000"/>
                  </a:solidFill>
                  <a:effectLst/>
                  <a:uFillTx/>
                  <a:latin typeface="CrimsonPro"/>
                  <a:ea typeface="CrimsonPro"/>
                </a:rPr>
                <a:t> </a:t>
              </a:r>
              <a:r>
                <a:rPr lang="en-US" b="1" u="none" strike="noStrike" dirty="0" err="1">
                  <a:solidFill>
                    <a:srgbClr val="000000"/>
                  </a:solidFill>
                  <a:effectLst/>
                  <a:uFillTx/>
                  <a:latin typeface="CrimsonPro"/>
                  <a:ea typeface="CrimsonPro"/>
                </a:rPr>
                <a:t>como</a:t>
              </a:r>
              <a:r>
                <a:rPr lang="en-US" b="1" u="none" strike="noStrike" dirty="0">
                  <a:solidFill>
                    <a:srgbClr val="000000"/>
                  </a:solidFill>
                  <a:effectLst/>
                  <a:uFillTx/>
                  <a:latin typeface="CrimsonPro"/>
                  <a:ea typeface="CrimsonPro"/>
                </a:rPr>
                <a:t> </a:t>
              </a:r>
              <a:r>
                <a:rPr lang="en-US" b="1" u="none" strike="noStrike" dirty="0" err="1">
                  <a:solidFill>
                    <a:srgbClr val="000000"/>
                  </a:solidFill>
                  <a:effectLst/>
                  <a:uFillTx/>
                  <a:latin typeface="CrimsonPro"/>
                  <a:ea typeface="CrimsonPro"/>
                </a:rPr>
                <a:t>vamos</a:t>
              </a:r>
              <a:endParaRPr lang="en-US" b="1" u="none" strike="noStrike" dirty="0">
                <a:solidFill>
                  <a:srgbClr val="000000"/>
                </a:solidFill>
                <a:effectLst/>
                <a:uFillTx/>
                <a:latin typeface="Times New Roman"/>
              </a:endParaRPr>
            </a:p>
          </p:txBody>
        </p:sp>
        <p:sp>
          <p:nvSpPr>
            <p:cNvPr id="63" name="CuadroTexto 62"/>
            <p:cNvSpPr txBox="1"/>
            <p:nvPr/>
          </p:nvSpPr>
          <p:spPr>
            <a:xfrm>
              <a:off x="6972120" y="3334680"/>
              <a:ext cx="687532" cy="226815"/>
            </a:xfrm>
            <a:prstGeom prst="rect">
              <a:avLst/>
            </a:prstGeom>
            <a:noFill/>
            <a:ln w="0">
              <a:noFill/>
            </a:ln>
          </p:spPr>
          <p:txBody>
            <a:bodyPr wrap="none" lIns="0" tIns="0" rIns="0" bIns="0" anchor="t">
              <a:spAutoFit/>
            </a:bodyPr>
            <a:lstStyle/>
            <a:p>
              <a:r>
                <a:rPr lang="en-US" sz="2000" b="1" dirty="0">
                  <a:solidFill>
                    <a:srgbClr val="DA7756"/>
                  </a:solidFill>
                  <a:latin typeface="CrimsonPro"/>
                  <a:ea typeface="CrimsonPro"/>
                </a:rPr>
                <a:t>7</a:t>
              </a:r>
              <a:r>
                <a:rPr lang="en-US" sz="2000" b="1" u="none" strike="noStrike" dirty="0">
                  <a:solidFill>
                    <a:srgbClr val="DA7756"/>
                  </a:solidFill>
                  <a:effectLst/>
                  <a:uFillTx/>
                  <a:latin typeface="CrimsonPro"/>
                  <a:ea typeface="CrimsonPro"/>
                </a:rPr>
                <a:t>:20 </a:t>
              </a:r>
              <a:r>
                <a:rPr lang="en-US" sz="2000" b="1" u="none" strike="noStrike" dirty="0" err="1">
                  <a:solidFill>
                    <a:srgbClr val="DA7756"/>
                  </a:solidFill>
                  <a:effectLst/>
                  <a:uFillTx/>
                  <a:latin typeface="CrimsonPro"/>
                  <a:ea typeface="CrimsonPro"/>
                </a:rPr>
                <a:t>p.m</a:t>
              </a:r>
              <a:endParaRPr lang="en-US" sz="2000" b="1" u="none" strike="noStrike" dirty="0">
                <a:solidFill>
                  <a:srgbClr val="000000"/>
                </a:solidFill>
                <a:effectLst/>
                <a:uFillTx/>
                <a:latin typeface="Times New Roman"/>
              </a:endParaRPr>
            </a:p>
          </p:txBody>
        </p:sp>
      </p:grpSp>
      <p:sp>
        <p:nvSpPr>
          <p:cNvPr id="64" name="Forma libre: forma 63"/>
          <p:cNvSpPr/>
          <p:nvPr/>
        </p:nvSpPr>
        <p:spPr>
          <a:xfrm>
            <a:off x="571320" y="4448160"/>
            <a:ext cx="76680" cy="76320"/>
          </a:xfrm>
          <a:custGeom>
            <a:avLst/>
            <a:gdLst/>
            <a:ahLst/>
            <a:cxnLst/>
            <a:rect l="0" t="0" r="r" b="b"/>
            <a:pathLst>
              <a:path w="213" h="212">
                <a:moveTo>
                  <a:pt x="213" y="105"/>
                </a:moveTo>
                <a:cubicBezTo>
                  <a:pt x="213" y="119"/>
                  <a:pt x="210" y="133"/>
                  <a:pt x="204" y="146"/>
                </a:cubicBezTo>
                <a:cubicBezTo>
                  <a:pt x="198" y="159"/>
                  <a:pt x="191" y="170"/>
                  <a:pt x="181" y="180"/>
                </a:cubicBezTo>
                <a:cubicBezTo>
                  <a:pt x="171" y="190"/>
                  <a:pt x="159" y="198"/>
                  <a:pt x="146" y="204"/>
                </a:cubicBezTo>
                <a:cubicBezTo>
                  <a:pt x="133" y="210"/>
                  <a:pt x="120" y="212"/>
                  <a:pt x="106" y="212"/>
                </a:cubicBezTo>
                <a:cubicBezTo>
                  <a:pt x="92" y="212"/>
                  <a:pt x="78" y="210"/>
                  <a:pt x="65" y="204"/>
                </a:cubicBezTo>
                <a:cubicBezTo>
                  <a:pt x="52" y="198"/>
                  <a:pt x="41" y="190"/>
                  <a:pt x="31" y="180"/>
                </a:cubicBezTo>
                <a:cubicBezTo>
                  <a:pt x="21" y="170"/>
                  <a:pt x="13" y="159"/>
                  <a:pt x="8" y="146"/>
                </a:cubicBezTo>
                <a:cubicBezTo>
                  <a:pt x="3" y="133"/>
                  <a:pt x="0" y="119"/>
                  <a:pt x="0" y="105"/>
                </a:cubicBezTo>
                <a:cubicBezTo>
                  <a:pt x="0" y="91"/>
                  <a:pt x="3" y="78"/>
                  <a:pt x="8" y="65"/>
                </a:cubicBezTo>
                <a:cubicBezTo>
                  <a:pt x="13" y="52"/>
                  <a:pt x="21" y="40"/>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0"/>
                  <a:pt x="198" y="52"/>
                  <a:pt x="204" y="65"/>
                </a:cubicBezTo>
                <a:cubicBezTo>
                  <a:pt x="210" y="78"/>
                  <a:pt x="213" y="91"/>
                  <a:pt x="213" y="105"/>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5" name="CuadroTexto 64"/>
          <p:cNvSpPr txBox="1"/>
          <p:nvPr/>
        </p:nvSpPr>
        <p:spPr>
          <a:xfrm>
            <a:off x="571320" y="3887600"/>
            <a:ext cx="2865400" cy="369332"/>
          </a:xfrm>
          <a:prstGeom prst="rect">
            <a:avLst/>
          </a:prstGeom>
          <a:noFill/>
          <a:ln w="0">
            <a:noFill/>
          </a:ln>
        </p:spPr>
        <p:txBody>
          <a:bodyPr wrap="none" lIns="0" tIns="0" rIns="0" bIns="0" anchor="t">
            <a:spAutoFit/>
          </a:bodyPr>
          <a:lstStyle/>
          <a:p>
            <a:r>
              <a:rPr lang="en-US" sz="2400" b="0" u="none" strike="noStrike" dirty="0">
                <a:solidFill>
                  <a:srgbClr val="DA7756"/>
                </a:solidFill>
                <a:effectLst/>
                <a:uFillTx/>
                <a:latin typeface="CrimsonPro"/>
                <a:ea typeface="CrimsonPro"/>
              </a:rPr>
              <a:t>Reglas de </a:t>
            </a:r>
            <a:r>
              <a:rPr lang="en-US" sz="2400" b="0" u="none" strike="noStrike" dirty="0" err="1">
                <a:solidFill>
                  <a:srgbClr val="DA7756"/>
                </a:solidFill>
                <a:effectLst/>
                <a:uFillTx/>
                <a:latin typeface="CrimsonPro"/>
                <a:ea typeface="CrimsonPro"/>
              </a:rPr>
              <a:t>Participación</a:t>
            </a:r>
            <a:endParaRPr lang="en-US" sz="2400" b="0" u="none" strike="noStrike" dirty="0">
              <a:solidFill>
                <a:srgbClr val="000000"/>
              </a:solidFill>
              <a:effectLst/>
              <a:uFillTx/>
              <a:latin typeface="Times New Roman"/>
            </a:endParaRPr>
          </a:p>
        </p:txBody>
      </p:sp>
      <p:sp>
        <p:nvSpPr>
          <p:cNvPr id="66" name="Forma libre: forma 65"/>
          <p:cNvSpPr/>
          <p:nvPr/>
        </p:nvSpPr>
        <p:spPr>
          <a:xfrm>
            <a:off x="571320" y="4838400"/>
            <a:ext cx="76680" cy="76680"/>
          </a:xfrm>
          <a:custGeom>
            <a:avLst/>
            <a:gdLst/>
            <a:ahLst/>
            <a:cxnLst/>
            <a:rect l="0" t="0" r="r" b="b"/>
            <a:pathLst>
              <a:path w="213" h="213">
                <a:moveTo>
                  <a:pt x="213" y="106"/>
                </a:moveTo>
                <a:cubicBezTo>
                  <a:pt x="213" y="120"/>
                  <a:pt x="210" y="134"/>
                  <a:pt x="204" y="147"/>
                </a:cubicBezTo>
                <a:cubicBezTo>
                  <a:pt x="198" y="160"/>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4" y="66"/>
                </a:cubicBezTo>
                <a:cubicBezTo>
                  <a:pt x="210" y="79"/>
                  <a:pt x="213" y="92"/>
                  <a:pt x="213"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7" name="CuadroTexto 66"/>
          <p:cNvSpPr txBox="1"/>
          <p:nvPr/>
        </p:nvSpPr>
        <p:spPr>
          <a:xfrm>
            <a:off x="762120" y="4358120"/>
            <a:ext cx="2766976" cy="246221"/>
          </a:xfrm>
          <a:prstGeom prst="rect">
            <a:avLst/>
          </a:prstGeom>
          <a:noFill/>
          <a:ln w="0">
            <a:noFill/>
          </a:ln>
        </p:spPr>
        <p:txBody>
          <a:bodyPr wrap="none" lIns="0" tIns="0" rIns="0" bIns="0" anchor="t">
            <a:spAutoFit/>
          </a:bodyPr>
          <a:lstStyle/>
          <a:p>
            <a:r>
              <a:rPr lang="en-US" sz="1600" b="0" u="none" strike="noStrike">
                <a:solidFill>
                  <a:srgbClr val="666666"/>
                </a:solidFill>
                <a:effectLst/>
                <a:uFillTx/>
                <a:latin typeface="CrimsonPro"/>
                <a:ea typeface="CrimsonPro"/>
              </a:rPr>
              <a:t>Preguntar en cualquier momento</a:t>
            </a:r>
            <a:endParaRPr lang="en-US" sz="1600" b="0" u="none" strike="noStrike">
              <a:solidFill>
                <a:srgbClr val="000000"/>
              </a:solidFill>
              <a:effectLst/>
              <a:uFillTx/>
              <a:latin typeface="Times New Roman"/>
            </a:endParaRPr>
          </a:p>
        </p:txBody>
      </p:sp>
      <p:sp>
        <p:nvSpPr>
          <p:cNvPr id="68" name="Forma libre: forma 67"/>
          <p:cNvSpPr/>
          <p:nvPr/>
        </p:nvSpPr>
        <p:spPr>
          <a:xfrm>
            <a:off x="571320" y="5229000"/>
            <a:ext cx="76680" cy="76680"/>
          </a:xfrm>
          <a:custGeom>
            <a:avLst/>
            <a:gdLst/>
            <a:ahLst/>
            <a:cxnLst/>
            <a:rect l="0" t="0" r="r" b="b"/>
            <a:pathLst>
              <a:path w="213" h="213">
                <a:moveTo>
                  <a:pt x="213" y="106"/>
                </a:moveTo>
                <a:cubicBezTo>
                  <a:pt x="213" y="120"/>
                  <a:pt x="210" y="133"/>
                  <a:pt x="204"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2"/>
                  <a:pt x="204" y="65"/>
                </a:cubicBezTo>
                <a:cubicBezTo>
                  <a:pt x="210" y="78"/>
                  <a:pt x="213" y="92"/>
                  <a:pt x="213"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9" name="CuadroTexto 68"/>
          <p:cNvSpPr txBox="1"/>
          <p:nvPr/>
        </p:nvSpPr>
        <p:spPr>
          <a:xfrm>
            <a:off x="762120" y="4748720"/>
            <a:ext cx="5685852" cy="246221"/>
          </a:xfrm>
          <a:prstGeom prst="rect">
            <a:avLst/>
          </a:prstGeom>
          <a:noFill/>
          <a:ln w="0">
            <a:noFill/>
          </a:ln>
        </p:spPr>
        <p:txBody>
          <a:bodyPr wrap="none" lIns="0" tIns="0" rIns="0" bIns="0" anchor="t">
            <a:spAutoFit/>
          </a:bodyPr>
          <a:lstStyle/>
          <a:p>
            <a:r>
              <a:rPr lang="en-US" sz="1600" b="0" u="none" strike="noStrike">
                <a:solidFill>
                  <a:srgbClr val="666666"/>
                </a:solidFill>
                <a:effectLst/>
                <a:uFillTx/>
                <a:latin typeface="CrimsonPro"/>
                <a:ea typeface="CrimsonPro"/>
              </a:rPr>
              <a:t>Mientras no estemos interviniendo, mantener el micrófono apagado</a:t>
            </a:r>
            <a:endParaRPr lang="en-US" sz="1600" b="0" u="none" strike="noStrike">
              <a:solidFill>
                <a:srgbClr val="000000"/>
              </a:solidFill>
              <a:effectLst/>
              <a:uFillTx/>
              <a:latin typeface="Times New Roman"/>
            </a:endParaRPr>
          </a:p>
        </p:txBody>
      </p:sp>
      <p:sp>
        <p:nvSpPr>
          <p:cNvPr id="70" name="Forma libre: forma 69"/>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1" name="CuadroTexto 70"/>
          <p:cNvSpPr txBox="1"/>
          <p:nvPr/>
        </p:nvSpPr>
        <p:spPr>
          <a:xfrm>
            <a:off x="762120" y="5138960"/>
            <a:ext cx="1608389" cy="246221"/>
          </a:xfrm>
          <a:prstGeom prst="rect">
            <a:avLst/>
          </a:prstGeom>
          <a:noFill/>
          <a:ln w="0">
            <a:noFill/>
          </a:ln>
        </p:spPr>
        <p:txBody>
          <a:bodyPr wrap="none" lIns="0" tIns="0" rIns="0" bIns="0" anchor="t">
            <a:spAutoFit/>
          </a:bodyPr>
          <a:lstStyle/>
          <a:p>
            <a:r>
              <a:rPr lang="en-US" sz="1600" b="0" u="none" strike="noStrike">
                <a:solidFill>
                  <a:srgbClr val="666666"/>
                </a:solidFill>
                <a:effectLst/>
                <a:uFillTx/>
                <a:latin typeface="CrimsonPro"/>
                <a:ea typeface="CrimsonPro"/>
              </a:rPr>
              <a:t>Participación activa</a:t>
            </a:r>
            <a:endParaRPr lang="en-US" sz="1600" b="0" u="none" strike="noStrike">
              <a:solidFill>
                <a:srgbClr val="000000"/>
              </a:solidFill>
              <a:effectLst/>
              <a:uFillTx/>
              <a:latin typeface="Times New Roman"/>
            </a:endParaRPr>
          </a:p>
        </p:txBody>
      </p:sp>
      <p:sp>
        <p:nvSpPr>
          <p:cNvPr id="72" name="CuadroTexto 71"/>
          <p:cNvSpPr txBox="1"/>
          <p:nvPr/>
        </p:nvSpPr>
        <p:spPr>
          <a:xfrm>
            <a:off x="571320" y="60832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73" name="CuadroTexto 72"/>
          <p:cNvSpPr txBox="1"/>
          <p:nvPr/>
        </p:nvSpPr>
        <p:spPr>
          <a:xfrm>
            <a:off x="11463480" y="6083280"/>
            <a:ext cx="1591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03</a:t>
            </a:r>
            <a:endParaRPr lang="en-US" sz="1200" b="0" u="none" strike="noStrike">
              <a:solidFill>
                <a:srgbClr val="000000"/>
              </a:solidFill>
              <a:effectLst/>
              <a:uFillTx/>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Forma libre: forma 75"/>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7" name="CuadroTexto 76"/>
          <p:cNvSpPr txBox="1"/>
          <p:nvPr/>
        </p:nvSpPr>
        <p:spPr>
          <a:xfrm>
            <a:off x="571320" y="569160"/>
            <a:ext cx="432432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Introducción a la programación</a:t>
            </a:r>
            <a:endParaRPr lang="en-US" sz="2700" b="0" u="none" strike="noStrike">
              <a:solidFill>
                <a:srgbClr val="000000"/>
              </a:solidFill>
              <a:effectLst/>
              <a:uFillTx/>
              <a:latin typeface="Times New Roman"/>
            </a:endParaRPr>
          </a:p>
        </p:txBody>
      </p:sp>
      <p:sp>
        <p:nvSpPr>
          <p:cNvPr id="78" name="CuadroTexto 77"/>
          <p:cNvSpPr txBox="1"/>
          <p:nvPr/>
        </p:nvSpPr>
        <p:spPr>
          <a:xfrm>
            <a:off x="571320" y="1321640"/>
            <a:ext cx="10273133" cy="369332"/>
          </a:xfrm>
          <a:prstGeom prst="rect">
            <a:avLst/>
          </a:prstGeom>
          <a:noFill/>
          <a:ln w="0">
            <a:noFill/>
          </a:ln>
        </p:spPr>
        <p:txBody>
          <a:bodyPr wrap="none" lIns="0" tIns="0" rIns="0" bIns="0" anchor="t">
            <a:spAutoFit/>
          </a:bodyPr>
          <a:lstStyle/>
          <a:p>
            <a:r>
              <a:rPr lang="en-US" sz="2400" b="0" u="none" strike="noStrike" dirty="0">
                <a:solidFill>
                  <a:srgbClr val="000000"/>
                </a:solidFill>
                <a:effectLst/>
                <a:uFillTx/>
                <a:latin typeface="CrimsonPro"/>
                <a:ea typeface="CrimsonPro"/>
              </a:rPr>
              <a:t>La </a:t>
            </a:r>
            <a:r>
              <a:rPr lang="en-US" sz="2400" b="0" u="none" strike="noStrike" dirty="0" err="1">
                <a:solidFill>
                  <a:srgbClr val="DA7756"/>
                </a:solidFill>
                <a:effectLst/>
                <a:uFillTx/>
                <a:latin typeface="CrimsonPro"/>
                <a:ea typeface="CrimsonPro"/>
              </a:rPr>
              <a:t>programación</a:t>
            </a:r>
            <a:r>
              <a:rPr lang="en-US" sz="2400" b="0" u="none" strike="noStrike" dirty="0">
                <a:solidFill>
                  <a:srgbClr val="000000"/>
                </a:solidFill>
                <a:effectLst/>
                <a:uFillTx/>
                <a:latin typeface="CrimsonPro"/>
                <a:ea typeface="CrimsonPro"/>
              </a:rPr>
              <a:t> </a:t>
            </a:r>
            <a:r>
              <a:rPr lang="en-US" sz="2400" b="0" u="none" strike="noStrike" dirty="0" err="1">
                <a:solidFill>
                  <a:srgbClr val="000000"/>
                </a:solidFill>
                <a:effectLst/>
                <a:uFillTx/>
                <a:latin typeface="CrimsonPro"/>
                <a:ea typeface="CrimsonPro"/>
              </a:rPr>
              <a:t>hace</a:t>
            </a:r>
            <a:r>
              <a:rPr lang="en-US" sz="2400" b="0" u="none" strike="noStrike" dirty="0">
                <a:solidFill>
                  <a:srgbClr val="000000"/>
                </a:solidFill>
                <a:effectLst/>
                <a:uFillTx/>
                <a:latin typeface="CrimsonPro"/>
                <a:ea typeface="CrimsonPro"/>
              </a:rPr>
              <a:t> </a:t>
            </a:r>
            <a:r>
              <a:rPr lang="en-US" sz="2400" b="0" u="none" strike="noStrike" dirty="0" err="1">
                <a:solidFill>
                  <a:srgbClr val="000000"/>
                </a:solidFill>
                <a:effectLst/>
                <a:uFillTx/>
                <a:latin typeface="CrimsonPro"/>
                <a:ea typeface="CrimsonPro"/>
              </a:rPr>
              <a:t>referencia</a:t>
            </a:r>
            <a:r>
              <a:rPr lang="en-US" sz="2400" b="0" u="none" strike="noStrike" dirty="0">
                <a:solidFill>
                  <a:srgbClr val="000000"/>
                </a:solidFill>
                <a:effectLst/>
                <a:uFillTx/>
                <a:latin typeface="CrimsonPro"/>
                <a:ea typeface="CrimsonPro"/>
              </a:rPr>
              <a:t> al </a:t>
            </a:r>
            <a:r>
              <a:rPr lang="en-US" sz="2400" b="0" u="none" strike="noStrike" dirty="0" err="1">
                <a:solidFill>
                  <a:srgbClr val="000000"/>
                </a:solidFill>
                <a:effectLst/>
                <a:uFillTx/>
                <a:latin typeface="CrimsonPro"/>
                <a:ea typeface="CrimsonPro"/>
              </a:rPr>
              <a:t>efecto</a:t>
            </a:r>
            <a:r>
              <a:rPr lang="en-US" sz="2400" b="0" u="none" strike="noStrike" dirty="0">
                <a:solidFill>
                  <a:srgbClr val="000000"/>
                </a:solidFill>
                <a:effectLst/>
                <a:uFillTx/>
                <a:latin typeface="CrimsonPro"/>
                <a:ea typeface="CrimsonPro"/>
              </a:rPr>
              <a:t> de </a:t>
            </a:r>
            <a:r>
              <a:rPr lang="en-US" sz="2400" b="0" u="none" strike="noStrike" dirty="0" err="1">
                <a:solidFill>
                  <a:srgbClr val="000000"/>
                </a:solidFill>
                <a:effectLst/>
                <a:uFillTx/>
                <a:latin typeface="CrimsonPro"/>
                <a:ea typeface="CrimsonPro"/>
              </a:rPr>
              <a:t>programar</a:t>
            </a:r>
            <a:r>
              <a:rPr lang="en-US" sz="2400" b="0" u="none" strike="noStrike" dirty="0">
                <a:solidFill>
                  <a:srgbClr val="000000"/>
                </a:solidFill>
                <a:effectLst/>
                <a:uFillTx/>
                <a:latin typeface="CrimsonPro"/>
                <a:ea typeface="CrimsonPro"/>
              </a:rPr>
              <a:t>, es </a:t>
            </a:r>
            <a:r>
              <a:rPr lang="en-US" sz="2400" b="0" u="none" strike="noStrike" dirty="0" err="1">
                <a:solidFill>
                  <a:srgbClr val="000000"/>
                </a:solidFill>
                <a:effectLst/>
                <a:uFillTx/>
                <a:latin typeface="CrimsonPro"/>
                <a:ea typeface="CrimsonPro"/>
              </a:rPr>
              <a:t>decir</a:t>
            </a:r>
            <a:r>
              <a:rPr lang="en-US" sz="2400" b="0" u="none" strike="noStrike" dirty="0">
                <a:solidFill>
                  <a:srgbClr val="000000"/>
                </a:solidFill>
                <a:effectLst/>
                <a:uFillTx/>
                <a:latin typeface="CrimsonPro"/>
                <a:ea typeface="CrimsonPro"/>
              </a:rPr>
              <a:t>, de </a:t>
            </a:r>
            <a:r>
              <a:rPr lang="en-US" sz="2400" b="0" u="none" strike="noStrike" dirty="0" err="1">
                <a:solidFill>
                  <a:srgbClr val="000000"/>
                </a:solidFill>
                <a:effectLst/>
                <a:uFillTx/>
                <a:latin typeface="CrimsonPro"/>
                <a:ea typeface="CrimsonPro"/>
              </a:rPr>
              <a:t>organizar</a:t>
            </a:r>
            <a:r>
              <a:rPr lang="en-US" sz="2400" b="0" u="none" strike="noStrike" dirty="0">
                <a:solidFill>
                  <a:srgbClr val="000000"/>
                </a:solidFill>
                <a:effectLst/>
                <a:uFillTx/>
                <a:latin typeface="CrimsonPro"/>
                <a:ea typeface="CrimsonPro"/>
              </a:rPr>
              <a:t> </a:t>
            </a:r>
            <a:r>
              <a:rPr lang="en-US" sz="2400" b="0" u="none" strike="noStrike" dirty="0" err="1">
                <a:solidFill>
                  <a:srgbClr val="000000"/>
                </a:solidFill>
                <a:effectLst/>
                <a:uFillTx/>
                <a:latin typeface="CrimsonPro"/>
                <a:ea typeface="CrimsonPro"/>
              </a:rPr>
              <a:t>una</a:t>
            </a:r>
            <a:endParaRPr lang="en-US" sz="2400" b="0" u="none" strike="noStrike" dirty="0">
              <a:solidFill>
                <a:srgbClr val="000000"/>
              </a:solidFill>
              <a:effectLst/>
              <a:uFillTx/>
              <a:latin typeface="Times New Roman"/>
            </a:endParaRPr>
          </a:p>
        </p:txBody>
      </p:sp>
      <p:sp>
        <p:nvSpPr>
          <p:cNvPr id="79" name="Forma libre: forma 78"/>
          <p:cNvSpPr/>
          <p:nvPr/>
        </p:nvSpPr>
        <p:spPr>
          <a:xfrm>
            <a:off x="590400" y="3314520"/>
            <a:ext cx="7474100" cy="1429200"/>
          </a:xfrm>
          <a:custGeom>
            <a:avLst/>
            <a:gdLst/>
            <a:ahLst/>
            <a:cxnLst/>
            <a:rect l="0" t="0" r="r" b="b"/>
            <a:pathLst>
              <a:path w="18786" h="3970">
                <a:moveTo>
                  <a:pt x="0" y="3758"/>
                </a:moveTo>
                <a:lnTo>
                  <a:pt x="0" y="212"/>
                </a:lnTo>
                <a:cubicBezTo>
                  <a:pt x="0" y="198"/>
                  <a:pt x="1" y="184"/>
                  <a:pt x="3" y="170"/>
                </a:cubicBezTo>
                <a:cubicBezTo>
                  <a:pt x="5" y="157"/>
                  <a:pt x="8" y="144"/>
                  <a:pt x="12" y="131"/>
                </a:cubicBezTo>
                <a:cubicBezTo>
                  <a:pt x="16" y="118"/>
                  <a:pt x="21" y="106"/>
                  <a:pt x="27" y="94"/>
                </a:cubicBezTo>
                <a:cubicBezTo>
                  <a:pt x="32" y="83"/>
                  <a:pt x="39" y="72"/>
                  <a:pt x="46" y="62"/>
                </a:cubicBezTo>
                <a:cubicBezTo>
                  <a:pt x="54" y="52"/>
                  <a:pt x="62" y="43"/>
                  <a:pt x="70" y="36"/>
                </a:cubicBezTo>
                <a:cubicBezTo>
                  <a:pt x="79" y="28"/>
                  <a:pt x="88" y="21"/>
                  <a:pt x="98" y="16"/>
                </a:cubicBezTo>
                <a:cubicBezTo>
                  <a:pt x="108" y="11"/>
                  <a:pt x="117" y="7"/>
                  <a:pt x="128" y="4"/>
                </a:cubicBezTo>
                <a:cubicBezTo>
                  <a:pt x="138" y="1"/>
                  <a:pt x="148" y="0"/>
                  <a:pt x="159" y="0"/>
                </a:cubicBezTo>
                <a:lnTo>
                  <a:pt x="18575" y="0"/>
                </a:lnTo>
                <a:cubicBezTo>
                  <a:pt x="18589" y="0"/>
                  <a:pt x="18602" y="1"/>
                  <a:pt x="18616" y="4"/>
                </a:cubicBezTo>
                <a:cubicBezTo>
                  <a:pt x="18630" y="7"/>
                  <a:pt x="18643" y="11"/>
                  <a:pt x="18656" y="16"/>
                </a:cubicBezTo>
                <a:cubicBezTo>
                  <a:pt x="18669" y="21"/>
                  <a:pt x="18681" y="28"/>
                  <a:pt x="18692" y="36"/>
                </a:cubicBezTo>
                <a:cubicBezTo>
                  <a:pt x="18704" y="43"/>
                  <a:pt x="18715" y="52"/>
                  <a:pt x="18724" y="62"/>
                </a:cubicBezTo>
                <a:cubicBezTo>
                  <a:pt x="18734" y="72"/>
                  <a:pt x="18743" y="83"/>
                  <a:pt x="18751" y="94"/>
                </a:cubicBezTo>
                <a:cubicBezTo>
                  <a:pt x="18758" y="106"/>
                  <a:pt x="18765" y="118"/>
                  <a:pt x="18770" y="131"/>
                </a:cubicBezTo>
                <a:cubicBezTo>
                  <a:pt x="18776" y="144"/>
                  <a:pt x="18780" y="157"/>
                  <a:pt x="18782" y="170"/>
                </a:cubicBezTo>
                <a:cubicBezTo>
                  <a:pt x="18785" y="184"/>
                  <a:pt x="18786" y="198"/>
                  <a:pt x="18786" y="212"/>
                </a:cubicBezTo>
                <a:lnTo>
                  <a:pt x="18786" y="3758"/>
                </a:lnTo>
                <a:cubicBezTo>
                  <a:pt x="18786" y="3772"/>
                  <a:pt x="18785" y="3786"/>
                  <a:pt x="18782" y="3799"/>
                </a:cubicBezTo>
                <a:cubicBezTo>
                  <a:pt x="18780" y="3813"/>
                  <a:pt x="18776" y="3826"/>
                  <a:pt x="18770" y="3839"/>
                </a:cubicBezTo>
                <a:cubicBezTo>
                  <a:pt x="18765" y="3852"/>
                  <a:pt x="18758" y="3864"/>
                  <a:pt x="18751" y="3876"/>
                </a:cubicBezTo>
                <a:cubicBezTo>
                  <a:pt x="18743" y="3887"/>
                  <a:pt x="18734" y="3898"/>
                  <a:pt x="18724" y="3908"/>
                </a:cubicBezTo>
                <a:cubicBezTo>
                  <a:pt x="18715" y="3918"/>
                  <a:pt x="18704" y="3926"/>
                  <a:pt x="18692" y="3934"/>
                </a:cubicBezTo>
                <a:cubicBezTo>
                  <a:pt x="18681" y="3942"/>
                  <a:pt x="18669" y="3948"/>
                  <a:pt x="18656" y="3954"/>
                </a:cubicBezTo>
                <a:cubicBezTo>
                  <a:pt x="18643" y="3959"/>
                  <a:pt x="18630" y="3963"/>
                  <a:pt x="18616" y="3966"/>
                </a:cubicBezTo>
                <a:cubicBezTo>
                  <a:pt x="18602" y="3968"/>
                  <a:pt x="18589" y="3970"/>
                  <a:pt x="18575" y="3970"/>
                </a:cubicBezTo>
                <a:lnTo>
                  <a:pt x="159" y="3970"/>
                </a:lnTo>
                <a:cubicBezTo>
                  <a:pt x="148" y="3970"/>
                  <a:pt x="138" y="3968"/>
                  <a:pt x="128" y="3966"/>
                </a:cubicBezTo>
                <a:cubicBezTo>
                  <a:pt x="117" y="3963"/>
                  <a:pt x="108" y="3959"/>
                  <a:pt x="98" y="3954"/>
                </a:cubicBezTo>
                <a:cubicBezTo>
                  <a:pt x="88" y="3948"/>
                  <a:pt x="79" y="3942"/>
                  <a:pt x="70" y="3934"/>
                </a:cubicBezTo>
                <a:cubicBezTo>
                  <a:pt x="62" y="3926"/>
                  <a:pt x="54" y="3918"/>
                  <a:pt x="46" y="3908"/>
                </a:cubicBezTo>
                <a:cubicBezTo>
                  <a:pt x="39" y="3898"/>
                  <a:pt x="32" y="3887"/>
                  <a:pt x="27" y="3876"/>
                </a:cubicBezTo>
                <a:cubicBezTo>
                  <a:pt x="21" y="3864"/>
                  <a:pt x="16" y="3852"/>
                  <a:pt x="12" y="3839"/>
                </a:cubicBezTo>
                <a:cubicBezTo>
                  <a:pt x="8" y="3826"/>
                  <a:pt x="5" y="3813"/>
                  <a:pt x="3" y="3799"/>
                </a:cubicBezTo>
                <a:cubicBezTo>
                  <a:pt x="1" y="3786"/>
                  <a:pt x="0" y="3772"/>
                  <a:pt x="0" y="3758"/>
                </a:cubicBezTo>
                <a:close/>
              </a:path>
            </a:pathLst>
          </a:custGeom>
          <a:solidFill>
            <a:schemeClr val="bg2">
              <a:lumMod val="95000"/>
            </a:schemeClr>
          </a:solidFill>
          <a:ln w="0">
            <a:noFill/>
          </a:ln>
        </p:spPr>
        <p:txBody>
          <a:bodyPr lIns="0" tIns="0" rIns="0" bIns="0" anchor="t">
            <a:noAutofit/>
          </a:bodyPr>
          <a:lstStyle/>
          <a:p>
            <a:endParaRPr lang="en-US" sz="2800" b="0" u="none" strike="noStrike">
              <a:solidFill>
                <a:srgbClr val="000000"/>
              </a:solidFill>
              <a:effectLst/>
              <a:uFillTx/>
              <a:latin typeface="Times New Roman"/>
            </a:endParaRPr>
          </a:p>
        </p:txBody>
      </p:sp>
      <p:sp>
        <p:nvSpPr>
          <p:cNvPr id="80" name="Forma libre: forma 79"/>
          <p:cNvSpPr/>
          <p:nvPr/>
        </p:nvSpPr>
        <p:spPr>
          <a:xfrm>
            <a:off x="571320" y="3314520"/>
            <a:ext cx="76680" cy="1429200"/>
          </a:xfrm>
          <a:custGeom>
            <a:avLst/>
            <a:gdLst/>
            <a:ahLst/>
            <a:cxnLst/>
            <a:rect l="0" t="0" r="r" b="b"/>
            <a:pathLst>
              <a:path w="213" h="3970">
                <a:moveTo>
                  <a:pt x="0" y="0"/>
                </a:moveTo>
                <a:lnTo>
                  <a:pt x="213" y="0"/>
                </a:lnTo>
                <a:lnTo>
                  <a:pt x="213" y="3970"/>
                </a:lnTo>
                <a:lnTo>
                  <a:pt x="0" y="3970"/>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1" name="CuadroTexto 80"/>
          <p:cNvSpPr txBox="1"/>
          <p:nvPr/>
        </p:nvSpPr>
        <p:spPr>
          <a:xfrm>
            <a:off x="590400" y="1808886"/>
            <a:ext cx="7717626" cy="369332"/>
          </a:xfrm>
          <a:prstGeom prst="rect">
            <a:avLst/>
          </a:prstGeom>
          <a:noFill/>
          <a:ln w="0">
            <a:noFill/>
          </a:ln>
        </p:spPr>
        <p:txBody>
          <a:bodyPr wrap="none" lIns="0" tIns="0" rIns="0" bIns="0" anchor="t">
            <a:spAutoFit/>
          </a:bodyPr>
          <a:lstStyle/>
          <a:p>
            <a:r>
              <a:rPr lang="en-US" sz="2400" b="0" u="none" strike="noStrike" dirty="0" err="1">
                <a:solidFill>
                  <a:srgbClr val="000000"/>
                </a:solidFill>
                <a:effectLst/>
                <a:uFillTx/>
                <a:latin typeface="CrimsonPro"/>
                <a:ea typeface="CrimsonPro"/>
              </a:rPr>
              <a:t>secuencia</a:t>
            </a:r>
            <a:r>
              <a:rPr lang="en-US" sz="2400" b="0" u="none" strike="noStrike" dirty="0">
                <a:solidFill>
                  <a:srgbClr val="000000"/>
                </a:solidFill>
                <a:effectLst/>
                <a:uFillTx/>
                <a:latin typeface="CrimsonPro"/>
                <a:ea typeface="CrimsonPro"/>
              </a:rPr>
              <a:t> de pasos </a:t>
            </a:r>
            <a:r>
              <a:rPr lang="en-US" sz="2400" b="0" u="none" strike="noStrike" dirty="0" err="1">
                <a:solidFill>
                  <a:srgbClr val="000000"/>
                </a:solidFill>
                <a:effectLst/>
                <a:uFillTx/>
                <a:latin typeface="CrimsonPro"/>
                <a:ea typeface="CrimsonPro"/>
              </a:rPr>
              <a:t>ordenados</a:t>
            </a:r>
            <a:r>
              <a:rPr lang="en-US" sz="2400" b="0" u="none" strike="noStrike" dirty="0">
                <a:solidFill>
                  <a:srgbClr val="000000"/>
                </a:solidFill>
                <a:effectLst/>
                <a:uFillTx/>
                <a:latin typeface="CrimsonPro"/>
                <a:ea typeface="CrimsonPro"/>
              </a:rPr>
              <a:t> a </a:t>
            </a:r>
            <a:r>
              <a:rPr lang="en-US" sz="2400" b="0" u="none" strike="noStrike" dirty="0" err="1">
                <a:solidFill>
                  <a:srgbClr val="000000"/>
                </a:solidFill>
                <a:effectLst/>
                <a:uFillTx/>
                <a:latin typeface="CrimsonPro"/>
                <a:ea typeface="CrimsonPro"/>
              </a:rPr>
              <a:t>seguir</a:t>
            </a:r>
            <a:r>
              <a:rPr lang="en-US" sz="2400" b="0" u="none" strike="noStrike" dirty="0">
                <a:solidFill>
                  <a:srgbClr val="000000"/>
                </a:solidFill>
                <a:effectLst/>
                <a:uFillTx/>
                <a:latin typeface="CrimsonPro"/>
                <a:ea typeface="CrimsonPro"/>
              </a:rPr>
              <a:t> para </a:t>
            </a:r>
            <a:r>
              <a:rPr lang="en-US" sz="2400" b="0" u="none" strike="noStrike" dirty="0" err="1">
                <a:solidFill>
                  <a:srgbClr val="000000"/>
                </a:solidFill>
                <a:effectLst/>
                <a:uFillTx/>
                <a:latin typeface="CrimsonPro"/>
                <a:ea typeface="CrimsonPro"/>
              </a:rPr>
              <a:t>hacer</a:t>
            </a:r>
            <a:r>
              <a:rPr lang="en-US" sz="2400" b="0" u="none" strike="noStrike" dirty="0">
                <a:solidFill>
                  <a:srgbClr val="000000"/>
                </a:solidFill>
                <a:effectLst/>
                <a:uFillTx/>
                <a:latin typeface="CrimsonPro"/>
                <a:ea typeface="CrimsonPro"/>
              </a:rPr>
              <a:t> </a:t>
            </a:r>
            <a:r>
              <a:rPr lang="en-US" sz="2400" b="0" u="none" strike="noStrike" dirty="0" err="1">
                <a:solidFill>
                  <a:srgbClr val="000000"/>
                </a:solidFill>
                <a:effectLst/>
                <a:uFillTx/>
                <a:latin typeface="CrimsonPro"/>
                <a:ea typeface="CrimsonPro"/>
              </a:rPr>
              <a:t>cierta</a:t>
            </a:r>
            <a:r>
              <a:rPr lang="en-US" sz="2400" b="0" u="none" strike="noStrike" dirty="0">
                <a:solidFill>
                  <a:srgbClr val="000000"/>
                </a:solidFill>
                <a:effectLst/>
                <a:uFillTx/>
                <a:latin typeface="CrimsonPro"/>
                <a:ea typeface="CrimsonPro"/>
              </a:rPr>
              <a:t> </a:t>
            </a:r>
            <a:r>
              <a:rPr lang="en-US" sz="2400" b="0" u="none" strike="noStrike" dirty="0" err="1">
                <a:solidFill>
                  <a:srgbClr val="000000"/>
                </a:solidFill>
                <a:effectLst/>
                <a:uFillTx/>
                <a:latin typeface="CrimsonPro"/>
                <a:ea typeface="CrimsonPro"/>
              </a:rPr>
              <a:t>cosa</a:t>
            </a:r>
            <a:r>
              <a:rPr lang="en-US" sz="2400" b="0" u="none" strike="noStrike" dirty="0">
                <a:solidFill>
                  <a:srgbClr val="000000"/>
                </a:solidFill>
                <a:effectLst/>
                <a:uFillTx/>
                <a:latin typeface="CrimsonPro"/>
                <a:ea typeface="CrimsonPro"/>
              </a:rPr>
              <a:t>.</a:t>
            </a:r>
            <a:endParaRPr lang="en-US" sz="2400" b="0" u="none" strike="noStrike" dirty="0">
              <a:solidFill>
                <a:srgbClr val="000000"/>
              </a:solidFill>
              <a:effectLst/>
              <a:uFillTx/>
              <a:latin typeface="Times New Roman"/>
            </a:endParaRPr>
          </a:p>
        </p:txBody>
      </p:sp>
      <p:sp>
        <p:nvSpPr>
          <p:cNvPr id="82" name="CuadroTexto 81"/>
          <p:cNvSpPr txBox="1"/>
          <p:nvPr/>
        </p:nvSpPr>
        <p:spPr>
          <a:xfrm>
            <a:off x="838080" y="3580200"/>
            <a:ext cx="6091732" cy="276999"/>
          </a:xfrm>
          <a:prstGeom prst="rect">
            <a:avLst/>
          </a:prstGeom>
          <a:noFill/>
          <a:ln w="0">
            <a:noFill/>
          </a:ln>
        </p:spPr>
        <p:txBody>
          <a:bodyPr wrap="none" lIns="0" tIns="0" rIns="0" bIns="0" anchor="t">
            <a:spAutoFit/>
          </a:bodyPr>
          <a:lstStyle/>
          <a:p>
            <a:r>
              <a:rPr lang="en-US" b="0" u="none" strike="noStrike" dirty="0">
                <a:solidFill>
                  <a:srgbClr val="666666"/>
                </a:solidFill>
                <a:effectLst/>
                <a:uFillTx/>
                <a:latin typeface="CrimsonPro"/>
                <a:ea typeface="CrimsonPro"/>
              </a:rPr>
              <a:t>Este </a:t>
            </a:r>
            <a:r>
              <a:rPr lang="en-US" b="0" u="none" strike="noStrike" dirty="0" err="1">
                <a:solidFill>
                  <a:srgbClr val="666666"/>
                </a:solidFill>
                <a:effectLst/>
                <a:uFillTx/>
                <a:latin typeface="CrimsonPro"/>
                <a:ea typeface="CrimsonPro"/>
              </a:rPr>
              <a:t>término</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puede</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utilizarse</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en</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muchos</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contextos</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por</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ejemplo</a:t>
            </a:r>
            <a:r>
              <a:rPr lang="en-US" b="0" u="none" strike="noStrike" dirty="0">
                <a:solidFill>
                  <a:srgbClr val="666666"/>
                </a:solidFill>
                <a:effectLst/>
                <a:uFillTx/>
                <a:latin typeface="CrimsonPro"/>
                <a:ea typeface="CrimsonPro"/>
              </a:rPr>
              <a:t>:</a:t>
            </a:r>
            <a:endParaRPr lang="en-US" b="0" u="none" strike="noStrike" dirty="0">
              <a:solidFill>
                <a:srgbClr val="000000"/>
              </a:solidFill>
              <a:effectLst/>
              <a:uFillTx/>
              <a:latin typeface="Times New Roman"/>
            </a:endParaRPr>
          </a:p>
        </p:txBody>
      </p:sp>
      <p:sp>
        <p:nvSpPr>
          <p:cNvPr id="83" name="CuadroTexto 82"/>
          <p:cNvSpPr txBox="1"/>
          <p:nvPr/>
        </p:nvSpPr>
        <p:spPr>
          <a:xfrm>
            <a:off x="838080" y="3978360"/>
            <a:ext cx="6860468" cy="276999"/>
          </a:xfrm>
          <a:prstGeom prst="rect">
            <a:avLst/>
          </a:prstGeom>
          <a:noFill/>
          <a:ln w="0">
            <a:noFill/>
          </a:ln>
        </p:spPr>
        <p:txBody>
          <a:bodyPr wrap="none" lIns="0" tIns="0" rIns="0" bIns="0" anchor="t">
            <a:spAutoFit/>
          </a:bodyPr>
          <a:lstStyle/>
          <a:p>
            <a:r>
              <a:rPr lang="en-US" b="0" u="none" strike="noStrike" dirty="0">
                <a:solidFill>
                  <a:srgbClr val="DA7756"/>
                </a:solidFill>
                <a:effectLst/>
                <a:uFillTx/>
                <a:latin typeface="CrimsonPro"/>
                <a:ea typeface="CrimsonPro"/>
              </a:rPr>
              <a:t>•</a:t>
            </a:r>
            <a:r>
              <a:rPr lang="en-US" b="0" u="none" strike="noStrike" dirty="0">
                <a:solidFill>
                  <a:srgbClr val="666666"/>
                </a:solidFill>
                <a:effectLst/>
                <a:uFillTx/>
                <a:latin typeface="CrimsonPro"/>
                <a:ea typeface="CrimsonPro"/>
              </a:rPr>
              <a:t> "Vamos a </a:t>
            </a:r>
            <a:r>
              <a:rPr lang="en-US" b="0" u="none" strike="noStrike" dirty="0" err="1">
                <a:solidFill>
                  <a:srgbClr val="666666"/>
                </a:solidFill>
                <a:effectLst/>
                <a:uFillTx/>
                <a:latin typeface="CrimsonPro"/>
                <a:ea typeface="CrimsonPro"/>
              </a:rPr>
              <a:t>programar</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una</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salida</a:t>
            </a:r>
            <a:r>
              <a:rPr lang="en-US" b="0" u="none" strike="noStrike" dirty="0">
                <a:solidFill>
                  <a:srgbClr val="666666"/>
                </a:solidFill>
                <a:effectLst/>
                <a:uFillTx/>
                <a:latin typeface="CrimsonPro"/>
                <a:ea typeface="CrimsonPro"/>
              </a:rPr>
              <a:t> para </a:t>
            </a:r>
            <a:r>
              <a:rPr lang="en-US" b="0" u="none" strike="noStrike" dirty="0" err="1">
                <a:solidFill>
                  <a:srgbClr val="666666"/>
                </a:solidFill>
                <a:effectLst/>
                <a:uFillTx/>
                <a:latin typeface="CrimsonPro"/>
                <a:ea typeface="CrimsonPro"/>
              </a:rPr>
              <a:t>este</a:t>
            </a:r>
            <a:r>
              <a:rPr lang="en-US" b="0" u="none" strike="noStrike" dirty="0">
                <a:solidFill>
                  <a:srgbClr val="666666"/>
                </a:solidFill>
                <a:effectLst/>
                <a:uFillTx/>
                <a:latin typeface="CrimsonPro"/>
                <a:ea typeface="CrimsonPro"/>
              </a:rPr>
              <a:t> fin de </a:t>
            </a:r>
            <a:r>
              <a:rPr lang="en-US" b="0" u="none" strike="noStrike" dirty="0" err="1">
                <a:solidFill>
                  <a:srgbClr val="666666"/>
                </a:solidFill>
                <a:effectLst/>
                <a:uFillTx/>
                <a:latin typeface="CrimsonPro"/>
                <a:ea typeface="CrimsonPro"/>
              </a:rPr>
              <a:t>semana</a:t>
            </a:r>
            <a:r>
              <a:rPr lang="en-US" b="0" u="none" strike="noStrike" dirty="0">
                <a:solidFill>
                  <a:srgbClr val="666666"/>
                </a:solidFill>
                <a:effectLst/>
                <a:uFillTx/>
                <a:latin typeface="CrimsonPro"/>
                <a:ea typeface="CrimsonPro"/>
              </a:rPr>
              <a:t> largo (</a:t>
            </a:r>
            <a:r>
              <a:rPr lang="en-US" b="0" u="none" strike="noStrike" dirty="0" err="1">
                <a:solidFill>
                  <a:srgbClr val="666666"/>
                </a:solidFill>
                <a:effectLst/>
                <a:uFillTx/>
                <a:latin typeface="CrimsonPro"/>
                <a:ea typeface="CrimsonPro"/>
              </a:rPr>
              <a:t>puente</a:t>
            </a:r>
            <a:r>
              <a:rPr lang="en-US" b="0" u="none" strike="noStrike" dirty="0">
                <a:solidFill>
                  <a:srgbClr val="666666"/>
                </a:solidFill>
                <a:effectLst/>
                <a:uFillTx/>
                <a:latin typeface="CrimsonPro"/>
                <a:ea typeface="CrimsonPro"/>
              </a:rPr>
              <a:t>)"</a:t>
            </a:r>
            <a:endParaRPr lang="en-US" b="0" u="none" strike="noStrike" dirty="0">
              <a:solidFill>
                <a:srgbClr val="000000"/>
              </a:solidFill>
              <a:effectLst/>
              <a:uFillTx/>
              <a:latin typeface="Times New Roman"/>
            </a:endParaRPr>
          </a:p>
        </p:txBody>
      </p:sp>
      <p:sp>
        <p:nvSpPr>
          <p:cNvPr id="85" name="Forma libre: forma 84"/>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6" name="CuadroTexto 85"/>
          <p:cNvSpPr txBox="1"/>
          <p:nvPr/>
        </p:nvSpPr>
        <p:spPr>
          <a:xfrm>
            <a:off x="838080" y="4302000"/>
            <a:ext cx="6031972" cy="276999"/>
          </a:xfrm>
          <a:prstGeom prst="rect">
            <a:avLst/>
          </a:prstGeom>
          <a:noFill/>
          <a:ln w="0">
            <a:noFill/>
          </a:ln>
        </p:spPr>
        <p:txBody>
          <a:bodyPr wrap="none" lIns="0" tIns="0" rIns="0" bIns="0" anchor="t">
            <a:spAutoFit/>
          </a:bodyPr>
          <a:lstStyle/>
          <a:p>
            <a:r>
              <a:rPr lang="en-US" b="0" u="none" strike="noStrike" dirty="0">
                <a:solidFill>
                  <a:srgbClr val="DA7756"/>
                </a:solidFill>
                <a:effectLst/>
                <a:uFillTx/>
                <a:latin typeface="CrimsonPro"/>
                <a:ea typeface="CrimsonPro"/>
              </a:rPr>
              <a:t>•</a:t>
            </a:r>
            <a:r>
              <a:rPr lang="en-US" b="0" u="none" strike="noStrike" dirty="0">
                <a:solidFill>
                  <a:srgbClr val="666666"/>
                </a:solidFill>
                <a:effectLst/>
                <a:uFillTx/>
                <a:latin typeface="CrimsonPro"/>
                <a:ea typeface="CrimsonPro"/>
              </a:rPr>
              <a:t> "La </a:t>
            </a:r>
            <a:r>
              <a:rPr lang="en-US" b="0" u="none" strike="noStrike" dirty="0" err="1">
                <a:solidFill>
                  <a:srgbClr val="666666"/>
                </a:solidFill>
                <a:effectLst/>
                <a:uFillTx/>
                <a:latin typeface="CrimsonPro"/>
                <a:ea typeface="CrimsonPro"/>
              </a:rPr>
              <a:t>programación</a:t>
            </a:r>
            <a:r>
              <a:rPr lang="en-US" b="0" u="none" strike="noStrike" dirty="0">
                <a:solidFill>
                  <a:srgbClr val="666666"/>
                </a:solidFill>
                <a:effectLst/>
                <a:uFillTx/>
                <a:latin typeface="CrimsonPro"/>
                <a:ea typeface="CrimsonPro"/>
              </a:rPr>
              <a:t> de ese canal de </a:t>
            </a:r>
            <a:r>
              <a:rPr lang="en-US" b="0" u="none" strike="noStrike" dirty="0" err="1">
                <a:solidFill>
                  <a:srgbClr val="666666"/>
                </a:solidFill>
                <a:effectLst/>
                <a:uFillTx/>
                <a:latin typeface="CrimsonPro"/>
                <a:ea typeface="CrimsonPro"/>
              </a:rPr>
              <a:t>televisión</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está</a:t>
            </a:r>
            <a:r>
              <a:rPr lang="en-US" b="0" u="none" strike="noStrike" dirty="0">
                <a:solidFill>
                  <a:srgbClr val="666666"/>
                </a:solidFill>
                <a:effectLst/>
                <a:uFillTx/>
                <a:latin typeface="CrimsonPro"/>
                <a:ea typeface="CrimsonPro"/>
              </a:rPr>
              <a:t> bien </a:t>
            </a:r>
            <a:r>
              <a:rPr lang="en-US" b="0" u="none" strike="noStrike" dirty="0" err="1">
                <a:solidFill>
                  <a:srgbClr val="666666"/>
                </a:solidFill>
                <a:effectLst/>
                <a:uFillTx/>
                <a:latin typeface="CrimsonPro"/>
                <a:ea typeface="CrimsonPro"/>
              </a:rPr>
              <a:t>lograda</a:t>
            </a:r>
            <a:r>
              <a:rPr lang="en-US" b="0" u="none" strike="noStrike" dirty="0">
                <a:solidFill>
                  <a:srgbClr val="666666"/>
                </a:solidFill>
                <a:effectLst/>
                <a:uFillTx/>
                <a:latin typeface="CrimsonPro"/>
                <a:ea typeface="CrimsonPro"/>
              </a:rPr>
              <a:t>"</a:t>
            </a:r>
            <a:endParaRPr lang="en-US" b="0" u="none" strike="noStrike" dirty="0">
              <a:solidFill>
                <a:srgbClr val="000000"/>
              </a:solidFill>
              <a:effectLst/>
              <a:uFillTx/>
              <a:latin typeface="Times New Roman"/>
            </a:endParaRPr>
          </a:p>
        </p:txBody>
      </p:sp>
      <p:sp>
        <p:nvSpPr>
          <p:cNvPr id="87" name="CuadroTexto 86"/>
          <p:cNvSpPr txBox="1"/>
          <p:nvPr/>
        </p:nvSpPr>
        <p:spPr>
          <a:xfrm>
            <a:off x="571320" y="60832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88" name="CuadroTexto 87"/>
          <p:cNvSpPr txBox="1"/>
          <p:nvPr/>
        </p:nvSpPr>
        <p:spPr>
          <a:xfrm>
            <a:off x="11456640" y="6083280"/>
            <a:ext cx="16488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04</a:t>
            </a:r>
            <a:endParaRPr lang="en-US" sz="1200" b="0" u="none" strike="noStrike">
              <a:solidFill>
                <a:srgbClr val="000000"/>
              </a:solidFill>
              <a:effectLst/>
              <a:uFillTx/>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Forma libre: forma 90"/>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92" name="Imagen 91"/>
          <p:cNvPicPr/>
          <p:nvPr/>
        </p:nvPicPr>
        <p:blipFill>
          <a:blip r:embed="rId3"/>
          <a:stretch/>
        </p:blipFill>
        <p:spPr>
          <a:xfrm>
            <a:off x="3892459" y="1658090"/>
            <a:ext cx="4407082" cy="3263150"/>
          </a:xfrm>
          <a:prstGeom prst="rect">
            <a:avLst/>
          </a:prstGeom>
          <a:noFill/>
          <a:ln w="0">
            <a:noFill/>
          </a:ln>
        </p:spPr>
      </p:pic>
      <p:sp>
        <p:nvSpPr>
          <p:cNvPr id="93" name="Forma libre: forma 92"/>
          <p:cNvSpPr/>
          <p:nvPr/>
        </p:nvSpPr>
        <p:spPr>
          <a:xfrm>
            <a:off x="571320" y="5905440"/>
            <a:ext cx="11049480" cy="9720"/>
          </a:xfrm>
          <a:custGeom>
            <a:avLst/>
            <a:gdLst/>
            <a:ahLst/>
            <a:cxnLst/>
            <a:rect l="0" t="0" r="r" b="b"/>
            <a:pathLst>
              <a:path w="30693" h="27">
                <a:moveTo>
                  <a:pt x="0" y="0"/>
                </a:moveTo>
                <a:lnTo>
                  <a:pt x="30693" y="0"/>
                </a:lnTo>
                <a:lnTo>
                  <a:pt x="30693"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4" name="CuadroTexto 93"/>
          <p:cNvSpPr txBox="1"/>
          <p:nvPr/>
        </p:nvSpPr>
        <p:spPr>
          <a:xfrm>
            <a:off x="571320" y="569160"/>
            <a:ext cx="658332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¿Qué se requiere para ser un buen Programador?</a:t>
            </a:r>
            <a:endParaRPr lang="en-US" sz="2700" b="0" u="none" strike="noStrike">
              <a:solidFill>
                <a:srgbClr val="000000"/>
              </a:solidFill>
              <a:effectLst/>
              <a:uFillTx/>
              <a:latin typeface="Times New Roman"/>
            </a:endParaRPr>
          </a:p>
        </p:txBody>
      </p:sp>
      <p:sp>
        <p:nvSpPr>
          <p:cNvPr id="95" name="CuadroTexto 94"/>
          <p:cNvSpPr txBox="1"/>
          <p:nvPr/>
        </p:nvSpPr>
        <p:spPr>
          <a:xfrm>
            <a:off x="571320" y="609264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96" name="CuadroTexto 95"/>
          <p:cNvSpPr txBox="1"/>
          <p:nvPr/>
        </p:nvSpPr>
        <p:spPr>
          <a:xfrm>
            <a:off x="11462400" y="6092640"/>
            <a:ext cx="15876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05</a:t>
            </a:r>
            <a:endParaRPr lang="en-US" sz="1200" b="0" u="none" strike="noStrike">
              <a:solidFill>
                <a:srgbClr val="000000"/>
              </a:solidFill>
              <a:effectLst/>
              <a:uFillTx/>
              <a:latin typeface="Times New Roman"/>
            </a:endParaRPr>
          </a:p>
        </p:txBody>
      </p:sp>
      <p:sp>
        <p:nvSpPr>
          <p:cNvPr id="3" name="CuadroTexto 2">
            <a:extLst>
              <a:ext uri="{FF2B5EF4-FFF2-40B4-BE49-F238E27FC236}">
                <a16:creationId xmlns:a16="http://schemas.microsoft.com/office/drawing/2014/main" id="{5B9DF01D-F8B2-EFFC-DBA5-138AF04E0896}"/>
              </a:ext>
            </a:extLst>
          </p:cNvPr>
          <p:cNvSpPr txBox="1"/>
          <p:nvPr/>
        </p:nvSpPr>
        <p:spPr>
          <a:xfrm>
            <a:off x="5264120" y="1104190"/>
            <a:ext cx="1663760" cy="400110"/>
          </a:xfrm>
          <a:prstGeom prst="rect">
            <a:avLst/>
          </a:prstGeom>
          <a:noFill/>
        </p:spPr>
        <p:txBody>
          <a:bodyPr wrap="square">
            <a:spAutoFit/>
          </a:bodyPr>
          <a:lstStyle/>
          <a:p>
            <a:pPr algn="ctr"/>
            <a:r>
              <a:rPr lang="es-CO" sz="2000" b="0" i="0" u="none" strike="noStrike" baseline="0" dirty="0">
                <a:solidFill>
                  <a:srgbClr val="000000"/>
                </a:solidFill>
                <a:latin typeface="Arial" panose="020B0604020202020204" pitchFamily="34" charset="0"/>
              </a:rPr>
              <a:t>Curiosidad</a:t>
            </a:r>
            <a:endParaRPr lang="es-CO" sz="2000" dirty="0"/>
          </a:p>
        </p:txBody>
      </p:sp>
      <p:sp>
        <p:nvSpPr>
          <p:cNvPr id="5" name="CuadroTexto 4">
            <a:extLst>
              <a:ext uri="{FF2B5EF4-FFF2-40B4-BE49-F238E27FC236}">
                <a16:creationId xmlns:a16="http://schemas.microsoft.com/office/drawing/2014/main" id="{58368ACB-EBB7-3ED4-AF93-A6C933523FBA}"/>
              </a:ext>
            </a:extLst>
          </p:cNvPr>
          <p:cNvSpPr txBox="1"/>
          <p:nvPr/>
        </p:nvSpPr>
        <p:spPr>
          <a:xfrm>
            <a:off x="1181160" y="2273694"/>
            <a:ext cx="3060520" cy="369332"/>
          </a:xfrm>
          <a:prstGeom prst="rect">
            <a:avLst/>
          </a:prstGeom>
          <a:noFill/>
        </p:spPr>
        <p:txBody>
          <a:bodyPr wrap="square">
            <a:spAutoFit/>
          </a:bodyPr>
          <a:lstStyle/>
          <a:p>
            <a:r>
              <a:rPr lang="es-CO" sz="1800" b="0" i="0" u="none" strike="noStrike" baseline="0" dirty="0">
                <a:solidFill>
                  <a:srgbClr val="000000"/>
                </a:solidFill>
                <a:latin typeface="Arial" panose="020B0604020202020204" pitchFamily="34" charset="0"/>
              </a:rPr>
              <a:t>Análisis de Problemas</a:t>
            </a:r>
            <a:endParaRPr lang="es-CO" dirty="0"/>
          </a:p>
        </p:txBody>
      </p:sp>
      <p:sp>
        <p:nvSpPr>
          <p:cNvPr id="7" name="CuadroTexto 6">
            <a:extLst>
              <a:ext uri="{FF2B5EF4-FFF2-40B4-BE49-F238E27FC236}">
                <a16:creationId xmlns:a16="http://schemas.microsoft.com/office/drawing/2014/main" id="{6FA793D0-BC6F-6987-5831-4D26941E0E67}"/>
              </a:ext>
            </a:extLst>
          </p:cNvPr>
          <p:cNvSpPr txBox="1"/>
          <p:nvPr/>
        </p:nvSpPr>
        <p:spPr>
          <a:xfrm>
            <a:off x="1434980" y="4212814"/>
            <a:ext cx="2108260" cy="369332"/>
          </a:xfrm>
          <a:prstGeom prst="rect">
            <a:avLst/>
          </a:prstGeom>
          <a:noFill/>
        </p:spPr>
        <p:txBody>
          <a:bodyPr wrap="square">
            <a:spAutoFit/>
          </a:bodyPr>
          <a:lstStyle/>
          <a:p>
            <a:r>
              <a:rPr lang="es-CO" sz="1800" b="0" i="0" u="none" strike="noStrike" baseline="0" dirty="0">
                <a:solidFill>
                  <a:srgbClr val="000000"/>
                </a:solidFill>
                <a:latin typeface="Arial" panose="020B0604020202020204" pitchFamily="34" charset="0"/>
              </a:rPr>
              <a:t>Interacción Social</a:t>
            </a:r>
            <a:endParaRPr lang="es-CO" dirty="0"/>
          </a:p>
        </p:txBody>
      </p:sp>
      <p:sp>
        <p:nvSpPr>
          <p:cNvPr id="9" name="CuadroTexto 8">
            <a:extLst>
              <a:ext uri="{FF2B5EF4-FFF2-40B4-BE49-F238E27FC236}">
                <a16:creationId xmlns:a16="http://schemas.microsoft.com/office/drawing/2014/main" id="{7564806B-89A6-8E85-EFFF-944FC96D1C72}"/>
              </a:ext>
            </a:extLst>
          </p:cNvPr>
          <p:cNvSpPr txBox="1"/>
          <p:nvPr/>
        </p:nvSpPr>
        <p:spPr>
          <a:xfrm>
            <a:off x="5397500" y="5044008"/>
            <a:ext cx="2489200" cy="369332"/>
          </a:xfrm>
          <a:prstGeom prst="rect">
            <a:avLst/>
          </a:prstGeom>
          <a:noFill/>
        </p:spPr>
        <p:txBody>
          <a:bodyPr wrap="square">
            <a:spAutoFit/>
          </a:bodyPr>
          <a:lstStyle/>
          <a:p>
            <a:r>
              <a:rPr lang="es-CO" sz="1800" b="0" i="0" u="none" strike="noStrike" baseline="0" dirty="0">
                <a:solidFill>
                  <a:srgbClr val="000000"/>
                </a:solidFill>
                <a:latin typeface="Arial" panose="020B0604020202020204" pitchFamily="34" charset="0"/>
              </a:rPr>
              <a:t>Creatividad</a:t>
            </a:r>
            <a:endParaRPr lang="es-CO" dirty="0"/>
          </a:p>
        </p:txBody>
      </p:sp>
      <p:sp>
        <p:nvSpPr>
          <p:cNvPr id="11" name="CuadroTexto 10">
            <a:extLst>
              <a:ext uri="{FF2B5EF4-FFF2-40B4-BE49-F238E27FC236}">
                <a16:creationId xmlns:a16="http://schemas.microsoft.com/office/drawing/2014/main" id="{4B2D6652-1160-ADCF-7CCD-8B3C9C683482}"/>
              </a:ext>
            </a:extLst>
          </p:cNvPr>
          <p:cNvSpPr txBox="1"/>
          <p:nvPr/>
        </p:nvSpPr>
        <p:spPr>
          <a:xfrm>
            <a:off x="8553600" y="4212814"/>
            <a:ext cx="2203420" cy="369332"/>
          </a:xfrm>
          <a:prstGeom prst="rect">
            <a:avLst/>
          </a:prstGeom>
          <a:noFill/>
        </p:spPr>
        <p:txBody>
          <a:bodyPr wrap="square">
            <a:spAutoFit/>
          </a:bodyPr>
          <a:lstStyle/>
          <a:p>
            <a:r>
              <a:rPr lang="es-CO" sz="1800" b="0" i="0" u="none" strike="noStrike" baseline="0" dirty="0">
                <a:solidFill>
                  <a:srgbClr val="000000"/>
                </a:solidFill>
                <a:latin typeface="Arial" panose="020B0604020202020204" pitchFamily="34" charset="0"/>
              </a:rPr>
              <a:t>Manejo del tiempo</a:t>
            </a:r>
            <a:endParaRPr lang="es-CO" dirty="0"/>
          </a:p>
        </p:txBody>
      </p:sp>
      <p:sp>
        <p:nvSpPr>
          <p:cNvPr id="13" name="CuadroTexto 12">
            <a:extLst>
              <a:ext uri="{FF2B5EF4-FFF2-40B4-BE49-F238E27FC236}">
                <a16:creationId xmlns:a16="http://schemas.microsoft.com/office/drawing/2014/main" id="{ECFF305F-F73F-1CA8-76E0-8C94FEE95E19}"/>
              </a:ext>
            </a:extLst>
          </p:cNvPr>
          <p:cNvSpPr txBox="1"/>
          <p:nvPr/>
        </p:nvSpPr>
        <p:spPr>
          <a:xfrm>
            <a:off x="8807420" y="2212275"/>
            <a:ext cx="2203420" cy="369332"/>
          </a:xfrm>
          <a:prstGeom prst="rect">
            <a:avLst/>
          </a:prstGeom>
          <a:noFill/>
        </p:spPr>
        <p:txBody>
          <a:bodyPr wrap="square">
            <a:spAutoFit/>
          </a:bodyPr>
          <a:lstStyle/>
          <a:p>
            <a:r>
              <a:rPr lang="es-CO" sz="1800" b="0" i="0" u="none" strike="noStrike" baseline="0" dirty="0">
                <a:solidFill>
                  <a:srgbClr val="000000"/>
                </a:solidFill>
                <a:latin typeface="Arial" panose="020B0604020202020204" pitchFamily="34" charset="0"/>
              </a:rPr>
              <a:t>Aprendizaje</a:t>
            </a:r>
            <a:endParaRPr lang="es-CO"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9" grpId="0"/>
      <p:bldP spid="11"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Forma libre: forma 98"/>
          <p:cNvSpPr/>
          <p:nvPr/>
        </p:nvSpPr>
        <p:spPr>
          <a:xfrm>
            <a:off x="571320" y="102852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100" name="Imagen 99"/>
          <p:cNvPicPr/>
          <p:nvPr/>
        </p:nvPicPr>
        <p:blipFill>
          <a:blip r:embed="rId3"/>
          <a:stretch/>
        </p:blipFill>
        <p:spPr>
          <a:xfrm>
            <a:off x="4219560" y="1352520"/>
            <a:ext cx="3752640" cy="3999960"/>
          </a:xfrm>
          <a:prstGeom prst="rect">
            <a:avLst/>
          </a:prstGeom>
          <a:noFill/>
          <a:ln w="0">
            <a:noFill/>
          </a:ln>
        </p:spPr>
      </p:pic>
      <p:sp>
        <p:nvSpPr>
          <p:cNvPr id="101" name="CuadroTexto 100"/>
          <p:cNvSpPr txBox="1"/>
          <p:nvPr/>
        </p:nvSpPr>
        <p:spPr>
          <a:xfrm>
            <a:off x="571320" y="582120"/>
            <a:ext cx="6148440" cy="318960"/>
          </a:xfrm>
          <a:prstGeom prst="rect">
            <a:avLst/>
          </a:prstGeom>
          <a:noFill/>
          <a:ln w="0">
            <a:noFill/>
          </a:ln>
        </p:spPr>
        <p:txBody>
          <a:bodyPr wrap="none" lIns="0" tIns="0" rIns="0" bIns="0" anchor="t">
            <a:spAutoFit/>
          </a:bodyPr>
          <a:lstStyle/>
          <a:p>
            <a:r>
              <a:rPr lang="en-US" sz="2250" b="0" u="none" strike="noStrike">
                <a:solidFill>
                  <a:srgbClr val="000000"/>
                </a:solidFill>
                <a:effectLst/>
                <a:uFillTx/>
                <a:latin typeface="CrimsonPro"/>
                <a:ea typeface="CrimsonPro"/>
              </a:rPr>
              <a:t>Pilares de la Programación Orientada a Objetos (POO)</a:t>
            </a:r>
            <a:endParaRPr lang="en-US" sz="2250" b="0" u="none" strike="noStrike">
              <a:solidFill>
                <a:srgbClr val="000000"/>
              </a:solidFill>
              <a:effectLst/>
              <a:uFillTx/>
              <a:latin typeface="Times New Roman"/>
            </a:endParaRPr>
          </a:p>
        </p:txBody>
      </p:sp>
      <p:sp>
        <p:nvSpPr>
          <p:cNvPr id="102" name="Forma libre: forma 101"/>
          <p:cNvSpPr/>
          <p:nvPr/>
        </p:nvSpPr>
        <p:spPr>
          <a:xfrm>
            <a:off x="571320" y="603864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03" name="CuadroTexto 102"/>
          <p:cNvSpPr txBox="1"/>
          <p:nvPr/>
        </p:nvSpPr>
        <p:spPr>
          <a:xfrm>
            <a:off x="4965840" y="5607000"/>
            <a:ext cx="2270520" cy="169560"/>
          </a:xfrm>
          <a:prstGeom prst="rect">
            <a:avLst/>
          </a:prstGeom>
          <a:noFill/>
          <a:ln w="0">
            <a:noFill/>
          </a:ln>
        </p:spPr>
        <p:txBody>
          <a:bodyPr wrap="none" lIns="0" tIns="0" rIns="0" bIns="0" anchor="t">
            <a:spAutoFit/>
          </a:bodyPr>
          <a:lstStyle/>
          <a:p>
            <a:r>
              <a:rPr lang="en-US" sz="1200" b="0" i="1" u="none" strike="noStrike">
                <a:solidFill>
                  <a:srgbClr val="999999"/>
                </a:solidFill>
                <a:effectLst/>
                <a:uFillTx/>
                <a:latin typeface="CrimsonPro"/>
                <a:ea typeface="CrimsonPro"/>
              </a:rPr>
              <a:t>Tomado de la página de tokioschool.com</a:t>
            </a:r>
            <a:endParaRPr lang="en-US" sz="1200" b="0" u="none" strike="noStrike">
              <a:solidFill>
                <a:srgbClr val="000000"/>
              </a:solidFill>
              <a:effectLst/>
              <a:uFillTx/>
              <a:latin typeface="Times New Roman"/>
            </a:endParaRPr>
          </a:p>
        </p:txBody>
      </p:sp>
      <p:sp>
        <p:nvSpPr>
          <p:cNvPr id="104" name="CuadroTexto 103"/>
          <p:cNvSpPr txBox="1"/>
          <p:nvPr/>
        </p:nvSpPr>
        <p:spPr>
          <a:xfrm>
            <a:off x="571320" y="622620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105" name="CuadroTexto 104"/>
          <p:cNvSpPr txBox="1"/>
          <p:nvPr/>
        </p:nvSpPr>
        <p:spPr>
          <a:xfrm>
            <a:off x="11457000" y="6226200"/>
            <a:ext cx="16416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06</a:t>
            </a:r>
            <a:endParaRPr lang="en-US" sz="12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Forma libre: forma 107"/>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109" name="Imagen 108"/>
          <p:cNvPicPr/>
          <p:nvPr/>
        </p:nvPicPr>
        <p:blipFill>
          <a:blip r:embed="rId3"/>
          <a:stretch/>
        </p:blipFill>
        <p:spPr>
          <a:xfrm>
            <a:off x="3857760" y="1238400"/>
            <a:ext cx="4476240" cy="4285800"/>
          </a:xfrm>
          <a:prstGeom prst="rect">
            <a:avLst/>
          </a:prstGeom>
          <a:noFill/>
          <a:ln w="0">
            <a:noFill/>
          </a:ln>
        </p:spPr>
      </p:pic>
      <p:sp>
        <p:nvSpPr>
          <p:cNvPr id="110" name="CuadroTexto 109"/>
          <p:cNvSpPr txBox="1"/>
          <p:nvPr/>
        </p:nvSpPr>
        <p:spPr>
          <a:xfrm>
            <a:off x="571320" y="569160"/>
            <a:ext cx="681804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Principios de la Programación Orientada a objetos</a:t>
            </a:r>
            <a:endParaRPr lang="en-US" sz="2700" b="0" u="none" strike="noStrike">
              <a:solidFill>
                <a:srgbClr val="000000"/>
              </a:solidFill>
              <a:effectLst/>
              <a:uFillTx/>
              <a:latin typeface="Times New Roman"/>
            </a:endParaRPr>
          </a:p>
        </p:txBody>
      </p:sp>
      <p:sp>
        <p:nvSpPr>
          <p:cNvPr id="111" name="Forma libre: forma 110"/>
          <p:cNvSpPr/>
          <p:nvPr/>
        </p:nvSpPr>
        <p:spPr>
          <a:xfrm>
            <a:off x="571320" y="6095880"/>
            <a:ext cx="11049480" cy="9720"/>
          </a:xfrm>
          <a:custGeom>
            <a:avLst/>
            <a:gdLst/>
            <a:ahLst/>
            <a:cxnLst/>
            <a:rect l="0" t="0" r="r" b="b"/>
            <a:pathLst>
              <a:path w="30693" h="27">
                <a:moveTo>
                  <a:pt x="0" y="0"/>
                </a:moveTo>
                <a:lnTo>
                  <a:pt x="30693" y="0"/>
                </a:lnTo>
                <a:lnTo>
                  <a:pt x="30693"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12" name="CuadroTexto 111"/>
          <p:cNvSpPr txBox="1"/>
          <p:nvPr/>
        </p:nvSpPr>
        <p:spPr>
          <a:xfrm>
            <a:off x="5167440" y="5816520"/>
            <a:ext cx="1864080" cy="169560"/>
          </a:xfrm>
          <a:prstGeom prst="rect">
            <a:avLst/>
          </a:prstGeom>
          <a:noFill/>
          <a:ln w="0">
            <a:noFill/>
          </a:ln>
        </p:spPr>
        <p:txBody>
          <a:bodyPr wrap="none" lIns="0" tIns="0" rIns="0" bIns="0" anchor="t">
            <a:spAutoFit/>
          </a:bodyPr>
          <a:lstStyle/>
          <a:p>
            <a:r>
              <a:rPr lang="en-US" sz="1200" b="0" i="1" u="none" strike="noStrike">
                <a:solidFill>
                  <a:srgbClr val="999999"/>
                </a:solidFill>
                <a:effectLst/>
                <a:uFillTx/>
                <a:latin typeface="CrimsonPro"/>
                <a:ea typeface="CrimsonPro"/>
              </a:rPr>
              <a:t>Tomado de la página de tribalyte</a:t>
            </a:r>
            <a:endParaRPr lang="en-US" sz="1200" b="0" u="none" strike="noStrike">
              <a:solidFill>
                <a:srgbClr val="000000"/>
              </a:solidFill>
              <a:effectLst/>
              <a:uFillTx/>
              <a:latin typeface="Times New Roman"/>
            </a:endParaRPr>
          </a:p>
        </p:txBody>
      </p:sp>
      <p:sp>
        <p:nvSpPr>
          <p:cNvPr id="113" name="CuadroTexto 112"/>
          <p:cNvSpPr txBox="1"/>
          <p:nvPr/>
        </p:nvSpPr>
        <p:spPr>
          <a:xfrm>
            <a:off x="571320" y="628344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114" name="CuadroTexto 113"/>
          <p:cNvSpPr txBox="1"/>
          <p:nvPr/>
        </p:nvSpPr>
        <p:spPr>
          <a:xfrm>
            <a:off x="11467800" y="6283440"/>
            <a:ext cx="15696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07</a:t>
            </a:r>
            <a:endParaRPr lang="en-US" sz="12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Forma libre: forma 116"/>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18" name="Forma libre: forma 117"/>
          <p:cNvSpPr/>
          <p:nvPr/>
        </p:nvSpPr>
        <p:spPr>
          <a:xfrm>
            <a:off x="590400" y="1990650"/>
            <a:ext cx="5315400" cy="2619720"/>
          </a:xfrm>
          <a:custGeom>
            <a:avLst/>
            <a:gdLst/>
            <a:ahLst/>
            <a:cxnLst/>
            <a:rect l="0" t="0" r="r" b="b"/>
            <a:pathLst>
              <a:path w="14765" h="7277">
                <a:moveTo>
                  <a:pt x="0" y="6853"/>
                </a:moveTo>
                <a:lnTo>
                  <a:pt x="0" y="423"/>
                </a:lnTo>
                <a:cubicBezTo>
                  <a:pt x="0" y="395"/>
                  <a:pt x="2" y="368"/>
                  <a:pt x="7" y="340"/>
                </a:cubicBezTo>
                <a:cubicBezTo>
                  <a:pt x="12" y="313"/>
                  <a:pt x="19" y="287"/>
                  <a:pt x="28" y="261"/>
                </a:cubicBezTo>
                <a:cubicBezTo>
                  <a:pt x="37" y="235"/>
                  <a:pt x="49" y="211"/>
                  <a:pt x="62" y="188"/>
                </a:cubicBezTo>
                <a:cubicBezTo>
                  <a:pt x="76" y="165"/>
                  <a:pt x="91" y="143"/>
                  <a:pt x="108" y="124"/>
                </a:cubicBezTo>
                <a:cubicBezTo>
                  <a:pt x="126" y="104"/>
                  <a:pt x="144" y="86"/>
                  <a:pt x="165" y="71"/>
                </a:cubicBezTo>
                <a:cubicBezTo>
                  <a:pt x="185" y="56"/>
                  <a:pt x="206" y="43"/>
                  <a:pt x="229" y="32"/>
                </a:cubicBezTo>
                <a:cubicBezTo>
                  <a:pt x="251" y="21"/>
                  <a:pt x="274" y="13"/>
                  <a:pt x="298" y="8"/>
                </a:cubicBezTo>
                <a:cubicBezTo>
                  <a:pt x="322" y="2"/>
                  <a:pt x="346" y="0"/>
                  <a:pt x="370" y="0"/>
                </a:cubicBezTo>
                <a:lnTo>
                  <a:pt x="14341" y="0"/>
                </a:lnTo>
                <a:cubicBezTo>
                  <a:pt x="14369" y="0"/>
                  <a:pt x="14397" y="2"/>
                  <a:pt x="14424" y="8"/>
                </a:cubicBezTo>
                <a:cubicBezTo>
                  <a:pt x="14451" y="13"/>
                  <a:pt x="14478" y="21"/>
                  <a:pt x="14503" y="32"/>
                </a:cubicBezTo>
                <a:cubicBezTo>
                  <a:pt x="14529" y="43"/>
                  <a:pt x="14553" y="56"/>
                  <a:pt x="14577" y="71"/>
                </a:cubicBezTo>
                <a:cubicBezTo>
                  <a:pt x="14600" y="86"/>
                  <a:pt x="14621" y="104"/>
                  <a:pt x="14641" y="124"/>
                </a:cubicBezTo>
                <a:cubicBezTo>
                  <a:pt x="14660" y="143"/>
                  <a:pt x="14678" y="165"/>
                  <a:pt x="14693" y="188"/>
                </a:cubicBezTo>
                <a:cubicBezTo>
                  <a:pt x="14709" y="211"/>
                  <a:pt x="14722" y="235"/>
                  <a:pt x="14732" y="261"/>
                </a:cubicBezTo>
                <a:cubicBezTo>
                  <a:pt x="14743" y="287"/>
                  <a:pt x="14751" y="313"/>
                  <a:pt x="14757" y="340"/>
                </a:cubicBezTo>
                <a:cubicBezTo>
                  <a:pt x="14762" y="368"/>
                  <a:pt x="14765" y="395"/>
                  <a:pt x="14765" y="423"/>
                </a:cubicBezTo>
                <a:lnTo>
                  <a:pt x="14765" y="6853"/>
                </a:lnTo>
                <a:cubicBezTo>
                  <a:pt x="14765" y="6881"/>
                  <a:pt x="14762" y="6909"/>
                  <a:pt x="14757" y="6936"/>
                </a:cubicBezTo>
                <a:cubicBezTo>
                  <a:pt x="14751" y="6963"/>
                  <a:pt x="14743" y="6990"/>
                  <a:pt x="14732" y="7015"/>
                </a:cubicBezTo>
                <a:cubicBezTo>
                  <a:pt x="14722" y="7041"/>
                  <a:pt x="14709" y="7065"/>
                  <a:pt x="14693" y="7089"/>
                </a:cubicBezTo>
                <a:cubicBezTo>
                  <a:pt x="14678" y="7112"/>
                  <a:pt x="14660" y="7133"/>
                  <a:pt x="14641" y="7153"/>
                </a:cubicBezTo>
                <a:cubicBezTo>
                  <a:pt x="14621" y="7172"/>
                  <a:pt x="14600" y="7190"/>
                  <a:pt x="14577" y="7205"/>
                </a:cubicBezTo>
                <a:cubicBezTo>
                  <a:pt x="14553" y="7221"/>
                  <a:pt x="14529" y="7234"/>
                  <a:pt x="14503" y="7245"/>
                </a:cubicBezTo>
                <a:cubicBezTo>
                  <a:pt x="14478" y="7255"/>
                  <a:pt x="14451" y="7263"/>
                  <a:pt x="14424" y="7269"/>
                </a:cubicBezTo>
                <a:cubicBezTo>
                  <a:pt x="14397" y="7274"/>
                  <a:pt x="14369" y="7277"/>
                  <a:pt x="14341" y="7277"/>
                </a:cubicBezTo>
                <a:lnTo>
                  <a:pt x="370" y="7277"/>
                </a:lnTo>
                <a:cubicBezTo>
                  <a:pt x="346" y="7277"/>
                  <a:pt x="322" y="7274"/>
                  <a:pt x="298" y="7269"/>
                </a:cubicBezTo>
                <a:cubicBezTo>
                  <a:pt x="274" y="7263"/>
                  <a:pt x="251" y="7255"/>
                  <a:pt x="229" y="7245"/>
                </a:cubicBezTo>
                <a:cubicBezTo>
                  <a:pt x="206" y="7234"/>
                  <a:pt x="185" y="7221"/>
                  <a:pt x="165" y="7205"/>
                </a:cubicBezTo>
                <a:cubicBezTo>
                  <a:pt x="144" y="7190"/>
                  <a:pt x="126" y="7172"/>
                  <a:pt x="108" y="7153"/>
                </a:cubicBezTo>
                <a:cubicBezTo>
                  <a:pt x="91" y="7133"/>
                  <a:pt x="76" y="7112"/>
                  <a:pt x="62" y="7089"/>
                </a:cubicBezTo>
                <a:cubicBezTo>
                  <a:pt x="49" y="7065"/>
                  <a:pt x="37" y="7041"/>
                  <a:pt x="28" y="7015"/>
                </a:cubicBezTo>
                <a:cubicBezTo>
                  <a:pt x="19" y="6990"/>
                  <a:pt x="12" y="6963"/>
                  <a:pt x="7" y="6936"/>
                </a:cubicBezTo>
                <a:cubicBezTo>
                  <a:pt x="2" y="6909"/>
                  <a:pt x="0" y="6881"/>
                  <a:pt x="0" y="6853"/>
                </a:cubicBezTo>
                <a:close/>
              </a:path>
            </a:pathLst>
          </a:custGeom>
          <a:solidFill>
            <a:schemeClr val="accent6">
              <a:lumMod val="20000"/>
              <a:lumOff val="80000"/>
            </a:scheme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19" name="Forma libre: forma 118"/>
          <p:cNvSpPr/>
          <p:nvPr/>
        </p:nvSpPr>
        <p:spPr>
          <a:xfrm>
            <a:off x="571320" y="1990650"/>
            <a:ext cx="152640" cy="2619720"/>
          </a:xfrm>
          <a:custGeom>
            <a:avLst/>
            <a:gdLst/>
            <a:ahLst/>
            <a:cxnLst/>
            <a:rect l="0" t="0" r="r" b="b"/>
            <a:pathLst>
              <a:path w="424" h="7277">
                <a:moveTo>
                  <a:pt x="0" y="0"/>
                </a:moveTo>
                <a:lnTo>
                  <a:pt x="424" y="0"/>
                </a:lnTo>
                <a:lnTo>
                  <a:pt x="424" y="7277"/>
                </a:lnTo>
                <a:lnTo>
                  <a:pt x="0" y="7277"/>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20" name="CuadroTexto 119"/>
          <p:cNvSpPr txBox="1"/>
          <p:nvPr/>
        </p:nvSpPr>
        <p:spPr>
          <a:xfrm>
            <a:off x="571320" y="569160"/>
            <a:ext cx="345672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Cohesión y acoplamiento</a:t>
            </a:r>
            <a:endParaRPr lang="en-US" sz="2700" b="0" u="none" strike="noStrike">
              <a:solidFill>
                <a:srgbClr val="000000"/>
              </a:solidFill>
              <a:effectLst/>
              <a:uFillTx/>
              <a:latin typeface="Times New Roman"/>
            </a:endParaRPr>
          </a:p>
        </p:txBody>
      </p:sp>
      <p:sp>
        <p:nvSpPr>
          <p:cNvPr id="121" name="CuadroTexto 120"/>
          <p:cNvSpPr txBox="1"/>
          <p:nvPr/>
        </p:nvSpPr>
        <p:spPr>
          <a:xfrm>
            <a:off x="914400" y="2062155"/>
            <a:ext cx="2456698" cy="276999"/>
          </a:xfrm>
          <a:prstGeom prst="rect">
            <a:avLst/>
          </a:prstGeom>
          <a:noFill/>
          <a:ln w="0">
            <a:noFill/>
          </a:ln>
        </p:spPr>
        <p:txBody>
          <a:bodyPr wrap="none" lIns="0" tIns="0" rIns="0" bIns="0" anchor="t">
            <a:spAutoFit/>
          </a:bodyPr>
          <a:lstStyle/>
          <a:p>
            <a:r>
              <a:rPr lang="en-US" sz="1800" b="1" u="none" strike="noStrike" dirty="0">
                <a:solidFill>
                  <a:srgbClr val="DA7756"/>
                </a:solidFill>
                <a:effectLst/>
                <a:uFillTx/>
                <a:latin typeface="CrimsonPro"/>
                <a:ea typeface="CrimsonPro"/>
              </a:rPr>
              <a:t>¿</a:t>
            </a:r>
            <a:r>
              <a:rPr lang="en-US" sz="1800" b="1" u="none" strike="noStrike" dirty="0" err="1">
                <a:solidFill>
                  <a:srgbClr val="DA7756"/>
                </a:solidFill>
                <a:effectLst/>
                <a:uFillTx/>
                <a:latin typeface="CrimsonPro"/>
                <a:ea typeface="CrimsonPro"/>
              </a:rPr>
              <a:t>Qué</a:t>
            </a:r>
            <a:r>
              <a:rPr lang="en-US" sz="1800" b="1" u="none" strike="noStrike" dirty="0">
                <a:solidFill>
                  <a:srgbClr val="DA7756"/>
                </a:solidFill>
                <a:effectLst/>
                <a:uFillTx/>
                <a:latin typeface="CrimsonPro"/>
                <a:ea typeface="CrimsonPro"/>
              </a:rPr>
              <a:t> es </a:t>
            </a:r>
            <a:r>
              <a:rPr lang="en-US" sz="1800" b="1" u="none" strike="noStrike" dirty="0" err="1">
                <a:solidFill>
                  <a:srgbClr val="DA7756"/>
                </a:solidFill>
                <a:effectLst/>
                <a:uFillTx/>
                <a:latin typeface="CrimsonPro"/>
                <a:ea typeface="CrimsonPro"/>
              </a:rPr>
              <a:t>el</a:t>
            </a:r>
            <a:r>
              <a:rPr lang="en-US" sz="1800" b="1" u="none" strike="noStrike" dirty="0">
                <a:solidFill>
                  <a:srgbClr val="DA7756"/>
                </a:solidFill>
                <a:effectLst/>
                <a:uFillTx/>
                <a:latin typeface="CrimsonPro"/>
                <a:ea typeface="CrimsonPro"/>
              </a:rPr>
              <a:t> </a:t>
            </a:r>
            <a:r>
              <a:rPr lang="en-US" sz="1800" b="1" u="none" strike="noStrike" dirty="0" err="1">
                <a:solidFill>
                  <a:srgbClr val="DA7756"/>
                </a:solidFill>
                <a:effectLst/>
                <a:uFillTx/>
                <a:latin typeface="CrimsonPro"/>
                <a:ea typeface="CrimsonPro"/>
              </a:rPr>
              <a:t>acoplamiento</a:t>
            </a:r>
            <a:r>
              <a:rPr lang="en-US" sz="1800" b="1" u="none" strike="noStrike" dirty="0">
                <a:solidFill>
                  <a:srgbClr val="DA7756"/>
                </a:solidFill>
                <a:effectLst/>
                <a:uFillTx/>
                <a:latin typeface="CrimsonPro"/>
                <a:ea typeface="CrimsonPro"/>
              </a:rPr>
              <a:t>?</a:t>
            </a:r>
            <a:endParaRPr lang="en-US" sz="1800" b="1" u="none" strike="noStrike" dirty="0">
              <a:solidFill>
                <a:srgbClr val="000000"/>
              </a:solidFill>
              <a:effectLst/>
              <a:uFillTx/>
              <a:latin typeface="Times New Roman"/>
            </a:endParaRPr>
          </a:p>
        </p:txBody>
      </p:sp>
      <p:sp>
        <p:nvSpPr>
          <p:cNvPr id="122" name="CuadroTexto 121"/>
          <p:cNvSpPr txBox="1"/>
          <p:nvPr/>
        </p:nvSpPr>
        <p:spPr>
          <a:xfrm>
            <a:off x="904875" y="2532315"/>
            <a:ext cx="5020005" cy="1938992"/>
          </a:xfrm>
          <a:prstGeom prst="rect">
            <a:avLst/>
          </a:prstGeom>
          <a:noFill/>
          <a:ln w="0">
            <a:noFill/>
          </a:ln>
        </p:spPr>
        <p:txBody>
          <a:bodyPr wrap="square" lIns="0" tIns="0" rIns="0" bIns="0" anchor="t">
            <a:spAutoFit/>
          </a:bodyPr>
          <a:lstStyle/>
          <a:p>
            <a:pPr algn="just"/>
            <a:r>
              <a:rPr lang="en-US" b="0" u="none" strike="noStrike" dirty="0">
                <a:solidFill>
                  <a:srgbClr val="666666"/>
                </a:solidFill>
                <a:effectLst/>
                <a:uFillTx/>
                <a:latin typeface="CrimsonPro"/>
                <a:ea typeface="CrimsonPro"/>
              </a:rPr>
              <a:t>Es </a:t>
            </a:r>
            <a:r>
              <a:rPr lang="en-US" b="0" u="none" strike="noStrike" dirty="0" err="1">
                <a:solidFill>
                  <a:srgbClr val="666666"/>
                </a:solidFill>
                <a:effectLst/>
                <a:uFillTx/>
                <a:latin typeface="CrimsonPro"/>
                <a:ea typeface="CrimsonPro"/>
              </a:rPr>
              <a:t>el</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grado</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en</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que</a:t>
            </a:r>
            <a:r>
              <a:rPr lang="en-US" b="0" u="none" strike="noStrike" dirty="0">
                <a:solidFill>
                  <a:srgbClr val="666666"/>
                </a:solidFill>
                <a:effectLst/>
                <a:uFillTx/>
                <a:latin typeface="CrimsonPro"/>
                <a:ea typeface="CrimsonPro"/>
              </a:rPr>
              <a:t> los </a:t>
            </a:r>
            <a:r>
              <a:rPr lang="en-US" b="0" u="none" strike="noStrike" dirty="0" err="1">
                <a:solidFill>
                  <a:srgbClr val="666666"/>
                </a:solidFill>
                <a:effectLst/>
                <a:uFillTx/>
                <a:latin typeface="CrimsonPro"/>
                <a:ea typeface="CrimsonPro"/>
              </a:rPr>
              <a:t>módulos</a:t>
            </a:r>
            <a:r>
              <a:rPr lang="en-US" b="0" u="none" strike="noStrike" dirty="0">
                <a:solidFill>
                  <a:srgbClr val="666666"/>
                </a:solidFill>
                <a:effectLst/>
                <a:uFillTx/>
                <a:latin typeface="CrimsonPro"/>
                <a:ea typeface="CrimsonPro"/>
              </a:rPr>
              <a:t> de un </a:t>
            </a:r>
            <a:r>
              <a:rPr lang="en-US" b="0" u="none" strike="noStrike" dirty="0" err="1">
                <a:solidFill>
                  <a:srgbClr val="666666"/>
                </a:solidFill>
                <a:effectLst/>
                <a:uFillTx/>
                <a:latin typeface="CrimsonPro"/>
                <a:ea typeface="CrimsonPro"/>
              </a:rPr>
              <a:t>programa</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dependen</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unos</a:t>
            </a:r>
            <a:r>
              <a:rPr lang="en-US" b="0" u="none" strike="noStrike" dirty="0">
                <a:solidFill>
                  <a:srgbClr val="666666"/>
                </a:solidFill>
                <a:effectLst/>
                <a:uFillTx/>
                <a:latin typeface="CrimsonPro"/>
                <a:ea typeface="CrimsonPro"/>
              </a:rPr>
              <a:t> de </a:t>
            </a:r>
            <a:r>
              <a:rPr lang="en-US" b="0" u="none" strike="noStrike" dirty="0" err="1">
                <a:solidFill>
                  <a:srgbClr val="666666"/>
                </a:solidFill>
                <a:effectLst/>
                <a:uFillTx/>
                <a:latin typeface="CrimsonPro"/>
                <a:ea typeface="CrimsonPro"/>
              </a:rPr>
              <a:t>otros</a:t>
            </a:r>
            <a:r>
              <a:rPr lang="en-US" b="0" u="none" strike="noStrike" dirty="0">
                <a:solidFill>
                  <a:srgbClr val="666666"/>
                </a:solidFill>
                <a:effectLst/>
                <a:uFillTx/>
                <a:latin typeface="CrimsonPro"/>
                <a:ea typeface="CrimsonPro"/>
              </a:rPr>
              <a:t>.</a:t>
            </a:r>
          </a:p>
          <a:p>
            <a:pPr algn="just"/>
            <a:r>
              <a:rPr lang="en-US" b="0" u="none" strike="noStrike" dirty="0">
                <a:solidFill>
                  <a:srgbClr val="666666"/>
                </a:solidFill>
                <a:effectLst/>
                <a:uFillTx/>
                <a:latin typeface="CrimsonPro"/>
                <a:ea typeface="CrimsonPro"/>
              </a:rPr>
              <a:t>Si para </a:t>
            </a:r>
            <a:r>
              <a:rPr lang="en-US" b="0" u="none" strike="noStrike" dirty="0" err="1">
                <a:solidFill>
                  <a:srgbClr val="666666"/>
                </a:solidFill>
                <a:effectLst/>
                <a:uFillTx/>
                <a:latin typeface="CrimsonPro"/>
                <a:ea typeface="CrimsonPro"/>
              </a:rPr>
              <a:t>hacer</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cambios</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en</a:t>
            </a:r>
            <a:r>
              <a:rPr lang="en-US" b="0" u="none" strike="noStrike" dirty="0">
                <a:solidFill>
                  <a:srgbClr val="666666"/>
                </a:solidFill>
                <a:effectLst/>
                <a:uFillTx/>
                <a:latin typeface="CrimsonPro"/>
                <a:ea typeface="CrimsonPro"/>
              </a:rPr>
              <a:t> un </a:t>
            </a:r>
            <a:r>
              <a:rPr lang="en-US" b="0" u="none" strike="noStrike" dirty="0" err="1">
                <a:solidFill>
                  <a:srgbClr val="666666"/>
                </a:solidFill>
                <a:effectLst/>
                <a:uFillTx/>
                <a:latin typeface="CrimsonPro"/>
                <a:ea typeface="CrimsonPro"/>
              </a:rPr>
              <a:t>módulo</a:t>
            </a:r>
            <a:r>
              <a:rPr lang="en-US" b="0" u="none" strike="noStrike" dirty="0">
                <a:solidFill>
                  <a:srgbClr val="666666"/>
                </a:solidFill>
                <a:effectLst/>
                <a:uFillTx/>
                <a:latin typeface="CrimsonPro"/>
                <a:ea typeface="CrimsonPro"/>
              </a:rPr>
              <a:t> del </a:t>
            </a:r>
            <a:r>
              <a:rPr lang="en-US" b="0" u="none" strike="noStrike" dirty="0" err="1">
                <a:solidFill>
                  <a:srgbClr val="666666"/>
                </a:solidFill>
                <a:effectLst/>
                <a:uFillTx/>
                <a:latin typeface="CrimsonPro"/>
                <a:ea typeface="CrimsonPro"/>
              </a:rPr>
              <a:t>programa</a:t>
            </a:r>
            <a:r>
              <a:rPr lang="en-US" b="0" u="none" strike="noStrike" dirty="0">
                <a:solidFill>
                  <a:srgbClr val="666666"/>
                </a:solidFill>
                <a:effectLst/>
                <a:uFillTx/>
                <a:latin typeface="CrimsonPro"/>
                <a:ea typeface="CrimsonPro"/>
              </a:rPr>
              <a:t> es </a:t>
            </a:r>
            <a:r>
              <a:rPr lang="en-US" b="0" u="none" strike="noStrike" dirty="0" err="1">
                <a:solidFill>
                  <a:srgbClr val="666666"/>
                </a:solidFill>
                <a:effectLst/>
                <a:uFillTx/>
                <a:latin typeface="CrimsonPro"/>
                <a:ea typeface="CrimsonPro"/>
              </a:rPr>
              <a:t>necesario</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hacer</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cambios</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en</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otro</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módulo</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distinto</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existe</a:t>
            </a:r>
            <a:r>
              <a:rPr lang="en-US" b="0" u="none" strike="noStrike" dirty="0">
                <a:solidFill>
                  <a:srgbClr val="666666"/>
                </a:solidFill>
                <a:effectLst/>
                <a:uFillTx/>
                <a:latin typeface="CrimsonPro"/>
                <a:ea typeface="CrimsonPro"/>
              </a:rPr>
              <a:t> </a:t>
            </a:r>
            <a:r>
              <a:rPr lang="en-US" b="0" u="none" strike="noStrike" dirty="0" err="1">
                <a:solidFill>
                  <a:srgbClr val="666666"/>
                </a:solidFill>
                <a:effectLst/>
                <a:uFillTx/>
                <a:latin typeface="CrimsonPro"/>
                <a:ea typeface="CrimsonPro"/>
              </a:rPr>
              <a:t>acoplamiento</a:t>
            </a:r>
            <a:r>
              <a:rPr lang="en-US" b="0" u="none" strike="noStrike" dirty="0">
                <a:solidFill>
                  <a:srgbClr val="666666"/>
                </a:solidFill>
                <a:effectLst/>
                <a:uFillTx/>
                <a:latin typeface="CrimsonPro"/>
                <a:ea typeface="CrimsonPro"/>
              </a:rPr>
              <a:t> entre ambos </a:t>
            </a:r>
            <a:r>
              <a:rPr lang="en-US" b="0" u="none" strike="noStrike" dirty="0" err="1">
                <a:solidFill>
                  <a:srgbClr val="666666"/>
                </a:solidFill>
                <a:effectLst/>
                <a:uFillTx/>
                <a:latin typeface="CrimsonPro"/>
                <a:ea typeface="CrimsonPro"/>
              </a:rPr>
              <a:t>módulos</a:t>
            </a:r>
            <a:endParaRPr lang="en-US" dirty="0">
              <a:solidFill>
                <a:srgbClr val="000000"/>
              </a:solidFill>
              <a:latin typeface="Times New Roman"/>
            </a:endParaRPr>
          </a:p>
          <a:p>
            <a:pPr algn="just"/>
            <a:endParaRPr lang="en-US" dirty="0">
              <a:solidFill>
                <a:srgbClr val="000000"/>
              </a:solidFill>
              <a:latin typeface="Times New Roman"/>
            </a:endParaRPr>
          </a:p>
          <a:p>
            <a:pPr algn="just"/>
            <a:endParaRPr lang="en-US" b="0" u="none" strike="noStrike" dirty="0">
              <a:solidFill>
                <a:srgbClr val="000000"/>
              </a:solidFill>
              <a:effectLst/>
              <a:uFillTx/>
              <a:latin typeface="Times New Roman"/>
            </a:endParaRPr>
          </a:p>
        </p:txBody>
      </p:sp>
      <p:sp>
        <p:nvSpPr>
          <p:cNvPr id="126" name="Forma libre: forma 125"/>
          <p:cNvSpPr/>
          <p:nvPr/>
        </p:nvSpPr>
        <p:spPr>
          <a:xfrm>
            <a:off x="6305400" y="1990650"/>
            <a:ext cx="5315400" cy="2619720"/>
          </a:xfrm>
          <a:custGeom>
            <a:avLst/>
            <a:gdLst/>
            <a:ahLst/>
            <a:cxnLst/>
            <a:rect l="0" t="0" r="r" b="b"/>
            <a:pathLst>
              <a:path w="14765" h="6483">
                <a:moveTo>
                  <a:pt x="0" y="6060"/>
                </a:moveTo>
                <a:lnTo>
                  <a:pt x="0" y="423"/>
                </a:lnTo>
                <a:cubicBezTo>
                  <a:pt x="0" y="395"/>
                  <a:pt x="2" y="368"/>
                  <a:pt x="7" y="340"/>
                </a:cubicBezTo>
                <a:cubicBezTo>
                  <a:pt x="12" y="313"/>
                  <a:pt x="19" y="287"/>
                  <a:pt x="28" y="261"/>
                </a:cubicBezTo>
                <a:cubicBezTo>
                  <a:pt x="37" y="235"/>
                  <a:pt x="49" y="211"/>
                  <a:pt x="62" y="188"/>
                </a:cubicBezTo>
                <a:cubicBezTo>
                  <a:pt x="76" y="165"/>
                  <a:pt x="91" y="143"/>
                  <a:pt x="108" y="124"/>
                </a:cubicBezTo>
                <a:cubicBezTo>
                  <a:pt x="126" y="104"/>
                  <a:pt x="144" y="86"/>
                  <a:pt x="165" y="71"/>
                </a:cubicBezTo>
                <a:cubicBezTo>
                  <a:pt x="185" y="55"/>
                  <a:pt x="206" y="42"/>
                  <a:pt x="229" y="32"/>
                </a:cubicBezTo>
                <a:cubicBezTo>
                  <a:pt x="251" y="21"/>
                  <a:pt x="274" y="13"/>
                  <a:pt x="298" y="8"/>
                </a:cubicBezTo>
                <a:cubicBezTo>
                  <a:pt x="322" y="2"/>
                  <a:pt x="346" y="0"/>
                  <a:pt x="370" y="0"/>
                </a:cubicBezTo>
                <a:lnTo>
                  <a:pt x="14341" y="0"/>
                </a:lnTo>
                <a:cubicBezTo>
                  <a:pt x="14369" y="0"/>
                  <a:pt x="14397" y="2"/>
                  <a:pt x="14424" y="8"/>
                </a:cubicBezTo>
                <a:cubicBezTo>
                  <a:pt x="14451" y="13"/>
                  <a:pt x="14478" y="21"/>
                  <a:pt x="14503" y="32"/>
                </a:cubicBezTo>
                <a:cubicBezTo>
                  <a:pt x="14529" y="42"/>
                  <a:pt x="14553" y="55"/>
                  <a:pt x="14577" y="71"/>
                </a:cubicBezTo>
                <a:cubicBezTo>
                  <a:pt x="14600" y="86"/>
                  <a:pt x="14621" y="104"/>
                  <a:pt x="14641" y="124"/>
                </a:cubicBezTo>
                <a:cubicBezTo>
                  <a:pt x="14660" y="143"/>
                  <a:pt x="14678" y="165"/>
                  <a:pt x="14693" y="188"/>
                </a:cubicBezTo>
                <a:cubicBezTo>
                  <a:pt x="14709" y="211"/>
                  <a:pt x="14722" y="235"/>
                  <a:pt x="14732" y="261"/>
                </a:cubicBezTo>
                <a:cubicBezTo>
                  <a:pt x="14743" y="287"/>
                  <a:pt x="14751" y="313"/>
                  <a:pt x="14757" y="340"/>
                </a:cubicBezTo>
                <a:cubicBezTo>
                  <a:pt x="14762" y="368"/>
                  <a:pt x="14765" y="395"/>
                  <a:pt x="14765" y="423"/>
                </a:cubicBezTo>
                <a:lnTo>
                  <a:pt x="14765" y="6060"/>
                </a:lnTo>
                <a:cubicBezTo>
                  <a:pt x="14765" y="6087"/>
                  <a:pt x="14762" y="6115"/>
                  <a:pt x="14757" y="6142"/>
                </a:cubicBezTo>
                <a:cubicBezTo>
                  <a:pt x="14751" y="6169"/>
                  <a:pt x="14743" y="6196"/>
                  <a:pt x="14732" y="6222"/>
                </a:cubicBezTo>
                <a:cubicBezTo>
                  <a:pt x="14722" y="6247"/>
                  <a:pt x="14709" y="6272"/>
                  <a:pt x="14693" y="6295"/>
                </a:cubicBezTo>
                <a:cubicBezTo>
                  <a:pt x="14678" y="6318"/>
                  <a:pt x="14660" y="6339"/>
                  <a:pt x="14641" y="6359"/>
                </a:cubicBezTo>
                <a:cubicBezTo>
                  <a:pt x="14621" y="6379"/>
                  <a:pt x="14600" y="6396"/>
                  <a:pt x="14577" y="6412"/>
                </a:cubicBezTo>
                <a:cubicBezTo>
                  <a:pt x="14553" y="6427"/>
                  <a:pt x="14529" y="6440"/>
                  <a:pt x="14503" y="6451"/>
                </a:cubicBezTo>
                <a:cubicBezTo>
                  <a:pt x="14478" y="6461"/>
                  <a:pt x="14451" y="6469"/>
                  <a:pt x="14424" y="6475"/>
                </a:cubicBezTo>
                <a:cubicBezTo>
                  <a:pt x="14397" y="6480"/>
                  <a:pt x="14369" y="6483"/>
                  <a:pt x="14341" y="6483"/>
                </a:cubicBezTo>
                <a:lnTo>
                  <a:pt x="370" y="6483"/>
                </a:lnTo>
                <a:cubicBezTo>
                  <a:pt x="346" y="6483"/>
                  <a:pt x="322" y="6480"/>
                  <a:pt x="298" y="6475"/>
                </a:cubicBezTo>
                <a:cubicBezTo>
                  <a:pt x="274" y="6469"/>
                  <a:pt x="251" y="6461"/>
                  <a:pt x="229" y="6451"/>
                </a:cubicBezTo>
                <a:cubicBezTo>
                  <a:pt x="206" y="6440"/>
                  <a:pt x="185" y="6427"/>
                  <a:pt x="165" y="6412"/>
                </a:cubicBezTo>
                <a:cubicBezTo>
                  <a:pt x="144" y="6396"/>
                  <a:pt x="126" y="6379"/>
                  <a:pt x="108" y="6359"/>
                </a:cubicBezTo>
                <a:cubicBezTo>
                  <a:pt x="91" y="6339"/>
                  <a:pt x="76" y="6318"/>
                  <a:pt x="62" y="6295"/>
                </a:cubicBezTo>
                <a:cubicBezTo>
                  <a:pt x="49" y="6272"/>
                  <a:pt x="37" y="6247"/>
                  <a:pt x="28" y="6222"/>
                </a:cubicBezTo>
                <a:cubicBezTo>
                  <a:pt x="19" y="6196"/>
                  <a:pt x="12" y="6169"/>
                  <a:pt x="7" y="6142"/>
                </a:cubicBezTo>
                <a:cubicBezTo>
                  <a:pt x="2" y="6115"/>
                  <a:pt x="0" y="6087"/>
                  <a:pt x="0" y="6060"/>
                </a:cubicBezTo>
                <a:close/>
              </a:path>
            </a:pathLst>
          </a:custGeom>
          <a:solidFill>
            <a:schemeClr val="accent2">
              <a:lumMod val="20000"/>
              <a:lumOff val="80000"/>
            </a:schemeClr>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27" name="Forma libre: forma 126"/>
          <p:cNvSpPr/>
          <p:nvPr/>
        </p:nvSpPr>
        <p:spPr>
          <a:xfrm>
            <a:off x="6286319" y="2062155"/>
            <a:ext cx="174602" cy="2548215"/>
          </a:xfrm>
          <a:custGeom>
            <a:avLst/>
            <a:gdLst/>
            <a:ahLst/>
            <a:cxnLst/>
            <a:rect l="0" t="0" r="r" b="b"/>
            <a:pathLst>
              <a:path w="424" h="6483">
                <a:moveTo>
                  <a:pt x="0" y="0"/>
                </a:moveTo>
                <a:lnTo>
                  <a:pt x="424" y="0"/>
                </a:lnTo>
                <a:lnTo>
                  <a:pt x="424" y="6483"/>
                </a:lnTo>
                <a:lnTo>
                  <a:pt x="0" y="6483"/>
                </a:lnTo>
                <a:lnTo>
                  <a:pt x="0" y="0"/>
                </a:ln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29" name="CuadroTexto 128"/>
          <p:cNvSpPr txBox="1"/>
          <p:nvPr/>
        </p:nvSpPr>
        <p:spPr>
          <a:xfrm>
            <a:off x="6629400" y="2205075"/>
            <a:ext cx="1776577" cy="276999"/>
          </a:xfrm>
          <a:prstGeom prst="rect">
            <a:avLst/>
          </a:prstGeom>
          <a:noFill/>
          <a:ln w="0">
            <a:noFill/>
          </a:ln>
        </p:spPr>
        <p:txBody>
          <a:bodyPr wrap="none" lIns="0" tIns="0" rIns="0" bIns="0" anchor="t">
            <a:spAutoFit/>
          </a:bodyPr>
          <a:lstStyle/>
          <a:p>
            <a:r>
              <a:rPr lang="en-US" sz="1800" b="1" u="none" strike="noStrike" dirty="0">
                <a:solidFill>
                  <a:srgbClr val="5B9BD5"/>
                </a:solidFill>
                <a:effectLst/>
                <a:uFillTx/>
                <a:latin typeface="CrimsonPro"/>
                <a:ea typeface="CrimsonPro"/>
              </a:rPr>
              <a:t>¿</a:t>
            </a:r>
            <a:r>
              <a:rPr lang="en-US" sz="1800" b="1" u="none" strike="noStrike" dirty="0" err="1">
                <a:solidFill>
                  <a:srgbClr val="5B9BD5"/>
                </a:solidFill>
                <a:effectLst/>
                <a:uFillTx/>
                <a:latin typeface="CrimsonPro"/>
                <a:ea typeface="CrimsonPro"/>
              </a:rPr>
              <a:t>Qué</a:t>
            </a:r>
            <a:r>
              <a:rPr lang="en-US" sz="1800" b="1" u="none" strike="noStrike" dirty="0">
                <a:solidFill>
                  <a:srgbClr val="5B9BD5"/>
                </a:solidFill>
                <a:effectLst/>
                <a:uFillTx/>
                <a:latin typeface="CrimsonPro"/>
                <a:ea typeface="CrimsonPro"/>
              </a:rPr>
              <a:t> es </a:t>
            </a:r>
            <a:r>
              <a:rPr lang="en-US" sz="1800" b="1" u="none" strike="noStrike" dirty="0" err="1">
                <a:solidFill>
                  <a:srgbClr val="5B9BD5"/>
                </a:solidFill>
                <a:effectLst/>
                <a:uFillTx/>
                <a:latin typeface="CrimsonPro"/>
                <a:ea typeface="CrimsonPro"/>
              </a:rPr>
              <a:t>cohesión</a:t>
            </a:r>
            <a:r>
              <a:rPr lang="en-US" sz="1800" b="1" u="none" strike="noStrike" dirty="0">
                <a:solidFill>
                  <a:srgbClr val="5B9BD5"/>
                </a:solidFill>
                <a:effectLst/>
                <a:uFillTx/>
                <a:latin typeface="CrimsonPro"/>
                <a:ea typeface="CrimsonPro"/>
              </a:rPr>
              <a:t>?</a:t>
            </a:r>
            <a:endParaRPr lang="en-US" sz="1800" b="1" u="none" strike="noStrike" dirty="0">
              <a:solidFill>
                <a:srgbClr val="000000"/>
              </a:solidFill>
              <a:effectLst/>
              <a:uFillTx/>
              <a:latin typeface="Times New Roman"/>
            </a:endParaRPr>
          </a:p>
        </p:txBody>
      </p:sp>
      <p:sp>
        <p:nvSpPr>
          <p:cNvPr id="130" name="CuadroTexto 129"/>
          <p:cNvSpPr txBox="1"/>
          <p:nvPr/>
        </p:nvSpPr>
        <p:spPr>
          <a:xfrm>
            <a:off x="6629401" y="2599034"/>
            <a:ext cx="4822920" cy="1661993"/>
          </a:xfrm>
          <a:prstGeom prst="rect">
            <a:avLst/>
          </a:prstGeom>
          <a:noFill/>
          <a:ln w="0">
            <a:noFill/>
          </a:ln>
        </p:spPr>
        <p:txBody>
          <a:bodyPr wrap="square" lIns="0" tIns="0" rIns="0" bIns="0" anchor="t">
            <a:spAutoFit/>
          </a:bodyPr>
          <a:lstStyle>
            <a:defPPr>
              <a:defRPr lang="es-CO"/>
            </a:defPPr>
            <a:lvl1pPr algn="just">
              <a:defRPr b="0" u="none" strike="noStrike">
                <a:solidFill>
                  <a:srgbClr val="666666"/>
                </a:solidFill>
                <a:effectLst/>
                <a:uFillTx/>
                <a:latin typeface="CrimsonPro"/>
                <a:ea typeface="CrimsonPro"/>
              </a:defRPr>
            </a:lvl1pPr>
          </a:lstStyle>
          <a:p>
            <a:r>
              <a:rPr lang="en-US" dirty="0" err="1"/>
              <a:t>Cohesión</a:t>
            </a:r>
            <a:r>
              <a:rPr lang="en-US" dirty="0"/>
              <a:t> no </a:t>
            </a:r>
            <a:r>
              <a:rPr lang="en-US" dirty="0" err="1"/>
              <a:t>implica</a:t>
            </a:r>
            <a:r>
              <a:rPr lang="en-US" dirty="0"/>
              <a:t> </a:t>
            </a:r>
            <a:r>
              <a:rPr lang="en-US" dirty="0" err="1"/>
              <a:t>dependencia</a:t>
            </a:r>
            <a:r>
              <a:rPr lang="en-US" dirty="0"/>
              <a:t>. Tal </a:t>
            </a:r>
            <a:r>
              <a:rPr lang="en-US" dirty="0" err="1"/>
              <a:t>como</a:t>
            </a:r>
            <a:r>
              <a:rPr lang="en-US" dirty="0"/>
              <a:t> dice </a:t>
            </a:r>
            <a:r>
              <a:rPr lang="en-US" dirty="0" err="1"/>
              <a:t>el</a:t>
            </a:r>
            <a:r>
              <a:rPr lang="en-US" dirty="0"/>
              <a:t> </a:t>
            </a:r>
            <a:r>
              <a:rPr lang="en-US" dirty="0" err="1"/>
              <a:t>significado</a:t>
            </a:r>
            <a:r>
              <a:rPr lang="en-US" dirty="0"/>
              <a:t> de la palabra </a:t>
            </a:r>
            <a:r>
              <a:rPr lang="en-US" dirty="0" err="1"/>
              <a:t>en</a:t>
            </a:r>
            <a:r>
              <a:rPr lang="en-US" dirty="0"/>
              <a:t> castellano, es </a:t>
            </a:r>
            <a:r>
              <a:rPr lang="en-US" dirty="0" err="1"/>
              <a:t>el</a:t>
            </a:r>
            <a:r>
              <a:rPr lang="en-US" dirty="0"/>
              <a:t> </a:t>
            </a:r>
            <a:r>
              <a:rPr lang="en-US" dirty="0" err="1"/>
              <a:t>efecto</a:t>
            </a:r>
            <a:r>
              <a:rPr lang="en-US" dirty="0"/>
              <a:t> de </a:t>
            </a:r>
            <a:r>
              <a:rPr lang="en-US" dirty="0" err="1"/>
              <a:t>reunirse</a:t>
            </a:r>
            <a:r>
              <a:rPr lang="en-US" dirty="0"/>
              <a:t> o </a:t>
            </a:r>
            <a:r>
              <a:rPr lang="en-US" dirty="0" err="1"/>
              <a:t>adherirse</a:t>
            </a:r>
            <a:r>
              <a:rPr lang="en-US" dirty="0"/>
              <a:t> las </a:t>
            </a:r>
            <a:r>
              <a:rPr lang="en-US" dirty="0" err="1"/>
              <a:t>cosas</a:t>
            </a:r>
            <a:r>
              <a:rPr lang="en-US" dirty="0"/>
              <a:t> entre </a:t>
            </a:r>
            <a:r>
              <a:rPr lang="en-US" dirty="0" err="1"/>
              <a:t>sí</a:t>
            </a:r>
            <a:r>
              <a:rPr lang="en-US" dirty="0"/>
              <a:t> o la </a:t>
            </a:r>
            <a:r>
              <a:rPr lang="en-US" dirty="0" err="1"/>
              <a:t>materia</a:t>
            </a:r>
            <a:r>
              <a:rPr lang="en-US" dirty="0"/>
              <a:t> de la </a:t>
            </a:r>
            <a:r>
              <a:rPr lang="en-US" dirty="0" err="1"/>
              <a:t>que</a:t>
            </a:r>
            <a:r>
              <a:rPr lang="en-US" dirty="0"/>
              <a:t> </a:t>
            </a:r>
            <a:r>
              <a:rPr lang="en-US" dirty="0" err="1"/>
              <a:t>está</a:t>
            </a:r>
            <a:r>
              <a:rPr lang="en-US" dirty="0"/>
              <a:t> </a:t>
            </a:r>
            <a:r>
              <a:rPr lang="en-US" dirty="0" err="1"/>
              <a:t>formada</a:t>
            </a:r>
            <a:r>
              <a:rPr lang="en-US" dirty="0"/>
              <a:t>.</a:t>
            </a:r>
          </a:p>
          <a:p>
            <a:r>
              <a:rPr lang="en-US" dirty="0"/>
              <a:t>Algo </a:t>
            </a:r>
            <a:r>
              <a:rPr lang="en-US" dirty="0" err="1"/>
              <a:t>está</a:t>
            </a:r>
            <a:r>
              <a:rPr lang="en-US" dirty="0"/>
              <a:t> </a:t>
            </a:r>
            <a:r>
              <a:rPr lang="en-US" dirty="0" err="1"/>
              <a:t>cohesionado</a:t>
            </a:r>
            <a:r>
              <a:rPr lang="en-US" dirty="0"/>
              <a:t> </a:t>
            </a:r>
            <a:r>
              <a:rPr lang="en-US" dirty="0" err="1"/>
              <a:t>si</a:t>
            </a:r>
            <a:r>
              <a:rPr lang="en-US" dirty="0"/>
              <a:t> </a:t>
            </a:r>
            <a:r>
              <a:rPr lang="en-US" dirty="0" err="1"/>
              <a:t>tiene</a:t>
            </a:r>
            <a:r>
              <a:rPr lang="en-US" dirty="0"/>
              <a:t> </a:t>
            </a:r>
            <a:r>
              <a:rPr lang="en-US" dirty="0" err="1"/>
              <a:t>sentido</a:t>
            </a:r>
            <a:r>
              <a:rPr lang="en-US" dirty="0"/>
              <a:t>, y </a:t>
            </a:r>
            <a:r>
              <a:rPr lang="en-US" dirty="0" err="1"/>
              <a:t>una</a:t>
            </a:r>
            <a:r>
              <a:rPr lang="en-US" dirty="0"/>
              <a:t> </a:t>
            </a:r>
            <a:r>
              <a:rPr lang="en-US" dirty="0" err="1"/>
              <a:t>dirección</a:t>
            </a:r>
            <a:r>
              <a:rPr lang="en-US" dirty="0"/>
              <a:t> </a:t>
            </a:r>
            <a:r>
              <a:rPr lang="en-US" dirty="0" err="1"/>
              <a:t>común</a:t>
            </a:r>
            <a:r>
              <a:rPr lang="en-US" dirty="0"/>
              <a:t>.</a:t>
            </a:r>
          </a:p>
        </p:txBody>
      </p:sp>
      <p:sp>
        <p:nvSpPr>
          <p:cNvPr id="134" name="Forma libre: forma 133"/>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35" name="CuadroTexto 134"/>
          <p:cNvSpPr txBox="1"/>
          <p:nvPr/>
        </p:nvSpPr>
        <p:spPr>
          <a:xfrm>
            <a:off x="4840200" y="5652720"/>
            <a:ext cx="250596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disrupciontecnologica.com</a:t>
            </a:r>
            <a:endParaRPr lang="en-US" sz="1050" b="0" u="none" strike="noStrike">
              <a:solidFill>
                <a:srgbClr val="000000"/>
              </a:solidFill>
              <a:effectLst/>
              <a:uFillTx/>
              <a:latin typeface="Times New Roman"/>
            </a:endParaRPr>
          </a:p>
        </p:txBody>
      </p:sp>
      <p:sp>
        <p:nvSpPr>
          <p:cNvPr id="136" name="CuadroTexto 135"/>
          <p:cNvSpPr txBox="1"/>
          <p:nvPr/>
        </p:nvSpPr>
        <p:spPr>
          <a:xfrm>
            <a:off x="571320" y="6083280"/>
            <a:ext cx="3270240" cy="169560"/>
          </a:xfrm>
          <a:prstGeom prst="rect">
            <a:avLst/>
          </a:prstGeom>
          <a:noFill/>
          <a:ln w="0">
            <a:noFill/>
          </a:ln>
        </p:spPr>
        <p:txBody>
          <a:bodyPr wrap="none" lIns="0" tIns="0" rIns="0" bIns="0" anchor="t">
            <a:spAutoFit/>
          </a:bodyPr>
          <a:lstStyle/>
          <a:p>
            <a:r>
              <a:rPr lang="en-US" sz="1200" b="0" u="none" strike="noStrike" dirty="0">
                <a:solidFill>
                  <a:srgbClr val="999999"/>
                </a:solidFill>
                <a:effectLst/>
                <a:uFillTx/>
                <a:latin typeface="CrimsonPro"/>
                <a:ea typeface="CrimsonPro"/>
              </a:rPr>
              <a:t>Workshop de </a:t>
            </a:r>
            <a:r>
              <a:rPr lang="en-US" sz="1200" b="0" u="none" strike="noStrike" dirty="0" err="1">
                <a:solidFill>
                  <a:srgbClr val="999999"/>
                </a:solidFill>
                <a:effectLst/>
                <a:uFillTx/>
                <a:latin typeface="CrimsonPro"/>
                <a:ea typeface="CrimsonPro"/>
              </a:rPr>
              <a:t>Automatización</a:t>
            </a:r>
            <a:r>
              <a:rPr lang="en-US" sz="1200" b="0" u="none" strike="noStrike" dirty="0">
                <a:solidFill>
                  <a:srgbClr val="999999"/>
                </a:solidFill>
                <a:effectLst/>
                <a:uFillTx/>
                <a:latin typeface="CrimsonPro"/>
                <a:ea typeface="CrimsonPro"/>
              </a:rPr>
              <a:t> de </a:t>
            </a:r>
            <a:r>
              <a:rPr lang="en-US" sz="1200" b="0" u="none" strike="noStrike" dirty="0" err="1">
                <a:solidFill>
                  <a:srgbClr val="999999"/>
                </a:solidFill>
                <a:effectLst/>
                <a:uFillTx/>
                <a:latin typeface="CrimsonPro"/>
                <a:ea typeface="CrimsonPro"/>
              </a:rPr>
              <a:t>Pruebas</a:t>
            </a:r>
            <a:r>
              <a:rPr lang="en-US" sz="1200" b="0" u="none" strike="noStrike" dirty="0">
                <a:solidFill>
                  <a:srgbClr val="999999"/>
                </a:solidFill>
                <a:effectLst/>
                <a:uFillTx/>
                <a:latin typeface="CrimsonPro"/>
                <a:ea typeface="CrimsonPro"/>
              </a:rPr>
              <a:t> - </a:t>
            </a:r>
            <a:r>
              <a:rPr lang="en-US" sz="1200" b="0" u="none" strike="noStrike" dirty="0" err="1">
                <a:solidFill>
                  <a:srgbClr val="999999"/>
                </a:solidFill>
                <a:effectLst/>
                <a:uFillTx/>
                <a:latin typeface="CrimsonPro"/>
                <a:ea typeface="CrimsonPro"/>
              </a:rPr>
              <a:t>Nivelación</a:t>
            </a:r>
            <a:endParaRPr lang="en-US" sz="1200" b="0" u="none" strike="noStrike" dirty="0">
              <a:solidFill>
                <a:srgbClr val="000000"/>
              </a:solidFill>
              <a:effectLst/>
              <a:uFillTx/>
              <a:latin typeface="Times New Roman"/>
            </a:endParaRPr>
          </a:p>
        </p:txBody>
      </p:sp>
      <p:sp>
        <p:nvSpPr>
          <p:cNvPr id="137" name="CuadroTexto 136"/>
          <p:cNvSpPr txBox="1"/>
          <p:nvPr/>
        </p:nvSpPr>
        <p:spPr>
          <a:xfrm>
            <a:off x="11452320" y="6083280"/>
            <a:ext cx="1688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08</a:t>
            </a:r>
            <a:endParaRPr lang="en-US" sz="1200" b="0" u="none" strike="noStrike">
              <a:solidFill>
                <a:srgbClr val="000000"/>
              </a:solidFill>
              <a:effectLst/>
              <a:uFillTx/>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Forma libre: forma 139"/>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41" name="Forma libre: forma 140"/>
          <p:cNvSpPr/>
          <p:nvPr/>
        </p:nvSpPr>
        <p:spPr>
          <a:xfrm>
            <a:off x="1809720" y="1590480"/>
            <a:ext cx="8572680" cy="1705320"/>
          </a:xfrm>
          <a:custGeom>
            <a:avLst/>
            <a:gdLst/>
            <a:ahLst/>
            <a:cxnLst/>
            <a:rect l="0" t="0" r="r" b="b"/>
            <a:pathLst>
              <a:path w="23813" h="4737">
                <a:moveTo>
                  <a:pt x="0" y="4314"/>
                </a:moveTo>
                <a:lnTo>
                  <a:pt x="0" y="423"/>
                </a:lnTo>
                <a:cubicBezTo>
                  <a:pt x="0" y="396"/>
                  <a:pt x="2" y="368"/>
                  <a:pt x="8" y="341"/>
                </a:cubicBezTo>
                <a:cubicBezTo>
                  <a:pt x="13" y="314"/>
                  <a:pt x="21" y="287"/>
                  <a:pt x="32" y="261"/>
                </a:cubicBezTo>
                <a:cubicBezTo>
                  <a:pt x="42" y="236"/>
                  <a:pt x="55" y="211"/>
                  <a:pt x="71" y="188"/>
                </a:cubicBezTo>
                <a:cubicBezTo>
                  <a:pt x="86" y="165"/>
                  <a:pt x="104" y="144"/>
                  <a:pt x="124" y="124"/>
                </a:cubicBezTo>
                <a:cubicBezTo>
                  <a:pt x="143" y="104"/>
                  <a:pt x="165" y="87"/>
                  <a:pt x="188" y="71"/>
                </a:cubicBezTo>
                <a:cubicBezTo>
                  <a:pt x="211" y="56"/>
                  <a:pt x="235" y="43"/>
                  <a:pt x="261" y="32"/>
                </a:cubicBezTo>
                <a:cubicBezTo>
                  <a:pt x="287" y="22"/>
                  <a:pt x="313" y="14"/>
                  <a:pt x="340" y="8"/>
                </a:cubicBezTo>
                <a:cubicBezTo>
                  <a:pt x="368" y="3"/>
                  <a:pt x="395" y="0"/>
                  <a:pt x="423" y="0"/>
                </a:cubicBezTo>
                <a:lnTo>
                  <a:pt x="23390" y="0"/>
                </a:lnTo>
                <a:cubicBezTo>
                  <a:pt x="23418" y="0"/>
                  <a:pt x="23445" y="3"/>
                  <a:pt x="23472" y="8"/>
                </a:cubicBezTo>
                <a:cubicBezTo>
                  <a:pt x="23500" y="14"/>
                  <a:pt x="23526" y="22"/>
                  <a:pt x="23552" y="32"/>
                </a:cubicBezTo>
                <a:cubicBezTo>
                  <a:pt x="23577" y="43"/>
                  <a:pt x="23602" y="56"/>
                  <a:pt x="23625" y="71"/>
                </a:cubicBezTo>
                <a:cubicBezTo>
                  <a:pt x="23648" y="87"/>
                  <a:pt x="23669" y="104"/>
                  <a:pt x="23689" y="124"/>
                </a:cubicBezTo>
                <a:cubicBezTo>
                  <a:pt x="23709" y="144"/>
                  <a:pt x="23726" y="165"/>
                  <a:pt x="23742" y="188"/>
                </a:cubicBezTo>
                <a:cubicBezTo>
                  <a:pt x="23757" y="211"/>
                  <a:pt x="23770" y="236"/>
                  <a:pt x="23781" y="261"/>
                </a:cubicBezTo>
                <a:cubicBezTo>
                  <a:pt x="23791" y="287"/>
                  <a:pt x="23800" y="314"/>
                  <a:pt x="23805" y="341"/>
                </a:cubicBezTo>
                <a:cubicBezTo>
                  <a:pt x="23810" y="368"/>
                  <a:pt x="23813" y="396"/>
                  <a:pt x="23813" y="423"/>
                </a:cubicBezTo>
                <a:lnTo>
                  <a:pt x="23813" y="4314"/>
                </a:lnTo>
                <a:cubicBezTo>
                  <a:pt x="23813" y="4342"/>
                  <a:pt x="23810" y="4369"/>
                  <a:pt x="23805" y="4396"/>
                </a:cubicBezTo>
                <a:cubicBezTo>
                  <a:pt x="23800" y="4424"/>
                  <a:pt x="23791" y="4450"/>
                  <a:pt x="23781" y="4476"/>
                </a:cubicBezTo>
                <a:cubicBezTo>
                  <a:pt x="23770" y="4501"/>
                  <a:pt x="23757" y="4526"/>
                  <a:pt x="23742" y="4549"/>
                </a:cubicBezTo>
                <a:cubicBezTo>
                  <a:pt x="23726" y="4572"/>
                  <a:pt x="23709" y="4593"/>
                  <a:pt x="23689" y="4613"/>
                </a:cubicBezTo>
                <a:cubicBezTo>
                  <a:pt x="23669" y="4633"/>
                  <a:pt x="23648" y="4650"/>
                  <a:pt x="23625" y="4666"/>
                </a:cubicBezTo>
                <a:cubicBezTo>
                  <a:pt x="23602" y="4681"/>
                  <a:pt x="23577" y="4694"/>
                  <a:pt x="23552" y="4705"/>
                </a:cubicBezTo>
                <a:cubicBezTo>
                  <a:pt x="23526" y="4715"/>
                  <a:pt x="23500" y="4724"/>
                  <a:pt x="23472" y="4729"/>
                </a:cubicBezTo>
                <a:cubicBezTo>
                  <a:pt x="23445" y="4734"/>
                  <a:pt x="23418" y="4737"/>
                  <a:pt x="23390" y="4737"/>
                </a:cubicBezTo>
                <a:lnTo>
                  <a:pt x="423" y="4737"/>
                </a:lnTo>
                <a:cubicBezTo>
                  <a:pt x="395" y="4737"/>
                  <a:pt x="368" y="4734"/>
                  <a:pt x="340" y="4729"/>
                </a:cubicBezTo>
                <a:cubicBezTo>
                  <a:pt x="313" y="4724"/>
                  <a:pt x="287" y="4715"/>
                  <a:pt x="261" y="4705"/>
                </a:cubicBezTo>
                <a:cubicBezTo>
                  <a:pt x="235" y="4694"/>
                  <a:pt x="211" y="4681"/>
                  <a:pt x="188" y="4666"/>
                </a:cubicBezTo>
                <a:cubicBezTo>
                  <a:pt x="165" y="4650"/>
                  <a:pt x="143" y="4633"/>
                  <a:pt x="124" y="4613"/>
                </a:cubicBezTo>
                <a:cubicBezTo>
                  <a:pt x="104" y="4593"/>
                  <a:pt x="86" y="4572"/>
                  <a:pt x="71" y="4549"/>
                </a:cubicBezTo>
                <a:cubicBezTo>
                  <a:pt x="55" y="4526"/>
                  <a:pt x="42" y="4501"/>
                  <a:pt x="32" y="4476"/>
                </a:cubicBezTo>
                <a:cubicBezTo>
                  <a:pt x="21" y="4450"/>
                  <a:pt x="13" y="4424"/>
                  <a:pt x="8" y="4396"/>
                </a:cubicBezTo>
                <a:cubicBezTo>
                  <a:pt x="2" y="4369"/>
                  <a:pt x="0" y="4342"/>
                  <a:pt x="0" y="4314"/>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42" name="CuadroTexto 141"/>
          <p:cNvSpPr txBox="1"/>
          <p:nvPr/>
        </p:nvSpPr>
        <p:spPr>
          <a:xfrm>
            <a:off x="571320" y="569160"/>
            <a:ext cx="269028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¿¿¿Y qué es mejor???</a:t>
            </a:r>
            <a:endParaRPr lang="en-US" sz="2700" b="0" u="none" strike="noStrike">
              <a:solidFill>
                <a:srgbClr val="000000"/>
              </a:solidFill>
              <a:effectLst/>
              <a:uFillTx/>
              <a:latin typeface="Times New Roman"/>
            </a:endParaRPr>
          </a:p>
        </p:txBody>
      </p:sp>
      <p:sp>
        <p:nvSpPr>
          <p:cNvPr id="143" name="CuadroTexto 142"/>
          <p:cNvSpPr txBox="1"/>
          <p:nvPr/>
        </p:nvSpPr>
        <p:spPr>
          <a:xfrm>
            <a:off x="4485240" y="1920960"/>
            <a:ext cx="3001680" cy="169560"/>
          </a:xfrm>
          <a:prstGeom prst="rect">
            <a:avLst/>
          </a:prstGeom>
          <a:noFill/>
          <a:ln w="0">
            <a:noFill/>
          </a:ln>
        </p:spPr>
        <p:txBody>
          <a:bodyPr wrap="none" lIns="0" tIns="0" rIns="0" bIns="0" anchor="t">
            <a:spAutoFit/>
          </a:bodyPr>
          <a:lstStyle/>
          <a:p>
            <a:r>
              <a:rPr lang="en-US" sz="1200" b="0" u="none" strike="noStrike">
                <a:solidFill>
                  <a:srgbClr val="DA7756"/>
                </a:solidFill>
                <a:effectLst/>
                <a:uFillTx/>
                <a:latin typeface="CrimsonPro"/>
                <a:ea typeface="CrimsonPro"/>
              </a:rPr>
              <a:t>EN LA PROGRAMACIÓN ORIENTADA A OBJETOS</a:t>
            </a:r>
            <a:endParaRPr lang="en-US" sz="1200" b="0" u="none" strike="noStrike">
              <a:solidFill>
                <a:srgbClr val="000000"/>
              </a:solidFill>
              <a:effectLst/>
              <a:uFillTx/>
              <a:latin typeface="Times New Roman"/>
            </a:endParaRPr>
          </a:p>
        </p:txBody>
      </p:sp>
      <p:sp>
        <p:nvSpPr>
          <p:cNvPr id="144" name="CuadroTexto 143"/>
          <p:cNvSpPr txBox="1"/>
          <p:nvPr/>
        </p:nvSpPr>
        <p:spPr>
          <a:xfrm>
            <a:off x="4033800" y="2258640"/>
            <a:ext cx="3904200" cy="318960"/>
          </a:xfrm>
          <a:prstGeom prst="rect">
            <a:avLst/>
          </a:prstGeom>
          <a:noFill/>
          <a:ln w="0">
            <a:noFill/>
          </a:ln>
        </p:spPr>
        <p:txBody>
          <a:bodyPr wrap="none" lIns="0" tIns="0" rIns="0" bIns="0" anchor="t">
            <a:spAutoFit/>
          </a:bodyPr>
          <a:lstStyle/>
          <a:p>
            <a:r>
              <a:rPr lang="en-US" sz="2250" b="0" u="none" strike="noStrike">
                <a:solidFill>
                  <a:srgbClr val="000000"/>
                </a:solidFill>
                <a:effectLst/>
                <a:uFillTx/>
                <a:latin typeface="CrimsonPro"/>
                <a:ea typeface="CrimsonPro"/>
              </a:rPr>
              <a:t>Alta cohesión y bajo acoplamiento</a:t>
            </a:r>
            <a:endParaRPr lang="en-US" sz="2250" b="0" u="none" strike="noStrike">
              <a:solidFill>
                <a:srgbClr val="000000"/>
              </a:solidFill>
              <a:effectLst/>
              <a:uFillTx/>
              <a:latin typeface="Times New Roman"/>
            </a:endParaRPr>
          </a:p>
        </p:txBody>
      </p:sp>
      <p:sp>
        <p:nvSpPr>
          <p:cNvPr id="145" name="CuadroTexto 144"/>
          <p:cNvSpPr txBox="1"/>
          <p:nvPr/>
        </p:nvSpPr>
        <p:spPr>
          <a:xfrm>
            <a:off x="4344120" y="2751480"/>
            <a:ext cx="34999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Tomado de la página de disrupciontecnologica.com</a:t>
            </a:r>
            <a:endParaRPr lang="en-US" sz="1350" b="0" u="none" strike="noStrike">
              <a:solidFill>
                <a:srgbClr val="000000"/>
              </a:solidFill>
              <a:effectLst/>
              <a:uFillTx/>
              <a:latin typeface="Times New Roman"/>
            </a:endParaRPr>
          </a:p>
        </p:txBody>
      </p:sp>
      <p:sp>
        <p:nvSpPr>
          <p:cNvPr id="146" name="Forma libre: forma 145"/>
          <p:cNvSpPr/>
          <p:nvPr/>
        </p:nvSpPr>
        <p:spPr>
          <a:xfrm>
            <a:off x="1809720" y="4171680"/>
            <a:ext cx="114480" cy="114840"/>
          </a:xfrm>
          <a:custGeom>
            <a:avLst/>
            <a:gdLst/>
            <a:ahLst/>
            <a:cxnLst/>
            <a:rect l="0" t="0" r="r" b="b"/>
            <a:pathLst>
              <a:path w="318" h="319">
                <a:moveTo>
                  <a:pt x="318" y="159"/>
                </a:moveTo>
                <a:cubicBezTo>
                  <a:pt x="318" y="169"/>
                  <a:pt x="317" y="180"/>
                  <a:pt x="315" y="190"/>
                </a:cubicBezTo>
                <a:cubicBezTo>
                  <a:pt x="313" y="200"/>
                  <a:pt x="310" y="210"/>
                  <a:pt x="306" y="220"/>
                </a:cubicBezTo>
                <a:cubicBezTo>
                  <a:pt x="302" y="229"/>
                  <a:pt x="297" y="239"/>
                  <a:pt x="291" y="247"/>
                </a:cubicBezTo>
                <a:cubicBezTo>
                  <a:pt x="286" y="256"/>
                  <a:pt x="279" y="264"/>
                  <a:pt x="272" y="271"/>
                </a:cubicBezTo>
                <a:cubicBezTo>
                  <a:pt x="264" y="279"/>
                  <a:pt x="256" y="285"/>
                  <a:pt x="248" y="291"/>
                </a:cubicBezTo>
                <a:cubicBezTo>
                  <a:pt x="239" y="297"/>
                  <a:pt x="230" y="303"/>
                  <a:pt x="220" y="307"/>
                </a:cubicBezTo>
                <a:cubicBezTo>
                  <a:pt x="210" y="311"/>
                  <a:pt x="200" y="314"/>
                  <a:pt x="189" y="316"/>
                </a:cubicBezTo>
                <a:cubicBezTo>
                  <a:pt x="179" y="318"/>
                  <a:pt x="169" y="319"/>
                  <a:pt x="158" y="319"/>
                </a:cubicBezTo>
                <a:cubicBezTo>
                  <a:pt x="148" y="319"/>
                  <a:pt x="138" y="318"/>
                  <a:pt x="127" y="316"/>
                </a:cubicBezTo>
                <a:cubicBezTo>
                  <a:pt x="117" y="314"/>
                  <a:pt x="107" y="311"/>
                  <a:pt x="98" y="307"/>
                </a:cubicBezTo>
                <a:cubicBezTo>
                  <a:pt x="88" y="303"/>
                  <a:pt x="79" y="297"/>
                  <a:pt x="70" y="291"/>
                </a:cubicBezTo>
                <a:cubicBezTo>
                  <a:pt x="61" y="285"/>
                  <a:pt x="53" y="279"/>
                  <a:pt x="46" y="271"/>
                </a:cubicBezTo>
                <a:cubicBezTo>
                  <a:pt x="39" y="264"/>
                  <a:pt x="32" y="256"/>
                  <a:pt x="26" y="247"/>
                </a:cubicBezTo>
                <a:cubicBezTo>
                  <a:pt x="21" y="239"/>
                  <a:pt x="16" y="229"/>
                  <a:pt x="12" y="220"/>
                </a:cubicBezTo>
                <a:cubicBezTo>
                  <a:pt x="8" y="210"/>
                  <a:pt x="5" y="200"/>
                  <a:pt x="3" y="190"/>
                </a:cubicBezTo>
                <a:cubicBezTo>
                  <a:pt x="1" y="180"/>
                  <a:pt x="0" y="169"/>
                  <a:pt x="0" y="159"/>
                </a:cubicBezTo>
                <a:cubicBezTo>
                  <a:pt x="0" y="149"/>
                  <a:pt x="1" y="138"/>
                  <a:pt x="3" y="128"/>
                </a:cubicBezTo>
                <a:cubicBezTo>
                  <a:pt x="5" y="118"/>
                  <a:pt x="8" y="108"/>
                  <a:pt x="12" y="98"/>
                </a:cubicBezTo>
                <a:cubicBezTo>
                  <a:pt x="16" y="89"/>
                  <a:pt x="21" y="79"/>
                  <a:pt x="26" y="71"/>
                </a:cubicBezTo>
                <a:cubicBezTo>
                  <a:pt x="32" y="62"/>
                  <a:pt x="39" y="54"/>
                  <a:pt x="46" y="47"/>
                </a:cubicBezTo>
                <a:cubicBezTo>
                  <a:pt x="53" y="39"/>
                  <a:pt x="61" y="33"/>
                  <a:pt x="70" y="27"/>
                </a:cubicBezTo>
                <a:cubicBezTo>
                  <a:pt x="79" y="21"/>
                  <a:pt x="88" y="16"/>
                  <a:pt x="98" y="12"/>
                </a:cubicBezTo>
                <a:cubicBezTo>
                  <a:pt x="107" y="8"/>
                  <a:pt x="117" y="5"/>
                  <a:pt x="127" y="3"/>
                </a:cubicBezTo>
                <a:cubicBezTo>
                  <a:pt x="138" y="1"/>
                  <a:pt x="148" y="0"/>
                  <a:pt x="158" y="0"/>
                </a:cubicBezTo>
                <a:cubicBezTo>
                  <a:pt x="169" y="0"/>
                  <a:pt x="179" y="1"/>
                  <a:pt x="189" y="3"/>
                </a:cubicBezTo>
                <a:cubicBezTo>
                  <a:pt x="200" y="5"/>
                  <a:pt x="210" y="8"/>
                  <a:pt x="220" y="12"/>
                </a:cubicBezTo>
                <a:cubicBezTo>
                  <a:pt x="230" y="16"/>
                  <a:pt x="239" y="21"/>
                  <a:pt x="248" y="27"/>
                </a:cubicBezTo>
                <a:cubicBezTo>
                  <a:pt x="256" y="33"/>
                  <a:pt x="264" y="39"/>
                  <a:pt x="272" y="47"/>
                </a:cubicBezTo>
                <a:cubicBezTo>
                  <a:pt x="279" y="54"/>
                  <a:pt x="286" y="62"/>
                  <a:pt x="291" y="71"/>
                </a:cubicBezTo>
                <a:cubicBezTo>
                  <a:pt x="297" y="79"/>
                  <a:pt x="302" y="89"/>
                  <a:pt x="306" y="98"/>
                </a:cubicBezTo>
                <a:cubicBezTo>
                  <a:pt x="310" y="108"/>
                  <a:pt x="313" y="118"/>
                  <a:pt x="315" y="128"/>
                </a:cubicBezTo>
                <a:cubicBezTo>
                  <a:pt x="317" y="138"/>
                  <a:pt x="318" y="149"/>
                  <a:pt x="318" y="159"/>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47" name="CuadroTexto 146"/>
          <p:cNvSpPr txBox="1"/>
          <p:nvPr/>
        </p:nvSpPr>
        <p:spPr>
          <a:xfrm>
            <a:off x="5581800" y="3624120"/>
            <a:ext cx="98172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Beneficios:</a:t>
            </a:r>
            <a:endParaRPr lang="en-US" sz="1800" b="0" u="none" strike="noStrike">
              <a:solidFill>
                <a:srgbClr val="000000"/>
              </a:solidFill>
              <a:effectLst/>
              <a:uFillTx/>
              <a:latin typeface="Times New Roman"/>
            </a:endParaRPr>
          </a:p>
        </p:txBody>
      </p:sp>
      <p:sp>
        <p:nvSpPr>
          <p:cNvPr id="148" name="CuadroTexto 147"/>
          <p:cNvSpPr txBox="1"/>
          <p:nvPr/>
        </p:nvSpPr>
        <p:spPr>
          <a:xfrm>
            <a:off x="2076480" y="4125240"/>
            <a:ext cx="85788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Legibilidad</a:t>
            </a:r>
            <a:endParaRPr lang="en-US" sz="1500" b="0" u="none" strike="noStrike">
              <a:solidFill>
                <a:srgbClr val="000000"/>
              </a:solidFill>
              <a:effectLst/>
              <a:uFillTx/>
              <a:latin typeface="Times New Roman"/>
            </a:endParaRPr>
          </a:p>
        </p:txBody>
      </p:sp>
      <p:sp>
        <p:nvSpPr>
          <p:cNvPr id="149" name="Forma libre: forma 148"/>
          <p:cNvSpPr/>
          <p:nvPr/>
        </p:nvSpPr>
        <p:spPr>
          <a:xfrm>
            <a:off x="6210000" y="4171680"/>
            <a:ext cx="114840" cy="114840"/>
          </a:xfrm>
          <a:custGeom>
            <a:avLst/>
            <a:gdLst/>
            <a:ahLst/>
            <a:cxnLst/>
            <a:rect l="0" t="0" r="r" b="b"/>
            <a:pathLst>
              <a:path w="319" h="319">
                <a:moveTo>
                  <a:pt x="319" y="159"/>
                </a:moveTo>
                <a:cubicBezTo>
                  <a:pt x="319" y="169"/>
                  <a:pt x="318" y="180"/>
                  <a:pt x="316" y="190"/>
                </a:cubicBezTo>
                <a:cubicBezTo>
                  <a:pt x="314" y="200"/>
                  <a:pt x="311" y="210"/>
                  <a:pt x="307" y="220"/>
                </a:cubicBezTo>
                <a:cubicBezTo>
                  <a:pt x="303" y="229"/>
                  <a:pt x="298" y="239"/>
                  <a:pt x="292" y="247"/>
                </a:cubicBezTo>
                <a:cubicBezTo>
                  <a:pt x="286" y="256"/>
                  <a:pt x="280" y="264"/>
                  <a:pt x="272" y="271"/>
                </a:cubicBezTo>
                <a:cubicBezTo>
                  <a:pt x="265" y="279"/>
                  <a:pt x="257" y="285"/>
                  <a:pt x="248" y="291"/>
                </a:cubicBezTo>
                <a:cubicBezTo>
                  <a:pt x="240" y="297"/>
                  <a:pt x="230" y="303"/>
                  <a:pt x="221" y="307"/>
                </a:cubicBezTo>
                <a:cubicBezTo>
                  <a:pt x="211" y="311"/>
                  <a:pt x="201" y="314"/>
                  <a:pt x="191" y="316"/>
                </a:cubicBezTo>
                <a:cubicBezTo>
                  <a:pt x="181" y="318"/>
                  <a:pt x="171" y="319"/>
                  <a:pt x="160" y="319"/>
                </a:cubicBezTo>
                <a:cubicBezTo>
                  <a:pt x="150" y="319"/>
                  <a:pt x="139" y="318"/>
                  <a:pt x="129" y="316"/>
                </a:cubicBezTo>
                <a:cubicBezTo>
                  <a:pt x="119" y="314"/>
                  <a:pt x="109" y="311"/>
                  <a:pt x="99" y="307"/>
                </a:cubicBezTo>
                <a:cubicBezTo>
                  <a:pt x="90" y="303"/>
                  <a:pt x="81" y="297"/>
                  <a:pt x="72" y="291"/>
                </a:cubicBezTo>
                <a:cubicBezTo>
                  <a:pt x="63" y="285"/>
                  <a:pt x="55" y="279"/>
                  <a:pt x="48" y="271"/>
                </a:cubicBezTo>
                <a:cubicBezTo>
                  <a:pt x="40" y="264"/>
                  <a:pt x="34" y="256"/>
                  <a:pt x="28" y="247"/>
                </a:cubicBezTo>
                <a:cubicBezTo>
                  <a:pt x="21" y="239"/>
                  <a:pt x="16" y="229"/>
                  <a:pt x="12" y="220"/>
                </a:cubicBezTo>
                <a:cubicBezTo>
                  <a:pt x="8" y="210"/>
                  <a:pt x="5" y="200"/>
                  <a:pt x="3" y="190"/>
                </a:cubicBezTo>
                <a:cubicBezTo>
                  <a:pt x="1" y="180"/>
                  <a:pt x="0" y="169"/>
                  <a:pt x="0" y="159"/>
                </a:cubicBezTo>
                <a:cubicBezTo>
                  <a:pt x="0" y="149"/>
                  <a:pt x="1" y="138"/>
                  <a:pt x="3" y="128"/>
                </a:cubicBezTo>
                <a:cubicBezTo>
                  <a:pt x="5" y="118"/>
                  <a:pt x="8" y="108"/>
                  <a:pt x="12" y="98"/>
                </a:cubicBezTo>
                <a:cubicBezTo>
                  <a:pt x="16" y="89"/>
                  <a:pt x="21" y="79"/>
                  <a:pt x="28" y="71"/>
                </a:cubicBezTo>
                <a:cubicBezTo>
                  <a:pt x="34" y="62"/>
                  <a:pt x="40" y="54"/>
                  <a:pt x="48" y="47"/>
                </a:cubicBezTo>
                <a:cubicBezTo>
                  <a:pt x="55" y="39"/>
                  <a:pt x="63" y="33"/>
                  <a:pt x="72" y="27"/>
                </a:cubicBezTo>
                <a:cubicBezTo>
                  <a:pt x="81" y="21"/>
                  <a:pt x="90" y="16"/>
                  <a:pt x="99" y="12"/>
                </a:cubicBezTo>
                <a:cubicBezTo>
                  <a:pt x="109" y="8"/>
                  <a:pt x="119" y="5"/>
                  <a:pt x="129" y="3"/>
                </a:cubicBezTo>
                <a:cubicBezTo>
                  <a:pt x="139" y="1"/>
                  <a:pt x="150" y="0"/>
                  <a:pt x="160" y="0"/>
                </a:cubicBezTo>
                <a:cubicBezTo>
                  <a:pt x="171" y="0"/>
                  <a:pt x="181" y="1"/>
                  <a:pt x="191" y="3"/>
                </a:cubicBezTo>
                <a:cubicBezTo>
                  <a:pt x="201" y="5"/>
                  <a:pt x="211" y="8"/>
                  <a:pt x="221" y="12"/>
                </a:cubicBezTo>
                <a:cubicBezTo>
                  <a:pt x="230" y="16"/>
                  <a:pt x="240" y="21"/>
                  <a:pt x="248" y="27"/>
                </a:cubicBezTo>
                <a:cubicBezTo>
                  <a:pt x="257" y="33"/>
                  <a:pt x="265" y="39"/>
                  <a:pt x="272" y="47"/>
                </a:cubicBezTo>
                <a:cubicBezTo>
                  <a:pt x="280" y="54"/>
                  <a:pt x="286" y="62"/>
                  <a:pt x="292" y="71"/>
                </a:cubicBezTo>
                <a:cubicBezTo>
                  <a:pt x="298" y="79"/>
                  <a:pt x="303" y="89"/>
                  <a:pt x="307" y="98"/>
                </a:cubicBezTo>
                <a:cubicBezTo>
                  <a:pt x="311" y="108"/>
                  <a:pt x="314" y="118"/>
                  <a:pt x="316" y="128"/>
                </a:cubicBezTo>
                <a:cubicBezTo>
                  <a:pt x="318" y="138"/>
                  <a:pt x="319" y="149"/>
                  <a:pt x="319" y="159"/>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50" name="CuadroTexto 149"/>
          <p:cNvSpPr txBox="1"/>
          <p:nvPr/>
        </p:nvSpPr>
        <p:spPr>
          <a:xfrm>
            <a:off x="2076480" y="4435560"/>
            <a:ext cx="23940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El código es más fácil de leer y entender</a:t>
            </a:r>
            <a:endParaRPr lang="en-US" sz="1200" b="0" u="none" strike="noStrike">
              <a:solidFill>
                <a:srgbClr val="000000"/>
              </a:solidFill>
              <a:effectLst/>
              <a:uFillTx/>
              <a:latin typeface="Times New Roman"/>
            </a:endParaRPr>
          </a:p>
        </p:txBody>
      </p:sp>
      <p:sp>
        <p:nvSpPr>
          <p:cNvPr id="151" name="CuadroTexto 150"/>
          <p:cNvSpPr txBox="1"/>
          <p:nvPr/>
        </p:nvSpPr>
        <p:spPr>
          <a:xfrm>
            <a:off x="6477120" y="4125240"/>
            <a:ext cx="118476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Mantenibilidad</a:t>
            </a:r>
            <a:endParaRPr lang="en-US" sz="1500" b="0" u="none" strike="noStrike">
              <a:solidFill>
                <a:srgbClr val="000000"/>
              </a:solidFill>
              <a:effectLst/>
              <a:uFillTx/>
              <a:latin typeface="Times New Roman"/>
            </a:endParaRPr>
          </a:p>
        </p:txBody>
      </p:sp>
      <p:sp>
        <p:nvSpPr>
          <p:cNvPr id="152" name="Forma libre: forma 151"/>
          <p:cNvSpPr/>
          <p:nvPr/>
        </p:nvSpPr>
        <p:spPr>
          <a:xfrm>
            <a:off x="1809720" y="4952880"/>
            <a:ext cx="114480" cy="114480"/>
          </a:xfrm>
          <a:custGeom>
            <a:avLst/>
            <a:gdLst/>
            <a:ahLst/>
            <a:cxnLst/>
            <a:rect l="0" t="0" r="r" b="b"/>
            <a:pathLst>
              <a:path w="318" h="318">
                <a:moveTo>
                  <a:pt x="318" y="160"/>
                </a:moveTo>
                <a:cubicBezTo>
                  <a:pt x="318" y="170"/>
                  <a:pt x="317" y="180"/>
                  <a:pt x="315" y="191"/>
                </a:cubicBezTo>
                <a:cubicBezTo>
                  <a:pt x="313" y="201"/>
                  <a:pt x="310" y="211"/>
                  <a:pt x="306" y="220"/>
                </a:cubicBezTo>
                <a:cubicBezTo>
                  <a:pt x="302" y="230"/>
                  <a:pt x="297" y="239"/>
                  <a:pt x="291" y="248"/>
                </a:cubicBezTo>
                <a:cubicBezTo>
                  <a:pt x="286" y="256"/>
                  <a:pt x="279" y="264"/>
                  <a:pt x="272" y="272"/>
                </a:cubicBezTo>
                <a:cubicBezTo>
                  <a:pt x="264" y="279"/>
                  <a:pt x="256" y="286"/>
                  <a:pt x="248" y="292"/>
                </a:cubicBezTo>
                <a:cubicBezTo>
                  <a:pt x="239" y="297"/>
                  <a:pt x="230" y="302"/>
                  <a:pt x="220" y="306"/>
                </a:cubicBezTo>
                <a:cubicBezTo>
                  <a:pt x="210" y="310"/>
                  <a:pt x="200" y="313"/>
                  <a:pt x="189" y="315"/>
                </a:cubicBezTo>
                <a:cubicBezTo>
                  <a:pt x="179" y="317"/>
                  <a:pt x="169" y="318"/>
                  <a:pt x="158" y="318"/>
                </a:cubicBezTo>
                <a:cubicBezTo>
                  <a:pt x="148" y="318"/>
                  <a:pt x="138" y="317"/>
                  <a:pt x="127" y="315"/>
                </a:cubicBezTo>
                <a:cubicBezTo>
                  <a:pt x="117" y="313"/>
                  <a:pt x="107" y="310"/>
                  <a:pt x="98" y="306"/>
                </a:cubicBezTo>
                <a:cubicBezTo>
                  <a:pt x="88" y="302"/>
                  <a:pt x="79" y="297"/>
                  <a:pt x="70" y="292"/>
                </a:cubicBezTo>
                <a:cubicBezTo>
                  <a:pt x="61" y="286"/>
                  <a:pt x="53" y="279"/>
                  <a:pt x="46" y="272"/>
                </a:cubicBezTo>
                <a:cubicBezTo>
                  <a:pt x="39" y="264"/>
                  <a:pt x="32" y="256"/>
                  <a:pt x="26" y="248"/>
                </a:cubicBezTo>
                <a:cubicBezTo>
                  <a:pt x="21" y="239"/>
                  <a:pt x="16" y="230"/>
                  <a:pt x="12" y="220"/>
                </a:cubicBezTo>
                <a:cubicBezTo>
                  <a:pt x="8" y="211"/>
                  <a:pt x="5" y="201"/>
                  <a:pt x="3" y="191"/>
                </a:cubicBezTo>
                <a:cubicBezTo>
                  <a:pt x="1" y="180"/>
                  <a:pt x="0" y="170"/>
                  <a:pt x="0" y="160"/>
                </a:cubicBezTo>
                <a:cubicBezTo>
                  <a:pt x="0" y="149"/>
                  <a:pt x="1" y="139"/>
                  <a:pt x="3" y="129"/>
                </a:cubicBezTo>
                <a:cubicBezTo>
                  <a:pt x="5" y="118"/>
                  <a:pt x="8" y="108"/>
                  <a:pt x="12" y="99"/>
                </a:cubicBezTo>
                <a:cubicBezTo>
                  <a:pt x="16" y="89"/>
                  <a:pt x="21" y="80"/>
                  <a:pt x="26" y="71"/>
                </a:cubicBezTo>
                <a:cubicBezTo>
                  <a:pt x="32" y="63"/>
                  <a:pt x="39" y="55"/>
                  <a:pt x="46" y="47"/>
                </a:cubicBezTo>
                <a:cubicBezTo>
                  <a:pt x="53" y="40"/>
                  <a:pt x="61" y="33"/>
                  <a:pt x="70" y="27"/>
                </a:cubicBezTo>
                <a:cubicBezTo>
                  <a:pt x="79" y="21"/>
                  <a:pt x="88" y="16"/>
                  <a:pt x="98" y="12"/>
                </a:cubicBezTo>
                <a:cubicBezTo>
                  <a:pt x="107" y="8"/>
                  <a:pt x="117" y="5"/>
                  <a:pt x="127" y="3"/>
                </a:cubicBezTo>
                <a:cubicBezTo>
                  <a:pt x="138" y="1"/>
                  <a:pt x="148" y="0"/>
                  <a:pt x="158" y="0"/>
                </a:cubicBezTo>
                <a:cubicBezTo>
                  <a:pt x="169" y="0"/>
                  <a:pt x="179" y="1"/>
                  <a:pt x="189" y="3"/>
                </a:cubicBezTo>
                <a:cubicBezTo>
                  <a:pt x="200" y="5"/>
                  <a:pt x="210" y="8"/>
                  <a:pt x="220" y="12"/>
                </a:cubicBezTo>
                <a:cubicBezTo>
                  <a:pt x="230" y="16"/>
                  <a:pt x="239" y="21"/>
                  <a:pt x="248" y="27"/>
                </a:cubicBezTo>
                <a:cubicBezTo>
                  <a:pt x="256" y="33"/>
                  <a:pt x="264" y="40"/>
                  <a:pt x="272" y="47"/>
                </a:cubicBezTo>
                <a:cubicBezTo>
                  <a:pt x="279" y="55"/>
                  <a:pt x="286" y="63"/>
                  <a:pt x="291" y="71"/>
                </a:cubicBezTo>
                <a:cubicBezTo>
                  <a:pt x="297" y="80"/>
                  <a:pt x="302" y="89"/>
                  <a:pt x="306" y="99"/>
                </a:cubicBezTo>
                <a:cubicBezTo>
                  <a:pt x="310" y="108"/>
                  <a:pt x="313" y="118"/>
                  <a:pt x="315" y="129"/>
                </a:cubicBezTo>
                <a:cubicBezTo>
                  <a:pt x="317" y="139"/>
                  <a:pt x="318" y="149"/>
                  <a:pt x="318" y="160"/>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53" name="CuadroTexto 152"/>
          <p:cNvSpPr txBox="1"/>
          <p:nvPr/>
        </p:nvSpPr>
        <p:spPr>
          <a:xfrm>
            <a:off x="6477120" y="4435560"/>
            <a:ext cx="221868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Facilita el mantenimiento del código</a:t>
            </a:r>
            <a:endParaRPr lang="en-US" sz="1200" b="0" u="none" strike="noStrike">
              <a:solidFill>
                <a:srgbClr val="000000"/>
              </a:solidFill>
              <a:effectLst/>
              <a:uFillTx/>
              <a:latin typeface="Times New Roman"/>
            </a:endParaRPr>
          </a:p>
        </p:txBody>
      </p:sp>
      <p:sp>
        <p:nvSpPr>
          <p:cNvPr id="154" name="CuadroTexto 153"/>
          <p:cNvSpPr txBox="1"/>
          <p:nvPr/>
        </p:nvSpPr>
        <p:spPr>
          <a:xfrm>
            <a:off x="2076480" y="4906080"/>
            <a:ext cx="99036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Reusabilidad</a:t>
            </a:r>
            <a:endParaRPr lang="en-US" sz="1500" b="0" u="none" strike="noStrike">
              <a:solidFill>
                <a:srgbClr val="000000"/>
              </a:solidFill>
              <a:effectLst/>
              <a:uFillTx/>
              <a:latin typeface="Times New Roman"/>
            </a:endParaRPr>
          </a:p>
        </p:txBody>
      </p:sp>
      <p:sp>
        <p:nvSpPr>
          <p:cNvPr id="155" name="Forma libre: forma 154"/>
          <p:cNvSpPr/>
          <p:nvPr/>
        </p:nvSpPr>
        <p:spPr>
          <a:xfrm>
            <a:off x="6210000" y="4952880"/>
            <a:ext cx="114840" cy="114480"/>
          </a:xfrm>
          <a:custGeom>
            <a:avLst/>
            <a:gdLst/>
            <a:ahLst/>
            <a:cxnLst/>
            <a:rect l="0" t="0" r="r" b="b"/>
            <a:pathLst>
              <a:path w="319" h="318">
                <a:moveTo>
                  <a:pt x="319" y="160"/>
                </a:moveTo>
                <a:cubicBezTo>
                  <a:pt x="319" y="170"/>
                  <a:pt x="318" y="180"/>
                  <a:pt x="316" y="191"/>
                </a:cubicBezTo>
                <a:cubicBezTo>
                  <a:pt x="314" y="201"/>
                  <a:pt x="311" y="211"/>
                  <a:pt x="307" y="220"/>
                </a:cubicBezTo>
                <a:cubicBezTo>
                  <a:pt x="303" y="230"/>
                  <a:pt x="298" y="239"/>
                  <a:pt x="292" y="248"/>
                </a:cubicBezTo>
                <a:cubicBezTo>
                  <a:pt x="286" y="256"/>
                  <a:pt x="280" y="264"/>
                  <a:pt x="272" y="272"/>
                </a:cubicBezTo>
                <a:cubicBezTo>
                  <a:pt x="265" y="279"/>
                  <a:pt x="257" y="286"/>
                  <a:pt x="248" y="292"/>
                </a:cubicBezTo>
                <a:cubicBezTo>
                  <a:pt x="240" y="297"/>
                  <a:pt x="230" y="302"/>
                  <a:pt x="221" y="306"/>
                </a:cubicBezTo>
                <a:cubicBezTo>
                  <a:pt x="211" y="310"/>
                  <a:pt x="201" y="313"/>
                  <a:pt x="191" y="315"/>
                </a:cubicBezTo>
                <a:cubicBezTo>
                  <a:pt x="181" y="317"/>
                  <a:pt x="171" y="318"/>
                  <a:pt x="160" y="318"/>
                </a:cubicBezTo>
                <a:cubicBezTo>
                  <a:pt x="150" y="318"/>
                  <a:pt x="139" y="317"/>
                  <a:pt x="129" y="315"/>
                </a:cubicBezTo>
                <a:cubicBezTo>
                  <a:pt x="119" y="313"/>
                  <a:pt x="109" y="310"/>
                  <a:pt x="99" y="306"/>
                </a:cubicBezTo>
                <a:cubicBezTo>
                  <a:pt x="90" y="302"/>
                  <a:pt x="81" y="297"/>
                  <a:pt x="72" y="292"/>
                </a:cubicBezTo>
                <a:cubicBezTo>
                  <a:pt x="63" y="286"/>
                  <a:pt x="55" y="279"/>
                  <a:pt x="48" y="272"/>
                </a:cubicBezTo>
                <a:cubicBezTo>
                  <a:pt x="40" y="264"/>
                  <a:pt x="34" y="256"/>
                  <a:pt x="28" y="248"/>
                </a:cubicBezTo>
                <a:cubicBezTo>
                  <a:pt x="21" y="239"/>
                  <a:pt x="16" y="230"/>
                  <a:pt x="12" y="220"/>
                </a:cubicBezTo>
                <a:cubicBezTo>
                  <a:pt x="8" y="211"/>
                  <a:pt x="5" y="201"/>
                  <a:pt x="3" y="191"/>
                </a:cubicBezTo>
                <a:cubicBezTo>
                  <a:pt x="1" y="180"/>
                  <a:pt x="0" y="170"/>
                  <a:pt x="0" y="160"/>
                </a:cubicBezTo>
                <a:cubicBezTo>
                  <a:pt x="0" y="149"/>
                  <a:pt x="1" y="139"/>
                  <a:pt x="3" y="129"/>
                </a:cubicBezTo>
                <a:cubicBezTo>
                  <a:pt x="5" y="118"/>
                  <a:pt x="8" y="108"/>
                  <a:pt x="12" y="99"/>
                </a:cubicBezTo>
                <a:cubicBezTo>
                  <a:pt x="16" y="89"/>
                  <a:pt x="21" y="80"/>
                  <a:pt x="28" y="71"/>
                </a:cubicBezTo>
                <a:cubicBezTo>
                  <a:pt x="34" y="63"/>
                  <a:pt x="40" y="55"/>
                  <a:pt x="48" y="47"/>
                </a:cubicBezTo>
                <a:cubicBezTo>
                  <a:pt x="55" y="40"/>
                  <a:pt x="63" y="33"/>
                  <a:pt x="72" y="27"/>
                </a:cubicBezTo>
                <a:cubicBezTo>
                  <a:pt x="81" y="21"/>
                  <a:pt x="90" y="16"/>
                  <a:pt x="99" y="12"/>
                </a:cubicBezTo>
                <a:cubicBezTo>
                  <a:pt x="109" y="8"/>
                  <a:pt x="119" y="5"/>
                  <a:pt x="129" y="3"/>
                </a:cubicBezTo>
                <a:cubicBezTo>
                  <a:pt x="139" y="1"/>
                  <a:pt x="150" y="0"/>
                  <a:pt x="160" y="0"/>
                </a:cubicBezTo>
                <a:cubicBezTo>
                  <a:pt x="171" y="0"/>
                  <a:pt x="181" y="1"/>
                  <a:pt x="191" y="3"/>
                </a:cubicBezTo>
                <a:cubicBezTo>
                  <a:pt x="201" y="5"/>
                  <a:pt x="211" y="8"/>
                  <a:pt x="221" y="12"/>
                </a:cubicBezTo>
                <a:cubicBezTo>
                  <a:pt x="230" y="16"/>
                  <a:pt x="240" y="21"/>
                  <a:pt x="248" y="27"/>
                </a:cubicBezTo>
                <a:cubicBezTo>
                  <a:pt x="257" y="33"/>
                  <a:pt x="265" y="40"/>
                  <a:pt x="272" y="47"/>
                </a:cubicBezTo>
                <a:cubicBezTo>
                  <a:pt x="280" y="55"/>
                  <a:pt x="286" y="63"/>
                  <a:pt x="292" y="71"/>
                </a:cubicBezTo>
                <a:cubicBezTo>
                  <a:pt x="298" y="80"/>
                  <a:pt x="303" y="89"/>
                  <a:pt x="307" y="99"/>
                </a:cubicBezTo>
                <a:cubicBezTo>
                  <a:pt x="311" y="108"/>
                  <a:pt x="314" y="118"/>
                  <a:pt x="316" y="129"/>
                </a:cubicBezTo>
                <a:cubicBezTo>
                  <a:pt x="318" y="139"/>
                  <a:pt x="319" y="149"/>
                  <a:pt x="319" y="160"/>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56" name="CuadroTexto 155"/>
          <p:cNvSpPr txBox="1"/>
          <p:nvPr/>
        </p:nvSpPr>
        <p:spPr>
          <a:xfrm>
            <a:off x="2076480" y="5216400"/>
            <a:ext cx="25977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Permite reutilizar componentes fácilmente</a:t>
            </a:r>
            <a:endParaRPr lang="en-US" sz="1200" b="0" u="none" strike="noStrike">
              <a:solidFill>
                <a:srgbClr val="000000"/>
              </a:solidFill>
              <a:effectLst/>
              <a:uFillTx/>
              <a:latin typeface="Times New Roman"/>
            </a:endParaRPr>
          </a:p>
        </p:txBody>
      </p:sp>
      <p:sp>
        <p:nvSpPr>
          <p:cNvPr id="157" name="CuadroTexto 156"/>
          <p:cNvSpPr txBox="1"/>
          <p:nvPr/>
        </p:nvSpPr>
        <p:spPr>
          <a:xfrm>
            <a:off x="6477120" y="4906080"/>
            <a:ext cx="191268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Alta capacidad de prueba</a:t>
            </a:r>
            <a:endParaRPr lang="en-US" sz="1500" b="0" u="none" strike="noStrike">
              <a:solidFill>
                <a:srgbClr val="000000"/>
              </a:solidFill>
              <a:effectLst/>
              <a:uFillTx/>
              <a:latin typeface="Times New Roman"/>
            </a:endParaRPr>
          </a:p>
        </p:txBody>
      </p:sp>
      <p:sp>
        <p:nvSpPr>
          <p:cNvPr id="158" name="Forma libre: forma 157"/>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59" name="CuadroTexto 158"/>
          <p:cNvSpPr txBox="1"/>
          <p:nvPr/>
        </p:nvSpPr>
        <p:spPr>
          <a:xfrm>
            <a:off x="6477120" y="5216400"/>
            <a:ext cx="24026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Mejora la capacidad de realizar pruebas</a:t>
            </a:r>
            <a:endParaRPr lang="en-US" sz="1200" b="0" u="none" strike="noStrike">
              <a:solidFill>
                <a:srgbClr val="000000"/>
              </a:solidFill>
              <a:effectLst/>
              <a:uFillTx/>
              <a:latin typeface="Times New Roman"/>
            </a:endParaRPr>
          </a:p>
        </p:txBody>
      </p:sp>
      <p:sp>
        <p:nvSpPr>
          <p:cNvPr id="160" name="CuadroTexto 159"/>
          <p:cNvSpPr txBox="1"/>
          <p:nvPr/>
        </p:nvSpPr>
        <p:spPr>
          <a:xfrm>
            <a:off x="571320" y="60832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161" name="CuadroTexto 160"/>
          <p:cNvSpPr txBox="1"/>
          <p:nvPr/>
        </p:nvSpPr>
        <p:spPr>
          <a:xfrm>
            <a:off x="11457000" y="6083280"/>
            <a:ext cx="16416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09</a:t>
            </a:r>
            <a:endParaRPr lang="en-US" sz="1200" b="0" u="none" strike="noStrike">
              <a:solidFill>
                <a:srgbClr val="000000"/>
              </a:solidFill>
              <a:effectLst/>
              <a:uFillTx/>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Forma libre: forma 163"/>
          <p:cNvSpPr/>
          <p:nvPr/>
        </p:nvSpPr>
        <p:spPr>
          <a:xfrm>
            <a:off x="475920" y="933120"/>
            <a:ext cx="610200" cy="19440"/>
          </a:xfrm>
          <a:custGeom>
            <a:avLst/>
            <a:gdLst/>
            <a:ahLst/>
            <a:cxnLst/>
            <a:rect l="0" t="0" r="r" b="b"/>
            <a:pathLst>
              <a:path w="1695" h="54">
                <a:moveTo>
                  <a:pt x="0" y="0"/>
                </a:moveTo>
                <a:lnTo>
                  <a:pt x="1695" y="0"/>
                </a:lnTo>
                <a:lnTo>
                  <a:pt x="1695"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165" name="Forma libre: forma 164"/>
          <p:cNvSpPr/>
          <p:nvPr/>
        </p:nvSpPr>
        <p:spPr>
          <a:xfrm>
            <a:off x="475920" y="1199880"/>
            <a:ext cx="267120" cy="267120"/>
          </a:xfrm>
          <a:custGeom>
            <a:avLst/>
            <a:gdLst/>
            <a:ahLst/>
            <a:cxnLst/>
            <a:rect l="0" t="0" r="r" b="b"/>
            <a:pathLst>
              <a:path w="742" h="742">
                <a:moveTo>
                  <a:pt x="742" y="371"/>
                </a:moveTo>
                <a:cubicBezTo>
                  <a:pt x="742" y="395"/>
                  <a:pt x="740" y="419"/>
                  <a:pt x="735" y="443"/>
                </a:cubicBezTo>
                <a:cubicBezTo>
                  <a:pt x="730" y="467"/>
                  <a:pt x="723" y="490"/>
                  <a:pt x="714" y="512"/>
                </a:cubicBezTo>
                <a:cubicBezTo>
                  <a:pt x="705" y="535"/>
                  <a:pt x="693" y="556"/>
                  <a:pt x="680" y="576"/>
                </a:cubicBezTo>
                <a:cubicBezTo>
                  <a:pt x="666" y="597"/>
                  <a:pt x="651" y="615"/>
                  <a:pt x="634" y="633"/>
                </a:cubicBezTo>
                <a:cubicBezTo>
                  <a:pt x="617" y="650"/>
                  <a:pt x="598" y="665"/>
                  <a:pt x="578" y="679"/>
                </a:cubicBezTo>
                <a:cubicBezTo>
                  <a:pt x="557" y="692"/>
                  <a:pt x="536" y="704"/>
                  <a:pt x="513" y="713"/>
                </a:cubicBezTo>
                <a:cubicBezTo>
                  <a:pt x="490" y="722"/>
                  <a:pt x="467" y="729"/>
                  <a:pt x="443" y="734"/>
                </a:cubicBezTo>
                <a:cubicBezTo>
                  <a:pt x="419" y="740"/>
                  <a:pt x="395" y="742"/>
                  <a:pt x="371" y="742"/>
                </a:cubicBezTo>
                <a:cubicBezTo>
                  <a:pt x="347" y="742"/>
                  <a:pt x="322" y="740"/>
                  <a:pt x="299" y="734"/>
                </a:cubicBezTo>
                <a:cubicBezTo>
                  <a:pt x="275" y="729"/>
                  <a:pt x="252" y="722"/>
                  <a:pt x="229" y="713"/>
                </a:cubicBezTo>
                <a:cubicBezTo>
                  <a:pt x="207" y="704"/>
                  <a:pt x="185" y="692"/>
                  <a:pt x="165" y="679"/>
                </a:cubicBezTo>
                <a:cubicBezTo>
                  <a:pt x="145" y="665"/>
                  <a:pt x="126" y="650"/>
                  <a:pt x="109" y="633"/>
                </a:cubicBezTo>
                <a:cubicBezTo>
                  <a:pt x="92" y="615"/>
                  <a:pt x="76" y="597"/>
                  <a:pt x="63" y="576"/>
                </a:cubicBezTo>
                <a:cubicBezTo>
                  <a:pt x="49" y="556"/>
                  <a:pt x="38" y="535"/>
                  <a:pt x="29" y="512"/>
                </a:cubicBezTo>
                <a:cubicBezTo>
                  <a:pt x="19" y="490"/>
                  <a:pt x="12" y="467"/>
                  <a:pt x="8" y="443"/>
                </a:cubicBezTo>
                <a:cubicBezTo>
                  <a:pt x="3" y="419"/>
                  <a:pt x="0" y="395"/>
                  <a:pt x="0" y="371"/>
                </a:cubicBezTo>
                <a:cubicBezTo>
                  <a:pt x="0" y="346"/>
                  <a:pt x="3" y="322"/>
                  <a:pt x="8" y="298"/>
                </a:cubicBezTo>
                <a:cubicBezTo>
                  <a:pt x="12" y="275"/>
                  <a:pt x="19" y="251"/>
                  <a:pt x="29" y="229"/>
                </a:cubicBezTo>
                <a:cubicBezTo>
                  <a:pt x="38" y="206"/>
                  <a:pt x="49" y="185"/>
                  <a:pt x="63" y="165"/>
                </a:cubicBezTo>
                <a:cubicBezTo>
                  <a:pt x="76" y="145"/>
                  <a:pt x="92" y="126"/>
                  <a:pt x="109" y="109"/>
                </a:cubicBezTo>
                <a:cubicBezTo>
                  <a:pt x="126" y="92"/>
                  <a:pt x="145" y="76"/>
                  <a:pt x="165" y="63"/>
                </a:cubicBezTo>
                <a:cubicBezTo>
                  <a:pt x="185" y="49"/>
                  <a:pt x="207" y="38"/>
                  <a:pt x="229" y="28"/>
                </a:cubicBezTo>
                <a:cubicBezTo>
                  <a:pt x="252" y="19"/>
                  <a:pt x="275" y="12"/>
                  <a:pt x="299" y="7"/>
                </a:cubicBezTo>
                <a:cubicBezTo>
                  <a:pt x="322" y="3"/>
                  <a:pt x="347" y="0"/>
                  <a:pt x="371" y="0"/>
                </a:cubicBezTo>
                <a:cubicBezTo>
                  <a:pt x="395" y="0"/>
                  <a:pt x="419" y="3"/>
                  <a:pt x="443" y="7"/>
                </a:cubicBezTo>
                <a:cubicBezTo>
                  <a:pt x="467" y="12"/>
                  <a:pt x="490" y="19"/>
                  <a:pt x="513" y="28"/>
                </a:cubicBezTo>
                <a:cubicBezTo>
                  <a:pt x="536" y="38"/>
                  <a:pt x="557" y="49"/>
                  <a:pt x="578" y="63"/>
                </a:cubicBezTo>
                <a:cubicBezTo>
                  <a:pt x="598" y="76"/>
                  <a:pt x="617" y="92"/>
                  <a:pt x="634" y="109"/>
                </a:cubicBezTo>
                <a:cubicBezTo>
                  <a:pt x="651" y="126"/>
                  <a:pt x="666" y="145"/>
                  <a:pt x="680" y="165"/>
                </a:cubicBezTo>
                <a:cubicBezTo>
                  <a:pt x="693" y="185"/>
                  <a:pt x="705" y="206"/>
                  <a:pt x="714" y="229"/>
                </a:cubicBezTo>
                <a:cubicBezTo>
                  <a:pt x="723" y="251"/>
                  <a:pt x="730" y="275"/>
                  <a:pt x="735" y="298"/>
                </a:cubicBezTo>
                <a:cubicBezTo>
                  <a:pt x="740" y="322"/>
                  <a:pt x="742" y="346"/>
                  <a:pt x="742" y="371"/>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66" name="CuadroTexto 165"/>
          <p:cNvSpPr txBox="1"/>
          <p:nvPr/>
        </p:nvSpPr>
        <p:spPr>
          <a:xfrm>
            <a:off x="476280" y="487080"/>
            <a:ext cx="4194360" cy="318960"/>
          </a:xfrm>
          <a:prstGeom prst="rect">
            <a:avLst/>
          </a:prstGeom>
          <a:noFill/>
          <a:ln w="0">
            <a:noFill/>
          </a:ln>
        </p:spPr>
        <p:txBody>
          <a:bodyPr wrap="none" lIns="0" tIns="0" rIns="0" bIns="0" anchor="t">
            <a:spAutoFit/>
          </a:bodyPr>
          <a:lstStyle/>
          <a:p>
            <a:r>
              <a:rPr lang="en-US" sz="2250" b="0" u="none" strike="noStrike">
                <a:solidFill>
                  <a:srgbClr val="000000"/>
                </a:solidFill>
                <a:effectLst/>
                <a:uFillTx/>
                <a:latin typeface="CrimsonPro"/>
                <a:ea typeface="CrimsonPro"/>
              </a:rPr>
              <a:t>Buenas prácticas en la programación</a:t>
            </a:r>
            <a:endParaRPr lang="en-US" sz="2250" b="0" u="none" strike="noStrike">
              <a:solidFill>
                <a:srgbClr val="000000"/>
              </a:solidFill>
              <a:effectLst/>
              <a:uFillTx/>
              <a:latin typeface="Times New Roman"/>
            </a:endParaRPr>
          </a:p>
        </p:txBody>
      </p:sp>
      <p:sp>
        <p:nvSpPr>
          <p:cNvPr id="167" name="CuadroTexto 166"/>
          <p:cNvSpPr txBox="1"/>
          <p:nvPr/>
        </p:nvSpPr>
        <p:spPr>
          <a:xfrm>
            <a:off x="584640" y="126180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1</a:t>
            </a:r>
            <a:endParaRPr lang="en-US" sz="1050" b="0" u="none" strike="noStrike">
              <a:solidFill>
                <a:srgbClr val="000000"/>
              </a:solidFill>
              <a:effectLst/>
              <a:uFillTx/>
              <a:latin typeface="Times New Roman"/>
            </a:endParaRPr>
          </a:p>
        </p:txBody>
      </p:sp>
      <p:sp>
        <p:nvSpPr>
          <p:cNvPr id="168" name="Forma libre: forma 167"/>
          <p:cNvSpPr/>
          <p:nvPr/>
        </p:nvSpPr>
        <p:spPr>
          <a:xfrm>
            <a:off x="475920" y="1599840"/>
            <a:ext cx="267120" cy="267120"/>
          </a:xfrm>
          <a:custGeom>
            <a:avLst/>
            <a:gdLst/>
            <a:ahLst/>
            <a:cxnLst/>
            <a:rect l="0" t="0" r="r" b="b"/>
            <a:pathLst>
              <a:path w="742" h="742">
                <a:moveTo>
                  <a:pt x="742" y="372"/>
                </a:moveTo>
                <a:cubicBezTo>
                  <a:pt x="742" y="396"/>
                  <a:pt x="740" y="420"/>
                  <a:pt x="735" y="444"/>
                </a:cubicBezTo>
                <a:cubicBezTo>
                  <a:pt x="730" y="468"/>
                  <a:pt x="723" y="491"/>
                  <a:pt x="714" y="514"/>
                </a:cubicBezTo>
                <a:cubicBezTo>
                  <a:pt x="705" y="536"/>
                  <a:pt x="693" y="557"/>
                  <a:pt x="680" y="578"/>
                </a:cubicBezTo>
                <a:cubicBezTo>
                  <a:pt x="666" y="598"/>
                  <a:pt x="651" y="617"/>
                  <a:pt x="634" y="634"/>
                </a:cubicBezTo>
                <a:cubicBezTo>
                  <a:pt x="617" y="651"/>
                  <a:pt x="598" y="666"/>
                  <a:pt x="578" y="680"/>
                </a:cubicBezTo>
                <a:cubicBezTo>
                  <a:pt x="557" y="693"/>
                  <a:pt x="536" y="705"/>
                  <a:pt x="513" y="714"/>
                </a:cubicBezTo>
                <a:cubicBezTo>
                  <a:pt x="490" y="723"/>
                  <a:pt x="467" y="730"/>
                  <a:pt x="443" y="735"/>
                </a:cubicBezTo>
                <a:cubicBezTo>
                  <a:pt x="419" y="740"/>
                  <a:pt x="395" y="742"/>
                  <a:pt x="371" y="742"/>
                </a:cubicBezTo>
                <a:cubicBezTo>
                  <a:pt x="347" y="742"/>
                  <a:pt x="322" y="740"/>
                  <a:pt x="299" y="735"/>
                </a:cubicBezTo>
                <a:cubicBezTo>
                  <a:pt x="275" y="730"/>
                  <a:pt x="252" y="723"/>
                  <a:pt x="229" y="714"/>
                </a:cubicBezTo>
                <a:cubicBezTo>
                  <a:pt x="207" y="705"/>
                  <a:pt x="185" y="693"/>
                  <a:pt x="165" y="680"/>
                </a:cubicBezTo>
                <a:cubicBezTo>
                  <a:pt x="145" y="666"/>
                  <a:pt x="126" y="651"/>
                  <a:pt x="109" y="634"/>
                </a:cubicBezTo>
                <a:cubicBezTo>
                  <a:pt x="92" y="617"/>
                  <a:pt x="76" y="598"/>
                  <a:pt x="63" y="578"/>
                </a:cubicBezTo>
                <a:cubicBezTo>
                  <a:pt x="49" y="557"/>
                  <a:pt x="38" y="536"/>
                  <a:pt x="29" y="514"/>
                </a:cubicBezTo>
                <a:cubicBezTo>
                  <a:pt x="19" y="491"/>
                  <a:pt x="12" y="468"/>
                  <a:pt x="8" y="444"/>
                </a:cubicBezTo>
                <a:cubicBezTo>
                  <a:pt x="3" y="420"/>
                  <a:pt x="0" y="396"/>
                  <a:pt x="0" y="372"/>
                </a:cubicBezTo>
                <a:cubicBezTo>
                  <a:pt x="0" y="347"/>
                  <a:pt x="3" y="323"/>
                  <a:pt x="8" y="299"/>
                </a:cubicBezTo>
                <a:cubicBezTo>
                  <a:pt x="12" y="275"/>
                  <a:pt x="19" y="252"/>
                  <a:pt x="29" y="229"/>
                </a:cubicBezTo>
                <a:cubicBezTo>
                  <a:pt x="38" y="207"/>
                  <a:pt x="49" y="185"/>
                  <a:pt x="63" y="165"/>
                </a:cubicBezTo>
                <a:cubicBezTo>
                  <a:pt x="76" y="145"/>
                  <a:pt x="92" y="126"/>
                  <a:pt x="109" y="109"/>
                </a:cubicBezTo>
                <a:cubicBezTo>
                  <a:pt x="126" y="92"/>
                  <a:pt x="145" y="76"/>
                  <a:pt x="165" y="63"/>
                </a:cubicBezTo>
                <a:cubicBezTo>
                  <a:pt x="185" y="49"/>
                  <a:pt x="207" y="38"/>
                  <a:pt x="229" y="29"/>
                </a:cubicBezTo>
                <a:cubicBezTo>
                  <a:pt x="252" y="19"/>
                  <a:pt x="275" y="12"/>
                  <a:pt x="299" y="8"/>
                </a:cubicBezTo>
                <a:cubicBezTo>
                  <a:pt x="322" y="3"/>
                  <a:pt x="347" y="0"/>
                  <a:pt x="371" y="0"/>
                </a:cubicBezTo>
                <a:cubicBezTo>
                  <a:pt x="395" y="0"/>
                  <a:pt x="419" y="3"/>
                  <a:pt x="443" y="8"/>
                </a:cubicBezTo>
                <a:cubicBezTo>
                  <a:pt x="467" y="12"/>
                  <a:pt x="490" y="19"/>
                  <a:pt x="513" y="29"/>
                </a:cubicBezTo>
                <a:cubicBezTo>
                  <a:pt x="536" y="38"/>
                  <a:pt x="557" y="49"/>
                  <a:pt x="578" y="63"/>
                </a:cubicBezTo>
                <a:cubicBezTo>
                  <a:pt x="598" y="76"/>
                  <a:pt x="617" y="92"/>
                  <a:pt x="634" y="109"/>
                </a:cubicBezTo>
                <a:cubicBezTo>
                  <a:pt x="651" y="126"/>
                  <a:pt x="666" y="145"/>
                  <a:pt x="680" y="165"/>
                </a:cubicBezTo>
                <a:cubicBezTo>
                  <a:pt x="693" y="185"/>
                  <a:pt x="705" y="207"/>
                  <a:pt x="714" y="229"/>
                </a:cubicBezTo>
                <a:cubicBezTo>
                  <a:pt x="723" y="252"/>
                  <a:pt x="730" y="275"/>
                  <a:pt x="735" y="299"/>
                </a:cubicBezTo>
                <a:cubicBezTo>
                  <a:pt x="740" y="323"/>
                  <a:pt x="742" y="347"/>
                  <a:pt x="742" y="372"/>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69" name="CuadroTexto 168"/>
          <p:cNvSpPr txBox="1"/>
          <p:nvPr/>
        </p:nvSpPr>
        <p:spPr>
          <a:xfrm>
            <a:off x="857160" y="1206360"/>
            <a:ext cx="3367397" cy="215444"/>
          </a:xfrm>
          <a:prstGeom prst="rect">
            <a:avLst/>
          </a:prstGeom>
          <a:noFill/>
          <a:ln w="0">
            <a:noFill/>
          </a:ln>
        </p:spPr>
        <p:txBody>
          <a:bodyPr wrap="none" lIns="0" tIns="0" rIns="0" bIns="0" anchor="t">
            <a:spAutoFit/>
          </a:bodyPr>
          <a:lstStyle>
            <a:defPPr>
              <a:defRPr lang="es-CO"/>
            </a:defPPr>
            <a:lvl1pPr>
              <a:defRPr sz="1600" b="0" u="none" strike="noStrike">
                <a:solidFill>
                  <a:srgbClr val="000000"/>
                </a:solidFill>
                <a:effectLst/>
                <a:uFillTx/>
                <a:latin typeface="CrimsonPro"/>
                <a:ea typeface="CrimsonPro"/>
              </a:defRPr>
            </a:lvl1pPr>
          </a:lstStyle>
          <a:p>
            <a:r>
              <a:rPr lang="en-US" dirty="0" err="1"/>
              <a:t>Definición</a:t>
            </a:r>
            <a:r>
              <a:rPr lang="en-US" dirty="0"/>
              <a:t> de </a:t>
            </a:r>
            <a:r>
              <a:rPr lang="en-US" dirty="0" err="1"/>
              <a:t>requisitos</a:t>
            </a:r>
            <a:r>
              <a:rPr lang="en-US" dirty="0"/>
              <a:t>. </a:t>
            </a:r>
            <a:r>
              <a:rPr lang="en-US" dirty="0" err="1"/>
              <a:t>Alcance</a:t>
            </a:r>
            <a:r>
              <a:rPr lang="en-US" dirty="0"/>
              <a:t> del </a:t>
            </a:r>
            <a:r>
              <a:rPr lang="en-US" dirty="0" err="1"/>
              <a:t>proyecto</a:t>
            </a:r>
            <a:r>
              <a:rPr lang="en-US" dirty="0"/>
              <a:t>.</a:t>
            </a:r>
          </a:p>
        </p:txBody>
      </p:sp>
      <p:sp>
        <p:nvSpPr>
          <p:cNvPr id="170" name="CuadroTexto 169"/>
          <p:cNvSpPr txBox="1"/>
          <p:nvPr/>
        </p:nvSpPr>
        <p:spPr>
          <a:xfrm>
            <a:off x="575640" y="166176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2</a:t>
            </a:r>
            <a:endParaRPr lang="en-US" sz="1050" b="0" u="none" strike="noStrike">
              <a:solidFill>
                <a:srgbClr val="000000"/>
              </a:solidFill>
              <a:effectLst/>
              <a:uFillTx/>
              <a:latin typeface="Times New Roman"/>
            </a:endParaRPr>
          </a:p>
        </p:txBody>
      </p:sp>
      <p:sp>
        <p:nvSpPr>
          <p:cNvPr id="171" name="Forma libre: forma 170"/>
          <p:cNvSpPr/>
          <p:nvPr/>
        </p:nvSpPr>
        <p:spPr>
          <a:xfrm>
            <a:off x="475920" y="2000160"/>
            <a:ext cx="267120" cy="267120"/>
          </a:xfrm>
          <a:custGeom>
            <a:avLst/>
            <a:gdLst/>
            <a:ahLst/>
            <a:cxnLst/>
            <a:rect l="0" t="0" r="r" b="b"/>
            <a:pathLst>
              <a:path w="742" h="742">
                <a:moveTo>
                  <a:pt x="742" y="370"/>
                </a:moveTo>
                <a:cubicBezTo>
                  <a:pt x="742" y="394"/>
                  <a:pt x="740" y="419"/>
                  <a:pt x="735" y="442"/>
                </a:cubicBezTo>
                <a:cubicBezTo>
                  <a:pt x="730" y="466"/>
                  <a:pt x="723" y="489"/>
                  <a:pt x="714" y="512"/>
                </a:cubicBezTo>
                <a:cubicBezTo>
                  <a:pt x="705" y="534"/>
                  <a:pt x="693" y="556"/>
                  <a:pt x="680" y="576"/>
                </a:cubicBezTo>
                <a:cubicBezTo>
                  <a:pt x="666" y="596"/>
                  <a:pt x="651" y="615"/>
                  <a:pt x="634" y="632"/>
                </a:cubicBezTo>
                <a:cubicBezTo>
                  <a:pt x="617" y="649"/>
                  <a:pt x="598" y="665"/>
                  <a:pt x="578" y="678"/>
                </a:cubicBezTo>
                <a:cubicBezTo>
                  <a:pt x="557" y="692"/>
                  <a:pt x="536" y="703"/>
                  <a:pt x="513" y="712"/>
                </a:cubicBezTo>
                <a:cubicBezTo>
                  <a:pt x="490" y="722"/>
                  <a:pt x="467" y="729"/>
                  <a:pt x="443" y="733"/>
                </a:cubicBezTo>
                <a:cubicBezTo>
                  <a:pt x="419" y="739"/>
                  <a:pt x="395" y="742"/>
                  <a:pt x="371" y="742"/>
                </a:cubicBezTo>
                <a:cubicBezTo>
                  <a:pt x="347" y="742"/>
                  <a:pt x="322" y="739"/>
                  <a:pt x="299" y="733"/>
                </a:cubicBezTo>
                <a:cubicBezTo>
                  <a:pt x="275" y="729"/>
                  <a:pt x="252" y="722"/>
                  <a:pt x="229" y="712"/>
                </a:cubicBezTo>
                <a:cubicBezTo>
                  <a:pt x="207" y="703"/>
                  <a:pt x="185" y="692"/>
                  <a:pt x="165" y="678"/>
                </a:cubicBezTo>
                <a:cubicBezTo>
                  <a:pt x="145" y="665"/>
                  <a:pt x="126" y="649"/>
                  <a:pt x="109" y="632"/>
                </a:cubicBezTo>
                <a:cubicBezTo>
                  <a:pt x="92" y="615"/>
                  <a:pt x="76" y="596"/>
                  <a:pt x="63" y="576"/>
                </a:cubicBezTo>
                <a:cubicBezTo>
                  <a:pt x="49" y="556"/>
                  <a:pt x="38" y="534"/>
                  <a:pt x="29" y="512"/>
                </a:cubicBezTo>
                <a:cubicBezTo>
                  <a:pt x="19" y="489"/>
                  <a:pt x="12" y="466"/>
                  <a:pt x="8" y="442"/>
                </a:cubicBezTo>
                <a:cubicBezTo>
                  <a:pt x="3" y="419"/>
                  <a:pt x="0" y="394"/>
                  <a:pt x="0" y="370"/>
                </a:cubicBezTo>
                <a:cubicBezTo>
                  <a:pt x="0" y="346"/>
                  <a:pt x="3" y="322"/>
                  <a:pt x="8" y="298"/>
                </a:cubicBezTo>
                <a:cubicBezTo>
                  <a:pt x="12" y="274"/>
                  <a:pt x="19" y="251"/>
                  <a:pt x="29" y="228"/>
                </a:cubicBezTo>
                <a:cubicBezTo>
                  <a:pt x="38" y="206"/>
                  <a:pt x="49" y="185"/>
                  <a:pt x="63" y="164"/>
                </a:cubicBezTo>
                <a:cubicBezTo>
                  <a:pt x="76" y="144"/>
                  <a:pt x="92" y="125"/>
                  <a:pt x="109" y="108"/>
                </a:cubicBezTo>
                <a:cubicBezTo>
                  <a:pt x="126" y="91"/>
                  <a:pt x="145" y="76"/>
                  <a:pt x="165" y="62"/>
                </a:cubicBezTo>
                <a:cubicBezTo>
                  <a:pt x="185" y="49"/>
                  <a:pt x="207" y="37"/>
                  <a:pt x="229" y="28"/>
                </a:cubicBezTo>
                <a:cubicBezTo>
                  <a:pt x="252" y="19"/>
                  <a:pt x="275" y="12"/>
                  <a:pt x="299" y="7"/>
                </a:cubicBezTo>
                <a:cubicBezTo>
                  <a:pt x="322" y="2"/>
                  <a:pt x="347" y="0"/>
                  <a:pt x="371" y="0"/>
                </a:cubicBezTo>
                <a:cubicBezTo>
                  <a:pt x="395" y="0"/>
                  <a:pt x="419" y="2"/>
                  <a:pt x="443" y="7"/>
                </a:cubicBezTo>
                <a:cubicBezTo>
                  <a:pt x="467" y="12"/>
                  <a:pt x="490" y="19"/>
                  <a:pt x="513" y="28"/>
                </a:cubicBezTo>
                <a:cubicBezTo>
                  <a:pt x="536" y="37"/>
                  <a:pt x="557" y="49"/>
                  <a:pt x="578" y="62"/>
                </a:cubicBezTo>
                <a:cubicBezTo>
                  <a:pt x="598" y="76"/>
                  <a:pt x="617" y="91"/>
                  <a:pt x="634" y="108"/>
                </a:cubicBezTo>
                <a:cubicBezTo>
                  <a:pt x="651" y="125"/>
                  <a:pt x="666" y="144"/>
                  <a:pt x="680" y="164"/>
                </a:cubicBezTo>
                <a:cubicBezTo>
                  <a:pt x="693" y="185"/>
                  <a:pt x="705" y="206"/>
                  <a:pt x="714" y="228"/>
                </a:cubicBezTo>
                <a:cubicBezTo>
                  <a:pt x="723" y="251"/>
                  <a:pt x="730" y="274"/>
                  <a:pt x="735" y="298"/>
                </a:cubicBezTo>
                <a:cubicBezTo>
                  <a:pt x="740" y="322"/>
                  <a:pt x="742" y="346"/>
                  <a:pt x="742" y="37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72" name="CuadroTexto 171"/>
          <p:cNvSpPr txBox="1"/>
          <p:nvPr/>
        </p:nvSpPr>
        <p:spPr>
          <a:xfrm>
            <a:off x="857160" y="1606680"/>
            <a:ext cx="3278783" cy="215444"/>
          </a:xfrm>
          <a:prstGeom prst="rect">
            <a:avLst/>
          </a:prstGeom>
          <a:noFill/>
          <a:ln w="0">
            <a:noFill/>
          </a:ln>
        </p:spPr>
        <p:txBody>
          <a:bodyPr wrap="none" lIns="0" tIns="0" rIns="0" bIns="0" anchor="t">
            <a:spAutoFit/>
          </a:bodyPr>
          <a:lstStyle>
            <a:defPPr>
              <a:defRPr lang="es-CO"/>
            </a:defPPr>
            <a:lvl1pPr>
              <a:defRPr sz="1600" b="0" u="none" strike="noStrike">
                <a:solidFill>
                  <a:srgbClr val="000000"/>
                </a:solidFill>
                <a:effectLst/>
                <a:uFillTx/>
                <a:latin typeface="CrimsonPro"/>
                <a:ea typeface="CrimsonPro"/>
              </a:defRPr>
            </a:lvl1pPr>
          </a:lstStyle>
          <a:p>
            <a:r>
              <a:rPr lang="en-US" dirty="0" err="1"/>
              <a:t>Dividir</a:t>
            </a:r>
            <a:r>
              <a:rPr lang="en-US" dirty="0"/>
              <a:t> los </a:t>
            </a:r>
            <a:r>
              <a:rPr lang="en-US" dirty="0" err="1"/>
              <a:t>desarrollos</a:t>
            </a:r>
            <a:r>
              <a:rPr lang="en-US" dirty="0"/>
              <a:t> </a:t>
            </a:r>
            <a:r>
              <a:rPr lang="en-US" dirty="0" err="1"/>
              <a:t>en</a:t>
            </a:r>
            <a:r>
              <a:rPr lang="en-US" dirty="0"/>
              <a:t> </a:t>
            </a:r>
            <a:r>
              <a:rPr lang="en-US" dirty="0" err="1"/>
              <a:t>fases</a:t>
            </a:r>
            <a:r>
              <a:rPr lang="en-US" dirty="0"/>
              <a:t> o </a:t>
            </a:r>
            <a:r>
              <a:rPr lang="en-US" dirty="0" err="1"/>
              <a:t>entregables</a:t>
            </a:r>
            <a:r>
              <a:rPr lang="en-US" dirty="0"/>
              <a:t>.</a:t>
            </a:r>
          </a:p>
        </p:txBody>
      </p:sp>
      <p:sp>
        <p:nvSpPr>
          <p:cNvPr id="173" name="CuadroTexto 172"/>
          <p:cNvSpPr txBox="1"/>
          <p:nvPr/>
        </p:nvSpPr>
        <p:spPr>
          <a:xfrm>
            <a:off x="577080" y="206172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3</a:t>
            </a:r>
            <a:endParaRPr lang="en-US" sz="1050" b="0" u="none" strike="noStrike">
              <a:solidFill>
                <a:srgbClr val="000000"/>
              </a:solidFill>
              <a:effectLst/>
              <a:uFillTx/>
              <a:latin typeface="Times New Roman"/>
            </a:endParaRPr>
          </a:p>
        </p:txBody>
      </p:sp>
      <p:sp>
        <p:nvSpPr>
          <p:cNvPr id="174" name="Forma libre: forma 173"/>
          <p:cNvSpPr/>
          <p:nvPr/>
        </p:nvSpPr>
        <p:spPr>
          <a:xfrm>
            <a:off x="475920" y="2400120"/>
            <a:ext cx="267120" cy="267120"/>
          </a:xfrm>
          <a:custGeom>
            <a:avLst/>
            <a:gdLst/>
            <a:ahLst/>
            <a:cxnLst/>
            <a:rect l="0" t="0" r="r" b="b"/>
            <a:pathLst>
              <a:path w="742" h="742">
                <a:moveTo>
                  <a:pt x="742" y="371"/>
                </a:moveTo>
                <a:cubicBezTo>
                  <a:pt x="742" y="396"/>
                  <a:pt x="740" y="420"/>
                  <a:pt x="735" y="444"/>
                </a:cubicBezTo>
                <a:cubicBezTo>
                  <a:pt x="730" y="468"/>
                  <a:pt x="723" y="491"/>
                  <a:pt x="714" y="513"/>
                </a:cubicBezTo>
                <a:cubicBezTo>
                  <a:pt x="705" y="536"/>
                  <a:pt x="693" y="557"/>
                  <a:pt x="680" y="577"/>
                </a:cubicBezTo>
                <a:cubicBezTo>
                  <a:pt x="666" y="597"/>
                  <a:pt x="651" y="616"/>
                  <a:pt x="634" y="633"/>
                </a:cubicBezTo>
                <a:cubicBezTo>
                  <a:pt x="617" y="651"/>
                  <a:pt x="598" y="666"/>
                  <a:pt x="578" y="679"/>
                </a:cubicBezTo>
                <a:cubicBezTo>
                  <a:pt x="557" y="693"/>
                  <a:pt x="536" y="704"/>
                  <a:pt x="513" y="714"/>
                </a:cubicBezTo>
                <a:cubicBezTo>
                  <a:pt x="490" y="723"/>
                  <a:pt x="467" y="730"/>
                  <a:pt x="443" y="735"/>
                </a:cubicBezTo>
                <a:cubicBezTo>
                  <a:pt x="419" y="739"/>
                  <a:pt x="395" y="742"/>
                  <a:pt x="371" y="742"/>
                </a:cubicBezTo>
                <a:cubicBezTo>
                  <a:pt x="347" y="742"/>
                  <a:pt x="322" y="739"/>
                  <a:pt x="299" y="735"/>
                </a:cubicBezTo>
                <a:cubicBezTo>
                  <a:pt x="275" y="730"/>
                  <a:pt x="252" y="723"/>
                  <a:pt x="229" y="714"/>
                </a:cubicBezTo>
                <a:cubicBezTo>
                  <a:pt x="207" y="704"/>
                  <a:pt x="185" y="693"/>
                  <a:pt x="165" y="679"/>
                </a:cubicBezTo>
                <a:cubicBezTo>
                  <a:pt x="145" y="666"/>
                  <a:pt x="126" y="651"/>
                  <a:pt x="109" y="633"/>
                </a:cubicBezTo>
                <a:cubicBezTo>
                  <a:pt x="92" y="616"/>
                  <a:pt x="76" y="597"/>
                  <a:pt x="63" y="577"/>
                </a:cubicBezTo>
                <a:cubicBezTo>
                  <a:pt x="49" y="557"/>
                  <a:pt x="38" y="536"/>
                  <a:pt x="29" y="513"/>
                </a:cubicBezTo>
                <a:cubicBezTo>
                  <a:pt x="19" y="491"/>
                  <a:pt x="12" y="468"/>
                  <a:pt x="8" y="444"/>
                </a:cubicBezTo>
                <a:cubicBezTo>
                  <a:pt x="3" y="420"/>
                  <a:pt x="0" y="396"/>
                  <a:pt x="0" y="371"/>
                </a:cubicBezTo>
                <a:cubicBezTo>
                  <a:pt x="0" y="346"/>
                  <a:pt x="3" y="322"/>
                  <a:pt x="8" y="298"/>
                </a:cubicBezTo>
                <a:cubicBezTo>
                  <a:pt x="12" y="274"/>
                  <a:pt x="19" y="251"/>
                  <a:pt x="29" y="229"/>
                </a:cubicBezTo>
                <a:cubicBezTo>
                  <a:pt x="38" y="206"/>
                  <a:pt x="49" y="185"/>
                  <a:pt x="63" y="165"/>
                </a:cubicBezTo>
                <a:cubicBezTo>
                  <a:pt x="76" y="144"/>
                  <a:pt x="92" y="126"/>
                  <a:pt x="109" y="108"/>
                </a:cubicBezTo>
                <a:cubicBezTo>
                  <a:pt x="126" y="91"/>
                  <a:pt x="145" y="76"/>
                  <a:pt x="165" y="62"/>
                </a:cubicBezTo>
                <a:cubicBezTo>
                  <a:pt x="185" y="49"/>
                  <a:pt x="207" y="38"/>
                  <a:pt x="229" y="28"/>
                </a:cubicBezTo>
                <a:cubicBezTo>
                  <a:pt x="252" y="19"/>
                  <a:pt x="275" y="12"/>
                  <a:pt x="299" y="7"/>
                </a:cubicBezTo>
                <a:cubicBezTo>
                  <a:pt x="322" y="2"/>
                  <a:pt x="347" y="0"/>
                  <a:pt x="371" y="0"/>
                </a:cubicBezTo>
                <a:cubicBezTo>
                  <a:pt x="395" y="0"/>
                  <a:pt x="419" y="2"/>
                  <a:pt x="443" y="7"/>
                </a:cubicBezTo>
                <a:cubicBezTo>
                  <a:pt x="467" y="12"/>
                  <a:pt x="490" y="19"/>
                  <a:pt x="513" y="28"/>
                </a:cubicBezTo>
                <a:cubicBezTo>
                  <a:pt x="536" y="38"/>
                  <a:pt x="557" y="49"/>
                  <a:pt x="578" y="62"/>
                </a:cubicBezTo>
                <a:cubicBezTo>
                  <a:pt x="598" y="76"/>
                  <a:pt x="617" y="91"/>
                  <a:pt x="634" y="108"/>
                </a:cubicBezTo>
                <a:cubicBezTo>
                  <a:pt x="651" y="126"/>
                  <a:pt x="666" y="144"/>
                  <a:pt x="680" y="165"/>
                </a:cubicBezTo>
                <a:cubicBezTo>
                  <a:pt x="693" y="185"/>
                  <a:pt x="705" y="206"/>
                  <a:pt x="714" y="229"/>
                </a:cubicBezTo>
                <a:cubicBezTo>
                  <a:pt x="723" y="251"/>
                  <a:pt x="730" y="274"/>
                  <a:pt x="735" y="298"/>
                </a:cubicBezTo>
                <a:cubicBezTo>
                  <a:pt x="740" y="322"/>
                  <a:pt x="742" y="346"/>
                  <a:pt x="742" y="371"/>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75" name="CuadroTexto 174"/>
          <p:cNvSpPr txBox="1"/>
          <p:nvPr/>
        </p:nvSpPr>
        <p:spPr>
          <a:xfrm>
            <a:off x="857160" y="2006640"/>
            <a:ext cx="3783600" cy="215444"/>
          </a:xfrm>
          <a:prstGeom prst="rect">
            <a:avLst/>
          </a:prstGeom>
          <a:noFill/>
          <a:ln w="0">
            <a:noFill/>
          </a:ln>
        </p:spPr>
        <p:txBody>
          <a:bodyPr wrap="none" lIns="0" tIns="0" rIns="0" bIns="0" anchor="t">
            <a:spAutoFit/>
          </a:bodyPr>
          <a:lstStyle>
            <a:defPPr>
              <a:defRPr lang="es-CO"/>
            </a:defPPr>
            <a:lvl1pPr>
              <a:defRPr sz="1600" b="0" u="none" strike="noStrike">
                <a:solidFill>
                  <a:srgbClr val="000000"/>
                </a:solidFill>
                <a:effectLst/>
                <a:uFillTx/>
                <a:latin typeface="CrimsonPro"/>
                <a:ea typeface="CrimsonPro"/>
              </a:defRPr>
            </a:lvl1pPr>
          </a:lstStyle>
          <a:p>
            <a:r>
              <a:rPr lang="en-US" dirty="0" err="1"/>
              <a:t>Elección</a:t>
            </a:r>
            <a:r>
              <a:rPr lang="en-US" dirty="0"/>
              <a:t> de un IDE </a:t>
            </a:r>
            <a:r>
              <a:rPr lang="en-US" dirty="0" err="1"/>
              <a:t>que</a:t>
            </a:r>
            <a:r>
              <a:rPr lang="en-US" dirty="0"/>
              <a:t> se </a:t>
            </a:r>
            <a:r>
              <a:rPr lang="en-US" dirty="0" err="1"/>
              <a:t>adapte</a:t>
            </a:r>
            <a:r>
              <a:rPr lang="en-US" dirty="0"/>
              <a:t> a </a:t>
            </a:r>
            <a:r>
              <a:rPr lang="en-US" dirty="0" err="1"/>
              <a:t>tus</a:t>
            </a:r>
            <a:r>
              <a:rPr lang="en-US" dirty="0"/>
              <a:t> </a:t>
            </a:r>
            <a:r>
              <a:rPr lang="en-US" dirty="0" err="1"/>
              <a:t>necesidades</a:t>
            </a:r>
            <a:r>
              <a:rPr lang="en-US" dirty="0"/>
              <a:t>.</a:t>
            </a:r>
          </a:p>
        </p:txBody>
      </p:sp>
      <p:sp>
        <p:nvSpPr>
          <p:cNvPr id="176" name="CuadroTexto 175"/>
          <p:cNvSpPr txBox="1"/>
          <p:nvPr/>
        </p:nvSpPr>
        <p:spPr>
          <a:xfrm>
            <a:off x="573480" y="246168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4</a:t>
            </a:r>
            <a:endParaRPr lang="en-US" sz="1050" b="0" u="none" strike="noStrike">
              <a:solidFill>
                <a:srgbClr val="000000"/>
              </a:solidFill>
              <a:effectLst/>
              <a:uFillTx/>
              <a:latin typeface="Times New Roman"/>
            </a:endParaRPr>
          </a:p>
        </p:txBody>
      </p:sp>
      <p:sp>
        <p:nvSpPr>
          <p:cNvPr id="177" name="Forma libre: forma 176"/>
          <p:cNvSpPr/>
          <p:nvPr/>
        </p:nvSpPr>
        <p:spPr>
          <a:xfrm>
            <a:off x="475920" y="2800080"/>
            <a:ext cx="267120" cy="267120"/>
          </a:xfrm>
          <a:custGeom>
            <a:avLst/>
            <a:gdLst/>
            <a:ahLst/>
            <a:cxnLst/>
            <a:rect l="0" t="0" r="r" b="b"/>
            <a:pathLst>
              <a:path w="742" h="742">
                <a:moveTo>
                  <a:pt x="742" y="371"/>
                </a:moveTo>
                <a:cubicBezTo>
                  <a:pt x="742" y="395"/>
                  <a:pt x="740" y="419"/>
                  <a:pt x="735" y="443"/>
                </a:cubicBezTo>
                <a:cubicBezTo>
                  <a:pt x="730" y="467"/>
                  <a:pt x="723" y="490"/>
                  <a:pt x="714" y="512"/>
                </a:cubicBezTo>
                <a:cubicBezTo>
                  <a:pt x="705" y="535"/>
                  <a:pt x="693" y="556"/>
                  <a:pt x="680" y="576"/>
                </a:cubicBezTo>
                <a:cubicBezTo>
                  <a:pt x="666" y="597"/>
                  <a:pt x="651" y="615"/>
                  <a:pt x="634" y="633"/>
                </a:cubicBezTo>
                <a:cubicBezTo>
                  <a:pt x="617" y="650"/>
                  <a:pt x="598" y="665"/>
                  <a:pt x="578" y="679"/>
                </a:cubicBezTo>
                <a:cubicBezTo>
                  <a:pt x="557" y="692"/>
                  <a:pt x="536" y="704"/>
                  <a:pt x="513" y="713"/>
                </a:cubicBezTo>
                <a:cubicBezTo>
                  <a:pt x="490" y="722"/>
                  <a:pt x="467" y="729"/>
                  <a:pt x="443" y="735"/>
                </a:cubicBezTo>
                <a:cubicBezTo>
                  <a:pt x="419" y="740"/>
                  <a:pt x="395" y="742"/>
                  <a:pt x="371" y="742"/>
                </a:cubicBezTo>
                <a:cubicBezTo>
                  <a:pt x="347" y="742"/>
                  <a:pt x="322" y="740"/>
                  <a:pt x="299" y="735"/>
                </a:cubicBezTo>
                <a:cubicBezTo>
                  <a:pt x="275" y="729"/>
                  <a:pt x="252" y="722"/>
                  <a:pt x="229" y="713"/>
                </a:cubicBezTo>
                <a:cubicBezTo>
                  <a:pt x="207" y="704"/>
                  <a:pt x="185" y="692"/>
                  <a:pt x="165" y="679"/>
                </a:cubicBezTo>
                <a:cubicBezTo>
                  <a:pt x="145" y="665"/>
                  <a:pt x="126" y="650"/>
                  <a:pt x="109" y="633"/>
                </a:cubicBezTo>
                <a:cubicBezTo>
                  <a:pt x="92" y="615"/>
                  <a:pt x="76" y="597"/>
                  <a:pt x="63" y="576"/>
                </a:cubicBezTo>
                <a:cubicBezTo>
                  <a:pt x="49" y="556"/>
                  <a:pt x="38" y="535"/>
                  <a:pt x="29" y="512"/>
                </a:cubicBezTo>
                <a:cubicBezTo>
                  <a:pt x="19" y="490"/>
                  <a:pt x="12" y="467"/>
                  <a:pt x="8" y="443"/>
                </a:cubicBezTo>
                <a:cubicBezTo>
                  <a:pt x="3" y="419"/>
                  <a:pt x="0" y="395"/>
                  <a:pt x="0" y="371"/>
                </a:cubicBezTo>
                <a:cubicBezTo>
                  <a:pt x="0" y="346"/>
                  <a:pt x="3" y="322"/>
                  <a:pt x="8" y="298"/>
                </a:cubicBezTo>
                <a:cubicBezTo>
                  <a:pt x="12" y="275"/>
                  <a:pt x="19" y="251"/>
                  <a:pt x="29" y="229"/>
                </a:cubicBezTo>
                <a:cubicBezTo>
                  <a:pt x="38" y="206"/>
                  <a:pt x="49" y="185"/>
                  <a:pt x="63" y="165"/>
                </a:cubicBezTo>
                <a:cubicBezTo>
                  <a:pt x="76" y="145"/>
                  <a:pt x="92" y="126"/>
                  <a:pt x="109" y="109"/>
                </a:cubicBezTo>
                <a:cubicBezTo>
                  <a:pt x="126" y="92"/>
                  <a:pt x="145" y="76"/>
                  <a:pt x="165" y="63"/>
                </a:cubicBezTo>
                <a:cubicBezTo>
                  <a:pt x="185" y="49"/>
                  <a:pt x="207" y="38"/>
                  <a:pt x="229" y="28"/>
                </a:cubicBezTo>
                <a:cubicBezTo>
                  <a:pt x="252" y="19"/>
                  <a:pt x="275" y="12"/>
                  <a:pt x="299" y="7"/>
                </a:cubicBezTo>
                <a:cubicBezTo>
                  <a:pt x="322" y="3"/>
                  <a:pt x="347" y="0"/>
                  <a:pt x="371" y="0"/>
                </a:cubicBezTo>
                <a:cubicBezTo>
                  <a:pt x="395" y="0"/>
                  <a:pt x="419" y="3"/>
                  <a:pt x="443" y="7"/>
                </a:cubicBezTo>
                <a:cubicBezTo>
                  <a:pt x="467" y="12"/>
                  <a:pt x="490" y="19"/>
                  <a:pt x="513" y="28"/>
                </a:cubicBezTo>
                <a:cubicBezTo>
                  <a:pt x="536" y="38"/>
                  <a:pt x="557" y="49"/>
                  <a:pt x="578" y="63"/>
                </a:cubicBezTo>
                <a:cubicBezTo>
                  <a:pt x="598" y="76"/>
                  <a:pt x="617" y="92"/>
                  <a:pt x="634" y="109"/>
                </a:cubicBezTo>
                <a:cubicBezTo>
                  <a:pt x="651" y="126"/>
                  <a:pt x="666" y="145"/>
                  <a:pt x="680" y="165"/>
                </a:cubicBezTo>
                <a:cubicBezTo>
                  <a:pt x="693" y="185"/>
                  <a:pt x="705" y="206"/>
                  <a:pt x="714" y="229"/>
                </a:cubicBezTo>
                <a:cubicBezTo>
                  <a:pt x="723" y="251"/>
                  <a:pt x="730" y="275"/>
                  <a:pt x="735" y="298"/>
                </a:cubicBezTo>
                <a:cubicBezTo>
                  <a:pt x="740" y="322"/>
                  <a:pt x="742" y="346"/>
                  <a:pt x="742" y="371"/>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78" name="CuadroTexto 177"/>
          <p:cNvSpPr txBox="1"/>
          <p:nvPr/>
        </p:nvSpPr>
        <p:spPr>
          <a:xfrm>
            <a:off x="857160" y="2406600"/>
            <a:ext cx="2698303" cy="215444"/>
          </a:xfrm>
          <a:prstGeom prst="rect">
            <a:avLst/>
          </a:prstGeom>
          <a:noFill/>
          <a:ln w="0">
            <a:noFill/>
          </a:ln>
        </p:spPr>
        <p:txBody>
          <a:bodyPr wrap="none" lIns="0" tIns="0" rIns="0" bIns="0" anchor="t">
            <a:spAutoFit/>
          </a:bodyPr>
          <a:lstStyle>
            <a:defPPr>
              <a:defRPr lang="es-CO"/>
            </a:defPPr>
            <a:lvl1pPr>
              <a:defRPr sz="1600" b="0" u="none" strike="noStrike">
                <a:solidFill>
                  <a:srgbClr val="000000"/>
                </a:solidFill>
                <a:effectLst/>
                <a:uFillTx/>
                <a:latin typeface="CrimsonPro"/>
                <a:ea typeface="CrimsonPro"/>
              </a:defRPr>
            </a:lvl1pPr>
          </a:lstStyle>
          <a:p>
            <a:r>
              <a:rPr lang="en-US" dirty="0" err="1"/>
              <a:t>Estandarizar</a:t>
            </a:r>
            <a:r>
              <a:rPr lang="en-US" dirty="0"/>
              <a:t> las </a:t>
            </a:r>
            <a:r>
              <a:rPr lang="en-US" dirty="0" err="1"/>
              <a:t>reglas</a:t>
            </a:r>
            <a:r>
              <a:rPr lang="en-US" dirty="0"/>
              <a:t> del </a:t>
            </a:r>
            <a:r>
              <a:rPr lang="en-US" dirty="0" err="1"/>
              <a:t>desarrollo</a:t>
            </a:r>
            <a:r>
              <a:rPr lang="en-US" dirty="0"/>
              <a:t>.</a:t>
            </a:r>
          </a:p>
        </p:txBody>
      </p:sp>
      <p:sp>
        <p:nvSpPr>
          <p:cNvPr id="179" name="CuadroTexto 178"/>
          <p:cNvSpPr txBox="1"/>
          <p:nvPr/>
        </p:nvSpPr>
        <p:spPr>
          <a:xfrm>
            <a:off x="576720" y="286200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5</a:t>
            </a:r>
            <a:endParaRPr lang="en-US" sz="1050" b="0" u="none" strike="noStrike">
              <a:solidFill>
                <a:srgbClr val="000000"/>
              </a:solidFill>
              <a:effectLst/>
              <a:uFillTx/>
              <a:latin typeface="Times New Roman"/>
            </a:endParaRPr>
          </a:p>
        </p:txBody>
      </p:sp>
      <p:sp>
        <p:nvSpPr>
          <p:cNvPr id="180" name="CuadroTexto 179"/>
          <p:cNvSpPr txBox="1"/>
          <p:nvPr/>
        </p:nvSpPr>
        <p:spPr>
          <a:xfrm>
            <a:off x="857160" y="2806560"/>
            <a:ext cx="1947200" cy="215444"/>
          </a:xfrm>
          <a:prstGeom prst="rect">
            <a:avLst/>
          </a:prstGeom>
          <a:noFill/>
          <a:ln w="0">
            <a:noFill/>
          </a:ln>
        </p:spPr>
        <p:txBody>
          <a:bodyPr wrap="none" lIns="0" tIns="0" rIns="0" bIns="0" anchor="t">
            <a:spAutoFit/>
          </a:bodyPr>
          <a:lstStyle>
            <a:defPPr>
              <a:defRPr lang="es-CO"/>
            </a:defPPr>
            <a:lvl1pPr>
              <a:defRPr sz="1600" b="0" u="none" strike="noStrike">
                <a:solidFill>
                  <a:srgbClr val="000000"/>
                </a:solidFill>
                <a:effectLst/>
                <a:uFillTx/>
                <a:latin typeface="CrimsonPro"/>
                <a:ea typeface="CrimsonPro"/>
              </a:defRPr>
            </a:lvl1pPr>
          </a:lstStyle>
          <a:p>
            <a:r>
              <a:rPr lang="en-US" dirty="0"/>
              <a:t>DRY: Don't repeat yourself.</a:t>
            </a:r>
          </a:p>
        </p:txBody>
      </p:sp>
      <p:sp>
        <p:nvSpPr>
          <p:cNvPr id="181" name="CuadroTexto 180"/>
          <p:cNvSpPr txBox="1"/>
          <p:nvPr/>
        </p:nvSpPr>
        <p:spPr>
          <a:xfrm>
            <a:off x="857160" y="3080880"/>
            <a:ext cx="475812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Duplicar datos, lógica o función en tu código no solo hace que tu código sea largo, sino que</a:t>
            </a:r>
            <a:endParaRPr lang="en-US" sz="1050" b="0" u="none" strike="noStrike">
              <a:solidFill>
                <a:srgbClr val="000000"/>
              </a:solidFill>
              <a:effectLst/>
              <a:uFillTx/>
              <a:latin typeface="Times New Roman"/>
            </a:endParaRPr>
          </a:p>
        </p:txBody>
      </p:sp>
      <p:sp>
        <p:nvSpPr>
          <p:cNvPr id="182" name="Forma libre: forma 181"/>
          <p:cNvSpPr/>
          <p:nvPr/>
        </p:nvSpPr>
        <p:spPr>
          <a:xfrm>
            <a:off x="475920" y="3619440"/>
            <a:ext cx="267120" cy="266760"/>
          </a:xfrm>
          <a:custGeom>
            <a:avLst/>
            <a:gdLst/>
            <a:ahLst/>
            <a:cxnLst/>
            <a:rect l="0" t="0" r="r" b="b"/>
            <a:pathLst>
              <a:path w="742" h="741">
                <a:moveTo>
                  <a:pt x="742" y="370"/>
                </a:moveTo>
                <a:cubicBezTo>
                  <a:pt x="742" y="394"/>
                  <a:pt x="740" y="418"/>
                  <a:pt x="735" y="442"/>
                </a:cubicBezTo>
                <a:cubicBezTo>
                  <a:pt x="730" y="466"/>
                  <a:pt x="723" y="489"/>
                  <a:pt x="714" y="512"/>
                </a:cubicBezTo>
                <a:cubicBezTo>
                  <a:pt x="705" y="534"/>
                  <a:pt x="693" y="556"/>
                  <a:pt x="680" y="576"/>
                </a:cubicBezTo>
                <a:cubicBezTo>
                  <a:pt x="666" y="596"/>
                  <a:pt x="651" y="615"/>
                  <a:pt x="634" y="632"/>
                </a:cubicBezTo>
                <a:cubicBezTo>
                  <a:pt x="617" y="649"/>
                  <a:pt x="598" y="665"/>
                  <a:pt x="578" y="679"/>
                </a:cubicBezTo>
                <a:cubicBezTo>
                  <a:pt x="557" y="693"/>
                  <a:pt x="536" y="704"/>
                  <a:pt x="513" y="713"/>
                </a:cubicBezTo>
                <a:cubicBezTo>
                  <a:pt x="490" y="723"/>
                  <a:pt x="467" y="730"/>
                  <a:pt x="443" y="734"/>
                </a:cubicBezTo>
                <a:cubicBezTo>
                  <a:pt x="419" y="739"/>
                  <a:pt x="395" y="741"/>
                  <a:pt x="371" y="741"/>
                </a:cubicBezTo>
                <a:cubicBezTo>
                  <a:pt x="347" y="741"/>
                  <a:pt x="322" y="739"/>
                  <a:pt x="299" y="734"/>
                </a:cubicBezTo>
                <a:cubicBezTo>
                  <a:pt x="275" y="730"/>
                  <a:pt x="252" y="723"/>
                  <a:pt x="229" y="713"/>
                </a:cubicBezTo>
                <a:cubicBezTo>
                  <a:pt x="207" y="704"/>
                  <a:pt x="185" y="693"/>
                  <a:pt x="165" y="679"/>
                </a:cubicBezTo>
                <a:cubicBezTo>
                  <a:pt x="145" y="665"/>
                  <a:pt x="126" y="649"/>
                  <a:pt x="109" y="632"/>
                </a:cubicBezTo>
                <a:cubicBezTo>
                  <a:pt x="92" y="615"/>
                  <a:pt x="76" y="596"/>
                  <a:pt x="63" y="576"/>
                </a:cubicBezTo>
                <a:cubicBezTo>
                  <a:pt x="49" y="556"/>
                  <a:pt x="38" y="534"/>
                  <a:pt x="29" y="512"/>
                </a:cubicBezTo>
                <a:cubicBezTo>
                  <a:pt x="19" y="489"/>
                  <a:pt x="12" y="466"/>
                  <a:pt x="8" y="442"/>
                </a:cubicBezTo>
                <a:cubicBezTo>
                  <a:pt x="3" y="418"/>
                  <a:pt x="0" y="394"/>
                  <a:pt x="0" y="370"/>
                </a:cubicBezTo>
                <a:cubicBezTo>
                  <a:pt x="0" y="346"/>
                  <a:pt x="3" y="322"/>
                  <a:pt x="8" y="298"/>
                </a:cubicBezTo>
                <a:cubicBezTo>
                  <a:pt x="12" y="274"/>
                  <a:pt x="19" y="251"/>
                  <a:pt x="29" y="228"/>
                </a:cubicBezTo>
                <a:cubicBezTo>
                  <a:pt x="38" y="206"/>
                  <a:pt x="49" y="185"/>
                  <a:pt x="63" y="164"/>
                </a:cubicBezTo>
                <a:cubicBezTo>
                  <a:pt x="76" y="144"/>
                  <a:pt x="92" y="125"/>
                  <a:pt x="109" y="108"/>
                </a:cubicBezTo>
                <a:cubicBezTo>
                  <a:pt x="126" y="91"/>
                  <a:pt x="145" y="76"/>
                  <a:pt x="165" y="62"/>
                </a:cubicBezTo>
                <a:cubicBezTo>
                  <a:pt x="185" y="49"/>
                  <a:pt x="207" y="37"/>
                  <a:pt x="229" y="28"/>
                </a:cubicBezTo>
                <a:cubicBezTo>
                  <a:pt x="252" y="19"/>
                  <a:pt x="275" y="12"/>
                  <a:pt x="299" y="7"/>
                </a:cubicBezTo>
                <a:cubicBezTo>
                  <a:pt x="322" y="2"/>
                  <a:pt x="347" y="0"/>
                  <a:pt x="371" y="0"/>
                </a:cubicBezTo>
                <a:cubicBezTo>
                  <a:pt x="395" y="0"/>
                  <a:pt x="419" y="2"/>
                  <a:pt x="443" y="7"/>
                </a:cubicBezTo>
                <a:cubicBezTo>
                  <a:pt x="467" y="12"/>
                  <a:pt x="490" y="19"/>
                  <a:pt x="513" y="28"/>
                </a:cubicBezTo>
                <a:cubicBezTo>
                  <a:pt x="536" y="37"/>
                  <a:pt x="557" y="49"/>
                  <a:pt x="578" y="62"/>
                </a:cubicBezTo>
                <a:cubicBezTo>
                  <a:pt x="598" y="76"/>
                  <a:pt x="617" y="91"/>
                  <a:pt x="634" y="108"/>
                </a:cubicBezTo>
                <a:cubicBezTo>
                  <a:pt x="651" y="125"/>
                  <a:pt x="666" y="144"/>
                  <a:pt x="680" y="164"/>
                </a:cubicBezTo>
                <a:cubicBezTo>
                  <a:pt x="693" y="185"/>
                  <a:pt x="705" y="206"/>
                  <a:pt x="714" y="228"/>
                </a:cubicBezTo>
                <a:cubicBezTo>
                  <a:pt x="723" y="251"/>
                  <a:pt x="730" y="274"/>
                  <a:pt x="735" y="298"/>
                </a:cubicBezTo>
                <a:cubicBezTo>
                  <a:pt x="740" y="322"/>
                  <a:pt x="742" y="346"/>
                  <a:pt x="742" y="37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83" name="CuadroTexto 182"/>
          <p:cNvSpPr txBox="1"/>
          <p:nvPr/>
        </p:nvSpPr>
        <p:spPr>
          <a:xfrm>
            <a:off x="857160" y="3300120"/>
            <a:ext cx="2458800" cy="148320"/>
          </a:xfrm>
          <a:prstGeom prst="rect">
            <a:avLst/>
          </a:prstGeom>
          <a:noFill/>
          <a:ln w="0">
            <a:noFill/>
          </a:ln>
        </p:spPr>
        <p:txBody>
          <a:bodyPr wrap="none" lIns="0" tIns="0" rIns="0" bIns="0" anchor="t">
            <a:spAutoFit/>
          </a:bodyPr>
          <a:lstStyle/>
          <a:p>
            <a:r>
              <a:rPr lang="en-US" sz="1050" b="0" u="none" strike="noStrike" dirty="0">
                <a:solidFill>
                  <a:srgbClr val="666666"/>
                </a:solidFill>
                <a:effectLst/>
                <a:uFillTx/>
                <a:latin typeface="CrimsonPro"/>
                <a:ea typeface="CrimsonPro"/>
              </a:rPr>
              <a:t>también </a:t>
            </a:r>
            <a:r>
              <a:rPr lang="en-US" sz="1050" b="0" u="none" strike="noStrike" dirty="0" err="1">
                <a:solidFill>
                  <a:srgbClr val="666666"/>
                </a:solidFill>
                <a:effectLst/>
                <a:uFillTx/>
                <a:latin typeface="CrimsonPro"/>
                <a:ea typeface="CrimsonPro"/>
              </a:rPr>
              <a:t>inviertas</a:t>
            </a:r>
            <a:r>
              <a:rPr lang="en-US" sz="1050" b="0" u="none" strike="noStrike" dirty="0">
                <a:solidFill>
                  <a:srgbClr val="666666"/>
                </a:solidFill>
                <a:effectLst/>
                <a:uFillTx/>
                <a:latin typeface="CrimsonPro"/>
                <a:ea typeface="CrimsonPro"/>
              </a:rPr>
              <a:t> </a:t>
            </a:r>
            <a:r>
              <a:rPr lang="en-US" sz="1050" b="0" u="none" strike="noStrike" dirty="0" err="1">
                <a:solidFill>
                  <a:srgbClr val="666666"/>
                </a:solidFill>
                <a:effectLst/>
                <a:uFillTx/>
                <a:latin typeface="CrimsonPro"/>
                <a:ea typeface="CrimsonPro"/>
              </a:rPr>
              <a:t>mucho</a:t>
            </a:r>
            <a:r>
              <a:rPr lang="en-US" sz="1050" b="0" u="none" strike="noStrike" dirty="0">
                <a:solidFill>
                  <a:srgbClr val="666666"/>
                </a:solidFill>
                <a:effectLst/>
                <a:uFillTx/>
                <a:latin typeface="CrimsonPro"/>
                <a:ea typeface="CrimsonPro"/>
              </a:rPr>
              <a:t> </a:t>
            </a:r>
            <a:r>
              <a:rPr lang="en-US" sz="1050" b="0" u="none" strike="noStrike" dirty="0" err="1">
                <a:solidFill>
                  <a:srgbClr val="666666"/>
                </a:solidFill>
                <a:effectLst/>
                <a:uFillTx/>
                <a:latin typeface="CrimsonPro"/>
                <a:ea typeface="CrimsonPro"/>
              </a:rPr>
              <a:t>tiempo</a:t>
            </a:r>
            <a:r>
              <a:rPr lang="en-US" sz="1050" b="0" u="none" strike="noStrike" dirty="0">
                <a:solidFill>
                  <a:srgbClr val="666666"/>
                </a:solidFill>
                <a:effectLst/>
                <a:uFillTx/>
                <a:latin typeface="CrimsonPro"/>
                <a:ea typeface="CrimsonPro"/>
              </a:rPr>
              <a:t> </a:t>
            </a:r>
            <a:r>
              <a:rPr lang="en-US" sz="1050" b="0" u="none" strike="noStrike" dirty="0" err="1">
                <a:solidFill>
                  <a:srgbClr val="666666"/>
                </a:solidFill>
                <a:effectLst/>
                <a:uFillTx/>
                <a:latin typeface="CrimsonPro"/>
                <a:ea typeface="CrimsonPro"/>
              </a:rPr>
              <a:t>en</a:t>
            </a:r>
            <a:r>
              <a:rPr lang="en-US" sz="1050" b="0" u="none" strike="noStrike" dirty="0">
                <a:solidFill>
                  <a:srgbClr val="666666"/>
                </a:solidFill>
                <a:effectLst/>
                <a:uFillTx/>
                <a:latin typeface="CrimsonPro"/>
                <a:ea typeface="CrimsonPro"/>
              </a:rPr>
              <a:t> </a:t>
            </a:r>
            <a:r>
              <a:rPr lang="en-US" sz="1050" b="0" u="none" strike="noStrike" dirty="0" err="1">
                <a:solidFill>
                  <a:srgbClr val="666666"/>
                </a:solidFill>
                <a:effectLst/>
                <a:uFillTx/>
                <a:latin typeface="CrimsonPro"/>
                <a:ea typeface="CrimsonPro"/>
              </a:rPr>
              <a:t>mantener</a:t>
            </a:r>
            <a:r>
              <a:rPr lang="en-US" sz="1050" b="0" u="none" strike="noStrike" dirty="0">
                <a:solidFill>
                  <a:srgbClr val="666666"/>
                </a:solidFill>
                <a:effectLst/>
                <a:uFillTx/>
                <a:latin typeface="CrimsonPro"/>
                <a:ea typeface="CrimsonPro"/>
              </a:rPr>
              <a:t>.</a:t>
            </a:r>
            <a:endParaRPr lang="en-US" sz="1050" b="0" u="none" strike="noStrike" dirty="0">
              <a:solidFill>
                <a:srgbClr val="000000"/>
              </a:solidFill>
              <a:effectLst/>
              <a:uFillTx/>
              <a:latin typeface="Times New Roman"/>
            </a:endParaRPr>
          </a:p>
        </p:txBody>
      </p:sp>
      <p:sp>
        <p:nvSpPr>
          <p:cNvPr id="184" name="CuadroTexto 183"/>
          <p:cNvSpPr txBox="1"/>
          <p:nvPr/>
        </p:nvSpPr>
        <p:spPr>
          <a:xfrm>
            <a:off x="573120" y="368100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6</a:t>
            </a:r>
            <a:endParaRPr lang="en-US" sz="1050" b="0" u="none" strike="noStrike">
              <a:solidFill>
                <a:srgbClr val="000000"/>
              </a:solidFill>
              <a:effectLst/>
              <a:uFillTx/>
              <a:latin typeface="Times New Roman"/>
            </a:endParaRPr>
          </a:p>
        </p:txBody>
      </p:sp>
      <p:sp>
        <p:nvSpPr>
          <p:cNvPr id="185" name="CuadroTexto 184"/>
          <p:cNvSpPr txBox="1"/>
          <p:nvPr/>
        </p:nvSpPr>
        <p:spPr>
          <a:xfrm>
            <a:off x="857160" y="3625920"/>
            <a:ext cx="910249" cy="215444"/>
          </a:xfrm>
          <a:prstGeom prst="rect">
            <a:avLst/>
          </a:prstGeom>
          <a:noFill/>
          <a:ln w="0">
            <a:noFill/>
          </a:ln>
        </p:spPr>
        <p:txBody>
          <a:bodyPr wrap="none" lIns="0" tIns="0" rIns="0" bIns="0" anchor="t">
            <a:spAutoFit/>
          </a:bodyPr>
          <a:lstStyle>
            <a:defPPr>
              <a:defRPr lang="es-CO"/>
            </a:defPPr>
            <a:lvl1pPr>
              <a:defRPr sz="1600" b="0" u="none" strike="noStrike">
                <a:solidFill>
                  <a:srgbClr val="000000"/>
                </a:solidFill>
                <a:effectLst/>
                <a:uFillTx/>
                <a:latin typeface="CrimsonPro"/>
                <a:ea typeface="CrimsonPro"/>
              </a:defRPr>
            </a:lvl1pPr>
          </a:lstStyle>
          <a:p>
            <a:r>
              <a:rPr lang="en-US" dirty="0"/>
              <a:t>No </a:t>
            </a:r>
            <a:r>
              <a:rPr lang="en-US" dirty="0" err="1"/>
              <a:t>inventes</a:t>
            </a:r>
            <a:r>
              <a:rPr lang="en-US" dirty="0"/>
              <a:t>.</a:t>
            </a:r>
          </a:p>
        </p:txBody>
      </p:sp>
      <p:sp>
        <p:nvSpPr>
          <p:cNvPr id="186" name="CuadroTexto 185"/>
          <p:cNvSpPr txBox="1"/>
          <p:nvPr/>
        </p:nvSpPr>
        <p:spPr>
          <a:xfrm>
            <a:off x="857160" y="3900240"/>
            <a:ext cx="498132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Si ya se disponen de módulos y librerías ya testeadas y optimizadas, no pierdas el tiempo en un</a:t>
            </a:r>
            <a:endParaRPr lang="en-US" sz="1050" b="0" u="none" strike="noStrike">
              <a:solidFill>
                <a:srgbClr val="000000"/>
              </a:solidFill>
              <a:effectLst/>
              <a:uFillTx/>
              <a:latin typeface="Times New Roman"/>
            </a:endParaRPr>
          </a:p>
        </p:txBody>
      </p:sp>
      <p:sp>
        <p:nvSpPr>
          <p:cNvPr id="187" name="Forma libre: forma 186"/>
          <p:cNvSpPr/>
          <p:nvPr/>
        </p:nvSpPr>
        <p:spPr>
          <a:xfrm>
            <a:off x="6248160" y="1199880"/>
            <a:ext cx="267120" cy="267120"/>
          </a:xfrm>
          <a:custGeom>
            <a:avLst/>
            <a:gdLst/>
            <a:ahLst/>
            <a:cxnLst/>
            <a:rect l="0" t="0" r="r" b="b"/>
            <a:pathLst>
              <a:path w="742" h="742">
                <a:moveTo>
                  <a:pt x="742" y="371"/>
                </a:moveTo>
                <a:cubicBezTo>
                  <a:pt x="742" y="395"/>
                  <a:pt x="740" y="419"/>
                  <a:pt x="735" y="443"/>
                </a:cubicBezTo>
                <a:cubicBezTo>
                  <a:pt x="730" y="467"/>
                  <a:pt x="723" y="490"/>
                  <a:pt x="714" y="512"/>
                </a:cubicBezTo>
                <a:cubicBezTo>
                  <a:pt x="704" y="535"/>
                  <a:pt x="693" y="556"/>
                  <a:pt x="680" y="576"/>
                </a:cubicBezTo>
                <a:cubicBezTo>
                  <a:pt x="666" y="597"/>
                  <a:pt x="651" y="615"/>
                  <a:pt x="634" y="633"/>
                </a:cubicBezTo>
                <a:cubicBezTo>
                  <a:pt x="616" y="650"/>
                  <a:pt x="598" y="665"/>
                  <a:pt x="577" y="679"/>
                </a:cubicBezTo>
                <a:cubicBezTo>
                  <a:pt x="557" y="692"/>
                  <a:pt x="536" y="704"/>
                  <a:pt x="513" y="713"/>
                </a:cubicBezTo>
                <a:cubicBezTo>
                  <a:pt x="491" y="722"/>
                  <a:pt x="468" y="729"/>
                  <a:pt x="444" y="734"/>
                </a:cubicBezTo>
                <a:cubicBezTo>
                  <a:pt x="420" y="740"/>
                  <a:pt x="396" y="742"/>
                  <a:pt x="372" y="742"/>
                </a:cubicBezTo>
                <a:cubicBezTo>
                  <a:pt x="347" y="742"/>
                  <a:pt x="323" y="740"/>
                  <a:pt x="299" y="734"/>
                </a:cubicBezTo>
                <a:cubicBezTo>
                  <a:pt x="275" y="729"/>
                  <a:pt x="252" y="722"/>
                  <a:pt x="230" y="713"/>
                </a:cubicBezTo>
                <a:cubicBezTo>
                  <a:pt x="207" y="704"/>
                  <a:pt x="186" y="692"/>
                  <a:pt x="166" y="679"/>
                </a:cubicBezTo>
                <a:cubicBezTo>
                  <a:pt x="146" y="665"/>
                  <a:pt x="127" y="650"/>
                  <a:pt x="110" y="633"/>
                </a:cubicBezTo>
                <a:cubicBezTo>
                  <a:pt x="92" y="615"/>
                  <a:pt x="77" y="597"/>
                  <a:pt x="64" y="576"/>
                </a:cubicBezTo>
                <a:cubicBezTo>
                  <a:pt x="50" y="556"/>
                  <a:pt x="39" y="535"/>
                  <a:pt x="28" y="512"/>
                </a:cubicBezTo>
                <a:cubicBezTo>
                  <a:pt x="19" y="490"/>
                  <a:pt x="12" y="467"/>
                  <a:pt x="7" y="443"/>
                </a:cubicBezTo>
                <a:cubicBezTo>
                  <a:pt x="3" y="419"/>
                  <a:pt x="0" y="395"/>
                  <a:pt x="0" y="371"/>
                </a:cubicBezTo>
                <a:cubicBezTo>
                  <a:pt x="0" y="346"/>
                  <a:pt x="3" y="322"/>
                  <a:pt x="7" y="298"/>
                </a:cubicBezTo>
                <a:cubicBezTo>
                  <a:pt x="12" y="275"/>
                  <a:pt x="19" y="251"/>
                  <a:pt x="28" y="229"/>
                </a:cubicBezTo>
                <a:cubicBezTo>
                  <a:pt x="39" y="206"/>
                  <a:pt x="50" y="185"/>
                  <a:pt x="64" y="165"/>
                </a:cubicBezTo>
                <a:cubicBezTo>
                  <a:pt x="77" y="145"/>
                  <a:pt x="92" y="126"/>
                  <a:pt x="110" y="109"/>
                </a:cubicBezTo>
                <a:cubicBezTo>
                  <a:pt x="127" y="92"/>
                  <a:pt x="146" y="76"/>
                  <a:pt x="166" y="63"/>
                </a:cubicBezTo>
                <a:cubicBezTo>
                  <a:pt x="186" y="49"/>
                  <a:pt x="207" y="38"/>
                  <a:pt x="230" y="28"/>
                </a:cubicBezTo>
                <a:cubicBezTo>
                  <a:pt x="252" y="19"/>
                  <a:pt x="275" y="12"/>
                  <a:pt x="299" y="7"/>
                </a:cubicBezTo>
                <a:cubicBezTo>
                  <a:pt x="323" y="3"/>
                  <a:pt x="347" y="0"/>
                  <a:pt x="372" y="0"/>
                </a:cubicBezTo>
                <a:cubicBezTo>
                  <a:pt x="396" y="0"/>
                  <a:pt x="420" y="3"/>
                  <a:pt x="444" y="7"/>
                </a:cubicBezTo>
                <a:cubicBezTo>
                  <a:pt x="468" y="12"/>
                  <a:pt x="491" y="19"/>
                  <a:pt x="513" y="28"/>
                </a:cubicBezTo>
                <a:cubicBezTo>
                  <a:pt x="536" y="38"/>
                  <a:pt x="557" y="49"/>
                  <a:pt x="577" y="63"/>
                </a:cubicBezTo>
                <a:cubicBezTo>
                  <a:pt x="598" y="76"/>
                  <a:pt x="616" y="92"/>
                  <a:pt x="634" y="109"/>
                </a:cubicBezTo>
                <a:cubicBezTo>
                  <a:pt x="651" y="126"/>
                  <a:pt x="666" y="145"/>
                  <a:pt x="680" y="165"/>
                </a:cubicBezTo>
                <a:cubicBezTo>
                  <a:pt x="693" y="185"/>
                  <a:pt x="704" y="206"/>
                  <a:pt x="714" y="229"/>
                </a:cubicBezTo>
                <a:cubicBezTo>
                  <a:pt x="723" y="251"/>
                  <a:pt x="730" y="275"/>
                  <a:pt x="735" y="298"/>
                </a:cubicBezTo>
                <a:cubicBezTo>
                  <a:pt x="740" y="322"/>
                  <a:pt x="742" y="346"/>
                  <a:pt x="742" y="371"/>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88" name="CuadroTexto 187"/>
          <p:cNvSpPr txBox="1"/>
          <p:nvPr/>
        </p:nvSpPr>
        <p:spPr>
          <a:xfrm>
            <a:off x="857160" y="4109760"/>
            <a:ext cx="446400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desarrollo. Los IDE actuales disponen de librerías que te ayudarán en tus desarrollos.</a:t>
            </a:r>
            <a:endParaRPr lang="en-US" sz="1050" b="0" u="none" strike="noStrike">
              <a:solidFill>
                <a:srgbClr val="000000"/>
              </a:solidFill>
              <a:effectLst/>
              <a:uFillTx/>
              <a:latin typeface="Times New Roman"/>
            </a:endParaRPr>
          </a:p>
        </p:txBody>
      </p:sp>
      <p:sp>
        <p:nvSpPr>
          <p:cNvPr id="189" name="CuadroTexto 188"/>
          <p:cNvSpPr txBox="1"/>
          <p:nvPr/>
        </p:nvSpPr>
        <p:spPr>
          <a:xfrm>
            <a:off x="6349320" y="1261800"/>
            <a:ext cx="132840" cy="148320"/>
          </a:xfrm>
          <a:prstGeom prst="rect">
            <a:avLst/>
          </a:prstGeom>
          <a:noFill/>
          <a:ln w="0">
            <a:noFill/>
          </a:ln>
        </p:spPr>
        <p:txBody>
          <a:bodyPr wrap="none" lIns="0" tIns="0" rIns="0" bIns="0" anchor="t">
            <a:spAutoFit/>
          </a:bodyPr>
          <a:lstStyle/>
          <a:p>
            <a:r>
              <a:rPr lang="en-US" sz="1050" b="0" u="none" strike="noStrike" dirty="0">
                <a:solidFill>
                  <a:srgbClr val="DA7756"/>
                </a:solidFill>
                <a:effectLst/>
                <a:uFillTx/>
                <a:latin typeface="CrimsonPro"/>
                <a:ea typeface="CrimsonPro"/>
              </a:rPr>
              <a:t>7</a:t>
            </a:r>
            <a:endParaRPr lang="en-US" sz="1050" b="0" u="none" strike="noStrike" dirty="0">
              <a:solidFill>
                <a:srgbClr val="000000"/>
              </a:solidFill>
              <a:effectLst/>
              <a:uFillTx/>
              <a:latin typeface="Times New Roman"/>
            </a:endParaRPr>
          </a:p>
        </p:txBody>
      </p:sp>
      <p:sp>
        <p:nvSpPr>
          <p:cNvPr id="190" name="Forma libre: forma 189"/>
          <p:cNvSpPr/>
          <p:nvPr/>
        </p:nvSpPr>
        <p:spPr>
          <a:xfrm>
            <a:off x="6248160" y="1599840"/>
            <a:ext cx="267120" cy="267120"/>
          </a:xfrm>
          <a:custGeom>
            <a:avLst/>
            <a:gdLst/>
            <a:ahLst/>
            <a:cxnLst/>
            <a:rect l="0" t="0" r="r" b="b"/>
            <a:pathLst>
              <a:path w="742" h="742">
                <a:moveTo>
                  <a:pt x="742" y="372"/>
                </a:moveTo>
                <a:cubicBezTo>
                  <a:pt x="742" y="396"/>
                  <a:pt x="740" y="420"/>
                  <a:pt x="735" y="444"/>
                </a:cubicBezTo>
                <a:cubicBezTo>
                  <a:pt x="730" y="468"/>
                  <a:pt x="723" y="491"/>
                  <a:pt x="714" y="514"/>
                </a:cubicBezTo>
                <a:cubicBezTo>
                  <a:pt x="704" y="536"/>
                  <a:pt x="693" y="557"/>
                  <a:pt x="680" y="578"/>
                </a:cubicBezTo>
                <a:cubicBezTo>
                  <a:pt x="666" y="598"/>
                  <a:pt x="651" y="617"/>
                  <a:pt x="634" y="634"/>
                </a:cubicBezTo>
                <a:cubicBezTo>
                  <a:pt x="616" y="651"/>
                  <a:pt x="598" y="666"/>
                  <a:pt x="577" y="680"/>
                </a:cubicBezTo>
                <a:cubicBezTo>
                  <a:pt x="557" y="693"/>
                  <a:pt x="536" y="705"/>
                  <a:pt x="513" y="714"/>
                </a:cubicBezTo>
                <a:cubicBezTo>
                  <a:pt x="491" y="723"/>
                  <a:pt x="468" y="730"/>
                  <a:pt x="444" y="735"/>
                </a:cubicBezTo>
                <a:cubicBezTo>
                  <a:pt x="420" y="740"/>
                  <a:pt x="396" y="742"/>
                  <a:pt x="372" y="742"/>
                </a:cubicBezTo>
                <a:cubicBezTo>
                  <a:pt x="347" y="742"/>
                  <a:pt x="323" y="740"/>
                  <a:pt x="299" y="735"/>
                </a:cubicBezTo>
                <a:cubicBezTo>
                  <a:pt x="275" y="730"/>
                  <a:pt x="252" y="723"/>
                  <a:pt x="230" y="714"/>
                </a:cubicBezTo>
                <a:cubicBezTo>
                  <a:pt x="207" y="705"/>
                  <a:pt x="186" y="693"/>
                  <a:pt x="166" y="680"/>
                </a:cubicBezTo>
                <a:cubicBezTo>
                  <a:pt x="146" y="666"/>
                  <a:pt x="127" y="651"/>
                  <a:pt x="110" y="634"/>
                </a:cubicBezTo>
                <a:cubicBezTo>
                  <a:pt x="92" y="617"/>
                  <a:pt x="77" y="598"/>
                  <a:pt x="64" y="578"/>
                </a:cubicBezTo>
                <a:cubicBezTo>
                  <a:pt x="50" y="557"/>
                  <a:pt x="39" y="536"/>
                  <a:pt x="28" y="514"/>
                </a:cubicBezTo>
                <a:cubicBezTo>
                  <a:pt x="19" y="491"/>
                  <a:pt x="12" y="468"/>
                  <a:pt x="7" y="444"/>
                </a:cubicBezTo>
                <a:cubicBezTo>
                  <a:pt x="3" y="420"/>
                  <a:pt x="0" y="396"/>
                  <a:pt x="0" y="372"/>
                </a:cubicBezTo>
                <a:cubicBezTo>
                  <a:pt x="0" y="347"/>
                  <a:pt x="3" y="323"/>
                  <a:pt x="7" y="299"/>
                </a:cubicBezTo>
                <a:cubicBezTo>
                  <a:pt x="12" y="275"/>
                  <a:pt x="19" y="252"/>
                  <a:pt x="28" y="229"/>
                </a:cubicBezTo>
                <a:cubicBezTo>
                  <a:pt x="39" y="207"/>
                  <a:pt x="50" y="185"/>
                  <a:pt x="64" y="165"/>
                </a:cubicBezTo>
                <a:cubicBezTo>
                  <a:pt x="77" y="145"/>
                  <a:pt x="92" y="126"/>
                  <a:pt x="110" y="109"/>
                </a:cubicBezTo>
                <a:cubicBezTo>
                  <a:pt x="127" y="92"/>
                  <a:pt x="146" y="76"/>
                  <a:pt x="166" y="63"/>
                </a:cubicBezTo>
                <a:cubicBezTo>
                  <a:pt x="186" y="49"/>
                  <a:pt x="207" y="38"/>
                  <a:pt x="230" y="29"/>
                </a:cubicBezTo>
                <a:cubicBezTo>
                  <a:pt x="252" y="19"/>
                  <a:pt x="275" y="12"/>
                  <a:pt x="299" y="8"/>
                </a:cubicBezTo>
                <a:cubicBezTo>
                  <a:pt x="323" y="3"/>
                  <a:pt x="347" y="0"/>
                  <a:pt x="372" y="0"/>
                </a:cubicBezTo>
                <a:cubicBezTo>
                  <a:pt x="396" y="0"/>
                  <a:pt x="420" y="3"/>
                  <a:pt x="444" y="8"/>
                </a:cubicBezTo>
                <a:cubicBezTo>
                  <a:pt x="468" y="12"/>
                  <a:pt x="491" y="19"/>
                  <a:pt x="513" y="29"/>
                </a:cubicBezTo>
                <a:cubicBezTo>
                  <a:pt x="536" y="38"/>
                  <a:pt x="557" y="49"/>
                  <a:pt x="577" y="63"/>
                </a:cubicBezTo>
                <a:cubicBezTo>
                  <a:pt x="598" y="76"/>
                  <a:pt x="616" y="92"/>
                  <a:pt x="634" y="109"/>
                </a:cubicBezTo>
                <a:cubicBezTo>
                  <a:pt x="651" y="126"/>
                  <a:pt x="666" y="145"/>
                  <a:pt x="680" y="165"/>
                </a:cubicBezTo>
                <a:cubicBezTo>
                  <a:pt x="693" y="185"/>
                  <a:pt x="704" y="207"/>
                  <a:pt x="714" y="229"/>
                </a:cubicBezTo>
                <a:cubicBezTo>
                  <a:pt x="723" y="252"/>
                  <a:pt x="730" y="275"/>
                  <a:pt x="735" y="299"/>
                </a:cubicBezTo>
                <a:cubicBezTo>
                  <a:pt x="740" y="323"/>
                  <a:pt x="742" y="347"/>
                  <a:pt x="742" y="372"/>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91" name="CuadroTexto 190"/>
          <p:cNvSpPr txBox="1"/>
          <p:nvPr/>
        </p:nvSpPr>
        <p:spPr>
          <a:xfrm>
            <a:off x="6629400" y="1206360"/>
            <a:ext cx="1625894" cy="246221"/>
          </a:xfrm>
          <a:prstGeom prst="rect">
            <a:avLst/>
          </a:prstGeom>
          <a:noFill/>
          <a:ln w="0">
            <a:noFill/>
          </a:ln>
        </p:spPr>
        <p:txBody>
          <a:bodyPr wrap="none" lIns="0" tIns="0" rIns="0" bIns="0" anchor="t">
            <a:spAutoFit/>
          </a:bodyPr>
          <a:lstStyle/>
          <a:p>
            <a:r>
              <a:rPr lang="en-US" sz="1600" b="0" u="none" strike="noStrike" dirty="0" err="1">
                <a:solidFill>
                  <a:srgbClr val="000000"/>
                </a:solidFill>
                <a:effectLst/>
                <a:uFillTx/>
                <a:latin typeface="CrimsonPro"/>
                <a:ea typeface="CrimsonPro"/>
              </a:rPr>
              <a:t>Comenta</a:t>
            </a:r>
            <a:r>
              <a:rPr lang="en-US" sz="1600" b="0" u="none" strike="noStrike" dirty="0">
                <a:solidFill>
                  <a:srgbClr val="000000"/>
                </a:solidFill>
                <a:effectLst/>
                <a:uFillTx/>
                <a:latin typeface="CrimsonPro"/>
                <a:ea typeface="CrimsonPro"/>
              </a:rPr>
              <a:t> </a:t>
            </a:r>
            <a:r>
              <a:rPr lang="en-US" sz="1600" b="0" u="none" strike="noStrike" dirty="0" err="1">
                <a:solidFill>
                  <a:srgbClr val="000000"/>
                </a:solidFill>
                <a:effectLst/>
                <a:uFillTx/>
                <a:latin typeface="CrimsonPro"/>
                <a:ea typeface="CrimsonPro"/>
              </a:rPr>
              <a:t>tu</a:t>
            </a:r>
            <a:r>
              <a:rPr lang="en-US" sz="1600" b="0" u="none" strike="noStrike" dirty="0">
                <a:solidFill>
                  <a:srgbClr val="000000"/>
                </a:solidFill>
                <a:effectLst/>
                <a:uFillTx/>
                <a:latin typeface="CrimsonPro"/>
                <a:ea typeface="CrimsonPro"/>
              </a:rPr>
              <a:t> </a:t>
            </a:r>
            <a:r>
              <a:rPr lang="en-US" sz="1600" b="0" u="none" strike="noStrike" dirty="0" err="1">
                <a:solidFill>
                  <a:srgbClr val="000000"/>
                </a:solidFill>
                <a:effectLst/>
                <a:uFillTx/>
                <a:latin typeface="CrimsonPro"/>
                <a:ea typeface="CrimsonPro"/>
              </a:rPr>
              <a:t>código</a:t>
            </a:r>
            <a:r>
              <a:rPr lang="en-US" sz="1600" b="0" u="none" strike="noStrike" dirty="0">
                <a:solidFill>
                  <a:srgbClr val="000000"/>
                </a:solidFill>
                <a:effectLst/>
                <a:uFillTx/>
                <a:latin typeface="CrimsonPro"/>
                <a:ea typeface="CrimsonPro"/>
              </a:rPr>
              <a:t>.</a:t>
            </a:r>
            <a:endParaRPr lang="en-US" sz="1600" b="0" u="none" strike="noStrike" dirty="0">
              <a:solidFill>
                <a:srgbClr val="000000"/>
              </a:solidFill>
              <a:effectLst/>
              <a:uFillTx/>
              <a:latin typeface="Times New Roman"/>
            </a:endParaRPr>
          </a:p>
        </p:txBody>
      </p:sp>
      <p:sp>
        <p:nvSpPr>
          <p:cNvPr id="192" name="CuadroTexto 191"/>
          <p:cNvSpPr txBox="1"/>
          <p:nvPr/>
        </p:nvSpPr>
        <p:spPr>
          <a:xfrm>
            <a:off x="6342840" y="1661760"/>
            <a:ext cx="132840" cy="148320"/>
          </a:xfrm>
          <a:prstGeom prst="rect">
            <a:avLst/>
          </a:prstGeom>
          <a:noFill/>
          <a:ln w="0">
            <a:noFill/>
          </a:ln>
        </p:spPr>
        <p:txBody>
          <a:bodyPr wrap="none" lIns="0" tIns="0" rIns="0" bIns="0" anchor="t">
            <a:spAutoFit/>
          </a:bodyPr>
          <a:lstStyle/>
          <a:p>
            <a:r>
              <a:rPr lang="en-US" sz="1050" b="0" u="none" strike="noStrike" dirty="0">
                <a:solidFill>
                  <a:srgbClr val="DA7756"/>
                </a:solidFill>
                <a:effectLst/>
                <a:uFillTx/>
                <a:latin typeface="CrimsonPro"/>
                <a:ea typeface="CrimsonPro"/>
              </a:rPr>
              <a:t>8</a:t>
            </a:r>
            <a:endParaRPr lang="en-US" sz="1050" b="0" u="none" strike="noStrike" dirty="0">
              <a:solidFill>
                <a:srgbClr val="000000"/>
              </a:solidFill>
              <a:effectLst/>
              <a:uFillTx/>
              <a:latin typeface="Times New Roman"/>
            </a:endParaRPr>
          </a:p>
        </p:txBody>
      </p:sp>
      <p:sp>
        <p:nvSpPr>
          <p:cNvPr id="193" name="Forma libre: forma 192"/>
          <p:cNvSpPr/>
          <p:nvPr/>
        </p:nvSpPr>
        <p:spPr>
          <a:xfrm>
            <a:off x="6248160" y="2000160"/>
            <a:ext cx="267120" cy="267120"/>
          </a:xfrm>
          <a:custGeom>
            <a:avLst/>
            <a:gdLst/>
            <a:ahLst/>
            <a:cxnLst/>
            <a:rect l="0" t="0" r="r" b="b"/>
            <a:pathLst>
              <a:path w="742" h="742">
                <a:moveTo>
                  <a:pt x="742" y="370"/>
                </a:moveTo>
                <a:cubicBezTo>
                  <a:pt x="742" y="394"/>
                  <a:pt x="740" y="419"/>
                  <a:pt x="735" y="442"/>
                </a:cubicBezTo>
                <a:cubicBezTo>
                  <a:pt x="730" y="466"/>
                  <a:pt x="723" y="489"/>
                  <a:pt x="714" y="512"/>
                </a:cubicBezTo>
                <a:cubicBezTo>
                  <a:pt x="704" y="534"/>
                  <a:pt x="693" y="556"/>
                  <a:pt x="680" y="576"/>
                </a:cubicBezTo>
                <a:cubicBezTo>
                  <a:pt x="666" y="596"/>
                  <a:pt x="651" y="615"/>
                  <a:pt x="634" y="632"/>
                </a:cubicBezTo>
                <a:cubicBezTo>
                  <a:pt x="616" y="649"/>
                  <a:pt x="598" y="665"/>
                  <a:pt x="577" y="678"/>
                </a:cubicBezTo>
                <a:cubicBezTo>
                  <a:pt x="557" y="692"/>
                  <a:pt x="536" y="703"/>
                  <a:pt x="513" y="712"/>
                </a:cubicBezTo>
                <a:cubicBezTo>
                  <a:pt x="491" y="722"/>
                  <a:pt x="468" y="729"/>
                  <a:pt x="444" y="733"/>
                </a:cubicBezTo>
                <a:cubicBezTo>
                  <a:pt x="420" y="739"/>
                  <a:pt x="396" y="742"/>
                  <a:pt x="372" y="742"/>
                </a:cubicBezTo>
                <a:cubicBezTo>
                  <a:pt x="347" y="742"/>
                  <a:pt x="323" y="739"/>
                  <a:pt x="299" y="733"/>
                </a:cubicBezTo>
                <a:cubicBezTo>
                  <a:pt x="275" y="729"/>
                  <a:pt x="252" y="722"/>
                  <a:pt x="230" y="712"/>
                </a:cubicBezTo>
                <a:cubicBezTo>
                  <a:pt x="207" y="703"/>
                  <a:pt x="186" y="692"/>
                  <a:pt x="166" y="678"/>
                </a:cubicBezTo>
                <a:cubicBezTo>
                  <a:pt x="146" y="665"/>
                  <a:pt x="127" y="649"/>
                  <a:pt x="110" y="632"/>
                </a:cubicBezTo>
                <a:cubicBezTo>
                  <a:pt x="92" y="615"/>
                  <a:pt x="77" y="596"/>
                  <a:pt x="64" y="576"/>
                </a:cubicBezTo>
                <a:cubicBezTo>
                  <a:pt x="50" y="556"/>
                  <a:pt x="39" y="534"/>
                  <a:pt x="28" y="512"/>
                </a:cubicBezTo>
                <a:cubicBezTo>
                  <a:pt x="19" y="489"/>
                  <a:pt x="12" y="466"/>
                  <a:pt x="7" y="442"/>
                </a:cubicBezTo>
                <a:cubicBezTo>
                  <a:pt x="3" y="419"/>
                  <a:pt x="0" y="394"/>
                  <a:pt x="0" y="370"/>
                </a:cubicBezTo>
                <a:cubicBezTo>
                  <a:pt x="0" y="346"/>
                  <a:pt x="3" y="322"/>
                  <a:pt x="7" y="298"/>
                </a:cubicBezTo>
                <a:cubicBezTo>
                  <a:pt x="12" y="274"/>
                  <a:pt x="19" y="251"/>
                  <a:pt x="28" y="228"/>
                </a:cubicBezTo>
                <a:cubicBezTo>
                  <a:pt x="39" y="206"/>
                  <a:pt x="50" y="185"/>
                  <a:pt x="64" y="164"/>
                </a:cubicBezTo>
                <a:cubicBezTo>
                  <a:pt x="77" y="144"/>
                  <a:pt x="92" y="125"/>
                  <a:pt x="110" y="108"/>
                </a:cubicBezTo>
                <a:cubicBezTo>
                  <a:pt x="127" y="91"/>
                  <a:pt x="146" y="76"/>
                  <a:pt x="166" y="62"/>
                </a:cubicBezTo>
                <a:cubicBezTo>
                  <a:pt x="186" y="49"/>
                  <a:pt x="207" y="37"/>
                  <a:pt x="230" y="28"/>
                </a:cubicBezTo>
                <a:cubicBezTo>
                  <a:pt x="252" y="19"/>
                  <a:pt x="275" y="12"/>
                  <a:pt x="299" y="7"/>
                </a:cubicBezTo>
                <a:cubicBezTo>
                  <a:pt x="323" y="2"/>
                  <a:pt x="347" y="0"/>
                  <a:pt x="372" y="0"/>
                </a:cubicBezTo>
                <a:cubicBezTo>
                  <a:pt x="396" y="0"/>
                  <a:pt x="420" y="2"/>
                  <a:pt x="444" y="7"/>
                </a:cubicBezTo>
                <a:cubicBezTo>
                  <a:pt x="468" y="12"/>
                  <a:pt x="491" y="19"/>
                  <a:pt x="513" y="28"/>
                </a:cubicBezTo>
                <a:cubicBezTo>
                  <a:pt x="536" y="37"/>
                  <a:pt x="557" y="49"/>
                  <a:pt x="577" y="62"/>
                </a:cubicBezTo>
                <a:cubicBezTo>
                  <a:pt x="598" y="76"/>
                  <a:pt x="616" y="91"/>
                  <a:pt x="634" y="108"/>
                </a:cubicBezTo>
                <a:cubicBezTo>
                  <a:pt x="651" y="125"/>
                  <a:pt x="666" y="144"/>
                  <a:pt x="680" y="164"/>
                </a:cubicBezTo>
                <a:cubicBezTo>
                  <a:pt x="693" y="185"/>
                  <a:pt x="704" y="206"/>
                  <a:pt x="714" y="228"/>
                </a:cubicBezTo>
                <a:cubicBezTo>
                  <a:pt x="723" y="251"/>
                  <a:pt x="730" y="274"/>
                  <a:pt x="735" y="298"/>
                </a:cubicBezTo>
                <a:cubicBezTo>
                  <a:pt x="740" y="322"/>
                  <a:pt x="742" y="346"/>
                  <a:pt x="742" y="37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94" name="CuadroTexto 193"/>
          <p:cNvSpPr txBox="1"/>
          <p:nvPr/>
        </p:nvSpPr>
        <p:spPr>
          <a:xfrm>
            <a:off x="6629400" y="1606680"/>
            <a:ext cx="1495794" cy="246221"/>
          </a:xfrm>
          <a:prstGeom prst="rect">
            <a:avLst/>
          </a:prstGeom>
          <a:noFill/>
          <a:ln w="0">
            <a:noFill/>
          </a:ln>
        </p:spPr>
        <p:txBody>
          <a:bodyPr wrap="none" lIns="0" tIns="0" rIns="0" bIns="0" anchor="t">
            <a:spAutoFit/>
          </a:bodyPr>
          <a:lstStyle/>
          <a:p>
            <a:r>
              <a:rPr lang="en-US" sz="1600" b="0" u="none" strike="noStrike">
                <a:solidFill>
                  <a:srgbClr val="000000"/>
                </a:solidFill>
                <a:effectLst/>
                <a:uFillTx/>
                <a:latin typeface="CrimsonPro"/>
                <a:ea typeface="CrimsonPro"/>
              </a:rPr>
              <a:t>Divide y vencerás.</a:t>
            </a:r>
            <a:endParaRPr lang="en-US" sz="1600" b="0" u="none" strike="noStrike">
              <a:solidFill>
                <a:srgbClr val="000000"/>
              </a:solidFill>
              <a:effectLst/>
              <a:uFillTx/>
              <a:latin typeface="Times New Roman"/>
            </a:endParaRPr>
          </a:p>
        </p:txBody>
      </p:sp>
      <p:sp>
        <p:nvSpPr>
          <p:cNvPr id="195" name="CuadroTexto 194"/>
          <p:cNvSpPr txBox="1"/>
          <p:nvPr/>
        </p:nvSpPr>
        <p:spPr>
          <a:xfrm>
            <a:off x="6345360" y="2061720"/>
            <a:ext cx="132840" cy="148320"/>
          </a:xfrm>
          <a:prstGeom prst="rect">
            <a:avLst/>
          </a:prstGeom>
          <a:noFill/>
          <a:ln w="0">
            <a:noFill/>
          </a:ln>
        </p:spPr>
        <p:txBody>
          <a:bodyPr wrap="none" lIns="0" tIns="0" rIns="0" bIns="0" anchor="t">
            <a:spAutoFit/>
          </a:bodyPr>
          <a:lstStyle/>
          <a:p>
            <a:r>
              <a:rPr lang="en-US" sz="1050" b="0" u="none" strike="noStrike" dirty="0">
                <a:solidFill>
                  <a:srgbClr val="DA7756"/>
                </a:solidFill>
                <a:effectLst/>
                <a:uFillTx/>
                <a:latin typeface="CrimsonPro"/>
                <a:ea typeface="CrimsonPro"/>
              </a:rPr>
              <a:t>9</a:t>
            </a:r>
            <a:endParaRPr lang="en-US" sz="1050" b="0" u="none" strike="noStrike" dirty="0">
              <a:solidFill>
                <a:srgbClr val="000000"/>
              </a:solidFill>
              <a:effectLst/>
              <a:uFillTx/>
              <a:latin typeface="Times New Roman"/>
            </a:endParaRPr>
          </a:p>
        </p:txBody>
      </p:sp>
      <p:sp>
        <p:nvSpPr>
          <p:cNvPr id="196" name="Forma libre: forma 195"/>
          <p:cNvSpPr/>
          <p:nvPr/>
        </p:nvSpPr>
        <p:spPr>
          <a:xfrm>
            <a:off x="6248160" y="2400120"/>
            <a:ext cx="267120" cy="267120"/>
          </a:xfrm>
          <a:custGeom>
            <a:avLst/>
            <a:gdLst/>
            <a:ahLst/>
            <a:cxnLst/>
            <a:rect l="0" t="0" r="r" b="b"/>
            <a:pathLst>
              <a:path w="742" h="742">
                <a:moveTo>
                  <a:pt x="742" y="371"/>
                </a:moveTo>
                <a:cubicBezTo>
                  <a:pt x="742" y="396"/>
                  <a:pt x="740" y="420"/>
                  <a:pt x="735" y="444"/>
                </a:cubicBezTo>
                <a:cubicBezTo>
                  <a:pt x="730" y="468"/>
                  <a:pt x="723" y="491"/>
                  <a:pt x="714" y="513"/>
                </a:cubicBezTo>
                <a:cubicBezTo>
                  <a:pt x="704" y="536"/>
                  <a:pt x="693" y="557"/>
                  <a:pt x="680" y="577"/>
                </a:cubicBezTo>
                <a:cubicBezTo>
                  <a:pt x="666" y="597"/>
                  <a:pt x="651" y="616"/>
                  <a:pt x="634" y="633"/>
                </a:cubicBezTo>
                <a:cubicBezTo>
                  <a:pt x="616" y="651"/>
                  <a:pt x="598" y="666"/>
                  <a:pt x="577" y="679"/>
                </a:cubicBezTo>
                <a:cubicBezTo>
                  <a:pt x="557" y="693"/>
                  <a:pt x="536" y="704"/>
                  <a:pt x="513" y="714"/>
                </a:cubicBezTo>
                <a:cubicBezTo>
                  <a:pt x="491" y="723"/>
                  <a:pt x="468" y="730"/>
                  <a:pt x="444" y="735"/>
                </a:cubicBezTo>
                <a:cubicBezTo>
                  <a:pt x="420" y="739"/>
                  <a:pt x="396" y="742"/>
                  <a:pt x="372" y="742"/>
                </a:cubicBezTo>
                <a:cubicBezTo>
                  <a:pt x="347" y="742"/>
                  <a:pt x="323" y="739"/>
                  <a:pt x="299" y="735"/>
                </a:cubicBezTo>
                <a:cubicBezTo>
                  <a:pt x="275" y="730"/>
                  <a:pt x="252" y="723"/>
                  <a:pt x="230" y="714"/>
                </a:cubicBezTo>
                <a:cubicBezTo>
                  <a:pt x="207" y="704"/>
                  <a:pt x="186" y="693"/>
                  <a:pt x="166" y="679"/>
                </a:cubicBezTo>
                <a:cubicBezTo>
                  <a:pt x="146" y="666"/>
                  <a:pt x="127" y="651"/>
                  <a:pt x="110" y="633"/>
                </a:cubicBezTo>
                <a:cubicBezTo>
                  <a:pt x="92" y="616"/>
                  <a:pt x="77" y="597"/>
                  <a:pt x="64" y="577"/>
                </a:cubicBezTo>
                <a:cubicBezTo>
                  <a:pt x="50" y="557"/>
                  <a:pt x="39" y="536"/>
                  <a:pt x="28" y="513"/>
                </a:cubicBezTo>
                <a:cubicBezTo>
                  <a:pt x="19" y="491"/>
                  <a:pt x="12" y="468"/>
                  <a:pt x="7" y="444"/>
                </a:cubicBezTo>
                <a:cubicBezTo>
                  <a:pt x="3" y="420"/>
                  <a:pt x="0" y="396"/>
                  <a:pt x="0" y="371"/>
                </a:cubicBezTo>
                <a:cubicBezTo>
                  <a:pt x="0" y="346"/>
                  <a:pt x="3" y="322"/>
                  <a:pt x="7" y="298"/>
                </a:cubicBezTo>
                <a:cubicBezTo>
                  <a:pt x="12" y="274"/>
                  <a:pt x="19" y="251"/>
                  <a:pt x="28" y="229"/>
                </a:cubicBezTo>
                <a:cubicBezTo>
                  <a:pt x="39" y="206"/>
                  <a:pt x="50" y="185"/>
                  <a:pt x="64" y="165"/>
                </a:cubicBezTo>
                <a:cubicBezTo>
                  <a:pt x="77" y="144"/>
                  <a:pt x="92" y="126"/>
                  <a:pt x="110" y="108"/>
                </a:cubicBezTo>
                <a:cubicBezTo>
                  <a:pt x="127" y="91"/>
                  <a:pt x="146" y="76"/>
                  <a:pt x="166" y="62"/>
                </a:cubicBezTo>
                <a:cubicBezTo>
                  <a:pt x="186" y="49"/>
                  <a:pt x="207" y="38"/>
                  <a:pt x="230" y="28"/>
                </a:cubicBezTo>
                <a:cubicBezTo>
                  <a:pt x="252" y="19"/>
                  <a:pt x="275" y="12"/>
                  <a:pt x="299" y="7"/>
                </a:cubicBezTo>
                <a:cubicBezTo>
                  <a:pt x="323" y="2"/>
                  <a:pt x="347" y="0"/>
                  <a:pt x="372" y="0"/>
                </a:cubicBezTo>
                <a:cubicBezTo>
                  <a:pt x="396" y="0"/>
                  <a:pt x="420" y="2"/>
                  <a:pt x="444" y="7"/>
                </a:cubicBezTo>
                <a:cubicBezTo>
                  <a:pt x="468" y="12"/>
                  <a:pt x="491" y="19"/>
                  <a:pt x="513" y="28"/>
                </a:cubicBezTo>
                <a:cubicBezTo>
                  <a:pt x="536" y="38"/>
                  <a:pt x="557" y="49"/>
                  <a:pt x="577" y="62"/>
                </a:cubicBezTo>
                <a:cubicBezTo>
                  <a:pt x="598" y="76"/>
                  <a:pt x="616" y="91"/>
                  <a:pt x="634" y="108"/>
                </a:cubicBezTo>
                <a:cubicBezTo>
                  <a:pt x="651" y="126"/>
                  <a:pt x="666" y="144"/>
                  <a:pt x="680" y="165"/>
                </a:cubicBezTo>
                <a:cubicBezTo>
                  <a:pt x="693" y="185"/>
                  <a:pt x="704" y="206"/>
                  <a:pt x="714" y="229"/>
                </a:cubicBezTo>
                <a:cubicBezTo>
                  <a:pt x="723" y="251"/>
                  <a:pt x="730" y="274"/>
                  <a:pt x="735" y="298"/>
                </a:cubicBezTo>
                <a:cubicBezTo>
                  <a:pt x="740" y="322"/>
                  <a:pt x="742" y="346"/>
                  <a:pt x="742" y="371"/>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197" name="CuadroTexto 196"/>
          <p:cNvSpPr txBox="1"/>
          <p:nvPr/>
        </p:nvSpPr>
        <p:spPr>
          <a:xfrm>
            <a:off x="6629400" y="2006640"/>
            <a:ext cx="1445717" cy="246221"/>
          </a:xfrm>
          <a:prstGeom prst="rect">
            <a:avLst/>
          </a:prstGeom>
          <a:noFill/>
          <a:ln w="0">
            <a:noFill/>
          </a:ln>
        </p:spPr>
        <p:txBody>
          <a:bodyPr wrap="none" lIns="0" tIns="0" rIns="0" bIns="0" anchor="t">
            <a:spAutoFit/>
          </a:bodyPr>
          <a:lstStyle/>
          <a:p>
            <a:r>
              <a:rPr lang="en-US" sz="1600" b="0" u="none" strike="noStrike">
                <a:solidFill>
                  <a:srgbClr val="000000"/>
                </a:solidFill>
                <a:effectLst/>
                <a:uFillTx/>
                <a:latin typeface="CrimsonPro"/>
                <a:ea typeface="CrimsonPro"/>
              </a:rPr>
              <a:t>Testeo de código.</a:t>
            </a:r>
            <a:endParaRPr lang="en-US" sz="1600" b="0" u="none" strike="noStrike">
              <a:solidFill>
                <a:srgbClr val="000000"/>
              </a:solidFill>
              <a:effectLst/>
              <a:uFillTx/>
              <a:latin typeface="Times New Roman"/>
            </a:endParaRPr>
          </a:p>
        </p:txBody>
      </p:sp>
      <p:sp>
        <p:nvSpPr>
          <p:cNvPr id="198" name="CuadroTexto 197"/>
          <p:cNvSpPr txBox="1"/>
          <p:nvPr/>
        </p:nvSpPr>
        <p:spPr>
          <a:xfrm>
            <a:off x="6316200" y="2461680"/>
            <a:ext cx="132840" cy="148320"/>
          </a:xfrm>
          <a:prstGeom prst="rect">
            <a:avLst/>
          </a:prstGeom>
          <a:noFill/>
          <a:ln w="0">
            <a:noFill/>
          </a:ln>
        </p:spPr>
        <p:txBody>
          <a:bodyPr wrap="none" lIns="0" tIns="0" rIns="0" bIns="0" anchor="t">
            <a:spAutoFit/>
          </a:bodyPr>
          <a:lstStyle/>
          <a:p>
            <a:r>
              <a:rPr lang="en-US" sz="1050" b="0" u="none" strike="noStrike" dirty="0">
                <a:solidFill>
                  <a:srgbClr val="DA7756"/>
                </a:solidFill>
                <a:effectLst/>
                <a:uFillTx/>
                <a:latin typeface="CrimsonPro"/>
                <a:ea typeface="CrimsonPro"/>
              </a:rPr>
              <a:t>10</a:t>
            </a:r>
            <a:endParaRPr lang="en-US" sz="1050" b="0" u="none" strike="noStrike" dirty="0">
              <a:solidFill>
                <a:srgbClr val="000000"/>
              </a:solidFill>
              <a:effectLst/>
              <a:uFillTx/>
              <a:latin typeface="Times New Roman"/>
            </a:endParaRPr>
          </a:p>
        </p:txBody>
      </p:sp>
      <p:sp>
        <p:nvSpPr>
          <p:cNvPr id="199" name="Forma libre: forma 198"/>
          <p:cNvSpPr/>
          <p:nvPr/>
        </p:nvSpPr>
        <p:spPr>
          <a:xfrm>
            <a:off x="6248160" y="2800080"/>
            <a:ext cx="267120" cy="267120"/>
          </a:xfrm>
          <a:custGeom>
            <a:avLst/>
            <a:gdLst/>
            <a:ahLst/>
            <a:cxnLst/>
            <a:rect l="0" t="0" r="r" b="b"/>
            <a:pathLst>
              <a:path w="742" h="742">
                <a:moveTo>
                  <a:pt x="742" y="371"/>
                </a:moveTo>
                <a:cubicBezTo>
                  <a:pt x="742" y="395"/>
                  <a:pt x="740" y="419"/>
                  <a:pt x="735" y="443"/>
                </a:cubicBezTo>
                <a:cubicBezTo>
                  <a:pt x="730" y="467"/>
                  <a:pt x="723" y="490"/>
                  <a:pt x="714" y="512"/>
                </a:cubicBezTo>
                <a:cubicBezTo>
                  <a:pt x="704" y="535"/>
                  <a:pt x="693" y="556"/>
                  <a:pt x="680" y="576"/>
                </a:cubicBezTo>
                <a:cubicBezTo>
                  <a:pt x="666" y="597"/>
                  <a:pt x="651" y="615"/>
                  <a:pt x="634" y="633"/>
                </a:cubicBezTo>
                <a:cubicBezTo>
                  <a:pt x="616" y="650"/>
                  <a:pt x="598" y="665"/>
                  <a:pt x="577" y="679"/>
                </a:cubicBezTo>
                <a:cubicBezTo>
                  <a:pt x="557" y="692"/>
                  <a:pt x="536" y="704"/>
                  <a:pt x="513" y="713"/>
                </a:cubicBezTo>
                <a:cubicBezTo>
                  <a:pt x="491" y="722"/>
                  <a:pt x="468" y="729"/>
                  <a:pt x="444" y="735"/>
                </a:cubicBezTo>
                <a:cubicBezTo>
                  <a:pt x="420" y="740"/>
                  <a:pt x="396" y="742"/>
                  <a:pt x="372" y="742"/>
                </a:cubicBezTo>
                <a:cubicBezTo>
                  <a:pt x="347" y="742"/>
                  <a:pt x="323" y="740"/>
                  <a:pt x="299" y="735"/>
                </a:cubicBezTo>
                <a:cubicBezTo>
                  <a:pt x="275" y="729"/>
                  <a:pt x="252" y="722"/>
                  <a:pt x="230" y="713"/>
                </a:cubicBezTo>
                <a:cubicBezTo>
                  <a:pt x="207" y="704"/>
                  <a:pt x="186" y="692"/>
                  <a:pt x="166" y="679"/>
                </a:cubicBezTo>
                <a:cubicBezTo>
                  <a:pt x="146" y="665"/>
                  <a:pt x="127" y="650"/>
                  <a:pt x="110" y="633"/>
                </a:cubicBezTo>
                <a:cubicBezTo>
                  <a:pt x="92" y="615"/>
                  <a:pt x="77" y="597"/>
                  <a:pt x="64" y="576"/>
                </a:cubicBezTo>
                <a:cubicBezTo>
                  <a:pt x="50" y="556"/>
                  <a:pt x="39" y="535"/>
                  <a:pt x="28" y="512"/>
                </a:cubicBezTo>
                <a:cubicBezTo>
                  <a:pt x="19" y="490"/>
                  <a:pt x="12" y="467"/>
                  <a:pt x="7" y="443"/>
                </a:cubicBezTo>
                <a:cubicBezTo>
                  <a:pt x="3" y="419"/>
                  <a:pt x="0" y="395"/>
                  <a:pt x="0" y="371"/>
                </a:cubicBezTo>
                <a:cubicBezTo>
                  <a:pt x="0" y="346"/>
                  <a:pt x="3" y="322"/>
                  <a:pt x="7" y="298"/>
                </a:cubicBezTo>
                <a:cubicBezTo>
                  <a:pt x="12" y="275"/>
                  <a:pt x="19" y="251"/>
                  <a:pt x="28" y="229"/>
                </a:cubicBezTo>
                <a:cubicBezTo>
                  <a:pt x="39" y="206"/>
                  <a:pt x="50" y="185"/>
                  <a:pt x="64" y="165"/>
                </a:cubicBezTo>
                <a:cubicBezTo>
                  <a:pt x="77" y="145"/>
                  <a:pt x="92" y="126"/>
                  <a:pt x="110" y="109"/>
                </a:cubicBezTo>
                <a:cubicBezTo>
                  <a:pt x="127" y="92"/>
                  <a:pt x="146" y="76"/>
                  <a:pt x="166" y="63"/>
                </a:cubicBezTo>
                <a:cubicBezTo>
                  <a:pt x="186" y="49"/>
                  <a:pt x="207" y="38"/>
                  <a:pt x="230" y="28"/>
                </a:cubicBezTo>
                <a:cubicBezTo>
                  <a:pt x="252" y="19"/>
                  <a:pt x="275" y="12"/>
                  <a:pt x="299" y="7"/>
                </a:cubicBezTo>
                <a:cubicBezTo>
                  <a:pt x="323" y="3"/>
                  <a:pt x="347" y="0"/>
                  <a:pt x="372" y="0"/>
                </a:cubicBezTo>
                <a:cubicBezTo>
                  <a:pt x="396" y="0"/>
                  <a:pt x="420" y="3"/>
                  <a:pt x="444" y="7"/>
                </a:cubicBezTo>
                <a:cubicBezTo>
                  <a:pt x="468" y="12"/>
                  <a:pt x="491" y="19"/>
                  <a:pt x="513" y="28"/>
                </a:cubicBezTo>
                <a:cubicBezTo>
                  <a:pt x="536" y="38"/>
                  <a:pt x="557" y="49"/>
                  <a:pt x="577" y="63"/>
                </a:cubicBezTo>
                <a:cubicBezTo>
                  <a:pt x="598" y="76"/>
                  <a:pt x="616" y="92"/>
                  <a:pt x="634" y="109"/>
                </a:cubicBezTo>
                <a:cubicBezTo>
                  <a:pt x="651" y="126"/>
                  <a:pt x="666" y="145"/>
                  <a:pt x="680" y="165"/>
                </a:cubicBezTo>
                <a:cubicBezTo>
                  <a:pt x="693" y="185"/>
                  <a:pt x="704" y="206"/>
                  <a:pt x="714" y="229"/>
                </a:cubicBezTo>
                <a:cubicBezTo>
                  <a:pt x="723" y="251"/>
                  <a:pt x="730" y="275"/>
                  <a:pt x="735" y="298"/>
                </a:cubicBezTo>
                <a:cubicBezTo>
                  <a:pt x="740" y="322"/>
                  <a:pt x="742" y="346"/>
                  <a:pt x="742" y="371"/>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00" name="CuadroTexto 199"/>
          <p:cNvSpPr txBox="1"/>
          <p:nvPr/>
        </p:nvSpPr>
        <p:spPr>
          <a:xfrm>
            <a:off x="6629400" y="2406600"/>
            <a:ext cx="1145057" cy="246221"/>
          </a:xfrm>
          <a:prstGeom prst="rect">
            <a:avLst/>
          </a:prstGeom>
          <a:noFill/>
          <a:ln w="0">
            <a:noFill/>
          </a:ln>
        </p:spPr>
        <p:txBody>
          <a:bodyPr wrap="none" lIns="0" tIns="0" rIns="0" bIns="0" anchor="t">
            <a:spAutoFit/>
          </a:bodyPr>
          <a:lstStyle/>
          <a:p>
            <a:r>
              <a:rPr lang="en-US" sz="1600" b="0" u="none" strike="noStrike">
                <a:solidFill>
                  <a:srgbClr val="000000"/>
                </a:solidFill>
                <a:effectLst/>
                <a:uFillTx/>
                <a:latin typeface="CrimsonPro"/>
                <a:ea typeface="CrimsonPro"/>
              </a:rPr>
              <a:t>Optimización.</a:t>
            </a:r>
            <a:endParaRPr lang="en-US" sz="1600" b="0" u="none" strike="noStrike">
              <a:solidFill>
                <a:srgbClr val="000000"/>
              </a:solidFill>
              <a:effectLst/>
              <a:uFillTx/>
              <a:latin typeface="Times New Roman"/>
            </a:endParaRPr>
          </a:p>
        </p:txBody>
      </p:sp>
      <p:sp>
        <p:nvSpPr>
          <p:cNvPr id="201" name="CuadroTexto 200"/>
          <p:cNvSpPr txBox="1"/>
          <p:nvPr/>
        </p:nvSpPr>
        <p:spPr>
          <a:xfrm>
            <a:off x="6331680" y="286200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11</a:t>
            </a:r>
            <a:endParaRPr lang="en-US" sz="1050" b="0" u="none" strike="noStrike">
              <a:solidFill>
                <a:srgbClr val="000000"/>
              </a:solidFill>
              <a:effectLst/>
              <a:uFillTx/>
              <a:latin typeface="Times New Roman"/>
            </a:endParaRPr>
          </a:p>
        </p:txBody>
      </p:sp>
      <p:sp>
        <p:nvSpPr>
          <p:cNvPr id="202" name="CuadroTexto 201"/>
          <p:cNvSpPr txBox="1"/>
          <p:nvPr/>
        </p:nvSpPr>
        <p:spPr>
          <a:xfrm>
            <a:off x="6629400" y="2806560"/>
            <a:ext cx="883255" cy="246221"/>
          </a:xfrm>
          <a:prstGeom prst="rect">
            <a:avLst/>
          </a:prstGeom>
          <a:noFill/>
          <a:ln w="0">
            <a:noFill/>
          </a:ln>
        </p:spPr>
        <p:txBody>
          <a:bodyPr wrap="none" lIns="0" tIns="0" rIns="0" bIns="0" anchor="t">
            <a:spAutoFit/>
          </a:bodyPr>
          <a:lstStyle/>
          <a:p>
            <a:r>
              <a:rPr lang="en-US" sz="1600" b="0" u="none" strike="noStrike">
                <a:solidFill>
                  <a:srgbClr val="000000"/>
                </a:solidFill>
                <a:effectLst/>
                <a:uFillTx/>
                <a:latin typeface="CrimsonPro"/>
                <a:ea typeface="CrimsonPro"/>
              </a:rPr>
              <a:t>Seguridad.</a:t>
            </a:r>
            <a:endParaRPr lang="en-US" sz="1600" b="0" u="none" strike="noStrike">
              <a:solidFill>
                <a:srgbClr val="000000"/>
              </a:solidFill>
              <a:effectLst/>
              <a:uFillTx/>
              <a:latin typeface="Times New Roman"/>
            </a:endParaRPr>
          </a:p>
        </p:txBody>
      </p:sp>
      <p:sp>
        <p:nvSpPr>
          <p:cNvPr id="203" name="CuadroTexto 202"/>
          <p:cNvSpPr txBox="1"/>
          <p:nvPr/>
        </p:nvSpPr>
        <p:spPr>
          <a:xfrm>
            <a:off x="6743520" y="311904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a:t>
            </a:r>
            <a:endParaRPr lang="en-US" sz="1050" b="0" u="none" strike="noStrike">
              <a:solidFill>
                <a:srgbClr val="000000"/>
              </a:solidFill>
              <a:effectLst/>
              <a:uFillTx/>
              <a:latin typeface="Times New Roman"/>
            </a:endParaRPr>
          </a:p>
        </p:txBody>
      </p:sp>
      <p:sp>
        <p:nvSpPr>
          <p:cNvPr id="204" name="CuadroTexto 203"/>
          <p:cNvSpPr txBox="1"/>
          <p:nvPr/>
        </p:nvSpPr>
        <p:spPr>
          <a:xfrm>
            <a:off x="6874560" y="3080880"/>
            <a:ext cx="328248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El acceso a los ficheros (tanto de forma física, como permisos).</a:t>
            </a:r>
            <a:endParaRPr lang="en-US" sz="1050" b="0" u="none" strike="noStrike">
              <a:solidFill>
                <a:srgbClr val="000000"/>
              </a:solidFill>
              <a:effectLst/>
              <a:uFillTx/>
              <a:latin typeface="Times New Roman"/>
            </a:endParaRPr>
          </a:p>
        </p:txBody>
      </p:sp>
      <p:sp>
        <p:nvSpPr>
          <p:cNvPr id="205" name="CuadroTexto 204"/>
          <p:cNvSpPr txBox="1"/>
          <p:nvPr/>
        </p:nvSpPr>
        <p:spPr>
          <a:xfrm>
            <a:off x="6743520" y="341424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a:t>
            </a:r>
            <a:endParaRPr lang="en-US" sz="1050" b="0" u="none" strike="noStrike">
              <a:solidFill>
                <a:srgbClr val="000000"/>
              </a:solidFill>
              <a:effectLst/>
              <a:uFillTx/>
              <a:latin typeface="Times New Roman"/>
            </a:endParaRPr>
          </a:p>
        </p:txBody>
      </p:sp>
      <p:sp>
        <p:nvSpPr>
          <p:cNvPr id="206" name="CuadroTexto 205"/>
          <p:cNvSpPr txBox="1"/>
          <p:nvPr/>
        </p:nvSpPr>
        <p:spPr>
          <a:xfrm>
            <a:off x="6874560" y="3376080"/>
            <a:ext cx="407664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La posibilidad de modificar el código en la misma ejecución o la inyección sql.</a:t>
            </a:r>
            <a:endParaRPr lang="en-US" sz="1050" b="0" u="none" strike="noStrike">
              <a:solidFill>
                <a:srgbClr val="000000"/>
              </a:solidFill>
              <a:effectLst/>
              <a:uFillTx/>
              <a:latin typeface="Times New Roman"/>
            </a:endParaRPr>
          </a:p>
        </p:txBody>
      </p:sp>
      <p:sp>
        <p:nvSpPr>
          <p:cNvPr id="207" name="CuadroTexto 206"/>
          <p:cNvSpPr txBox="1"/>
          <p:nvPr/>
        </p:nvSpPr>
        <p:spPr>
          <a:xfrm>
            <a:off x="6743520" y="370944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a:t>
            </a:r>
            <a:endParaRPr lang="en-US" sz="1050" b="0" u="none" strike="noStrike">
              <a:solidFill>
                <a:srgbClr val="000000"/>
              </a:solidFill>
              <a:effectLst/>
              <a:uFillTx/>
              <a:latin typeface="Times New Roman"/>
            </a:endParaRPr>
          </a:p>
        </p:txBody>
      </p:sp>
      <p:sp>
        <p:nvSpPr>
          <p:cNvPr id="208" name="CuadroTexto 207"/>
          <p:cNvSpPr txBox="1"/>
          <p:nvPr/>
        </p:nvSpPr>
        <p:spPr>
          <a:xfrm>
            <a:off x="6874560" y="3671640"/>
            <a:ext cx="391968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Desbordamiento de buffer al hacer uso de un array sin tamaño controlado.</a:t>
            </a:r>
            <a:endParaRPr lang="en-US" sz="1050" b="0" u="none" strike="noStrike">
              <a:solidFill>
                <a:srgbClr val="000000"/>
              </a:solidFill>
              <a:effectLst/>
              <a:uFillTx/>
              <a:latin typeface="Times New Roman"/>
            </a:endParaRPr>
          </a:p>
        </p:txBody>
      </p:sp>
      <p:sp>
        <p:nvSpPr>
          <p:cNvPr id="209" name="CuadroTexto 208"/>
          <p:cNvSpPr txBox="1"/>
          <p:nvPr/>
        </p:nvSpPr>
        <p:spPr>
          <a:xfrm>
            <a:off x="6743520" y="399528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a:t>
            </a:r>
            <a:endParaRPr lang="en-US" sz="1050" b="0" u="none" strike="noStrike">
              <a:solidFill>
                <a:srgbClr val="000000"/>
              </a:solidFill>
              <a:effectLst/>
              <a:uFillTx/>
              <a:latin typeface="Times New Roman"/>
            </a:endParaRPr>
          </a:p>
        </p:txBody>
      </p:sp>
      <p:sp>
        <p:nvSpPr>
          <p:cNvPr id="210" name="CuadroTexto 209"/>
          <p:cNvSpPr txBox="1"/>
          <p:nvPr/>
        </p:nvSpPr>
        <p:spPr>
          <a:xfrm>
            <a:off x="6874560" y="3957120"/>
            <a:ext cx="268164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Formateo de los datos de entrada (en formularios).</a:t>
            </a:r>
            <a:endParaRPr lang="en-US" sz="1050" b="0" u="none" strike="noStrike">
              <a:solidFill>
                <a:srgbClr val="000000"/>
              </a:solidFill>
              <a:effectLst/>
              <a:uFillTx/>
              <a:latin typeface="Times New Roman"/>
            </a:endParaRPr>
          </a:p>
        </p:txBody>
      </p:sp>
      <p:sp>
        <p:nvSpPr>
          <p:cNvPr id="211" name="CuadroTexto 210"/>
          <p:cNvSpPr txBox="1"/>
          <p:nvPr/>
        </p:nvSpPr>
        <p:spPr>
          <a:xfrm>
            <a:off x="6743520" y="429048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a:t>
            </a:r>
            <a:endParaRPr lang="en-US" sz="1050" b="0" u="none" strike="noStrike">
              <a:solidFill>
                <a:srgbClr val="000000"/>
              </a:solidFill>
              <a:effectLst/>
              <a:uFillTx/>
              <a:latin typeface="Times New Roman"/>
            </a:endParaRPr>
          </a:p>
        </p:txBody>
      </p:sp>
      <p:sp>
        <p:nvSpPr>
          <p:cNvPr id="212" name="CuadroTexto 211"/>
          <p:cNvSpPr txBox="1"/>
          <p:nvPr/>
        </p:nvSpPr>
        <p:spPr>
          <a:xfrm>
            <a:off x="6874560" y="4252320"/>
            <a:ext cx="466200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Actualización del IDE y las funciones. Una función obsoleta puede originar un agujero de</a:t>
            </a:r>
            <a:endParaRPr lang="en-US" sz="1050" b="0" u="none" strike="noStrike">
              <a:solidFill>
                <a:srgbClr val="000000"/>
              </a:solidFill>
              <a:effectLst/>
              <a:uFillTx/>
              <a:latin typeface="Times New Roman"/>
            </a:endParaRPr>
          </a:p>
        </p:txBody>
      </p:sp>
      <p:sp>
        <p:nvSpPr>
          <p:cNvPr id="213" name="CuadroTexto 212"/>
          <p:cNvSpPr txBox="1"/>
          <p:nvPr/>
        </p:nvSpPr>
        <p:spPr>
          <a:xfrm>
            <a:off x="6874560" y="4471560"/>
            <a:ext cx="152640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seguridad en nuestro código.</a:t>
            </a:r>
            <a:endParaRPr lang="en-US" sz="1050" b="0" u="none" strike="noStrike">
              <a:solidFill>
                <a:srgbClr val="000000"/>
              </a:solidFill>
              <a:effectLst/>
              <a:uFillTx/>
              <a:latin typeface="Times New Roman"/>
            </a:endParaRPr>
          </a:p>
        </p:txBody>
      </p:sp>
      <p:sp>
        <p:nvSpPr>
          <p:cNvPr id="214" name="CuadroTexto 213"/>
          <p:cNvSpPr txBox="1"/>
          <p:nvPr/>
        </p:nvSpPr>
        <p:spPr>
          <a:xfrm>
            <a:off x="6743520" y="476676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a:t>
            </a:r>
            <a:endParaRPr lang="en-US" sz="1050" b="0" u="none" strike="noStrike">
              <a:solidFill>
                <a:srgbClr val="000000"/>
              </a:solidFill>
              <a:effectLst/>
              <a:uFillTx/>
              <a:latin typeface="Times New Roman"/>
            </a:endParaRPr>
          </a:p>
        </p:txBody>
      </p:sp>
      <p:sp>
        <p:nvSpPr>
          <p:cNvPr id="215" name="CuadroTexto 214"/>
          <p:cNvSpPr txBox="1"/>
          <p:nvPr/>
        </p:nvSpPr>
        <p:spPr>
          <a:xfrm>
            <a:off x="6874560" y="4728600"/>
            <a:ext cx="443556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Uso de contraseñas en el código. Las contraseñas deben estar cifradas y en la base de</a:t>
            </a:r>
            <a:endParaRPr lang="en-US" sz="1050" b="0" u="none" strike="noStrike">
              <a:solidFill>
                <a:srgbClr val="000000"/>
              </a:solidFill>
              <a:effectLst/>
              <a:uFillTx/>
              <a:latin typeface="Times New Roman"/>
            </a:endParaRPr>
          </a:p>
        </p:txBody>
      </p:sp>
      <p:sp>
        <p:nvSpPr>
          <p:cNvPr id="216" name="Forma libre: forma 215"/>
          <p:cNvSpPr/>
          <p:nvPr/>
        </p:nvSpPr>
        <p:spPr>
          <a:xfrm>
            <a:off x="6248160" y="5257440"/>
            <a:ext cx="267120" cy="267120"/>
          </a:xfrm>
          <a:custGeom>
            <a:avLst/>
            <a:gdLst/>
            <a:ahLst/>
            <a:cxnLst/>
            <a:rect l="0" t="0" r="r" b="b"/>
            <a:pathLst>
              <a:path w="742" h="742">
                <a:moveTo>
                  <a:pt x="742" y="371"/>
                </a:moveTo>
                <a:cubicBezTo>
                  <a:pt x="742" y="395"/>
                  <a:pt x="740" y="419"/>
                  <a:pt x="735" y="443"/>
                </a:cubicBezTo>
                <a:cubicBezTo>
                  <a:pt x="730" y="467"/>
                  <a:pt x="723" y="490"/>
                  <a:pt x="714" y="513"/>
                </a:cubicBezTo>
                <a:cubicBezTo>
                  <a:pt x="704" y="535"/>
                  <a:pt x="693" y="556"/>
                  <a:pt x="680" y="578"/>
                </a:cubicBezTo>
                <a:cubicBezTo>
                  <a:pt x="666" y="598"/>
                  <a:pt x="651" y="617"/>
                  <a:pt x="634" y="634"/>
                </a:cubicBezTo>
                <a:cubicBezTo>
                  <a:pt x="616" y="651"/>
                  <a:pt x="598" y="666"/>
                  <a:pt x="577" y="680"/>
                </a:cubicBezTo>
                <a:cubicBezTo>
                  <a:pt x="557" y="693"/>
                  <a:pt x="536" y="705"/>
                  <a:pt x="513" y="714"/>
                </a:cubicBezTo>
                <a:cubicBezTo>
                  <a:pt x="491" y="723"/>
                  <a:pt x="468" y="730"/>
                  <a:pt x="444" y="735"/>
                </a:cubicBezTo>
                <a:cubicBezTo>
                  <a:pt x="420" y="740"/>
                  <a:pt x="396" y="742"/>
                  <a:pt x="372" y="742"/>
                </a:cubicBezTo>
                <a:cubicBezTo>
                  <a:pt x="347" y="742"/>
                  <a:pt x="323" y="740"/>
                  <a:pt x="299" y="735"/>
                </a:cubicBezTo>
                <a:cubicBezTo>
                  <a:pt x="275" y="730"/>
                  <a:pt x="252" y="723"/>
                  <a:pt x="230" y="714"/>
                </a:cubicBezTo>
                <a:cubicBezTo>
                  <a:pt x="207" y="705"/>
                  <a:pt x="186" y="693"/>
                  <a:pt x="166" y="680"/>
                </a:cubicBezTo>
                <a:cubicBezTo>
                  <a:pt x="146" y="666"/>
                  <a:pt x="127" y="651"/>
                  <a:pt x="110" y="634"/>
                </a:cubicBezTo>
                <a:cubicBezTo>
                  <a:pt x="92" y="617"/>
                  <a:pt x="77" y="598"/>
                  <a:pt x="64" y="578"/>
                </a:cubicBezTo>
                <a:cubicBezTo>
                  <a:pt x="50" y="556"/>
                  <a:pt x="39" y="535"/>
                  <a:pt x="28" y="513"/>
                </a:cubicBezTo>
                <a:cubicBezTo>
                  <a:pt x="19" y="490"/>
                  <a:pt x="12" y="467"/>
                  <a:pt x="7" y="443"/>
                </a:cubicBezTo>
                <a:cubicBezTo>
                  <a:pt x="3" y="419"/>
                  <a:pt x="0" y="395"/>
                  <a:pt x="0" y="371"/>
                </a:cubicBezTo>
                <a:cubicBezTo>
                  <a:pt x="0" y="347"/>
                  <a:pt x="3" y="323"/>
                  <a:pt x="7" y="299"/>
                </a:cubicBezTo>
                <a:cubicBezTo>
                  <a:pt x="12" y="275"/>
                  <a:pt x="19" y="252"/>
                  <a:pt x="28" y="229"/>
                </a:cubicBezTo>
                <a:cubicBezTo>
                  <a:pt x="39" y="207"/>
                  <a:pt x="50" y="185"/>
                  <a:pt x="64" y="165"/>
                </a:cubicBezTo>
                <a:cubicBezTo>
                  <a:pt x="77" y="145"/>
                  <a:pt x="92" y="126"/>
                  <a:pt x="110" y="109"/>
                </a:cubicBezTo>
                <a:cubicBezTo>
                  <a:pt x="127" y="92"/>
                  <a:pt x="146" y="76"/>
                  <a:pt x="166" y="63"/>
                </a:cubicBezTo>
                <a:cubicBezTo>
                  <a:pt x="186" y="49"/>
                  <a:pt x="207" y="38"/>
                  <a:pt x="230" y="29"/>
                </a:cubicBezTo>
                <a:cubicBezTo>
                  <a:pt x="252" y="19"/>
                  <a:pt x="275" y="12"/>
                  <a:pt x="299" y="8"/>
                </a:cubicBezTo>
                <a:cubicBezTo>
                  <a:pt x="323" y="3"/>
                  <a:pt x="347" y="0"/>
                  <a:pt x="372" y="0"/>
                </a:cubicBezTo>
                <a:cubicBezTo>
                  <a:pt x="396" y="0"/>
                  <a:pt x="420" y="3"/>
                  <a:pt x="444" y="8"/>
                </a:cubicBezTo>
                <a:cubicBezTo>
                  <a:pt x="468" y="12"/>
                  <a:pt x="491" y="19"/>
                  <a:pt x="513" y="29"/>
                </a:cubicBezTo>
                <a:cubicBezTo>
                  <a:pt x="536" y="38"/>
                  <a:pt x="557" y="49"/>
                  <a:pt x="577" y="63"/>
                </a:cubicBezTo>
                <a:cubicBezTo>
                  <a:pt x="598" y="76"/>
                  <a:pt x="616" y="92"/>
                  <a:pt x="634" y="109"/>
                </a:cubicBezTo>
                <a:cubicBezTo>
                  <a:pt x="651" y="126"/>
                  <a:pt x="666" y="145"/>
                  <a:pt x="680" y="165"/>
                </a:cubicBezTo>
                <a:cubicBezTo>
                  <a:pt x="693" y="185"/>
                  <a:pt x="704" y="207"/>
                  <a:pt x="714" y="229"/>
                </a:cubicBezTo>
                <a:cubicBezTo>
                  <a:pt x="723" y="252"/>
                  <a:pt x="730" y="275"/>
                  <a:pt x="735" y="299"/>
                </a:cubicBezTo>
                <a:cubicBezTo>
                  <a:pt x="740" y="323"/>
                  <a:pt x="742" y="347"/>
                  <a:pt x="742" y="371"/>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17" name="CuadroTexto 216"/>
          <p:cNvSpPr txBox="1"/>
          <p:nvPr/>
        </p:nvSpPr>
        <p:spPr>
          <a:xfrm>
            <a:off x="6874560" y="4938120"/>
            <a:ext cx="32400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datos.</a:t>
            </a:r>
            <a:endParaRPr lang="en-US" sz="1050" b="0" u="none" strike="noStrike">
              <a:solidFill>
                <a:srgbClr val="000000"/>
              </a:solidFill>
              <a:effectLst/>
              <a:uFillTx/>
              <a:latin typeface="Times New Roman"/>
            </a:endParaRPr>
          </a:p>
        </p:txBody>
      </p:sp>
      <p:sp>
        <p:nvSpPr>
          <p:cNvPr id="218" name="CuadroTexto 217"/>
          <p:cNvSpPr txBox="1"/>
          <p:nvPr/>
        </p:nvSpPr>
        <p:spPr>
          <a:xfrm>
            <a:off x="6322680" y="5319360"/>
            <a:ext cx="13284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12</a:t>
            </a:r>
            <a:endParaRPr lang="en-US" sz="1050" b="0" u="none" strike="noStrike">
              <a:solidFill>
                <a:srgbClr val="000000"/>
              </a:solidFill>
              <a:effectLst/>
              <a:uFillTx/>
              <a:latin typeface="Times New Roman"/>
            </a:endParaRPr>
          </a:p>
        </p:txBody>
      </p:sp>
      <p:sp>
        <p:nvSpPr>
          <p:cNvPr id="219" name="Forma libre: forma 218"/>
          <p:cNvSpPr/>
          <p:nvPr/>
        </p:nvSpPr>
        <p:spPr>
          <a:xfrm>
            <a:off x="475920" y="6029280"/>
            <a:ext cx="11239920" cy="9720"/>
          </a:xfrm>
          <a:custGeom>
            <a:avLst/>
            <a:gdLst/>
            <a:ahLst/>
            <a:cxnLst/>
            <a:rect l="0" t="0" r="r" b="b"/>
            <a:pathLst>
              <a:path w="31222" h="27">
                <a:moveTo>
                  <a:pt x="0" y="0"/>
                </a:moveTo>
                <a:lnTo>
                  <a:pt x="31222" y="0"/>
                </a:lnTo>
                <a:lnTo>
                  <a:pt x="31222"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20" name="CuadroTexto 219"/>
          <p:cNvSpPr txBox="1"/>
          <p:nvPr/>
        </p:nvSpPr>
        <p:spPr>
          <a:xfrm>
            <a:off x="6629400" y="5264280"/>
            <a:ext cx="100980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Documentación.</a:t>
            </a:r>
            <a:endParaRPr lang="en-US" sz="1200" b="0" u="none" strike="noStrike">
              <a:solidFill>
                <a:srgbClr val="000000"/>
              </a:solidFill>
              <a:effectLst/>
              <a:uFillTx/>
              <a:latin typeface="Times New Roman"/>
            </a:endParaRPr>
          </a:p>
        </p:txBody>
      </p:sp>
      <p:sp>
        <p:nvSpPr>
          <p:cNvPr id="221" name="CuadroTexto 220"/>
          <p:cNvSpPr txBox="1"/>
          <p:nvPr/>
        </p:nvSpPr>
        <p:spPr>
          <a:xfrm>
            <a:off x="476280" y="6214680"/>
            <a:ext cx="2845080" cy="148320"/>
          </a:xfrm>
          <a:prstGeom prst="rect">
            <a:avLst/>
          </a:prstGeom>
          <a:noFill/>
          <a:ln w="0">
            <a:noFill/>
          </a:ln>
        </p:spPr>
        <p:txBody>
          <a:bodyPr wrap="none" lIns="0" tIns="0" rIns="0" bIns="0" anchor="t">
            <a:spAutoFit/>
          </a:bodyPr>
          <a:lstStyle/>
          <a:p>
            <a:r>
              <a:rPr lang="en-US" sz="1050" b="0" u="none" strike="noStrike">
                <a:solidFill>
                  <a:srgbClr val="999999"/>
                </a:solidFill>
                <a:effectLst/>
                <a:uFillTx/>
                <a:latin typeface="CrimsonPro"/>
                <a:ea typeface="CrimsonPro"/>
              </a:rPr>
              <a:t>Workshop de Automatización de Pruebas - Nivelación</a:t>
            </a:r>
            <a:endParaRPr lang="en-US" sz="1050" b="0" u="none" strike="noStrike">
              <a:solidFill>
                <a:srgbClr val="000000"/>
              </a:solidFill>
              <a:effectLst/>
              <a:uFillTx/>
              <a:latin typeface="Times New Roman"/>
            </a:endParaRPr>
          </a:p>
        </p:txBody>
      </p:sp>
      <p:sp>
        <p:nvSpPr>
          <p:cNvPr id="222" name="CuadroTexto 221"/>
          <p:cNvSpPr txBox="1"/>
          <p:nvPr/>
        </p:nvSpPr>
        <p:spPr>
          <a:xfrm>
            <a:off x="11595960" y="6214680"/>
            <a:ext cx="132840" cy="148320"/>
          </a:xfrm>
          <a:prstGeom prst="rect">
            <a:avLst/>
          </a:prstGeom>
          <a:noFill/>
          <a:ln w="0">
            <a:noFill/>
          </a:ln>
        </p:spPr>
        <p:txBody>
          <a:bodyPr wrap="none" lIns="0" tIns="0" rIns="0" bIns="0" anchor="t">
            <a:spAutoFit/>
          </a:bodyPr>
          <a:lstStyle/>
          <a:p>
            <a:r>
              <a:rPr lang="en-US" sz="1050" b="0" u="none" strike="noStrike">
                <a:solidFill>
                  <a:srgbClr val="999999"/>
                </a:solidFill>
                <a:effectLst/>
                <a:uFillTx/>
                <a:latin typeface="CrimsonPro"/>
                <a:ea typeface="CrimsonPro"/>
              </a:rPr>
              <a:t>10</a:t>
            </a:r>
            <a:endParaRPr lang="en-US" sz="105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7"/>
                                        </p:tgtEl>
                                        <p:attrNameLst>
                                          <p:attrName>style.visibility</p:attrName>
                                        </p:attrNameLst>
                                      </p:cBhvr>
                                      <p:to>
                                        <p:strVal val="visible"/>
                                      </p:to>
                                    </p:set>
                                    <p:anim calcmode="lin" valueType="num">
                                      <p:cBhvr additive="base">
                                        <p:cTn id="7" dur="500" fill="hold"/>
                                        <p:tgtEl>
                                          <p:spTgt spid="167"/>
                                        </p:tgtEl>
                                        <p:attrNameLst>
                                          <p:attrName>ppt_x</p:attrName>
                                        </p:attrNameLst>
                                      </p:cBhvr>
                                      <p:tavLst>
                                        <p:tav tm="0">
                                          <p:val>
                                            <p:strVal val="#ppt_x"/>
                                          </p:val>
                                        </p:tav>
                                        <p:tav tm="100000">
                                          <p:val>
                                            <p:strVal val="#ppt_x"/>
                                          </p:val>
                                        </p:tav>
                                      </p:tavLst>
                                    </p:anim>
                                    <p:anim calcmode="lin" valueType="num">
                                      <p:cBhvr additive="base">
                                        <p:cTn id="8" dur="500" fill="hold"/>
                                        <p:tgtEl>
                                          <p:spTgt spid="16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5"/>
                                        </p:tgtEl>
                                        <p:attrNameLst>
                                          <p:attrName>style.visibility</p:attrName>
                                        </p:attrNameLst>
                                      </p:cBhvr>
                                      <p:to>
                                        <p:strVal val="visible"/>
                                      </p:to>
                                    </p:set>
                                    <p:anim calcmode="lin" valueType="num">
                                      <p:cBhvr additive="base">
                                        <p:cTn id="11" dur="500" fill="hold"/>
                                        <p:tgtEl>
                                          <p:spTgt spid="165"/>
                                        </p:tgtEl>
                                        <p:attrNameLst>
                                          <p:attrName>ppt_x</p:attrName>
                                        </p:attrNameLst>
                                      </p:cBhvr>
                                      <p:tavLst>
                                        <p:tav tm="0">
                                          <p:val>
                                            <p:strVal val="#ppt_x"/>
                                          </p:val>
                                        </p:tav>
                                        <p:tav tm="100000">
                                          <p:val>
                                            <p:strVal val="#ppt_x"/>
                                          </p:val>
                                        </p:tav>
                                      </p:tavLst>
                                    </p:anim>
                                    <p:anim calcmode="lin" valueType="num">
                                      <p:cBhvr additive="base">
                                        <p:cTn id="12" dur="500" fill="hold"/>
                                        <p:tgtEl>
                                          <p:spTgt spid="16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69"/>
                                        </p:tgtEl>
                                        <p:attrNameLst>
                                          <p:attrName>style.visibility</p:attrName>
                                        </p:attrNameLst>
                                      </p:cBhvr>
                                      <p:to>
                                        <p:strVal val="visible"/>
                                      </p:to>
                                    </p:set>
                                    <p:anim calcmode="lin" valueType="num">
                                      <p:cBhvr additive="base">
                                        <p:cTn id="15" dur="500" fill="hold"/>
                                        <p:tgtEl>
                                          <p:spTgt spid="169"/>
                                        </p:tgtEl>
                                        <p:attrNameLst>
                                          <p:attrName>ppt_x</p:attrName>
                                        </p:attrNameLst>
                                      </p:cBhvr>
                                      <p:tavLst>
                                        <p:tav tm="0">
                                          <p:val>
                                            <p:strVal val="#ppt_x"/>
                                          </p:val>
                                        </p:tav>
                                        <p:tav tm="100000">
                                          <p:val>
                                            <p:strVal val="#ppt_x"/>
                                          </p:val>
                                        </p:tav>
                                      </p:tavLst>
                                    </p:anim>
                                    <p:anim calcmode="lin" valueType="num">
                                      <p:cBhvr additive="base">
                                        <p:cTn id="16" dur="500" fill="hold"/>
                                        <p:tgtEl>
                                          <p:spTgt spid="16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68"/>
                                        </p:tgtEl>
                                        <p:attrNameLst>
                                          <p:attrName>style.visibility</p:attrName>
                                        </p:attrNameLst>
                                      </p:cBhvr>
                                      <p:to>
                                        <p:strVal val="visible"/>
                                      </p:to>
                                    </p:set>
                                    <p:anim calcmode="lin" valueType="num">
                                      <p:cBhvr additive="base">
                                        <p:cTn id="21" dur="500" fill="hold"/>
                                        <p:tgtEl>
                                          <p:spTgt spid="168"/>
                                        </p:tgtEl>
                                        <p:attrNameLst>
                                          <p:attrName>ppt_x</p:attrName>
                                        </p:attrNameLst>
                                      </p:cBhvr>
                                      <p:tavLst>
                                        <p:tav tm="0">
                                          <p:val>
                                            <p:strVal val="#ppt_x"/>
                                          </p:val>
                                        </p:tav>
                                        <p:tav tm="100000">
                                          <p:val>
                                            <p:strVal val="#ppt_x"/>
                                          </p:val>
                                        </p:tav>
                                      </p:tavLst>
                                    </p:anim>
                                    <p:anim calcmode="lin" valueType="num">
                                      <p:cBhvr additive="base">
                                        <p:cTn id="22" dur="500" fill="hold"/>
                                        <p:tgtEl>
                                          <p:spTgt spid="16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70"/>
                                        </p:tgtEl>
                                        <p:attrNameLst>
                                          <p:attrName>style.visibility</p:attrName>
                                        </p:attrNameLst>
                                      </p:cBhvr>
                                      <p:to>
                                        <p:strVal val="visible"/>
                                      </p:to>
                                    </p:set>
                                    <p:anim calcmode="lin" valueType="num">
                                      <p:cBhvr additive="base">
                                        <p:cTn id="25" dur="500" fill="hold"/>
                                        <p:tgtEl>
                                          <p:spTgt spid="170"/>
                                        </p:tgtEl>
                                        <p:attrNameLst>
                                          <p:attrName>ppt_x</p:attrName>
                                        </p:attrNameLst>
                                      </p:cBhvr>
                                      <p:tavLst>
                                        <p:tav tm="0">
                                          <p:val>
                                            <p:strVal val="#ppt_x"/>
                                          </p:val>
                                        </p:tav>
                                        <p:tav tm="100000">
                                          <p:val>
                                            <p:strVal val="#ppt_x"/>
                                          </p:val>
                                        </p:tav>
                                      </p:tavLst>
                                    </p:anim>
                                    <p:anim calcmode="lin" valueType="num">
                                      <p:cBhvr additive="base">
                                        <p:cTn id="26" dur="500" fill="hold"/>
                                        <p:tgtEl>
                                          <p:spTgt spid="17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72"/>
                                        </p:tgtEl>
                                        <p:attrNameLst>
                                          <p:attrName>style.visibility</p:attrName>
                                        </p:attrNameLst>
                                      </p:cBhvr>
                                      <p:to>
                                        <p:strVal val="visible"/>
                                      </p:to>
                                    </p:set>
                                    <p:anim calcmode="lin" valueType="num">
                                      <p:cBhvr additive="base">
                                        <p:cTn id="29" dur="500" fill="hold"/>
                                        <p:tgtEl>
                                          <p:spTgt spid="172"/>
                                        </p:tgtEl>
                                        <p:attrNameLst>
                                          <p:attrName>ppt_x</p:attrName>
                                        </p:attrNameLst>
                                      </p:cBhvr>
                                      <p:tavLst>
                                        <p:tav tm="0">
                                          <p:val>
                                            <p:strVal val="#ppt_x"/>
                                          </p:val>
                                        </p:tav>
                                        <p:tav tm="100000">
                                          <p:val>
                                            <p:strVal val="#ppt_x"/>
                                          </p:val>
                                        </p:tav>
                                      </p:tavLst>
                                    </p:anim>
                                    <p:anim calcmode="lin" valueType="num">
                                      <p:cBhvr additive="base">
                                        <p:cTn id="30" dur="500" fill="hold"/>
                                        <p:tgtEl>
                                          <p:spTgt spid="17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71"/>
                                        </p:tgtEl>
                                        <p:attrNameLst>
                                          <p:attrName>style.visibility</p:attrName>
                                        </p:attrNameLst>
                                      </p:cBhvr>
                                      <p:to>
                                        <p:strVal val="visible"/>
                                      </p:to>
                                    </p:set>
                                    <p:anim calcmode="lin" valueType="num">
                                      <p:cBhvr additive="base">
                                        <p:cTn id="35" dur="500" fill="hold"/>
                                        <p:tgtEl>
                                          <p:spTgt spid="171"/>
                                        </p:tgtEl>
                                        <p:attrNameLst>
                                          <p:attrName>ppt_x</p:attrName>
                                        </p:attrNameLst>
                                      </p:cBhvr>
                                      <p:tavLst>
                                        <p:tav tm="0">
                                          <p:val>
                                            <p:strVal val="#ppt_x"/>
                                          </p:val>
                                        </p:tav>
                                        <p:tav tm="100000">
                                          <p:val>
                                            <p:strVal val="#ppt_x"/>
                                          </p:val>
                                        </p:tav>
                                      </p:tavLst>
                                    </p:anim>
                                    <p:anim calcmode="lin" valueType="num">
                                      <p:cBhvr additive="base">
                                        <p:cTn id="36" dur="500" fill="hold"/>
                                        <p:tgtEl>
                                          <p:spTgt spid="17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73"/>
                                        </p:tgtEl>
                                        <p:attrNameLst>
                                          <p:attrName>style.visibility</p:attrName>
                                        </p:attrNameLst>
                                      </p:cBhvr>
                                      <p:to>
                                        <p:strVal val="visible"/>
                                      </p:to>
                                    </p:set>
                                    <p:anim calcmode="lin" valueType="num">
                                      <p:cBhvr additive="base">
                                        <p:cTn id="39" dur="500" fill="hold"/>
                                        <p:tgtEl>
                                          <p:spTgt spid="173"/>
                                        </p:tgtEl>
                                        <p:attrNameLst>
                                          <p:attrName>ppt_x</p:attrName>
                                        </p:attrNameLst>
                                      </p:cBhvr>
                                      <p:tavLst>
                                        <p:tav tm="0">
                                          <p:val>
                                            <p:strVal val="#ppt_x"/>
                                          </p:val>
                                        </p:tav>
                                        <p:tav tm="100000">
                                          <p:val>
                                            <p:strVal val="#ppt_x"/>
                                          </p:val>
                                        </p:tav>
                                      </p:tavLst>
                                    </p:anim>
                                    <p:anim calcmode="lin" valueType="num">
                                      <p:cBhvr additive="base">
                                        <p:cTn id="40" dur="500" fill="hold"/>
                                        <p:tgtEl>
                                          <p:spTgt spid="17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75"/>
                                        </p:tgtEl>
                                        <p:attrNameLst>
                                          <p:attrName>style.visibility</p:attrName>
                                        </p:attrNameLst>
                                      </p:cBhvr>
                                      <p:to>
                                        <p:strVal val="visible"/>
                                      </p:to>
                                    </p:set>
                                    <p:anim calcmode="lin" valueType="num">
                                      <p:cBhvr additive="base">
                                        <p:cTn id="43" dur="500" fill="hold"/>
                                        <p:tgtEl>
                                          <p:spTgt spid="175"/>
                                        </p:tgtEl>
                                        <p:attrNameLst>
                                          <p:attrName>ppt_x</p:attrName>
                                        </p:attrNameLst>
                                      </p:cBhvr>
                                      <p:tavLst>
                                        <p:tav tm="0">
                                          <p:val>
                                            <p:strVal val="#ppt_x"/>
                                          </p:val>
                                        </p:tav>
                                        <p:tav tm="100000">
                                          <p:val>
                                            <p:strVal val="#ppt_x"/>
                                          </p:val>
                                        </p:tav>
                                      </p:tavLst>
                                    </p:anim>
                                    <p:anim calcmode="lin" valueType="num">
                                      <p:cBhvr additive="base">
                                        <p:cTn id="44" dur="500" fill="hold"/>
                                        <p:tgtEl>
                                          <p:spTgt spid="17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76"/>
                                        </p:tgtEl>
                                        <p:attrNameLst>
                                          <p:attrName>style.visibility</p:attrName>
                                        </p:attrNameLst>
                                      </p:cBhvr>
                                      <p:to>
                                        <p:strVal val="visible"/>
                                      </p:to>
                                    </p:set>
                                    <p:anim calcmode="lin" valueType="num">
                                      <p:cBhvr additive="base">
                                        <p:cTn id="49" dur="500" fill="hold"/>
                                        <p:tgtEl>
                                          <p:spTgt spid="176"/>
                                        </p:tgtEl>
                                        <p:attrNameLst>
                                          <p:attrName>ppt_x</p:attrName>
                                        </p:attrNameLst>
                                      </p:cBhvr>
                                      <p:tavLst>
                                        <p:tav tm="0">
                                          <p:val>
                                            <p:strVal val="#ppt_x"/>
                                          </p:val>
                                        </p:tav>
                                        <p:tav tm="100000">
                                          <p:val>
                                            <p:strVal val="#ppt_x"/>
                                          </p:val>
                                        </p:tav>
                                      </p:tavLst>
                                    </p:anim>
                                    <p:anim calcmode="lin" valueType="num">
                                      <p:cBhvr additive="base">
                                        <p:cTn id="50" dur="500" fill="hold"/>
                                        <p:tgtEl>
                                          <p:spTgt spid="176"/>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74"/>
                                        </p:tgtEl>
                                        <p:attrNameLst>
                                          <p:attrName>style.visibility</p:attrName>
                                        </p:attrNameLst>
                                      </p:cBhvr>
                                      <p:to>
                                        <p:strVal val="visible"/>
                                      </p:to>
                                    </p:set>
                                    <p:anim calcmode="lin" valueType="num">
                                      <p:cBhvr additive="base">
                                        <p:cTn id="53" dur="500" fill="hold"/>
                                        <p:tgtEl>
                                          <p:spTgt spid="174"/>
                                        </p:tgtEl>
                                        <p:attrNameLst>
                                          <p:attrName>ppt_x</p:attrName>
                                        </p:attrNameLst>
                                      </p:cBhvr>
                                      <p:tavLst>
                                        <p:tav tm="0">
                                          <p:val>
                                            <p:strVal val="#ppt_x"/>
                                          </p:val>
                                        </p:tav>
                                        <p:tav tm="100000">
                                          <p:val>
                                            <p:strVal val="#ppt_x"/>
                                          </p:val>
                                        </p:tav>
                                      </p:tavLst>
                                    </p:anim>
                                    <p:anim calcmode="lin" valueType="num">
                                      <p:cBhvr additive="base">
                                        <p:cTn id="54" dur="500" fill="hold"/>
                                        <p:tgtEl>
                                          <p:spTgt spid="17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78"/>
                                        </p:tgtEl>
                                        <p:attrNameLst>
                                          <p:attrName>style.visibility</p:attrName>
                                        </p:attrNameLst>
                                      </p:cBhvr>
                                      <p:to>
                                        <p:strVal val="visible"/>
                                      </p:to>
                                    </p:set>
                                    <p:anim calcmode="lin" valueType="num">
                                      <p:cBhvr additive="base">
                                        <p:cTn id="57" dur="500" fill="hold"/>
                                        <p:tgtEl>
                                          <p:spTgt spid="178"/>
                                        </p:tgtEl>
                                        <p:attrNameLst>
                                          <p:attrName>ppt_x</p:attrName>
                                        </p:attrNameLst>
                                      </p:cBhvr>
                                      <p:tavLst>
                                        <p:tav tm="0">
                                          <p:val>
                                            <p:strVal val="#ppt_x"/>
                                          </p:val>
                                        </p:tav>
                                        <p:tav tm="100000">
                                          <p:val>
                                            <p:strVal val="#ppt_x"/>
                                          </p:val>
                                        </p:tav>
                                      </p:tavLst>
                                    </p:anim>
                                    <p:anim calcmode="lin" valueType="num">
                                      <p:cBhvr additive="base">
                                        <p:cTn id="58" dur="500" fill="hold"/>
                                        <p:tgtEl>
                                          <p:spTgt spid="178"/>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79"/>
                                        </p:tgtEl>
                                        <p:attrNameLst>
                                          <p:attrName>style.visibility</p:attrName>
                                        </p:attrNameLst>
                                      </p:cBhvr>
                                      <p:to>
                                        <p:strVal val="visible"/>
                                      </p:to>
                                    </p:set>
                                    <p:anim calcmode="lin" valueType="num">
                                      <p:cBhvr additive="base">
                                        <p:cTn id="63" dur="500" fill="hold"/>
                                        <p:tgtEl>
                                          <p:spTgt spid="179"/>
                                        </p:tgtEl>
                                        <p:attrNameLst>
                                          <p:attrName>ppt_x</p:attrName>
                                        </p:attrNameLst>
                                      </p:cBhvr>
                                      <p:tavLst>
                                        <p:tav tm="0">
                                          <p:val>
                                            <p:strVal val="#ppt_x"/>
                                          </p:val>
                                        </p:tav>
                                        <p:tav tm="100000">
                                          <p:val>
                                            <p:strVal val="#ppt_x"/>
                                          </p:val>
                                        </p:tav>
                                      </p:tavLst>
                                    </p:anim>
                                    <p:anim calcmode="lin" valueType="num">
                                      <p:cBhvr additive="base">
                                        <p:cTn id="64" dur="500" fill="hold"/>
                                        <p:tgtEl>
                                          <p:spTgt spid="179"/>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77"/>
                                        </p:tgtEl>
                                        <p:attrNameLst>
                                          <p:attrName>style.visibility</p:attrName>
                                        </p:attrNameLst>
                                      </p:cBhvr>
                                      <p:to>
                                        <p:strVal val="visible"/>
                                      </p:to>
                                    </p:set>
                                    <p:anim calcmode="lin" valueType="num">
                                      <p:cBhvr additive="base">
                                        <p:cTn id="67" dur="500" fill="hold"/>
                                        <p:tgtEl>
                                          <p:spTgt spid="177"/>
                                        </p:tgtEl>
                                        <p:attrNameLst>
                                          <p:attrName>ppt_x</p:attrName>
                                        </p:attrNameLst>
                                      </p:cBhvr>
                                      <p:tavLst>
                                        <p:tav tm="0">
                                          <p:val>
                                            <p:strVal val="#ppt_x"/>
                                          </p:val>
                                        </p:tav>
                                        <p:tav tm="100000">
                                          <p:val>
                                            <p:strVal val="#ppt_x"/>
                                          </p:val>
                                        </p:tav>
                                      </p:tavLst>
                                    </p:anim>
                                    <p:anim calcmode="lin" valueType="num">
                                      <p:cBhvr additive="base">
                                        <p:cTn id="68" dur="500" fill="hold"/>
                                        <p:tgtEl>
                                          <p:spTgt spid="177"/>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80"/>
                                        </p:tgtEl>
                                        <p:attrNameLst>
                                          <p:attrName>style.visibility</p:attrName>
                                        </p:attrNameLst>
                                      </p:cBhvr>
                                      <p:to>
                                        <p:strVal val="visible"/>
                                      </p:to>
                                    </p:set>
                                    <p:anim calcmode="lin" valueType="num">
                                      <p:cBhvr additive="base">
                                        <p:cTn id="71" dur="500" fill="hold"/>
                                        <p:tgtEl>
                                          <p:spTgt spid="180"/>
                                        </p:tgtEl>
                                        <p:attrNameLst>
                                          <p:attrName>ppt_x</p:attrName>
                                        </p:attrNameLst>
                                      </p:cBhvr>
                                      <p:tavLst>
                                        <p:tav tm="0">
                                          <p:val>
                                            <p:strVal val="#ppt_x"/>
                                          </p:val>
                                        </p:tav>
                                        <p:tav tm="100000">
                                          <p:val>
                                            <p:strVal val="#ppt_x"/>
                                          </p:val>
                                        </p:tav>
                                      </p:tavLst>
                                    </p:anim>
                                    <p:anim calcmode="lin" valueType="num">
                                      <p:cBhvr additive="base">
                                        <p:cTn id="72" dur="500" fill="hold"/>
                                        <p:tgtEl>
                                          <p:spTgt spid="180"/>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81"/>
                                        </p:tgtEl>
                                        <p:attrNameLst>
                                          <p:attrName>style.visibility</p:attrName>
                                        </p:attrNameLst>
                                      </p:cBhvr>
                                      <p:to>
                                        <p:strVal val="visible"/>
                                      </p:to>
                                    </p:set>
                                    <p:anim calcmode="lin" valueType="num">
                                      <p:cBhvr additive="base">
                                        <p:cTn id="75" dur="500" fill="hold"/>
                                        <p:tgtEl>
                                          <p:spTgt spid="181"/>
                                        </p:tgtEl>
                                        <p:attrNameLst>
                                          <p:attrName>ppt_x</p:attrName>
                                        </p:attrNameLst>
                                      </p:cBhvr>
                                      <p:tavLst>
                                        <p:tav tm="0">
                                          <p:val>
                                            <p:strVal val="#ppt_x"/>
                                          </p:val>
                                        </p:tav>
                                        <p:tav tm="100000">
                                          <p:val>
                                            <p:strVal val="#ppt_x"/>
                                          </p:val>
                                        </p:tav>
                                      </p:tavLst>
                                    </p:anim>
                                    <p:anim calcmode="lin" valueType="num">
                                      <p:cBhvr additive="base">
                                        <p:cTn id="76" dur="500" fill="hold"/>
                                        <p:tgtEl>
                                          <p:spTgt spid="181"/>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83"/>
                                        </p:tgtEl>
                                        <p:attrNameLst>
                                          <p:attrName>style.visibility</p:attrName>
                                        </p:attrNameLst>
                                      </p:cBhvr>
                                      <p:to>
                                        <p:strVal val="visible"/>
                                      </p:to>
                                    </p:set>
                                    <p:anim calcmode="lin" valueType="num">
                                      <p:cBhvr additive="base">
                                        <p:cTn id="79" dur="500" fill="hold"/>
                                        <p:tgtEl>
                                          <p:spTgt spid="183"/>
                                        </p:tgtEl>
                                        <p:attrNameLst>
                                          <p:attrName>ppt_x</p:attrName>
                                        </p:attrNameLst>
                                      </p:cBhvr>
                                      <p:tavLst>
                                        <p:tav tm="0">
                                          <p:val>
                                            <p:strVal val="#ppt_x"/>
                                          </p:val>
                                        </p:tav>
                                        <p:tav tm="100000">
                                          <p:val>
                                            <p:strVal val="#ppt_x"/>
                                          </p:val>
                                        </p:tav>
                                      </p:tavLst>
                                    </p:anim>
                                    <p:anim calcmode="lin" valueType="num">
                                      <p:cBhvr additive="base">
                                        <p:cTn id="80" dur="500" fill="hold"/>
                                        <p:tgtEl>
                                          <p:spTgt spid="183"/>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82"/>
                                        </p:tgtEl>
                                        <p:attrNameLst>
                                          <p:attrName>style.visibility</p:attrName>
                                        </p:attrNameLst>
                                      </p:cBhvr>
                                      <p:to>
                                        <p:strVal val="visible"/>
                                      </p:to>
                                    </p:set>
                                    <p:anim calcmode="lin" valueType="num">
                                      <p:cBhvr additive="base">
                                        <p:cTn id="85" dur="500" fill="hold"/>
                                        <p:tgtEl>
                                          <p:spTgt spid="182"/>
                                        </p:tgtEl>
                                        <p:attrNameLst>
                                          <p:attrName>ppt_x</p:attrName>
                                        </p:attrNameLst>
                                      </p:cBhvr>
                                      <p:tavLst>
                                        <p:tav tm="0">
                                          <p:val>
                                            <p:strVal val="#ppt_x"/>
                                          </p:val>
                                        </p:tav>
                                        <p:tav tm="100000">
                                          <p:val>
                                            <p:strVal val="#ppt_x"/>
                                          </p:val>
                                        </p:tav>
                                      </p:tavLst>
                                    </p:anim>
                                    <p:anim calcmode="lin" valueType="num">
                                      <p:cBhvr additive="base">
                                        <p:cTn id="86" dur="500" fill="hold"/>
                                        <p:tgtEl>
                                          <p:spTgt spid="182"/>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184"/>
                                        </p:tgtEl>
                                        <p:attrNameLst>
                                          <p:attrName>style.visibility</p:attrName>
                                        </p:attrNameLst>
                                      </p:cBhvr>
                                      <p:to>
                                        <p:strVal val="visible"/>
                                      </p:to>
                                    </p:set>
                                    <p:anim calcmode="lin" valueType="num">
                                      <p:cBhvr additive="base">
                                        <p:cTn id="89" dur="500" fill="hold"/>
                                        <p:tgtEl>
                                          <p:spTgt spid="184"/>
                                        </p:tgtEl>
                                        <p:attrNameLst>
                                          <p:attrName>ppt_x</p:attrName>
                                        </p:attrNameLst>
                                      </p:cBhvr>
                                      <p:tavLst>
                                        <p:tav tm="0">
                                          <p:val>
                                            <p:strVal val="#ppt_x"/>
                                          </p:val>
                                        </p:tav>
                                        <p:tav tm="100000">
                                          <p:val>
                                            <p:strVal val="#ppt_x"/>
                                          </p:val>
                                        </p:tav>
                                      </p:tavLst>
                                    </p:anim>
                                    <p:anim calcmode="lin" valueType="num">
                                      <p:cBhvr additive="base">
                                        <p:cTn id="90" dur="500" fill="hold"/>
                                        <p:tgtEl>
                                          <p:spTgt spid="184"/>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185"/>
                                        </p:tgtEl>
                                        <p:attrNameLst>
                                          <p:attrName>style.visibility</p:attrName>
                                        </p:attrNameLst>
                                      </p:cBhvr>
                                      <p:to>
                                        <p:strVal val="visible"/>
                                      </p:to>
                                    </p:set>
                                    <p:anim calcmode="lin" valueType="num">
                                      <p:cBhvr additive="base">
                                        <p:cTn id="93" dur="500" fill="hold"/>
                                        <p:tgtEl>
                                          <p:spTgt spid="185"/>
                                        </p:tgtEl>
                                        <p:attrNameLst>
                                          <p:attrName>ppt_x</p:attrName>
                                        </p:attrNameLst>
                                      </p:cBhvr>
                                      <p:tavLst>
                                        <p:tav tm="0">
                                          <p:val>
                                            <p:strVal val="#ppt_x"/>
                                          </p:val>
                                        </p:tav>
                                        <p:tav tm="100000">
                                          <p:val>
                                            <p:strVal val="#ppt_x"/>
                                          </p:val>
                                        </p:tav>
                                      </p:tavLst>
                                    </p:anim>
                                    <p:anim calcmode="lin" valueType="num">
                                      <p:cBhvr additive="base">
                                        <p:cTn id="94" dur="500" fill="hold"/>
                                        <p:tgtEl>
                                          <p:spTgt spid="185"/>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186"/>
                                        </p:tgtEl>
                                        <p:attrNameLst>
                                          <p:attrName>style.visibility</p:attrName>
                                        </p:attrNameLst>
                                      </p:cBhvr>
                                      <p:to>
                                        <p:strVal val="visible"/>
                                      </p:to>
                                    </p:set>
                                    <p:anim calcmode="lin" valueType="num">
                                      <p:cBhvr additive="base">
                                        <p:cTn id="97" dur="500" fill="hold"/>
                                        <p:tgtEl>
                                          <p:spTgt spid="186"/>
                                        </p:tgtEl>
                                        <p:attrNameLst>
                                          <p:attrName>ppt_x</p:attrName>
                                        </p:attrNameLst>
                                      </p:cBhvr>
                                      <p:tavLst>
                                        <p:tav tm="0">
                                          <p:val>
                                            <p:strVal val="#ppt_x"/>
                                          </p:val>
                                        </p:tav>
                                        <p:tav tm="100000">
                                          <p:val>
                                            <p:strVal val="#ppt_x"/>
                                          </p:val>
                                        </p:tav>
                                      </p:tavLst>
                                    </p:anim>
                                    <p:anim calcmode="lin" valueType="num">
                                      <p:cBhvr additive="base">
                                        <p:cTn id="98" dur="500" fill="hold"/>
                                        <p:tgtEl>
                                          <p:spTgt spid="186"/>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188"/>
                                        </p:tgtEl>
                                        <p:attrNameLst>
                                          <p:attrName>style.visibility</p:attrName>
                                        </p:attrNameLst>
                                      </p:cBhvr>
                                      <p:to>
                                        <p:strVal val="visible"/>
                                      </p:to>
                                    </p:set>
                                    <p:anim calcmode="lin" valueType="num">
                                      <p:cBhvr additive="base">
                                        <p:cTn id="101" dur="500" fill="hold"/>
                                        <p:tgtEl>
                                          <p:spTgt spid="188"/>
                                        </p:tgtEl>
                                        <p:attrNameLst>
                                          <p:attrName>ppt_x</p:attrName>
                                        </p:attrNameLst>
                                      </p:cBhvr>
                                      <p:tavLst>
                                        <p:tav tm="0">
                                          <p:val>
                                            <p:strVal val="#ppt_x"/>
                                          </p:val>
                                        </p:tav>
                                        <p:tav tm="100000">
                                          <p:val>
                                            <p:strVal val="#ppt_x"/>
                                          </p:val>
                                        </p:tav>
                                      </p:tavLst>
                                    </p:anim>
                                    <p:anim calcmode="lin" valueType="num">
                                      <p:cBhvr additive="base">
                                        <p:cTn id="102" dur="500" fill="hold"/>
                                        <p:tgtEl>
                                          <p:spTgt spid="188"/>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189"/>
                                        </p:tgtEl>
                                        <p:attrNameLst>
                                          <p:attrName>style.visibility</p:attrName>
                                        </p:attrNameLst>
                                      </p:cBhvr>
                                      <p:to>
                                        <p:strVal val="visible"/>
                                      </p:to>
                                    </p:set>
                                    <p:anim calcmode="lin" valueType="num">
                                      <p:cBhvr additive="base">
                                        <p:cTn id="107" dur="500" fill="hold"/>
                                        <p:tgtEl>
                                          <p:spTgt spid="189"/>
                                        </p:tgtEl>
                                        <p:attrNameLst>
                                          <p:attrName>ppt_x</p:attrName>
                                        </p:attrNameLst>
                                      </p:cBhvr>
                                      <p:tavLst>
                                        <p:tav tm="0">
                                          <p:val>
                                            <p:strVal val="#ppt_x"/>
                                          </p:val>
                                        </p:tav>
                                        <p:tav tm="100000">
                                          <p:val>
                                            <p:strVal val="#ppt_x"/>
                                          </p:val>
                                        </p:tav>
                                      </p:tavLst>
                                    </p:anim>
                                    <p:anim calcmode="lin" valueType="num">
                                      <p:cBhvr additive="base">
                                        <p:cTn id="108" dur="500" fill="hold"/>
                                        <p:tgtEl>
                                          <p:spTgt spid="189"/>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187"/>
                                        </p:tgtEl>
                                        <p:attrNameLst>
                                          <p:attrName>style.visibility</p:attrName>
                                        </p:attrNameLst>
                                      </p:cBhvr>
                                      <p:to>
                                        <p:strVal val="visible"/>
                                      </p:to>
                                    </p:set>
                                    <p:anim calcmode="lin" valueType="num">
                                      <p:cBhvr additive="base">
                                        <p:cTn id="111" dur="500" fill="hold"/>
                                        <p:tgtEl>
                                          <p:spTgt spid="187"/>
                                        </p:tgtEl>
                                        <p:attrNameLst>
                                          <p:attrName>ppt_x</p:attrName>
                                        </p:attrNameLst>
                                      </p:cBhvr>
                                      <p:tavLst>
                                        <p:tav tm="0">
                                          <p:val>
                                            <p:strVal val="#ppt_x"/>
                                          </p:val>
                                        </p:tav>
                                        <p:tav tm="100000">
                                          <p:val>
                                            <p:strVal val="#ppt_x"/>
                                          </p:val>
                                        </p:tav>
                                      </p:tavLst>
                                    </p:anim>
                                    <p:anim calcmode="lin" valueType="num">
                                      <p:cBhvr additive="base">
                                        <p:cTn id="112" dur="500" fill="hold"/>
                                        <p:tgtEl>
                                          <p:spTgt spid="187"/>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191"/>
                                        </p:tgtEl>
                                        <p:attrNameLst>
                                          <p:attrName>style.visibility</p:attrName>
                                        </p:attrNameLst>
                                      </p:cBhvr>
                                      <p:to>
                                        <p:strVal val="visible"/>
                                      </p:to>
                                    </p:set>
                                    <p:anim calcmode="lin" valueType="num">
                                      <p:cBhvr additive="base">
                                        <p:cTn id="115" dur="500" fill="hold"/>
                                        <p:tgtEl>
                                          <p:spTgt spid="191"/>
                                        </p:tgtEl>
                                        <p:attrNameLst>
                                          <p:attrName>ppt_x</p:attrName>
                                        </p:attrNameLst>
                                      </p:cBhvr>
                                      <p:tavLst>
                                        <p:tav tm="0">
                                          <p:val>
                                            <p:strVal val="#ppt_x"/>
                                          </p:val>
                                        </p:tav>
                                        <p:tav tm="100000">
                                          <p:val>
                                            <p:strVal val="#ppt_x"/>
                                          </p:val>
                                        </p:tav>
                                      </p:tavLst>
                                    </p:anim>
                                    <p:anim calcmode="lin" valueType="num">
                                      <p:cBhvr additive="base">
                                        <p:cTn id="116" dur="500" fill="hold"/>
                                        <p:tgtEl>
                                          <p:spTgt spid="191"/>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192"/>
                                        </p:tgtEl>
                                        <p:attrNameLst>
                                          <p:attrName>style.visibility</p:attrName>
                                        </p:attrNameLst>
                                      </p:cBhvr>
                                      <p:to>
                                        <p:strVal val="visible"/>
                                      </p:to>
                                    </p:set>
                                    <p:anim calcmode="lin" valueType="num">
                                      <p:cBhvr additive="base">
                                        <p:cTn id="121" dur="500" fill="hold"/>
                                        <p:tgtEl>
                                          <p:spTgt spid="192"/>
                                        </p:tgtEl>
                                        <p:attrNameLst>
                                          <p:attrName>ppt_x</p:attrName>
                                        </p:attrNameLst>
                                      </p:cBhvr>
                                      <p:tavLst>
                                        <p:tav tm="0">
                                          <p:val>
                                            <p:strVal val="#ppt_x"/>
                                          </p:val>
                                        </p:tav>
                                        <p:tav tm="100000">
                                          <p:val>
                                            <p:strVal val="#ppt_x"/>
                                          </p:val>
                                        </p:tav>
                                      </p:tavLst>
                                    </p:anim>
                                    <p:anim calcmode="lin" valueType="num">
                                      <p:cBhvr additive="base">
                                        <p:cTn id="122" dur="500" fill="hold"/>
                                        <p:tgtEl>
                                          <p:spTgt spid="192"/>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190"/>
                                        </p:tgtEl>
                                        <p:attrNameLst>
                                          <p:attrName>style.visibility</p:attrName>
                                        </p:attrNameLst>
                                      </p:cBhvr>
                                      <p:to>
                                        <p:strVal val="visible"/>
                                      </p:to>
                                    </p:set>
                                    <p:anim calcmode="lin" valueType="num">
                                      <p:cBhvr additive="base">
                                        <p:cTn id="125" dur="500" fill="hold"/>
                                        <p:tgtEl>
                                          <p:spTgt spid="190"/>
                                        </p:tgtEl>
                                        <p:attrNameLst>
                                          <p:attrName>ppt_x</p:attrName>
                                        </p:attrNameLst>
                                      </p:cBhvr>
                                      <p:tavLst>
                                        <p:tav tm="0">
                                          <p:val>
                                            <p:strVal val="#ppt_x"/>
                                          </p:val>
                                        </p:tav>
                                        <p:tav tm="100000">
                                          <p:val>
                                            <p:strVal val="#ppt_x"/>
                                          </p:val>
                                        </p:tav>
                                      </p:tavLst>
                                    </p:anim>
                                    <p:anim calcmode="lin" valueType="num">
                                      <p:cBhvr additive="base">
                                        <p:cTn id="126" dur="500" fill="hold"/>
                                        <p:tgtEl>
                                          <p:spTgt spid="190"/>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194"/>
                                        </p:tgtEl>
                                        <p:attrNameLst>
                                          <p:attrName>style.visibility</p:attrName>
                                        </p:attrNameLst>
                                      </p:cBhvr>
                                      <p:to>
                                        <p:strVal val="visible"/>
                                      </p:to>
                                    </p:set>
                                    <p:anim calcmode="lin" valueType="num">
                                      <p:cBhvr additive="base">
                                        <p:cTn id="129" dur="500" fill="hold"/>
                                        <p:tgtEl>
                                          <p:spTgt spid="194"/>
                                        </p:tgtEl>
                                        <p:attrNameLst>
                                          <p:attrName>ppt_x</p:attrName>
                                        </p:attrNameLst>
                                      </p:cBhvr>
                                      <p:tavLst>
                                        <p:tav tm="0">
                                          <p:val>
                                            <p:strVal val="#ppt_x"/>
                                          </p:val>
                                        </p:tav>
                                        <p:tav tm="100000">
                                          <p:val>
                                            <p:strVal val="#ppt_x"/>
                                          </p:val>
                                        </p:tav>
                                      </p:tavLst>
                                    </p:anim>
                                    <p:anim calcmode="lin" valueType="num">
                                      <p:cBhvr additive="base">
                                        <p:cTn id="130" dur="500" fill="hold"/>
                                        <p:tgtEl>
                                          <p:spTgt spid="194"/>
                                        </p:tgtEl>
                                        <p:attrNameLst>
                                          <p:attrName>ppt_y</p:attrName>
                                        </p:attrNameLst>
                                      </p:cBhvr>
                                      <p:tavLst>
                                        <p:tav tm="0">
                                          <p:val>
                                            <p:strVal val="1+#ppt_h/2"/>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2" presetClass="entr" presetSubtype="4" fill="hold" grpId="0" nodeType="clickEffect">
                                  <p:stCondLst>
                                    <p:cond delay="0"/>
                                  </p:stCondLst>
                                  <p:childTnLst>
                                    <p:set>
                                      <p:cBhvr>
                                        <p:cTn id="134" dur="1" fill="hold">
                                          <p:stCondLst>
                                            <p:cond delay="0"/>
                                          </p:stCondLst>
                                        </p:cTn>
                                        <p:tgtEl>
                                          <p:spTgt spid="195"/>
                                        </p:tgtEl>
                                        <p:attrNameLst>
                                          <p:attrName>style.visibility</p:attrName>
                                        </p:attrNameLst>
                                      </p:cBhvr>
                                      <p:to>
                                        <p:strVal val="visible"/>
                                      </p:to>
                                    </p:set>
                                    <p:anim calcmode="lin" valueType="num">
                                      <p:cBhvr additive="base">
                                        <p:cTn id="135" dur="500" fill="hold"/>
                                        <p:tgtEl>
                                          <p:spTgt spid="195"/>
                                        </p:tgtEl>
                                        <p:attrNameLst>
                                          <p:attrName>ppt_x</p:attrName>
                                        </p:attrNameLst>
                                      </p:cBhvr>
                                      <p:tavLst>
                                        <p:tav tm="0">
                                          <p:val>
                                            <p:strVal val="#ppt_x"/>
                                          </p:val>
                                        </p:tav>
                                        <p:tav tm="100000">
                                          <p:val>
                                            <p:strVal val="#ppt_x"/>
                                          </p:val>
                                        </p:tav>
                                      </p:tavLst>
                                    </p:anim>
                                    <p:anim calcmode="lin" valueType="num">
                                      <p:cBhvr additive="base">
                                        <p:cTn id="136" dur="500" fill="hold"/>
                                        <p:tgtEl>
                                          <p:spTgt spid="195"/>
                                        </p:tgtEl>
                                        <p:attrNameLst>
                                          <p:attrName>ppt_y</p:attrName>
                                        </p:attrNameLst>
                                      </p:cBhvr>
                                      <p:tavLst>
                                        <p:tav tm="0">
                                          <p:val>
                                            <p:strVal val="1+#ppt_h/2"/>
                                          </p:val>
                                        </p:tav>
                                        <p:tav tm="100000">
                                          <p:val>
                                            <p:strVal val="#ppt_y"/>
                                          </p:val>
                                        </p:tav>
                                      </p:tavLst>
                                    </p:anim>
                                  </p:childTnLst>
                                </p:cTn>
                              </p:par>
                              <p:par>
                                <p:cTn id="137" presetID="2" presetClass="entr" presetSubtype="4" fill="hold" grpId="0" nodeType="withEffect">
                                  <p:stCondLst>
                                    <p:cond delay="0"/>
                                  </p:stCondLst>
                                  <p:childTnLst>
                                    <p:set>
                                      <p:cBhvr>
                                        <p:cTn id="138" dur="1" fill="hold">
                                          <p:stCondLst>
                                            <p:cond delay="0"/>
                                          </p:stCondLst>
                                        </p:cTn>
                                        <p:tgtEl>
                                          <p:spTgt spid="193"/>
                                        </p:tgtEl>
                                        <p:attrNameLst>
                                          <p:attrName>style.visibility</p:attrName>
                                        </p:attrNameLst>
                                      </p:cBhvr>
                                      <p:to>
                                        <p:strVal val="visible"/>
                                      </p:to>
                                    </p:set>
                                    <p:anim calcmode="lin" valueType="num">
                                      <p:cBhvr additive="base">
                                        <p:cTn id="139" dur="500" fill="hold"/>
                                        <p:tgtEl>
                                          <p:spTgt spid="193"/>
                                        </p:tgtEl>
                                        <p:attrNameLst>
                                          <p:attrName>ppt_x</p:attrName>
                                        </p:attrNameLst>
                                      </p:cBhvr>
                                      <p:tavLst>
                                        <p:tav tm="0">
                                          <p:val>
                                            <p:strVal val="#ppt_x"/>
                                          </p:val>
                                        </p:tav>
                                        <p:tav tm="100000">
                                          <p:val>
                                            <p:strVal val="#ppt_x"/>
                                          </p:val>
                                        </p:tav>
                                      </p:tavLst>
                                    </p:anim>
                                    <p:anim calcmode="lin" valueType="num">
                                      <p:cBhvr additive="base">
                                        <p:cTn id="140" dur="500" fill="hold"/>
                                        <p:tgtEl>
                                          <p:spTgt spid="193"/>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197"/>
                                        </p:tgtEl>
                                        <p:attrNameLst>
                                          <p:attrName>style.visibility</p:attrName>
                                        </p:attrNameLst>
                                      </p:cBhvr>
                                      <p:to>
                                        <p:strVal val="visible"/>
                                      </p:to>
                                    </p:set>
                                    <p:anim calcmode="lin" valueType="num">
                                      <p:cBhvr additive="base">
                                        <p:cTn id="143" dur="500" fill="hold"/>
                                        <p:tgtEl>
                                          <p:spTgt spid="197"/>
                                        </p:tgtEl>
                                        <p:attrNameLst>
                                          <p:attrName>ppt_x</p:attrName>
                                        </p:attrNameLst>
                                      </p:cBhvr>
                                      <p:tavLst>
                                        <p:tav tm="0">
                                          <p:val>
                                            <p:strVal val="#ppt_x"/>
                                          </p:val>
                                        </p:tav>
                                        <p:tav tm="100000">
                                          <p:val>
                                            <p:strVal val="#ppt_x"/>
                                          </p:val>
                                        </p:tav>
                                      </p:tavLst>
                                    </p:anim>
                                    <p:anim calcmode="lin" valueType="num">
                                      <p:cBhvr additive="base">
                                        <p:cTn id="144" dur="500" fill="hold"/>
                                        <p:tgtEl>
                                          <p:spTgt spid="197"/>
                                        </p:tgtEl>
                                        <p:attrNameLst>
                                          <p:attrName>ppt_y</p:attrName>
                                        </p:attrNameLst>
                                      </p:cBhvr>
                                      <p:tavLst>
                                        <p:tav tm="0">
                                          <p:val>
                                            <p:strVal val="1+#ppt_h/2"/>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2" presetClass="entr" presetSubtype="4" fill="hold" grpId="0" nodeType="clickEffect">
                                  <p:stCondLst>
                                    <p:cond delay="0"/>
                                  </p:stCondLst>
                                  <p:childTnLst>
                                    <p:set>
                                      <p:cBhvr>
                                        <p:cTn id="148" dur="1" fill="hold">
                                          <p:stCondLst>
                                            <p:cond delay="0"/>
                                          </p:stCondLst>
                                        </p:cTn>
                                        <p:tgtEl>
                                          <p:spTgt spid="198"/>
                                        </p:tgtEl>
                                        <p:attrNameLst>
                                          <p:attrName>style.visibility</p:attrName>
                                        </p:attrNameLst>
                                      </p:cBhvr>
                                      <p:to>
                                        <p:strVal val="visible"/>
                                      </p:to>
                                    </p:set>
                                    <p:anim calcmode="lin" valueType="num">
                                      <p:cBhvr additive="base">
                                        <p:cTn id="149" dur="500" fill="hold"/>
                                        <p:tgtEl>
                                          <p:spTgt spid="198"/>
                                        </p:tgtEl>
                                        <p:attrNameLst>
                                          <p:attrName>ppt_x</p:attrName>
                                        </p:attrNameLst>
                                      </p:cBhvr>
                                      <p:tavLst>
                                        <p:tav tm="0">
                                          <p:val>
                                            <p:strVal val="#ppt_x"/>
                                          </p:val>
                                        </p:tav>
                                        <p:tav tm="100000">
                                          <p:val>
                                            <p:strVal val="#ppt_x"/>
                                          </p:val>
                                        </p:tav>
                                      </p:tavLst>
                                    </p:anim>
                                    <p:anim calcmode="lin" valueType="num">
                                      <p:cBhvr additive="base">
                                        <p:cTn id="150" dur="500" fill="hold"/>
                                        <p:tgtEl>
                                          <p:spTgt spid="198"/>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196"/>
                                        </p:tgtEl>
                                        <p:attrNameLst>
                                          <p:attrName>style.visibility</p:attrName>
                                        </p:attrNameLst>
                                      </p:cBhvr>
                                      <p:to>
                                        <p:strVal val="visible"/>
                                      </p:to>
                                    </p:set>
                                    <p:anim calcmode="lin" valueType="num">
                                      <p:cBhvr additive="base">
                                        <p:cTn id="153" dur="500" fill="hold"/>
                                        <p:tgtEl>
                                          <p:spTgt spid="196"/>
                                        </p:tgtEl>
                                        <p:attrNameLst>
                                          <p:attrName>ppt_x</p:attrName>
                                        </p:attrNameLst>
                                      </p:cBhvr>
                                      <p:tavLst>
                                        <p:tav tm="0">
                                          <p:val>
                                            <p:strVal val="#ppt_x"/>
                                          </p:val>
                                        </p:tav>
                                        <p:tav tm="100000">
                                          <p:val>
                                            <p:strVal val="#ppt_x"/>
                                          </p:val>
                                        </p:tav>
                                      </p:tavLst>
                                    </p:anim>
                                    <p:anim calcmode="lin" valueType="num">
                                      <p:cBhvr additive="base">
                                        <p:cTn id="154" dur="500" fill="hold"/>
                                        <p:tgtEl>
                                          <p:spTgt spid="196"/>
                                        </p:tgtEl>
                                        <p:attrNameLst>
                                          <p:attrName>ppt_y</p:attrName>
                                        </p:attrNameLst>
                                      </p:cBhvr>
                                      <p:tavLst>
                                        <p:tav tm="0">
                                          <p:val>
                                            <p:strVal val="1+#ppt_h/2"/>
                                          </p:val>
                                        </p:tav>
                                        <p:tav tm="100000">
                                          <p:val>
                                            <p:strVal val="#ppt_y"/>
                                          </p:val>
                                        </p:tav>
                                      </p:tavLst>
                                    </p:anim>
                                  </p:childTnLst>
                                </p:cTn>
                              </p:par>
                              <p:par>
                                <p:cTn id="155" presetID="2" presetClass="entr" presetSubtype="4" fill="hold" grpId="0" nodeType="withEffect">
                                  <p:stCondLst>
                                    <p:cond delay="0"/>
                                  </p:stCondLst>
                                  <p:childTnLst>
                                    <p:set>
                                      <p:cBhvr>
                                        <p:cTn id="156" dur="1" fill="hold">
                                          <p:stCondLst>
                                            <p:cond delay="0"/>
                                          </p:stCondLst>
                                        </p:cTn>
                                        <p:tgtEl>
                                          <p:spTgt spid="200"/>
                                        </p:tgtEl>
                                        <p:attrNameLst>
                                          <p:attrName>style.visibility</p:attrName>
                                        </p:attrNameLst>
                                      </p:cBhvr>
                                      <p:to>
                                        <p:strVal val="visible"/>
                                      </p:to>
                                    </p:set>
                                    <p:anim calcmode="lin" valueType="num">
                                      <p:cBhvr additive="base">
                                        <p:cTn id="157" dur="500" fill="hold"/>
                                        <p:tgtEl>
                                          <p:spTgt spid="200"/>
                                        </p:tgtEl>
                                        <p:attrNameLst>
                                          <p:attrName>ppt_x</p:attrName>
                                        </p:attrNameLst>
                                      </p:cBhvr>
                                      <p:tavLst>
                                        <p:tav tm="0">
                                          <p:val>
                                            <p:strVal val="#ppt_x"/>
                                          </p:val>
                                        </p:tav>
                                        <p:tav tm="100000">
                                          <p:val>
                                            <p:strVal val="#ppt_x"/>
                                          </p:val>
                                        </p:tav>
                                      </p:tavLst>
                                    </p:anim>
                                    <p:anim calcmode="lin" valueType="num">
                                      <p:cBhvr additive="base">
                                        <p:cTn id="158" dur="500" fill="hold"/>
                                        <p:tgtEl>
                                          <p:spTgt spid="200"/>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grpId="0" nodeType="clickEffect">
                                  <p:stCondLst>
                                    <p:cond delay="0"/>
                                  </p:stCondLst>
                                  <p:childTnLst>
                                    <p:set>
                                      <p:cBhvr>
                                        <p:cTn id="162" dur="1" fill="hold">
                                          <p:stCondLst>
                                            <p:cond delay="0"/>
                                          </p:stCondLst>
                                        </p:cTn>
                                        <p:tgtEl>
                                          <p:spTgt spid="199"/>
                                        </p:tgtEl>
                                        <p:attrNameLst>
                                          <p:attrName>style.visibility</p:attrName>
                                        </p:attrNameLst>
                                      </p:cBhvr>
                                      <p:to>
                                        <p:strVal val="visible"/>
                                      </p:to>
                                    </p:set>
                                    <p:anim calcmode="lin" valueType="num">
                                      <p:cBhvr additive="base">
                                        <p:cTn id="163" dur="500" fill="hold"/>
                                        <p:tgtEl>
                                          <p:spTgt spid="199"/>
                                        </p:tgtEl>
                                        <p:attrNameLst>
                                          <p:attrName>ppt_x</p:attrName>
                                        </p:attrNameLst>
                                      </p:cBhvr>
                                      <p:tavLst>
                                        <p:tav tm="0">
                                          <p:val>
                                            <p:strVal val="#ppt_x"/>
                                          </p:val>
                                        </p:tav>
                                        <p:tav tm="100000">
                                          <p:val>
                                            <p:strVal val="#ppt_x"/>
                                          </p:val>
                                        </p:tav>
                                      </p:tavLst>
                                    </p:anim>
                                    <p:anim calcmode="lin" valueType="num">
                                      <p:cBhvr additive="base">
                                        <p:cTn id="164" dur="500" fill="hold"/>
                                        <p:tgtEl>
                                          <p:spTgt spid="199"/>
                                        </p:tgtEl>
                                        <p:attrNameLst>
                                          <p:attrName>ppt_y</p:attrName>
                                        </p:attrNameLst>
                                      </p:cBhvr>
                                      <p:tavLst>
                                        <p:tav tm="0">
                                          <p:val>
                                            <p:strVal val="1+#ppt_h/2"/>
                                          </p:val>
                                        </p:tav>
                                        <p:tav tm="100000">
                                          <p:val>
                                            <p:strVal val="#ppt_y"/>
                                          </p:val>
                                        </p:tav>
                                      </p:tavLst>
                                    </p:anim>
                                  </p:childTnLst>
                                </p:cTn>
                              </p:par>
                              <p:par>
                                <p:cTn id="165" presetID="2" presetClass="entr" presetSubtype="4" fill="hold" grpId="0" nodeType="withEffect">
                                  <p:stCondLst>
                                    <p:cond delay="0"/>
                                  </p:stCondLst>
                                  <p:childTnLst>
                                    <p:set>
                                      <p:cBhvr>
                                        <p:cTn id="166" dur="1" fill="hold">
                                          <p:stCondLst>
                                            <p:cond delay="0"/>
                                          </p:stCondLst>
                                        </p:cTn>
                                        <p:tgtEl>
                                          <p:spTgt spid="201"/>
                                        </p:tgtEl>
                                        <p:attrNameLst>
                                          <p:attrName>style.visibility</p:attrName>
                                        </p:attrNameLst>
                                      </p:cBhvr>
                                      <p:to>
                                        <p:strVal val="visible"/>
                                      </p:to>
                                    </p:set>
                                    <p:anim calcmode="lin" valueType="num">
                                      <p:cBhvr additive="base">
                                        <p:cTn id="167" dur="500" fill="hold"/>
                                        <p:tgtEl>
                                          <p:spTgt spid="201"/>
                                        </p:tgtEl>
                                        <p:attrNameLst>
                                          <p:attrName>ppt_x</p:attrName>
                                        </p:attrNameLst>
                                      </p:cBhvr>
                                      <p:tavLst>
                                        <p:tav tm="0">
                                          <p:val>
                                            <p:strVal val="#ppt_x"/>
                                          </p:val>
                                        </p:tav>
                                        <p:tav tm="100000">
                                          <p:val>
                                            <p:strVal val="#ppt_x"/>
                                          </p:val>
                                        </p:tav>
                                      </p:tavLst>
                                    </p:anim>
                                    <p:anim calcmode="lin" valueType="num">
                                      <p:cBhvr additive="base">
                                        <p:cTn id="168" dur="500" fill="hold"/>
                                        <p:tgtEl>
                                          <p:spTgt spid="201"/>
                                        </p:tgtEl>
                                        <p:attrNameLst>
                                          <p:attrName>ppt_y</p:attrName>
                                        </p:attrNameLst>
                                      </p:cBhvr>
                                      <p:tavLst>
                                        <p:tav tm="0">
                                          <p:val>
                                            <p:strVal val="1+#ppt_h/2"/>
                                          </p:val>
                                        </p:tav>
                                        <p:tav tm="100000">
                                          <p:val>
                                            <p:strVal val="#ppt_y"/>
                                          </p:val>
                                        </p:tav>
                                      </p:tavLst>
                                    </p:anim>
                                  </p:childTnLst>
                                </p:cTn>
                              </p:par>
                              <p:par>
                                <p:cTn id="169" presetID="2" presetClass="entr" presetSubtype="4" fill="hold" grpId="0" nodeType="withEffect">
                                  <p:stCondLst>
                                    <p:cond delay="0"/>
                                  </p:stCondLst>
                                  <p:childTnLst>
                                    <p:set>
                                      <p:cBhvr>
                                        <p:cTn id="170" dur="1" fill="hold">
                                          <p:stCondLst>
                                            <p:cond delay="0"/>
                                          </p:stCondLst>
                                        </p:cTn>
                                        <p:tgtEl>
                                          <p:spTgt spid="202"/>
                                        </p:tgtEl>
                                        <p:attrNameLst>
                                          <p:attrName>style.visibility</p:attrName>
                                        </p:attrNameLst>
                                      </p:cBhvr>
                                      <p:to>
                                        <p:strVal val="visible"/>
                                      </p:to>
                                    </p:set>
                                    <p:anim calcmode="lin" valueType="num">
                                      <p:cBhvr additive="base">
                                        <p:cTn id="171" dur="500" fill="hold"/>
                                        <p:tgtEl>
                                          <p:spTgt spid="202"/>
                                        </p:tgtEl>
                                        <p:attrNameLst>
                                          <p:attrName>ppt_x</p:attrName>
                                        </p:attrNameLst>
                                      </p:cBhvr>
                                      <p:tavLst>
                                        <p:tav tm="0">
                                          <p:val>
                                            <p:strVal val="#ppt_x"/>
                                          </p:val>
                                        </p:tav>
                                        <p:tav tm="100000">
                                          <p:val>
                                            <p:strVal val="#ppt_x"/>
                                          </p:val>
                                        </p:tav>
                                      </p:tavLst>
                                    </p:anim>
                                    <p:anim calcmode="lin" valueType="num">
                                      <p:cBhvr additive="base">
                                        <p:cTn id="172" dur="500" fill="hold"/>
                                        <p:tgtEl>
                                          <p:spTgt spid="202"/>
                                        </p:tgtEl>
                                        <p:attrNameLst>
                                          <p:attrName>ppt_y</p:attrName>
                                        </p:attrNameLst>
                                      </p:cBhvr>
                                      <p:tavLst>
                                        <p:tav tm="0">
                                          <p:val>
                                            <p:strVal val="1+#ppt_h/2"/>
                                          </p:val>
                                        </p:tav>
                                        <p:tav tm="100000">
                                          <p:val>
                                            <p:strVal val="#ppt_y"/>
                                          </p:val>
                                        </p:tav>
                                      </p:tavLst>
                                    </p:anim>
                                  </p:childTnLst>
                                </p:cTn>
                              </p:par>
                              <p:par>
                                <p:cTn id="173" presetID="2" presetClass="entr" presetSubtype="4" fill="hold" grpId="0" nodeType="withEffect">
                                  <p:stCondLst>
                                    <p:cond delay="0"/>
                                  </p:stCondLst>
                                  <p:childTnLst>
                                    <p:set>
                                      <p:cBhvr>
                                        <p:cTn id="174" dur="1" fill="hold">
                                          <p:stCondLst>
                                            <p:cond delay="0"/>
                                          </p:stCondLst>
                                        </p:cTn>
                                        <p:tgtEl>
                                          <p:spTgt spid="203"/>
                                        </p:tgtEl>
                                        <p:attrNameLst>
                                          <p:attrName>style.visibility</p:attrName>
                                        </p:attrNameLst>
                                      </p:cBhvr>
                                      <p:to>
                                        <p:strVal val="visible"/>
                                      </p:to>
                                    </p:set>
                                    <p:anim calcmode="lin" valueType="num">
                                      <p:cBhvr additive="base">
                                        <p:cTn id="175" dur="500" fill="hold"/>
                                        <p:tgtEl>
                                          <p:spTgt spid="203"/>
                                        </p:tgtEl>
                                        <p:attrNameLst>
                                          <p:attrName>ppt_x</p:attrName>
                                        </p:attrNameLst>
                                      </p:cBhvr>
                                      <p:tavLst>
                                        <p:tav tm="0">
                                          <p:val>
                                            <p:strVal val="#ppt_x"/>
                                          </p:val>
                                        </p:tav>
                                        <p:tav tm="100000">
                                          <p:val>
                                            <p:strVal val="#ppt_x"/>
                                          </p:val>
                                        </p:tav>
                                      </p:tavLst>
                                    </p:anim>
                                    <p:anim calcmode="lin" valueType="num">
                                      <p:cBhvr additive="base">
                                        <p:cTn id="176" dur="500" fill="hold"/>
                                        <p:tgtEl>
                                          <p:spTgt spid="203"/>
                                        </p:tgtEl>
                                        <p:attrNameLst>
                                          <p:attrName>ppt_y</p:attrName>
                                        </p:attrNameLst>
                                      </p:cBhvr>
                                      <p:tavLst>
                                        <p:tav tm="0">
                                          <p:val>
                                            <p:strVal val="1+#ppt_h/2"/>
                                          </p:val>
                                        </p:tav>
                                        <p:tav tm="100000">
                                          <p:val>
                                            <p:strVal val="#ppt_y"/>
                                          </p:val>
                                        </p:tav>
                                      </p:tavLst>
                                    </p:anim>
                                  </p:childTnLst>
                                </p:cTn>
                              </p:par>
                              <p:par>
                                <p:cTn id="177" presetID="2" presetClass="entr" presetSubtype="4" fill="hold" grpId="0" nodeType="withEffect">
                                  <p:stCondLst>
                                    <p:cond delay="0"/>
                                  </p:stCondLst>
                                  <p:childTnLst>
                                    <p:set>
                                      <p:cBhvr>
                                        <p:cTn id="178" dur="1" fill="hold">
                                          <p:stCondLst>
                                            <p:cond delay="0"/>
                                          </p:stCondLst>
                                        </p:cTn>
                                        <p:tgtEl>
                                          <p:spTgt spid="204"/>
                                        </p:tgtEl>
                                        <p:attrNameLst>
                                          <p:attrName>style.visibility</p:attrName>
                                        </p:attrNameLst>
                                      </p:cBhvr>
                                      <p:to>
                                        <p:strVal val="visible"/>
                                      </p:to>
                                    </p:set>
                                    <p:anim calcmode="lin" valueType="num">
                                      <p:cBhvr additive="base">
                                        <p:cTn id="179" dur="500" fill="hold"/>
                                        <p:tgtEl>
                                          <p:spTgt spid="204"/>
                                        </p:tgtEl>
                                        <p:attrNameLst>
                                          <p:attrName>ppt_x</p:attrName>
                                        </p:attrNameLst>
                                      </p:cBhvr>
                                      <p:tavLst>
                                        <p:tav tm="0">
                                          <p:val>
                                            <p:strVal val="#ppt_x"/>
                                          </p:val>
                                        </p:tav>
                                        <p:tav tm="100000">
                                          <p:val>
                                            <p:strVal val="#ppt_x"/>
                                          </p:val>
                                        </p:tav>
                                      </p:tavLst>
                                    </p:anim>
                                    <p:anim calcmode="lin" valueType="num">
                                      <p:cBhvr additive="base">
                                        <p:cTn id="180" dur="500" fill="hold"/>
                                        <p:tgtEl>
                                          <p:spTgt spid="204"/>
                                        </p:tgtEl>
                                        <p:attrNameLst>
                                          <p:attrName>ppt_y</p:attrName>
                                        </p:attrNameLst>
                                      </p:cBhvr>
                                      <p:tavLst>
                                        <p:tav tm="0">
                                          <p:val>
                                            <p:strVal val="1+#ppt_h/2"/>
                                          </p:val>
                                        </p:tav>
                                        <p:tav tm="100000">
                                          <p:val>
                                            <p:strVal val="#ppt_y"/>
                                          </p:val>
                                        </p:tav>
                                      </p:tavLst>
                                    </p:anim>
                                  </p:childTnLst>
                                </p:cTn>
                              </p:par>
                              <p:par>
                                <p:cTn id="181" presetID="2" presetClass="entr" presetSubtype="4" fill="hold" grpId="0" nodeType="withEffect">
                                  <p:stCondLst>
                                    <p:cond delay="0"/>
                                  </p:stCondLst>
                                  <p:childTnLst>
                                    <p:set>
                                      <p:cBhvr>
                                        <p:cTn id="182" dur="1" fill="hold">
                                          <p:stCondLst>
                                            <p:cond delay="0"/>
                                          </p:stCondLst>
                                        </p:cTn>
                                        <p:tgtEl>
                                          <p:spTgt spid="205"/>
                                        </p:tgtEl>
                                        <p:attrNameLst>
                                          <p:attrName>style.visibility</p:attrName>
                                        </p:attrNameLst>
                                      </p:cBhvr>
                                      <p:to>
                                        <p:strVal val="visible"/>
                                      </p:to>
                                    </p:set>
                                    <p:anim calcmode="lin" valueType="num">
                                      <p:cBhvr additive="base">
                                        <p:cTn id="183" dur="500" fill="hold"/>
                                        <p:tgtEl>
                                          <p:spTgt spid="205"/>
                                        </p:tgtEl>
                                        <p:attrNameLst>
                                          <p:attrName>ppt_x</p:attrName>
                                        </p:attrNameLst>
                                      </p:cBhvr>
                                      <p:tavLst>
                                        <p:tav tm="0">
                                          <p:val>
                                            <p:strVal val="#ppt_x"/>
                                          </p:val>
                                        </p:tav>
                                        <p:tav tm="100000">
                                          <p:val>
                                            <p:strVal val="#ppt_x"/>
                                          </p:val>
                                        </p:tav>
                                      </p:tavLst>
                                    </p:anim>
                                    <p:anim calcmode="lin" valueType="num">
                                      <p:cBhvr additive="base">
                                        <p:cTn id="184" dur="500" fill="hold"/>
                                        <p:tgtEl>
                                          <p:spTgt spid="205"/>
                                        </p:tgtEl>
                                        <p:attrNameLst>
                                          <p:attrName>ppt_y</p:attrName>
                                        </p:attrNameLst>
                                      </p:cBhvr>
                                      <p:tavLst>
                                        <p:tav tm="0">
                                          <p:val>
                                            <p:strVal val="1+#ppt_h/2"/>
                                          </p:val>
                                        </p:tav>
                                        <p:tav tm="100000">
                                          <p:val>
                                            <p:strVal val="#ppt_y"/>
                                          </p:val>
                                        </p:tav>
                                      </p:tavLst>
                                    </p:anim>
                                  </p:childTnLst>
                                </p:cTn>
                              </p:par>
                              <p:par>
                                <p:cTn id="185" presetID="2" presetClass="entr" presetSubtype="4" fill="hold" grpId="0" nodeType="withEffect">
                                  <p:stCondLst>
                                    <p:cond delay="0"/>
                                  </p:stCondLst>
                                  <p:childTnLst>
                                    <p:set>
                                      <p:cBhvr>
                                        <p:cTn id="186" dur="1" fill="hold">
                                          <p:stCondLst>
                                            <p:cond delay="0"/>
                                          </p:stCondLst>
                                        </p:cTn>
                                        <p:tgtEl>
                                          <p:spTgt spid="206"/>
                                        </p:tgtEl>
                                        <p:attrNameLst>
                                          <p:attrName>style.visibility</p:attrName>
                                        </p:attrNameLst>
                                      </p:cBhvr>
                                      <p:to>
                                        <p:strVal val="visible"/>
                                      </p:to>
                                    </p:set>
                                    <p:anim calcmode="lin" valueType="num">
                                      <p:cBhvr additive="base">
                                        <p:cTn id="187" dur="500" fill="hold"/>
                                        <p:tgtEl>
                                          <p:spTgt spid="206"/>
                                        </p:tgtEl>
                                        <p:attrNameLst>
                                          <p:attrName>ppt_x</p:attrName>
                                        </p:attrNameLst>
                                      </p:cBhvr>
                                      <p:tavLst>
                                        <p:tav tm="0">
                                          <p:val>
                                            <p:strVal val="#ppt_x"/>
                                          </p:val>
                                        </p:tav>
                                        <p:tav tm="100000">
                                          <p:val>
                                            <p:strVal val="#ppt_x"/>
                                          </p:val>
                                        </p:tav>
                                      </p:tavLst>
                                    </p:anim>
                                    <p:anim calcmode="lin" valueType="num">
                                      <p:cBhvr additive="base">
                                        <p:cTn id="188" dur="500" fill="hold"/>
                                        <p:tgtEl>
                                          <p:spTgt spid="206"/>
                                        </p:tgtEl>
                                        <p:attrNameLst>
                                          <p:attrName>ppt_y</p:attrName>
                                        </p:attrNameLst>
                                      </p:cBhvr>
                                      <p:tavLst>
                                        <p:tav tm="0">
                                          <p:val>
                                            <p:strVal val="1+#ppt_h/2"/>
                                          </p:val>
                                        </p:tav>
                                        <p:tav tm="100000">
                                          <p:val>
                                            <p:strVal val="#ppt_y"/>
                                          </p:val>
                                        </p:tav>
                                      </p:tavLst>
                                    </p:anim>
                                  </p:childTnLst>
                                </p:cTn>
                              </p:par>
                              <p:par>
                                <p:cTn id="189" presetID="2" presetClass="entr" presetSubtype="4" fill="hold" grpId="0" nodeType="withEffect">
                                  <p:stCondLst>
                                    <p:cond delay="0"/>
                                  </p:stCondLst>
                                  <p:childTnLst>
                                    <p:set>
                                      <p:cBhvr>
                                        <p:cTn id="190" dur="1" fill="hold">
                                          <p:stCondLst>
                                            <p:cond delay="0"/>
                                          </p:stCondLst>
                                        </p:cTn>
                                        <p:tgtEl>
                                          <p:spTgt spid="207"/>
                                        </p:tgtEl>
                                        <p:attrNameLst>
                                          <p:attrName>style.visibility</p:attrName>
                                        </p:attrNameLst>
                                      </p:cBhvr>
                                      <p:to>
                                        <p:strVal val="visible"/>
                                      </p:to>
                                    </p:set>
                                    <p:anim calcmode="lin" valueType="num">
                                      <p:cBhvr additive="base">
                                        <p:cTn id="191" dur="500" fill="hold"/>
                                        <p:tgtEl>
                                          <p:spTgt spid="207"/>
                                        </p:tgtEl>
                                        <p:attrNameLst>
                                          <p:attrName>ppt_x</p:attrName>
                                        </p:attrNameLst>
                                      </p:cBhvr>
                                      <p:tavLst>
                                        <p:tav tm="0">
                                          <p:val>
                                            <p:strVal val="#ppt_x"/>
                                          </p:val>
                                        </p:tav>
                                        <p:tav tm="100000">
                                          <p:val>
                                            <p:strVal val="#ppt_x"/>
                                          </p:val>
                                        </p:tav>
                                      </p:tavLst>
                                    </p:anim>
                                    <p:anim calcmode="lin" valueType="num">
                                      <p:cBhvr additive="base">
                                        <p:cTn id="192" dur="500" fill="hold"/>
                                        <p:tgtEl>
                                          <p:spTgt spid="207"/>
                                        </p:tgtEl>
                                        <p:attrNameLst>
                                          <p:attrName>ppt_y</p:attrName>
                                        </p:attrNameLst>
                                      </p:cBhvr>
                                      <p:tavLst>
                                        <p:tav tm="0">
                                          <p:val>
                                            <p:strVal val="1+#ppt_h/2"/>
                                          </p:val>
                                        </p:tav>
                                        <p:tav tm="100000">
                                          <p:val>
                                            <p:strVal val="#ppt_y"/>
                                          </p:val>
                                        </p:tav>
                                      </p:tavLst>
                                    </p:anim>
                                  </p:childTnLst>
                                </p:cTn>
                              </p:par>
                              <p:par>
                                <p:cTn id="193" presetID="2" presetClass="entr" presetSubtype="4" fill="hold" grpId="0" nodeType="withEffect">
                                  <p:stCondLst>
                                    <p:cond delay="0"/>
                                  </p:stCondLst>
                                  <p:childTnLst>
                                    <p:set>
                                      <p:cBhvr>
                                        <p:cTn id="194" dur="1" fill="hold">
                                          <p:stCondLst>
                                            <p:cond delay="0"/>
                                          </p:stCondLst>
                                        </p:cTn>
                                        <p:tgtEl>
                                          <p:spTgt spid="208"/>
                                        </p:tgtEl>
                                        <p:attrNameLst>
                                          <p:attrName>style.visibility</p:attrName>
                                        </p:attrNameLst>
                                      </p:cBhvr>
                                      <p:to>
                                        <p:strVal val="visible"/>
                                      </p:to>
                                    </p:set>
                                    <p:anim calcmode="lin" valueType="num">
                                      <p:cBhvr additive="base">
                                        <p:cTn id="195" dur="500" fill="hold"/>
                                        <p:tgtEl>
                                          <p:spTgt spid="208"/>
                                        </p:tgtEl>
                                        <p:attrNameLst>
                                          <p:attrName>ppt_x</p:attrName>
                                        </p:attrNameLst>
                                      </p:cBhvr>
                                      <p:tavLst>
                                        <p:tav tm="0">
                                          <p:val>
                                            <p:strVal val="#ppt_x"/>
                                          </p:val>
                                        </p:tav>
                                        <p:tav tm="100000">
                                          <p:val>
                                            <p:strVal val="#ppt_x"/>
                                          </p:val>
                                        </p:tav>
                                      </p:tavLst>
                                    </p:anim>
                                    <p:anim calcmode="lin" valueType="num">
                                      <p:cBhvr additive="base">
                                        <p:cTn id="196" dur="500" fill="hold"/>
                                        <p:tgtEl>
                                          <p:spTgt spid="208"/>
                                        </p:tgtEl>
                                        <p:attrNameLst>
                                          <p:attrName>ppt_y</p:attrName>
                                        </p:attrNameLst>
                                      </p:cBhvr>
                                      <p:tavLst>
                                        <p:tav tm="0">
                                          <p:val>
                                            <p:strVal val="1+#ppt_h/2"/>
                                          </p:val>
                                        </p:tav>
                                        <p:tav tm="100000">
                                          <p:val>
                                            <p:strVal val="#ppt_y"/>
                                          </p:val>
                                        </p:tav>
                                      </p:tavLst>
                                    </p:anim>
                                  </p:childTnLst>
                                </p:cTn>
                              </p:par>
                              <p:par>
                                <p:cTn id="197" presetID="2" presetClass="entr" presetSubtype="4" fill="hold" grpId="0" nodeType="withEffect">
                                  <p:stCondLst>
                                    <p:cond delay="0"/>
                                  </p:stCondLst>
                                  <p:childTnLst>
                                    <p:set>
                                      <p:cBhvr>
                                        <p:cTn id="198" dur="1" fill="hold">
                                          <p:stCondLst>
                                            <p:cond delay="0"/>
                                          </p:stCondLst>
                                        </p:cTn>
                                        <p:tgtEl>
                                          <p:spTgt spid="209"/>
                                        </p:tgtEl>
                                        <p:attrNameLst>
                                          <p:attrName>style.visibility</p:attrName>
                                        </p:attrNameLst>
                                      </p:cBhvr>
                                      <p:to>
                                        <p:strVal val="visible"/>
                                      </p:to>
                                    </p:set>
                                    <p:anim calcmode="lin" valueType="num">
                                      <p:cBhvr additive="base">
                                        <p:cTn id="199" dur="500" fill="hold"/>
                                        <p:tgtEl>
                                          <p:spTgt spid="209"/>
                                        </p:tgtEl>
                                        <p:attrNameLst>
                                          <p:attrName>ppt_x</p:attrName>
                                        </p:attrNameLst>
                                      </p:cBhvr>
                                      <p:tavLst>
                                        <p:tav tm="0">
                                          <p:val>
                                            <p:strVal val="#ppt_x"/>
                                          </p:val>
                                        </p:tav>
                                        <p:tav tm="100000">
                                          <p:val>
                                            <p:strVal val="#ppt_x"/>
                                          </p:val>
                                        </p:tav>
                                      </p:tavLst>
                                    </p:anim>
                                    <p:anim calcmode="lin" valueType="num">
                                      <p:cBhvr additive="base">
                                        <p:cTn id="200" dur="500" fill="hold"/>
                                        <p:tgtEl>
                                          <p:spTgt spid="209"/>
                                        </p:tgtEl>
                                        <p:attrNameLst>
                                          <p:attrName>ppt_y</p:attrName>
                                        </p:attrNameLst>
                                      </p:cBhvr>
                                      <p:tavLst>
                                        <p:tav tm="0">
                                          <p:val>
                                            <p:strVal val="1+#ppt_h/2"/>
                                          </p:val>
                                        </p:tav>
                                        <p:tav tm="100000">
                                          <p:val>
                                            <p:strVal val="#ppt_y"/>
                                          </p:val>
                                        </p:tav>
                                      </p:tavLst>
                                    </p:anim>
                                  </p:childTnLst>
                                </p:cTn>
                              </p:par>
                              <p:par>
                                <p:cTn id="201" presetID="2" presetClass="entr" presetSubtype="4" fill="hold" grpId="0" nodeType="withEffect">
                                  <p:stCondLst>
                                    <p:cond delay="0"/>
                                  </p:stCondLst>
                                  <p:childTnLst>
                                    <p:set>
                                      <p:cBhvr>
                                        <p:cTn id="202" dur="1" fill="hold">
                                          <p:stCondLst>
                                            <p:cond delay="0"/>
                                          </p:stCondLst>
                                        </p:cTn>
                                        <p:tgtEl>
                                          <p:spTgt spid="210"/>
                                        </p:tgtEl>
                                        <p:attrNameLst>
                                          <p:attrName>style.visibility</p:attrName>
                                        </p:attrNameLst>
                                      </p:cBhvr>
                                      <p:to>
                                        <p:strVal val="visible"/>
                                      </p:to>
                                    </p:set>
                                    <p:anim calcmode="lin" valueType="num">
                                      <p:cBhvr additive="base">
                                        <p:cTn id="203" dur="500" fill="hold"/>
                                        <p:tgtEl>
                                          <p:spTgt spid="210"/>
                                        </p:tgtEl>
                                        <p:attrNameLst>
                                          <p:attrName>ppt_x</p:attrName>
                                        </p:attrNameLst>
                                      </p:cBhvr>
                                      <p:tavLst>
                                        <p:tav tm="0">
                                          <p:val>
                                            <p:strVal val="#ppt_x"/>
                                          </p:val>
                                        </p:tav>
                                        <p:tav tm="100000">
                                          <p:val>
                                            <p:strVal val="#ppt_x"/>
                                          </p:val>
                                        </p:tav>
                                      </p:tavLst>
                                    </p:anim>
                                    <p:anim calcmode="lin" valueType="num">
                                      <p:cBhvr additive="base">
                                        <p:cTn id="204" dur="500" fill="hold"/>
                                        <p:tgtEl>
                                          <p:spTgt spid="210"/>
                                        </p:tgtEl>
                                        <p:attrNameLst>
                                          <p:attrName>ppt_y</p:attrName>
                                        </p:attrNameLst>
                                      </p:cBhvr>
                                      <p:tavLst>
                                        <p:tav tm="0">
                                          <p:val>
                                            <p:strVal val="1+#ppt_h/2"/>
                                          </p:val>
                                        </p:tav>
                                        <p:tav tm="100000">
                                          <p:val>
                                            <p:strVal val="#ppt_y"/>
                                          </p:val>
                                        </p:tav>
                                      </p:tavLst>
                                    </p:anim>
                                  </p:childTnLst>
                                </p:cTn>
                              </p:par>
                              <p:par>
                                <p:cTn id="205" presetID="2" presetClass="entr" presetSubtype="4" fill="hold" grpId="0" nodeType="withEffect">
                                  <p:stCondLst>
                                    <p:cond delay="0"/>
                                  </p:stCondLst>
                                  <p:childTnLst>
                                    <p:set>
                                      <p:cBhvr>
                                        <p:cTn id="206" dur="1" fill="hold">
                                          <p:stCondLst>
                                            <p:cond delay="0"/>
                                          </p:stCondLst>
                                        </p:cTn>
                                        <p:tgtEl>
                                          <p:spTgt spid="211"/>
                                        </p:tgtEl>
                                        <p:attrNameLst>
                                          <p:attrName>style.visibility</p:attrName>
                                        </p:attrNameLst>
                                      </p:cBhvr>
                                      <p:to>
                                        <p:strVal val="visible"/>
                                      </p:to>
                                    </p:set>
                                    <p:anim calcmode="lin" valueType="num">
                                      <p:cBhvr additive="base">
                                        <p:cTn id="207" dur="500" fill="hold"/>
                                        <p:tgtEl>
                                          <p:spTgt spid="211"/>
                                        </p:tgtEl>
                                        <p:attrNameLst>
                                          <p:attrName>ppt_x</p:attrName>
                                        </p:attrNameLst>
                                      </p:cBhvr>
                                      <p:tavLst>
                                        <p:tav tm="0">
                                          <p:val>
                                            <p:strVal val="#ppt_x"/>
                                          </p:val>
                                        </p:tav>
                                        <p:tav tm="100000">
                                          <p:val>
                                            <p:strVal val="#ppt_x"/>
                                          </p:val>
                                        </p:tav>
                                      </p:tavLst>
                                    </p:anim>
                                    <p:anim calcmode="lin" valueType="num">
                                      <p:cBhvr additive="base">
                                        <p:cTn id="208" dur="500" fill="hold"/>
                                        <p:tgtEl>
                                          <p:spTgt spid="211"/>
                                        </p:tgtEl>
                                        <p:attrNameLst>
                                          <p:attrName>ppt_y</p:attrName>
                                        </p:attrNameLst>
                                      </p:cBhvr>
                                      <p:tavLst>
                                        <p:tav tm="0">
                                          <p:val>
                                            <p:strVal val="1+#ppt_h/2"/>
                                          </p:val>
                                        </p:tav>
                                        <p:tav tm="100000">
                                          <p:val>
                                            <p:strVal val="#ppt_y"/>
                                          </p:val>
                                        </p:tav>
                                      </p:tavLst>
                                    </p:anim>
                                  </p:childTnLst>
                                </p:cTn>
                              </p:par>
                              <p:par>
                                <p:cTn id="209" presetID="2" presetClass="entr" presetSubtype="4" fill="hold" grpId="0" nodeType="withEffect">
                                  <p:stCondLst>
                                    <p:cond delay="0"/>
                                  </p:stCondLst>
                                  <p:childTnLst>
                                    <p:set>
                                      <p:cBhvr>
                                        <p:cTn id="210" dur="1" fill="hold">
                                          <p:stCondLst>
                                            <p:cond delay="0"/>
                                          </p:stCondLst>
                                        </p:cTn>
                                        <p:tgtEl>
                                          <p:spTgt spid="212"/>
                                        </p:tgtEl>
                                        <p:attrNameLst>
                                          <p:attrName>style.visibility</p:attrName>
                                        </p:attrNameLst>
                                      </p:cBhvr>
                                      <p:to>
                                        <p:strVal val="visible"/>
                                      </p:to>
                                    </p:set>
                                    <p:anim calcmode="lin" valueType="num">
                                      <p:cBhvr additive="base">
                                        <p:cTn id="211" dur="500" fill="hold"/>
                                        <p:tgtEl>
                                          <p:spTgt spid="212"/>
                                        </p:tgtEl>
                                        <p:attrNameLst>
                                          <p:attrName>ppt_x</p:attrName>
                                        </p:attrNameLst>
                                      </p:cBhvr>
                                      <p:tavLst>
                                        <p:tav tm="0">
                                          <p:val>
                                            <p:strVal val="#ppt_x"/>
                                          </p:val>
                                        </p:tav>
                                        <p:tav tm="100000">
                                          <p:val>
                                            <p:strVal val="#ppt_x"/>
                                          </p:val>
                                        </p:tav>
                                      </p:tavLst>
                                    </p:anim>
                                    <p:anim calcmode="lin" valueType="num">
                                      <p:cBhvr additive="base">
                                        <p:cTn id="212" dur="500" fill="hold"/>
                                        <p:tgtEl>
                                          <p:spTgt spid="212"/>
                                        </p:tgtEl>
                                        <p:attrNameLst>
                                          <p:attrName>ppt_y</p:attrName>
                                        </p:attrNameLst>
                                      </p:cBhvr>
                                      <p:tavLst>
                                        <p:tav tm="0">
                                          <p:val>
                                            <p:strVal val="1+#ppt_h/2"/>
                                          </p:val>
                                        </p:tav>
                                        <p:tav tm="100000">
                                          <p:val>
                                            <p:strVal val="#ppt_y"/>
                                          </p:val>
                                        </p:tav>
                                      </p:tavLst>
                                    </p:anim>
                                  </p:childTnLst>
                                </p:cTn>
                              </p:par>
                              <p:par>
                                <p:cTn id="213" presetID="2" presetClass="entr" presetSubtype="4" fill="hold" grpId="0" nodeType="withEffect">
                                  <p:stCondLst>
                                    <p:cond delay="0"/>
                                  </p:stCondLst>
                                  <p:childTnLst>
                                    <p:set>
                                      <p:cBhvr>
                                        <p:cTn id="214" dur="1" fill="hold">
                                          <p:stCondLst>
                                            <p:cond delay="0"/>
                                          </p:stCondLst>
                                        </p:cTn>
                                        <p:tgtEl>
                                          <p:spTgt spid="213"/>
                                        </p:tgtEl>
                                        <p:attrNameLst>
                                          <p:attrName>style.visibility</p:attrName>
                                        </p:attrNameLst>
                                      </p:cBhvr>
                                      <p:to>
                                        <p:strVal val="visible"/>
                                      </p:to>
                                    </p:set>
                                    <p:anim calcmode="lin" valueType="num">
                                      <p:cBhvr additive="base">
                                        <p:cTn id="215" dur="500" fill="hold"/>
                                        <p:tgtEl>
                                          <p:spTgt spid="213"/>
                                        </p:tgtEl>
                                        <p:attrNameLst>
                                          <p:attrName>ppt_x</p:attrName>
                                        </p:attrNameLst>
                                      </p:cBhvr>
                                      <p:tavLst>
                                        <p:tav tm="0">
                                          <p:val>
                                            <p:strVal val="#ppt_x"/>
                                          </p:val>
                                        </p:tav>
                                        <p:tav tm="100000">
                                          <p:val>
                                            <p:strVal val="#ppt_x"/>
                                          </p:val>
                                        </p:tav>
                                      </p:tavLst>
                                    </p:anim>
                                    <p:anim calcmode="lin" valueType="num">
                                      <p:cBhvr additive="base">
                                        <p:cTn id="216" dur="500" fill="hold"/>
                                        <p:tgtEl>
                                          <p:spTgt spid="213"/>
                                        </p:tgtEl>
                                        <p:attrNameLst>
                                          <p:attrName>ppt_y</p:attrName>
                                        </p:attrNameLst>
                                      </p:cBhvr>
                                      <p:tavLst>
                                        <p:tav tm="0">
                                          <p:val>
                                            <p:strVal val="1+#ppt_h/2"/>
                                          </p:val>
                                        </p:tav>
                                        <p:tav tm="100000">
                                          <p:val>
                                            <p:strVal val="#ppt_y"/>
                                          </p:val>
                                        </p:tav>
                                      </p:tavLst>
                                    </p:anim>
                                  </p:childTnLst>
                                </p:cTn>
                              </p:par>
                              <p:par>
                                <p:cTn id="217" presetID="2" presetClass="entr" presetSubtype="4" fill="hold" grpId="0" nodeType="withEffect">
                                  <p:stCondLst>
                                    <p:cond delay="0"/>
                                  </p:stCondLst>
                                  <p:childTnLst>
                                    <p:set>
                                      <p:cBhvr>
                                        <p:cTn id="218" dur="1" fill="hold">
                                          <p:stCondLst>
                                            <p:cond delay="0"/>
                                          </p:stCondLst>
                                        </p:cTn>
                                        <p:tgtEl>
                                          <p:spTgt spid="214"/>
                                        </p:tgtEl>
                                        <p:attrNameLst>
                                          <p:attrName>style.visibility</p:attrName>
                                        </p:attrNameLst>
                                      </p:cBhvr>
                                      <p:to>
                                        <p:strVal val="visible"/>
                                      </p:to>
                                    </p:set>
                                    <p:anim calcmode="lin" valueType="num">
                                      <p:cBhvr additive="base">
                                        <p:cTn id="219" dur="500" fill="hold"/>
                                        <p:tgtEl>
                                          <p:spTgt spid="214"/>
                                        </p:tgtEl>
                                        <p:attrNameLst>
                                          <p:attrName>ppt_x</p:attrName>
                                        </p:attrNameLst>
                                      </p:cBhvr>
                                      <p:tavLst>
                                        <p:tav tm="0">
                                          <p:val>
                                            <p:strVal val="#ppt_x"/>
                                          </p:val>
                                        </p:tav>
                                        <p:tav tm="100000">
                                          <p:val>
                                            <p:strVal val="#ppt_x"/>
                                          </p:val>
                                        </p:tav>
                                      </p:tavLst>
                                    </p:anim>
                                    <p:anim calcmode="lin" valueType="num">
                                      <p:cBhvr additive="base">
                                        <p:cTn id="220" dur="500" fill="hold"/>
                                        <p:tgtEl>
                                          <p:spTgt spid="214"/>
                                        </p:tgtEl>
                                        <p:attrNameLst>
                                          <p:attrName>ppt_y</p:attrName>
                                        </p:attrNameLst>
                                      </p:cBhvr>
                                      <p:tavLst>
                                        <p:tav tm="0">
                                          <p:val>
                                            <p:strVal val="1+#ppt_h/2"/>
                                          </p:val>
                                        </p:tav>
                                        <p:tav tm="100000">
                                          <p:val>
                                            <p:strVal val="#ppt_y"/>
                                          </p:val>
                                        </p:tav>
                                      </p:tavLst>
                                    </p:anim>
                                  </p:childTnLst>
                                </p:cTn>
                              </p:par>
                              <p:par>
                                <p:cTn id="221" presetID="2" presetClass="entr" presetSubtype="4" fill="hold" grpId="0" nodeType="withEffect">
                                  <p:stCondLst>
                                    <p:cond delay="0"/>
                                  </p:stCondLst>
                                  <p:childTnLst>
                                    <p:set>
                                      <p:cBhvr>
                                        <p:cTn id="222" dur="1" fill="hold">
                                          <p:stCondLst>
                                            <p:cond delay="0"/>
                                          </p:stCondLst>
                                        </p:cTn>
                                        <p:tgtEl>
                                          <p:spTgt spid="215"/>
                                        </p:tgtEl>
                                        <p:attrNameLst>
                                          <p:attrName>style.visibility</p:attrName>
                                        </p:attrNameLst>
                                      </p:cBhvr>
                                      <p:to>
                                        <p:strVal val="visible"/>
                                      </p:to>
                                    </p:set>
                                    <p:anim calcmode="lin" valueType="num">
                                      <p:cBhvr additive="base">
                                        <p:cTn id="223" dur="500" fill="hold"/>
                                        <p:tgtEl>
                                          <p:spTgt spid="215"/>
                                        </p:tgtEl>
                                        <p:attrNameLst>
                                          <p:attrName>ppt_x</p:attrName>
                                        </p:attrNameLst>
                                      </p:cBhvr>
                                      <p:tavLst>
                                        <p:tav tm="0">
                                          <p:val>
                                            <p:strVal val="#ppt_x"/>
                                          </p:val>
                                        </p:tav>
                                        <p:tav tm="100000">
                                          <p:val>
                                            <p:strVal val="#ppt_x"/>
                                          </p:val>
                                        </p:tav>
                                      </p:tavLst>
                                    </p:anim>
                                    <p:anim calcmode="lin" valueType="num">
                                      <p:cBhvr additive="base">
                                        <p:cTn id="224" dur="500" fill="hold"/>
                                        <p:tgtEl>
                                          <p:spTgt spid="215"/>
                                        </p:tgtEl>
                                        <p:attrNameLst>
                                          <p:attrName>ppt_y</p:attrName>
                                        </p:attrNameLst>
                                      </p:cBhvr>
                                      <p:tavLst>
                                        <p:tav tm="0">
                                          <p:val>
                                            <p:strVal val="1+#ppt_h/2"/>
                                          </p:val>
                                        </p:tav>
                                        <p:tav tm="100000">
                                          <p:val>
                                            <p:strVal val="#ppt_y"/>
                                          </p:val>
                                        </p:tav>
                                      </p:tavLst>
                                    </p:anim>
                                  </p:childTnLst>
                                </p:cTn>
                              </p:par>
                              <p:par>
                                <p:cTn id="225" presetID="2" presetClass="entr" presetSubtype="4" fill="hold" grpId="0" nodeType="withEffect">
                                  <p:stCondLst>
                                    <p:cond delay="0"/>
                                  </p:stCondLst>
                                  <p:childTnLst>
                                    <p:set>
                                      <p:cBhvr>
                                        <p:cTn id="226" dur="1" fill="hold">
                                          <p:stCondLst>
                                            <p:cond delay="0"/>
                                          </p:stCondLst>
                                        </p:cTn>
                                        <p:tgtEl>
                                          <p:spTgt spid="217"/>
                                        </p:tgtEl>
                                        <p:attrNameLst>
                                          <p:attrName>style.visibility</p:attrName>
                                        </p:attrNameLst>
                                      </p:cBhvr>
                                      <p:to>
                                        <p:strVal val="visible"/>
                                      </p:to>
                                    </p:set>
                                    <p:anim calcmode="lin" valueType="num">
                                      <p:cBhvr additive="base">
                                        <p:cTn id="227" dur="500" fill="hold"/>
                                        <p:tgtEl>
                                          <p:spTgt spid="217"/>
                                        </p:tgtEl>
                                        <p:attrNameLst>
                                          <p:attrName>ppt_x</p:attrName>
                                        </p:attrNameLst>
                                      </p:cBhvr>
                                      <p:tavLst>
                                        <p:tav tm="0">
                                          <p:val>
                                            <p:strVal val="#ppt_x"/>
                                          </p:val>
                                        </p:tav>
                                        <p:tav tm="100000">
                                          <p:val>
                                            <p:strVal val="#ppt_x"/>
                                          </p:val>
                                        </p:tav>
                                      </p:tavLst>
                                    </p:anim>
                                    <p:anim calcmode="lin" valueType="num">
                                      <p:cBhvr additive="base">
                                        <p:cTn id="228" dur="500" fill="hold"/>
                                        <p:tgtEl>
                                          <p:spTgt spid="217"/>
                                        </p:tgtEl>
                                        <p:attrNameLst>
                                          <p:attrName>ppt_y</p:attrName>
                                        </p:attrNameLst>
                                      </p:cBhvr>
                                      <p:tavLst>
                                        <p:tav tm="0">
                                          <p:val>
                                            <p:strVal val="1+#ppt_h/2"/>
                                          </p:val>
                                        </p:tav>
                                        <p:tav tm="100000">
                                          <p:val>
                                            <p:strVal val="#ppt_y"/>
                                          </p:val>
                                        </p:tav>
                                      </p:tavLst>
                                    </p:anim>
                                  </p:childTnLst>
                                </p:cTn>
                              </p:par>
                            </p:childTnLst>
                          </p:cTn>
                        </p:par>
                      </p:childTnLst>
                    </p:cTn>
                  </p:par>
                  <p:par>
                    <p:cTn id="229" fill="hold">
                      <p:stCondLst>
                        <p:cond delay="indefinite"/>
                      </p:stCondLst>
                      <p:childTnLst>
                        <p:par>
                          <p:cTn id="230" fill="hold">
                            <p:stCondLst>
                              <p:cond delay="0"/>
                            </p:stCondLst>
                            <p:childTnLst>
                              <p:par>
                                <p:cTn id="231" presetID="2" presetClass="entr" presetSubtype="4" fill="hold" grpId="0" nodeType="clickEffect">
                                  <p:stCondLst>
                                    <p:cond delay="0"/>
                                  </p:stCondLst>
                                  <p:childTnLst>
                                    <p:set>
                                      <p:cBhvr>
                                        <p:cTn id="232" dur="1" fill="hold">
                                          <p:stCondLst>
                                            <p:cond delay="0"/>
                                          </p:stCondLst>
                                        </p:cTn>
                                        <p:tgtEl>
                                          <p:spTgt spid="216"/>
                                        </p:tgtEl>
                                        <p:attrNameLst>
                                          <p:attrName>style.visibility</p:attrName>
                                        </p:attrNameLst>
                                      </p:cBhvr>
                                      <p:to>
                                        <p:strVal val="visible"/>
                                      </p:to>
                                    </p:set>
                                    <p:anim calcmode="lin" valueType="num">
                                      <p:cBhvr additive="base">
                                        <p:cTn id="233" dur="500" fill="hold"/>
                                        <p:tgtEl>
                                          <p:spTgt spid="216"/>
                                        </p:tgtEl>
                                        <p:attrNameLst>
                                          <p:attrName>ppt_x</p:attrName>
                                        </p:attrNameLst>
                                      </p:cBhvr>
                                      <p:tavLst>
                                        <p:tav tm="0">
                                          <p:val>
                                            <p:strVal val="#ppt_x"/>
                                          </p:val>
                                        </p:tav>
                                        <p:tav tm="100000">
                                          <p:val>
                                            <p:strVal val="#ppt_x"/>
                                          </p:val>
                                        </p:tav>
                                      </p:tavLst>
                                    </p:anim>
                                    <p:anim calcmode="lin" valueType="num">
                                      <p:cBhvr additive="base">
                                        <p:cTn id="234" dur="500" fill="hold"/>
                                        <p:tgtEl>
                                          <p:spTgt spid="216"/>
                                        </p:tgtEl>
                                        <p:attrNameLst>
                                          <p:attrName>ppt_y</p:attrName>
                                        </p:attrNameLst>
                                      </p:cBhvr>
                                      <p:tavLst>
                                        <p:tav tm="0">
                                          <p:val>
                                            <p:strVal val="1+#ppt_h/2"/>
                                          </p:val>
                                        </p:tav>
                                        <p:tav tm="100000">
                                          <p:val>
                                            <p:strVal val="#ppt_y"/>
                                          </p:val>
                                        </p:tav>
                                      </p:tavLst>
                                    </p:anim>
                                  </p:childTnLst>
                                </p:cTn>
                              </p:par>
                              <p:par>
                                <p:cTn id="235" presetID="2" presetClass="entr" presetSubtype="4" fill="hold" grpId="0" nodeType="withEffect">
                                  <p:stCondLst>
                                    <p:cond delay="0"/>
                                  </p:stCondLst>
                                  <p:childTnLst>
                                    <p:set>
                                      <p:cBhvr>
                                        <p:cTn id="236" dur="1" fill="hold">
                                          <p:stCondLst>
                                            <p:cond delay="0"/>
                                          </p:stCondLst>
                                        </p:cTn>
                                        <p:tgtEl>
                                          <p:spTgt spid="218"/>
                                        </p:tgtEl>
                                        <p:attrNameLst>
                                          <p:attrName>style.visibility</p:attrName>
                                        </p:attrNameLst>
                                      </p:cBhvr>
                                      <p:to>
                                        <p:strVal val="visible"/>
                                      </p:to>
                                    </p:set>
                                    <p:anim calcmode="lin" valueType="num">
                                      <p:cBhvr additive="base">
                                        <p:cTn id="237" dur="500" fill="hold"/>
                                        <p:tgtEl>
                                          <p:spTgt spid="218"/>
                                        </p:tgtEl>
                                        <p:attrNameLst>
                                          <p:attrName>ppt_x</p:attrName>
                                        </p:attrNameLst>
                                      </p:cBhvr>
                                      <p:tavLst>
                                        <p:tav tm="0">
                                          <p:val>
                                            <p:strVal val="#ppt_x"/>
                                          </p:val>
                                        </p:tav>
                                        <p:tav tm="100000">
                                          <p:val>
                                            <p:strVal val="#ppt_x"/>
                                          </p:val>
                                        </p:tav>
                                      </p:tavLst>
                                    </p:anim>
                                    <p:anim calcmode="lin" valueType="num">
                                      <p:cBhvr additive="base">
                                        <p:cTn id="238" dur="500" fill="hold"/>
                                        <p:tgtEl>
                                          <p:spTgt spid="218"/>
                                        </p:tgtEl>
                                        <p:attrNameLst>
                                          <p:attrName>ppt_y</p:attrName>
                                        </p:attrNameLst>
                                      </p:cBhvr>
                                      <p:tavLst>
                                        <p:tav tm="0">
                                          <p:val>
                                            <p:strVal val="1+#ppt_h/2"/>
                                          </p:val>
                                        </p:tav>
                                        <p:tav tm="100000">
                                          <p:val>
                                            <p:strVal val="#ppt_y"/>
                                          </p:val>
                                        </p:tav>
                                      </p:tavLst>
                                    </p:anim>
                                  </p:childTnLst>
                                </p:cTn>
                              </p:par>
                              <p:par>
                                <p:cTn id="239" presetID="2" presetClass="entr" presetSubtype="4" fill="hold" grpId="0" nodeType="withEffect">
                                  <p:stCondLst>
                                    <p:cond delay="0"/>
                                  </p:stCondLst>
                                  <p:childTnLst>
                                    <p:set>
                                      <p:cBhvr>
                                        <p:cTn id="240" dur="1" fill="hold">
                                          <p:stCondLst>
                                            <p:cond delay="0"/>
                                          </p:stCondLst>
                                        </p:cTn>
                                        <p:tgtEl>
                                          <p:spTgt spid="220"/>
                                        </p:tgtEl>
                                        <p:attrNameLst>
                                          <p:attrName>style.visibility</p:attrName>
                                        </p:attrNameLst>
                                      </p:cBhvr>
                                      <p:to>
                                        <p:strVal val="visible"/>
                                      </p:to>
                                    </p:set>
                                    <p:anim calcmode="lin" valueType="num">
                                      <p:cBhvr additive="base">
                                        <p:cTn id="241" dur="500" fill="hold"/>
                                        <p:tgtEl>
                                          <p:spTgt spid="220"/>
                                        </p:tgtEl>
                                        <p:attrNameLst>
                                          <p:attrName>ppt_x</p:attrName>
                                        </p:attrNameLst>
                                      </p:cBhvr>
                                      <p:tavLst>
                                        <p:tav tm="0">
                                          <p:val>
                                            <p:strVal val="#ppt_x"/>
                                          </p:val>
                                        </p:tav>
                                        <p:tav tm="100000">
                                          <p:val>
                                            <p:strVal val="#ppt_x"/>
                                          </p:val>
                                        </p:tav>
                                      </p:tavLst>
                                    </p:anim>
                                    <p:anim calcmode="lin" valueType="num">
                                      <p:cBhvr additive="base">
                                        <p:cTn id="242" dur="500" fill="hold"/>
                                        <p:tgtEl>
                                          <p:spTgt spid="2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animBg="1"/>
      <p:bldP spid="167" grpId="0"/>
      <p:bldP spid="168" grpId="0" animBg="1"/>
      <p:bldP spid="169" grpId="0"/>
      <p:bldP spid="170" grpId="0"/>
      <p:bldP spid="171" grpId="0" animBg="1"/>
      <p:bldP spid="172" grpId="0"/>
      <p:bldP spid="173" grpId="0"/>
      <p:bldP spid="174" grpId="0" animBg="1"/>
      <p:bldP spid="175" grpId="0"/>
      <p:bldP spid="176" grpId="0"/>
      <p:bldP spid="177" grpId="0" animBg="1"/>
      <p:bldP spid="178" grpId="0"/>
      <p:bldP spid="179" grpId="0"/>
      <p:bldP spid="180" grpId="0"/>
      <p:bldP spid="181" grpId="0"/>
      <p:bldP spid="182" grpId="0" animBg="1"/>
      <p:bldP spid="183" grpId="0"/>
      <p:bldP spid="184" grpId="0"/>
      <p:bldP spid="185" grpId="0"/>
      <p:bldP spid="186" grpId="0"/>
      <p:bldP spid="187" grpId="0" animBg="1"/>
      <p:bldP spid="188" grpId="0"/>
      <p:bldP spid="189" grpId="0"/>
      <p:bldP spid="190" grpId="0" animBg="1"/>
      <p:bldP spid="191" grpId="0"/>
      <p:bldP spid="192" grpId="0"/>
      <p:bldP spid="193" grpId="0" animBg="1"/>
      <p:bldP spid="194" grpId="0"/>
      <p:bldP spid="195" grpId="0"/>
      <p:bldP spid="196" grpId="0" animBg="1"/>
      <p:bldP spid="197" grpId="0"/>
      <p:bldP spid="198" grpId="0"/>
      <p:bldP spid="199" grpId="0" animBg="1"/>
      <p:bldP spid="200" grpId="0"/>
      <p:bldP spid="201" grpId="0"/>
      <p:bldP spid="202" grpId="0"/>
      <p:bldP spid="203" grpId="0"/>
      <p:bldP spid="204" grpId="0"/>
      <p:bldP spid="205" grpId="0"/>
      <p:bldP spid="206" grpId="0"/>
      <p:bldP spid="207" grpId="0"/>
      <p:bldP spid="208" grpId="0"/>
      <p:bldP spid="209" grpId="0"/>
      <p:bldP spid="210" grpId="0"/>
      <p:bldP spid="211" grpId="0"/>
      <p:bldP spid="212" grpId="0"/>
      <p:bldP spid="213" grpId="0"/>
      <p:bldP spid="214" grpId="0"/>
      <p:bldP spid="215" grpId="0"/>
      <p:bldP spid="216" grpId="0" animBg="1"/>
      <p:bldP spid="217" grpId="0"/>
      <p:bldP spid="218" grpId="0"/>
      <p:bldP spid="2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Forma libre: forma 224"/>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26" name="Forma libre: forma 225"/>
          <p:cNvSpPr/>
          <p:nvPr/>
        </p:nvSpPr>
        <p:spPr>
          <a:xfrm>
            <a:off x="1571400" y="2361960"/>
            <a:ext cx="9049320" cy="2800800"/>
          </a:xfrm>
          <a:custGeom>
            <a:avLst/>
            <a:gdLst/>
            <a:ahLst/>
            <a:cxnLst/>
            <a:rect l="0" t="0" r="r" b="b"/>
            <a:pathLst>
              <a:path w="25137" h="7780">
                <a:moveTo>
                  <a:pt x="0" y="7357"/>
                </a:moveTo>
                <a:lnTo>
                  <a:pt x="0" y="423"/>
                </a:lnTo>
                <a:cubicBezTo>
                  <a:pt x="0" y="396"/>
                  <a:pt x="3" y="368"/>
                  <a:pt x="8" y="341"/>
                </a:cubicBezTo>
                <a:cubicBezTo>
                  <a:pt x="14" y="314"/>
                  <a:pt x="22" y="287"/>
                  <a:pt x="32" y="261"/>
                </a:cubicBezTo>
                <a:cubicBezTo>
                  <a:pt x="43" y="236"/>
                  <a:pt x="56" y="211"/>
                  <a:pt x="71" y="188"/>
                </a:cubicBezTo>
                <a:cubicBezTo>
                  <a:pt x="87" y="165"/>
                  <a:pt x="104" y="144"/>
                  <a:pt x="124" y="124"/>
                </a:cubicBezTo>
                <a:cubicBezTo>
                  <a:pt x="144" y="105"/>
                  <a:pt x="165" y="87"/>
                  <a:pt x="188" y="72"/>
                </a:cubicBezTo>
                <a:cubicBezTo>
                  <a:pt x="211" y="56"/>
                  <a:pt x="236" y="43"/>
                  <a:pt x="261" y="32"/>
                </a:cubicBezTo>
                <a:cubicBezTo>
                  <a:pt x="287" y="22"/>
                  <a:pt x="314" y="14"/>
                  <a:pt x="341" y="8"/>
                </a:cubicBezTo>
                <a:cubicBezTo>
                  <a:pt x="368" y="3"/>
                  <a:pt x="396" y="0"/>
                  <a:pt x="423" y="0"/>
                </a:cubicBezTo>
                <a:lnTo>
                  <a:pt x="24713" y="0"/>
                </a:lnTo>
                <a:cubicBezTo>
                  <a:pt x="24741" y="0"/>
                  <a:pt x="24769" y="3"/>
                  <a:pt x="24796" y="8"/>
                </a:cubicBezTo>
                <a:cubicBezTo>
                  <a:pt x="24823" y="14"/>
                  <a:pt x="24850" y="22"/>
                  <a:pt x="24875" y="32"/>
                </a:cubicBezTo>
                <a:cubicBezTo>
                  <a:pt x="24901" y="43"/>
                  <a:pt x="24925" y="56"/>
                  <a:pt x="24948" y="72"/>
                </a:cubicBezTo>
                <a:cubicBezTo>
                  <a:pt x="24972" y="87"/>
                  <a:pt x="24993" y="105"/>
                  <a:pt x="25013" y="124"/>
                </a:cubicBezTo>
                <a:cubicBezTo>
                  <a:pt x="25032" y="144"/>
                  <a:pt x="25050" y="165"/>
                  <a:pt x="25065" y="188"/>
                </a:cubicBezTo>
                <a:cubicBezTo>
                  <a:pt x="25081" y="211"/>
                  <a:pt x="25094" y="236"/>
                  <a:pt x="25104" y="261"/>
                </a:cubicBezTo>
                <a:cubicBezTo>
                  <a:pt x="25115" y="287"/>
                  <a:pt x="25123" y="314"/>
                  <a:pt x="25128" y="341"/>
                </a:cubicBezTo>
                <a:cubicBezTo>
                  <a:pt x="25134" y="368"/>
                  <a:pt x="25137" y="396"/>
                  <a:pt x="25137" y="423"/>
                </a:cubicBezTo>
                <a:lnTo>
                  <a:pt x="25137" y="7357"/>
                </a:lnTo>
                <a:cubicBezTo>
                  <a:pt x="25137" y="7384"/>
                  <a:pt x="25134" y="7412"/>
                  <a:pt x="25128" y="7439"/>
                </a:cubicBezTo>
                <a:cubicBezTo>
                  <a:pt x="25123" y="7466"/>
                  <a:pt x="25115" y="7493"/>
                  <a:pt x="25104" y="7519"/>
                </a:cubicBezTo>
                <a:cubicBezTo>
                  <a:pt x="25094" y="7544"/>
                  <a:pt x="25081" y="7569"/>
                  <a:pt x="25065" y="7592"/>
                </a:cubicBezTo>
                <a:cubicBezTo>
                  <a:pt x="25050" y="7615"/>
                  <a:pt x="25032" y="7636"/>
                  <a:pt x="25013" y="7656"/>
                </a:cubicBezTo>
                <a:cubicBezTo>
                  <a:pt x="24993" y="7676"/>
                  <a:pt x="24972" y="7693"/>
                  <a:pt x="24948" y="7709"/>
                </a:cubicBezTo>
                <a:cubicBezTo>
                  <a:pt x="24925" y="7724"/>
                  <a:pt x="24901" y="7737"/>
                  <a:pt x="24875" y="7748"/>
                </a:cubicBezTo>
                <a:cubicBezTo>
                  <a:pt x="24850" y="7758"/>
                  <a:pt x="24823" y="7766"/>
                  <a:pt x="24796" y="7772"/>
                </a:cubicBezTo>
                <a:cubicBezTo>
                  <a:pt x="24769" y="7777"/>
                  <a:pt x="24741" y="7780"/>
                  <a:pt x="24713" y="7780"/>
                </a:cubicBezTo>
                <a:lnTo>
                  <a:pt x="423" y="7780"/>
                </a:lnTo>
                <a:cubicBezTo>
                  <a:pt x="396" y="7780"/>
                  <a:pt x="368" y="7777"/>
                  <a:pt x="341" y="7772"/>
                </a:cubicBezTo>
                <a:cubicBezTo>
                  <a:pt x="314" y="7766"/>
                  <a:pt x="287" y="7758"/>
                  <a:pt x="261" y="7748"/>
                </a:cubicBezTo>
                <a:cubicBezTo>
                  <a:pt x="236" y="7737"/>
                  <a:pt x="211" y="7724"/>
                  <a:pt x="188" y="7709"/>
                </a:cubicBezTo>
                <a:cubicBezTo>
                  <a:pt x="165" y="7693"/>
                  <a:pt x="144" y="7676"/>
                  <a:pt x="124" y="7656"/>
                </a:cubicBezTo>
                <a:cubicBezTo>
                  <a:pt x="104" y="7636"/>
                  <a:pt x="87" y="7615"/>
                  <a:pt x="71" y="7592"/>
                </a:cubicBezTo>
                <a:cubicBezTo>
                  <a:pt x="56" y="7569"/>
                  <a:pt x="43" y="7544"/>
                  <a:pt x="32" y="7519"/>
                </a:cubicBezTo>
                <a:cubicBezTo>
                  <a:pt x="22" y="7493"/>
                  <a:pt x="14" y="7466"/>
                  <a:pt x="8" y="7439"/>
                </a:cubicBezTo>
                <a:cubicBezTo>
                  <a:pt x="3" y="7412"/>
                  <a:pt x="0" y="7384"/>
                  <a:pt x="0" y="7357"/>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27" name="Forma libre: forma 226"/>
          <p:cNvSpPr/>
          <p:nvPr/>
        </p:nvSpPr>
        <p:spPr>
          <a:xfrm>
            <a:off x="1590480" y="5467320"/>
            <a:ext cx="9030240" cy="1200240"/>
          </a:xfrm>
          <a:custGeom>
            <a:avLst/>
            <a:gdLst/>
            <a:ahLst/>
            <a:cxnLst/>
            <a:rect l="0" t="0" r="r" b="b"/>
            <a:pathLst>
              <a:path w="25084" h="3334">
                <a:moveTo>
                  <a:pt x="0" y="3016"/>
                </a:moveTo>
                <a:lnTo>
                  <a:pt x="0" y="317"/>
                </a:lnTo>
                <a:cubicBezTo>
                  <a:pt x="0" y="296"/>
                  <a:pt x="2" y="276"/>
                  <a:pt x="5" y="255"/>
                </a:cubicBezTo>
                <a:cubicBezTo>
                  <a:pt x="9" y="235"/>
                  <a:pt x="14" y="215"/>
                  <a:pt x="20" y="196"/>
                </a:cubicBezTo>
                <a:cubicBezTo>
                  <a:pt x="27" y="176"/>
                  <a:pt x="35" y="158"/>
                  <a:pt x="45" y="141"/>
                </a:cubicBezTo>
                <a:cubicBezTo>
                  <a:pt x="54" y="123"/>
                  <a:pt x="65" y="107"/>
                  <a:pt x="78" y="93"/>
                </a:cubicBezTo>
                <a:cubicBezTo>
                  <a:pt x="90" y="78"/>
                  <a:pt x="103" y="65"/>
                  <a:pt x="118" y="53"/>
                </a:cubicBezTo>
                <a:cubicBezTo>
                  <a:pt x="132" y="42"/>
                  <a:pt x="147" y="32"/>
                  <a:pt x="163" y="24"/>
                </a:cubicBezTo>
                <a:cubicBezTo>
                  <a:pt x="179" y="16"/>
                  <a:pt x="196" y="10"/>
                  <a:pt x="213" y="6"/>
                </a:cubicBezTo>
                <a:cubicBezTo>
                  <a:pt x="230" y="2"/>
                  <a:pt x="247" y="0"/>
                  <a:pt x="265" y="0"/>
                </a:cubicBezTo>
                <a:lnTo>
                  <a:pt x="24766" y="0"/>
                </a:lnTo>
                <a:cubicBezTo>
                  <a:pt x="24787" y="0"/>
                  <a:pt x="24808" y="2"/>
                  <a:pt x="24828" y="6"/>
                </a:cubicBezTo>
                <a:cubicBezTo>
                  <a:pt x="24848" y="10"/>
                  <a:pt x="24868" y="16"/>
                  <a:pt x="24888" y="24"/>
                </a:cubicBezTo>
                <a:cubicBezTo>
                  <a:pt x="24907" y="32"/>
                  <a:pt x="24925" y="42"/>
                  <a:pt x="24942" y="53"/>
                </a:cubicBezTo>
                <a:cubicBezTo>
                  <a:pt x="24960" y="65"/>
                  <a:pt x="24976" y="78"/>
                  <a:pt x="24991" y="93"/>
                </a:cubicBezTo>
                <a:cubicBezTo>
                  <a:pt x="25005" y="107"/>
                  <a:pt x="25018" y="123"/>
                  <a:pt x="25030" y="141"/>
                </a:cubicBezTo>
                <a:cubicBezTo>
                  <a:pt x="25042" y="158"/>
                  <a:pt x="25051" y="176"/>
                  <a:pt x="25059" y="196"/>
                </a:cubicBezTo>
                <a:cubicBezTo>
                  <a:pt x="25067" y="215"/>
                  <a:pt x="25073" y="235"/>
                  <a:pt x="25077" y="255"/>
                </a:cubicBezTo>
                <a:cubicBezTo>
                  <a:pt x="25082" y="276"/>
                  <a:pt x="25084" y="296"/>
                  <a:pt x="25084" y="317"/>
                </a:cubicBezTo>
                <a:lnTo>
                  <a:pt x="25084" y="3016"/>
                </a:lnTo>
                <a:cubicBezTo>
                  <a:pt x="25084" y="3037"/>
                  <a:pt x="25082" y="3057"/>
                  <a:pt x="25077" y="3078"/>
                </a:cubicBezTo>
                <a:cubicBezTo>
                  <a:pt x="25073" y="3098"/>
                  <a:pt x="25067" y="3118"/>
                  <a:pt x="25059" y="3137"/>
                </a:cubicBezTo>
                <a:cubicBezTo>
                  <a:pt x="25051" y="3158"/>
                  <a:pt x="25042" y="3176"/>
                  <a:pt x="25030" y="3193"/>
                </a:cubicBezTo>
                <a:cubicBezTo>
                  <a:pt x="25018" y="3211"/>
                  <a:pt x="25005" y="3227"/>
                  <a:pt x="24991" y="3241"/>
                </a:cubicBezTo>
                <a:cubicBezTo>
                  <a:pt x="24976" y="3256"/>
                  <a:pt x="24960" y="3269"/>
                  <a:pt x="24942" y="3281"/>
                </a:cubicBezTo>
                <a:cubicBezTo>
                  <a:pt x="24925" y="3292"/>
                  <a:pt x="24907" y="3302"/>
                  <a:pt x="24888" y="3310"/>
                </a:cubicBezTo>
                <a:cubicBezTo>
                  <a:pt x="24868" y="3318"/>
                  <a:pt x="24848" y="3324"/>
                  <a:pt x="24828" y="3328"/>
                </a:cubicBezTo>
                <a:cubicBezTo>
                  <a:pt x="24808" y="3332"/>
                  <a:pt x="24787" y="3334"/>
                  <a:pt x="24766" y="3334"/>
                </a:cubicBezTo>
                <a:lnTo>
                  <a:pt x="265" y="3334"/>
                </a:lnTo>
                <a:cubicBezTo>
                  <a:pt x="247" y="3334"/>
                  <a:pt x="230" y="3332"/>
                  <a:pt x="213" y="3328"/>
                </a:cubicBezTo>
                <a:cubicBezTo>
                  <a:pt x="196" y="3324"/>
                  <a:pt x="179" y="3318"/>
                  <a:pt x="163" y="3310"/>
                </a:cubicBezTo>
                <a:cubicBezTo>
                  <a:pt x="147" y="3302"/>
                  <a:pt x="132" y="3292"/>
                  <a:pt x="118" y="3281"/>
                </a:cubicBezTo>
                <a:cubicBezTo>
                  <a:pt x="103" y="3269"/>
                  <a:pt x="90" y="3256"/>
                  <a:pt x="78" y="3241"/>
                </a:cubicBezTo>
                <a:cubicBezTo>
                  <a:pt x="65" y="3227"/>
                  <a:pt x="54" y="3211"/>
                  <a:pt x="45" y="3193"/>
                </a:cubicBezTo>
                <a:cubicBezTo>
                  <a:pt x="35" y="3176"/>
                  <a:pt x="27" y="3158"/>
                  <a:pt x="20" y="3137"/>
                </a:cubicBezTo>
                <a:cubicBezTo>
                  <a:pt x="14" y="3118"/>
                  <a:pt x="9" y="3098"/>
                  <a:pt x="5" y="3078"/>
                </a:cubicBezTo>
                <a:cubicBezTo>
                  <a:pt x="2" y="3057"/>
                  <a:pt x="0" y="3037"/>
                  <a:pt x="0" y="3016"/>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28" name="Forma libre: forma 227"/>
          <p:cNvSpPr/>
          <p:nvPr/>
        </p:nvSpPr>
        <p:spPr>
          <a:xfrm>
            <a:off x="1571400" y="5467320"/>
            <a:ext cx="114840" cy="1200240"/>
          </a:xfrm>
          <a:custGeom>
            <a:avLst/>
            <a:gdLst/>
            <a:ahLst/>
            <a:cxnLst/>
            <a:rect l="0" t="0" r="r" b="b"/>
            <a:pathLst>
              <a:path w="319" h="3334">
                <a:moveTo>
                  <a:pt x="0" y="0"/>
                </a:moveTo>
                <a:lnTo>
                  <a:pt x="319" y="0"/>
                </a:lnTo>
                <a:lnTo>
                  <a:pt x="319" y="3334"/>
                </a:lnTo>
                <a:lnTo>
                  <a:pt x="0" y="333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29" name="CuadroTexto 228"/>
          <p:cNvSpPr txBox="1"/>
          <p:nvPr/>
        </p:nvSpPr>
        <p:spPr>
          <a:xfrm>
            <a:off x="571320" y="569160"/>
            <a:ext cx="501948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Buenas prácticas en la programación</a:t>
            </a:r>
            <a:endParaRPr lang="en-US" sz="2700" b="0" u="none" strike="noStrike">
              <a:solidFill>
                <a:srgbClr val="000000"/>
              </a:solidFill>
              <a:effectLst/>
              <a:uFillTx/>
              <a:latin typeface="Times New Roman"/>
            </a:endParaRPr>
          </a:p>
        </p:txBody>
      </p:sp>
      <p:sp>
        <p:nvSpPr>
          <p:cNvPr id="230" name="CuadroTexto 229"/>
          <p:cNvSpPr txBox="1"/>
          <p:nvPr/>
        </p:nvSpPr>
        <p:spPr>
          <a:xfrm>
            <a:off x="1926720" y="1248480"/>
            <a:ext cx="836028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Estas 12 medidas nos garantizan una buena metodología a la hora de desarrollar, que nos va a permitir obtener</a:t>
            </a:r>
            <a:endParaRPr lang="en-US" sz="1500" b="0" u="none" strike="noStrike">
              <a:solidFill>
                <a:srgbClr val="000000"/>
              </a:solidFill>
              <a:effectLst/>
              <a:uFillTx/>
              <a:latin typeface="Times New Roman"/>
            </a:endParaRPr>
          </a:p>
        </p:txBody>
      </p:sp>
      <p:sp>
        <p:nvSpPr>
          <p:cNvPr id="231" name="CuadroTexto 230"/>
          <p:cNvSpPr txBox="1"/>
          <p:nvPr/>
        </p:nvSpPr>
        <p:spPr>
          <a:xfrm>
            <a:off x="1616040" y="1562760"/>
            <a:ext cx="897588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beneficios claros, si seguimos los pasos indicados. Es por esto por lo que merece la pena invertir tiempo en la definición</a:t>
            </a:r>
            <a:endParaRPr lang="en-US" sz="1500" b="0" u="none" strike="noStrike">
              <a:solidFill>
                <a:srgbClr val="000000"/>
              </a:solidFill>
              <a:effectLst/>
              <a:uFillTx/>
              <a:latin typeface="Times New Roman"/>
            </a:endParaRPr>
          </a:p>
        </p:txBody>
      </p:sp>
      <p:sp>
        <p:nvSpPr>
          <p:cNvPr id="232" name="CuadroTexto 231"/>
          <p:cNvSpPr txBox="1"/>
          <p:nvPr/>
        </p:nvSpPr>
        <p:spPr>
          <a:xfrm>
            <a:off x="4797000" y="1867680"/>
            <a:ext cx="261684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previa y desarrollo de un proyecto.</a:t>
            </a:r>
            <a:endParaRPr lang="en-US" sz="1500" b="0" u="none" strike="noStrike">
              <a:solidFill>
                <a:srgbClr val="000000"/>
              </a:solidFill>
              <a:effectLst/>
              <a:uFillTx/>
              <a:latin typeface="Times New Roman"/>
            </a:endParaRPr>
          </a:p>
        </p:txBody>
      </p:sp>
      <p:sp>
        <p:nvSpPr>
          <p:cNvPr id="233" name="Forma libre: forma 232"/>
          <p:cNvSpPr/>
          <p:nvPr/>
        </p:nvSpPr>
        <p:spPr>
          <a:xfrm>
            <a:off x="1876320" y="3238200"/>
            <a:ext cx="114480" cy="114840"/>
          </a:xfrm>
          <a:custGeom>
            <a:avLst/>
            <a:gdLst/>
            <a:ahLst/>
            <a:cxnLst/>
            <a:rect l="0" t="0" r="r" b="b"/>
            <a:pathLst>
              <a:path w="318" h="319">
                <a:moveTo>
                  <a:pt x="318" y="160"/>
                </a:moveTo>
                <a:cubicBezTo>
                  <a:pt x="318" y="171"/>
                  <a:pt x="317" y="181"/>
                  <a:pt x="315" y="191"/>
                </a:cubicBezTo>
                <a:cubicBezTo>
                  <a:pt x="313" y="201"/>
                  <a:pt x="310" y="211"/>
                  <a:pt x="306" y="221"/>
                </a:cubicBezTo>
                <a:cubicBezTo>
                  <a:pt x="302" y="230"/>
                  <a:pt x="297" y="240"/>
                  <a:pt x="292" y="248"/>
                </a:cubicBezTo>
                <a:cubicBezTo>
                  <a:pt x="286" y="257"/>
                  <a:pt x="279" y="265"/>
                  <a:pt x="272" y="272"/>
                </a:cubicBezTo>
                <a:cubicBezTo>
                  <a:pt x="264" y="280"/>
                  <a:pt x="256" y="286"/>
                  <a:pt x="248" y="292"/>
                </a:cubicBezTo>
                <a:cubicBezTo>
                  <a:pt x="239" y="298"/>
                  <a:pt x="230" y="303"/>
                  <a:pt x="220" y="307"/>
                </a:cubicBezTo>
                <a:cubicBezTo>
                  <a:pt x="211" y="311"/>
                  <a:pt x="201" y="314"/>
                  <a:pt x="191" y="316"/>
                </a:cubicBezTo>
                <a:cubicBezTo>
                  <a:pt x="180" y="318"/>
                  <a:pt x="170" y="319"/>
                  <a:pt x="160" y="319"/>
                </a:cubicBezTo>
                <a:cubicBezTo>
                  <a:pt x="149" y="319"/>
                  <a:pt x="139" y="318"/>
                  <a:pt x="129" y="316"/>
                </a:cubicBezTo>
                <a:cubicBezTo>
                  <a:pt x="118" y="314"/>
                  <a:pt x="108" y="311"/>
                  <a:pt x="99" y="307"/>
                </a:cubicBezTo>
                <a:cubicBezTo>
                  <a:pt x="89" y="303"/>
                  <a:pt x="80" y="298"/>
                  <a:pt x="71" y="292"/>
                </a:cubicBezTo>
                <a:cubicBezTo>
                  <a:pt x="63" y="286"/>
                  <a:pt x="55" y="280"/>
                  <a:pt x="47" y="272"/>
                </a:cubicBezTo>
                <a:cubicBezTo>
                  <a:pt x="40" y="265"/>
                  <a:pt x="33" y="257"/>
                  <a:pt x="28" y="248"/>
                </a:cubicBezTo>
                <a:cubicBezTo>
                  <a:pt x="22" y="240"/>
                  <a:pt x="16" y="230"/>
                  <a:pt x="12" y="221"/>
                </a:cubicBezTo>
                <a:cubicBezTo>
                  <a:pt x="8" y="211"/>
                  <a:pt x="5" y="201"/>
                  <a:pt x="3" y="191"/>
                </a:cubicBezTo>
                <a:cubicBezTo>
                  <a:pt x="1" y="181"/>
                  <a:pt x="0" y="171"/>
                  <a:pt x="0" y="160"/>
                </a:cubicBezTo>
                <a:cubicBezTo>
                  <a:pt x="0" y="150"/>
                  <a:pt x="1" y="139"/>
                  <a:pt x="3" y="129"/>
                </a:cubicBezTo>
                <a:cubicBezTo>
                  <a:pt x="5" y="119"/>
                  <a:pt x="8" y="109"/>
                  <a:pt x="12" y="99"/>
                </a:cubicBezTo>
                <a:cubicBezTo>
                  <a:pt x="16" y="90"/>
                  <a:pt x="22" y="81"/>
                  <a:pt x="28" y="72"/>
                </a:cubicBezTo>
                <a:cubicBezTo>
                  <a:pt x="33" y="63"/>
                  <a:pt x="40" y="55"/>
                  <a:pt x="47" y="48"/>
                </a:cubicBezTo>
                <a:cubicBezTo>
                  <a:pt x="55" y="39"/>
                  <a:pt x="63" y="33"/>
                  <a:pt x="71" y="27"/>
                </a:cubicBezTo>
                <a:cubicBezTo>
                  <a:pt x="80" y="21"/>
                  <a:pt x="89" y="16"/>
                  <a:pt x="99" y="12"/>
                </a:cubicBezTo>
                <a:cubicBezTo>
                  <a:pt x="108" y="8"/>
                  <a:pt x="118" y="5"/>
                  <a:pt x="129" y="3"/>
                </a:cubicBezTo>
                <a:cubicBezTo>
                  <a:pt x="139" y="1"/>
                  <a:pt x="149" y="0"/>
                  <a:pt x="160" y="0"/>
                </a:cubicBezTo>
                <a:cubicBezTo>
                  <a:pt x="170" y="0"/>
                  <a:pt x="180" y="1"/>
                  <a:pt x="191" y="3"/>
                </a:cubicBezTo>
                <a:cubicBezTo>
                  <a:pt x="201" y="5"/>
                  <a:pt x="211" y="8"/>
                  <a:pt x="220" y="12"/>
                </a:cubicBezTo>
                <a:cubicBezTo>
                  <a:pt x="230" y="16"/>
                  <a:pt x="239" y="21"/>
                  <a:pt x="248" y="27"/>
                </a:cubicBezTo>
                <a:cubicBezTo>
                  <a:pt x="256" y="33"/>
                  <a:pt x="264" y="39"/>
                  <a:pt x="272" y="48"/>
                </a:cubicBezTo>
                <a:cubicBezTo>
                  <a:pt x="279" y="55"/>
                  <a:pt x="286" y="63"/>
                  <a:pt x="292" y="72"/>
                </a:cubicBezTo>
                <a:cubicBezTo>
                  <a:pt x="297" y="81"/>
                  <a:pt x="302" y="90"/>
                  <a:pt x="306" y="99"/>
                </a:cubicBezTo>
                <a:cubicBezTo>
                  <a:pt x="310" y="109"/>
                  <a:pt x="313" y="119"/>
                  <a:pt x="315" y="129"/>
                </a:cubicBezTo>
                <a:cubicBezTo>
                  <a:pt x="317" y="139"/>
                  <a:pt x="318" y="150"/>
                  <a:pt x="318" y="160"/>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34" name="CuadroTexto 233"/>
          <p:cNvSpPr txBox="1"/>
          <p:nvPr/>
        </p:nvSpPr>
        <p:spPr>
          <a:xfrm>
            <a:off x="5060520" y="2690640"/>
            <a:ext cx="198684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Beneficios principales</a:t>
            </a:r>
            <a:endParaRPr lang="en-US" sz="1800" b="0" u="none" strike="noStrike">
              <a:solidFill>
                <a:srgbClr val="000000"/>
              </a:solidFill>
              <a:effectLst/>
              <a:uFillTx/>
              <a:latin typeface="Times New Roman"/>
            </a:endParaRPr>
          </a:p>
        </p:txBody>
      </p:sp>
      <p:sp>
        <p:nvSpPr>
          <p:cNvPr id="235" name="CuadroTexto 234"/>
          <p:cNvSpPr txBox="1"/>
          <p:nvPr/>
        </p:nvSpPr>
        <p:spPr>
          <a:xfrm>
            <a:off x="2143080" y="3199320"/>
            <a:ext cx="738288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Facilitar mantenimiento: Código organizado y bien documentado que permite actualizaciones y correcciones</a:t>
            </a:r>
            <a:endParaRPr lang="en-US" sz="1350" b="0" u="none" strike="noStrike">
              <a:solidFill>
                <a:srgbClr val="000000"/>
              </a:solidFill>
              <a:effectLst/>
              <a:uFillTx/>
              <a:latin typeface="Times New Roman"/>
            </a:endParaRPr>
          </a:p>
        </p:txBody>
      </p:sp>
      <p:sp>
        <p:nvSpPr>
          <p:cNvPr id="236" name="Forma libre: forma 235"/>
          <p:cNvSpPr/>
          <p:nvPr/>
        </p:nvSpPr>
        <p:spPr>
          <a:xfrm>
            <a:off x="1876320" y="3943080"/>
            <a:ext cx="114480" cy="114840"/>
          </a:xfrm>
          <a:custGeom>
            <a:avLst/>
            <a:gdLst/>
            <a:ahLst/>
            <a:cxnLst/>
            <a:rect l="0" t="0" r="r" b="b"/>
            <a:pathLst>
              <a:path w="318" h="319">
                <a:moveTo>
                  <a:pt x="318" y="159"/>
                </a:moveTo>
                <a:cubicBezTo>
                  <a:pt x="318" y="169"/>
                  <a:pt x="317" y="180"/>
                  <a:pt x="315" y="190"/>
                </a:cubicBezTo>
                <a:cubicBezTo>
                  <a:pt x="313" y="200"/>
                  <a:pt x="310" y="210"/>
                  <a:pt x="306" y="220"/>
                </a:cubicBezTo>
                <a:cubicBezTo>
                  <a:pt x="302" y="229"/>
                  <a:pt x="297" y="239"/>
                  <a:pt x="292" y="247"/>
                </a:cubicBezTo>
                <a:cubicBezTo>
                  <a:pt x="286" y="256"/>
                  <a:pt x="279" y="264"/>
                  <a:pt x="272" y="271"/>
                </a:cubicBezTo>
                <a:cubicBezTo>
                  <a:pt x="264" y="279"/>
                  <a:pt x="256" y="285"/>
                  <a:pt x="248" y="291"/>
                </a:cubicBezTo>
                <a:cubicBezTo>
                  <a:pt x="239" y="297"/>
                  <a:pt x="230" y="303"/>
                  <a:pt x="220" y="307"/>
                </a:cubicBezTo>
                <a:cubicBezTo>
                  <a:pt x="211" y="311"/>
                  <a:pt x="201" y="314"/>
                  <a:pt x="191" y="316"/>
                </a:cubicBezTo>
                <a:cubicBezTo>
                  <a:pt x="180" y="318"/>
                  <a:pt x="170" y="319"/>
                  <a:pt x="160" y="319"/>
                </a:cubicBezTo>
                <a:cubicBezTo>
                  <a:pt x="149" y="319"/>
                  <a:pt x="139" y="318"/>
                  <a:pt x="129" y="316"/>
                </a:cubicBezTo>
                <a:cubicBezTo>
                  <a:pt x="118" y="314"/>
                  <a:pt x="108" y="311"/>
                  <a:pt x="99" y="307"/>
                </a:cubicBezTo>
                <a:cubicBezTo>
                  <a:pt x="89" y="303"/>
                  <a:pt x="80" y="297"/>
                  <a:pt x="71" y="291"/>
                </a:cubicBezTo>
                <a:cubicBezTo>
                  <a:pt x="63" y="285"/>
                  <a:pt x="55" y="279"/>
                  <a:pt x="47" y="271"/>
                </a:cubicBezTo>
                <a:cubicBezTo>
                  <a:pt x="40" y="264"/>
                  <a:pt x="33" y="256"/>
                  <a:pt x="28" y="247"/>
                </a:cubicBezTo>
                <a:cubicBezTo>
                  <a:pt x="22" y="239"/>
                  <a:pt x="16" y="229"/>
                  <a:pt x="12" y="220"/>
                </a:cubicBezTo>
                <a:cubicBezTo>
                  <a:pt x="8" y="210"/>
                  <a:pt x="5" y="200"/>
                  <a:pt x="3" y="190"/>
                </a:cubicBezTo>
                <a:cubicBezTo>
                  <a:pt x="1" y="180"/>
                  <a:pt x="0" y="169"/>
                  <a:pt x="0" y="159"/>
                </a:cubicBezTo>
                <a:cubicBezTo>
                  <a:pt x="0" y="149"/>
                  <a:pt x="1" y="138"/>
                  <a:pt x="3" y="128"/>
                </a:cubicBezTo>
                <a:cubicBezTo>
                  <a:pt x="5" y="118"/>
                  <a:pt x="8" y="108"/>
                  <a:pt x="12" y="98"/>
                </a:cubicBezTo>
                <a:cubicBezTo>
                  <a:pt x="16" y="89"/>
                  <a:pt x="22" y="79"/>
                  <a:pt x="28" y="71"/>
                </a:cubicBezTo>
                <a:cubicBezTo>
                  <a:pt x="33" y="62"/>
                  <a:pt x="40" y="54"/>
                  <a:pt x="47" y="47"/>
                </a:cubicBezTo>
                <a:cubicBezTo>
                  <a:pt x="55" y="39"/>
                  <a:pt x="63" y="33"/>
                  <a:pt x="71" y="27"/>
                </a:cubicBezTo>
                <a:cubicBezTo>
                  <a:pt x="80" y="21"/>
                  <a:pt x="89" y="16"/>
                  <a:pt x="99" y="12"/>
                </a:cubicBezTo>
                <a:cubicBezTo>
                  <a:pt x="108" y="8"/>
                  <a:pt x="118" y="5"/>
                  <a:pt x="129" y="3"/>
                </a:cubicBezTo>
                <a:cubicBezTo>
                  <a:pt x="139" y="1"/>
                  <a:pt x="149" y="0"/>
                  <a:pt x="160" y="0"/>
                </a:cubicBezTo>
                <a:cubicBezTo>
                  <a:pt x="170" y="0"/>
                  <a:pt x="180" y="1"/>
                  <a:pt x="191" y="3"/>
                </a:cubicBezTo>
                <a:cubicBezTo>
                  <a:pt x="201" y="5"/>
                  <a:pt x="211" y="8"/>
                  <a:pt x="220" y="12"/>
                </a:cubicBezTo>
                <a:cubicBezTo>
                  <a:pt x="230" y="16"/>
                  <a:pt x="239" y="21"/>
                  <a:pt x="248" y="27"/>
                </a:cubicBezTo>
                <a:cubicBezTo>
                  <a:pt x="256" y="33"/>
                  <a:pt x="264" y="39"/>
                  <a:pt x="272" y="47"/>
                </a:cubicBezTo>
                <a:cubicBezTo>
                  <a:pt x="279" y="54"/>
                  <a:pt x="286" y="62"/>
                  <a:pt x="292" y="71"/>
                </a:cubicBezTo>
                <a:cubicBezTo>
                  <a:pt x="297" y="79"/>
                  <a:pt x="302" y="89"/>
                  <a:pt x="306" y="98"/>
                </a:cubicBezTo>
                <a:cubicBezTo>
                  <a:pt x="310" y="108"/>
                  <a:pt x="313" y="118"/>
                  <a:pt x="315" y="128"/>
                </a:cubicBezTo>
                <a:cubicBezTo>
                  <a:pt x="317" y="138"/>
                  <a:pt x="318" y="149"/>
                  <a:pt x="318" y="159"/>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37" name="CuadroTexto 236"/>
          <p:cNvSpPr txBox="1"/>
          <p:nvPr/>
        </p:nvSpPr>
        <p:spPr>
          <a:xfrm>
            <a:off x="2143080" y="3475440"/>
            <a:ext cx="64764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eficientes</a:t>
            </a:r>
            <a:endParaRPr lang="en-US" sz="1350" b="0" u="none" strike="noStrike">
              <a:solidFill>
                <a:srgbClr val="000000"/>
              </a:solidFill>
              <a:effectLst/>
              <a:uFillTx/>
              <a:latin typeface="Times New Roman"/>
            </a:endParaRPr>
          </a:p>
        </p:txBody>
      </p:sp>
      <p:sp>
        <p:nvSpPr>
          <p:cNvPr id="238" name="Forma libre: forma 237"/>
          <p:cNvSpPr/>
          <p:nvPr/>
        </p:nvSpPr>
        <p:spPr>
          <a:xfrm>
            <a:off x="1876320" y="4371840"/>
            <a:ext cx="114480" cy="114480"/>
          </a:xfrm>
          <a:custGeom>
            <a:avLst/>
            <a:gdLst/>
            <a:ahLst/>
            <a:cxnLst/>
            <a:rect l="0" t="0" r="r" b="b"/>
            <a:pathLst>
              <a:path w="318" h="318">
                <a:moveTo>
                  <a:pt x="318" y="160"/>
                </a:moveTo>
                <a:cubicBezTo>
                  <a:pt x="318" y="170"/>
                  <a:pt x="317" y="180"/>
                  <a:pt x="315" y="191"/>
                </a:cubicBezTo>
                <a:cubicBezTo>
                  <a:pt x="313" y="201"/>
                  <a:pt x="310" y="211"/>
                  <a:pt x="306" y="220"/>
                </a:cubicBezTo>
                <a:cubicBezTo>
                  <a:pt x="302" y="230"/>
                  <a:pt x="297" y="239"/>
                  <a:pt x="292" y="248"/>
                </a:cubicBezTo>
                <a:cubicBezTo>
                  <a:pt x="286" y="256"/>
                  <a:pt x="279" y="265"/>
                  <a:pt x="272" y="272"/>
                </a:cubicBezTo>
                <a:cubicBezTo>
                  <a:pt x="264" y="279"/>
                  <a:pt x="256" y="286"/>
                  <a:pt x="248" y="292"/>
                </a:cubicBezTo>
                <a:cubicBezTo>
                  <a:pt x="239" y="297"/>
                  <a:pt x="230" y="302"/>
                  <a:pt x="220" y="306"/>
                </a:cubicBezTo>
                <a:cubicBezTo>
                  <a:pt x="211" y="310"/>
                  <a:pt x="201" y="313"/>
                  <a:pt x="191" y="315"/>
                </a:cubicBezTo>
                <a:cubicBezTo>
                  <a:pt x="180" y="317"/>
                  <a:pt x="170" y="318"/>
                  <a:pt x="160" y="318"/>
                </a:cubicBezTo>
                <a:cubicBezTo>
                  <a:pt x="149" y="318"/>
                  <a:pt x="139" y="317"/>
                  <a:pt x="129" y="315"/>
                </a:cubicBezTo>
                <a:cubicBezTo>
                  <a:pt x="118" y="313"/>
                  <a:pt x="108" y="310"/>
                  <a:pt x="99" y="306"/>
                </a:cubicBezTo>
                <a:cubicBezTo>
                  <a:pt x="89" y="302"/>
                  <a:pt x="80" y="297"/>
                  <a:pt x="71" y="292"/>
                </a:cubicBezTo>
                <a:cubicBezTo>
                  <a:pt x="63" y="286"/>
                  <a:pt x="55" y="279"/>
                  <a:pt x="47" y="272"/>
                </a:cubicBezTo>
                <a:cubicBezTo>
                  <a:pt x="40" y="265"/>
                  <a:pt x="33" y="256"/>
                  <a:pt x="28" y="248"/>
                </a:cubicBezTo>
                <a:cubicBezTo>
                  <a:pt x="22" y="239"/>
                  <a:pt x="16" y="230"/>
                  <a:pt x="12" y="220"/>
                </a:cubicBezTo>
                <a:cubicBezTo>
                  <a:pt x="8" y="211"/>
                  <a:pt x="5" y="201"/>
                  <a:pt x="3" y="191"/>
                </a:cubicBezTo>
                <a:cubicBezTo>
                  <a:pt x="1" y="180"/>
                  <a:pt x="0" y="170"/>
                  <a:pt x="0" y="160"/>
                </a:cubicBezTo>
                <a:cubicBezTo>
                  <a:pt x="0" y="149"/>
                  <a:pt x="1" y="139"/>
                  <a:pt x="3" y="129"/>
                </a:cubicBezTo>
                <a:cubicBezTo>
                  <a:pt x="5" y="118"/>
                  <a:pt x="8" y="109"/>
                  <a:pt x="12" y="99"/>
                </a:cubicBezTo>
                <a:cubicBezTo>
                  <a:pt x="16" y="89"/>
                  <a:pt x="22" y="80"/>
                  <a:pt x="28" y="71"/>
                </a:cubicBezTo>
                <a:cubicBezTo>
                  <a:pt x="33" y="63"/>
                  <a:pt x="40" y="54"/>
                  <a:pt x="47" y="46"/>
                </a:cubicBezTo>
                <a:cubicBezTo>
                  <a:pt x="55" y="39"/>
                  <a:pt x="63" y="32"/>
                  <a:pt x="71" y="27"/>
                </a:cubicBezTo>
                <a:cubicBezTo>
                  <a:pt x="80" y="21"/>
                  <a:pt x="89" y="16"/>
                  <a:pt x="99" y="12"/>
                </a:cubicBezTo>
                <a:cubicBezTo>
                  <a:pt x="108" y="8"/>
                  <a:pt x="118" y="5"/>
                  <a:pt x="129" y="3"/>
                </a:cubicBezTo>
                <a:cubicBezTo>
                  <a:pt x="139" y="1"/>
                  <a:pt x="149" y="0"/>
                  <a:pt x="160" y="0"/>
                </a:cubicBezTo>
                <a:cubicBezTo>
                  <a:pt x="170" y="0"/>
                  <a:pt x="180" y="1"/>
                  <a:pt x="191" y="3"/>
                </a:cubicBezTo>
                <a:cubicBezTo>
                  <a:pt x="201" y="5"/>
                  <a:pt x="211" y="8"/>
                  <a:pt x="220" y="12"/>
                </a:cubicBezTo>
                <a:cubicBezTo>
                  <a:pt x="230" y="16"/>
                  <a:pt x="239" y="21"/>
                  <a:pt x="248" y="27"/>
                </a:cubicBezTo>
                <a:cubicBezTo>
                  <a:pt x="256" y="32"/>
                  <a:pt x="264" y="39"/>
                  <a:pt x="272" y="46"/>
                </a:cubicBezTo>
                <a:cubicBezTo>
                  <a:pt x="279" y="54"/>
                  <a:pt x="286" y="63"/>
                  <a:pt x="292" y="71"/>
                </a:cubicBezTo>
                <a:cubicBezTo>
                  <a:pt x="297" y="80"/>
                  <a:pt x="302" y="89"/>
                  <a:pt x="306" y="99"/>
                </a:cubicBezTo>
                <a:cubicBezTo>
                  <a:pt x="310" y="109"/>
                  <a:pt x="313" y="118"/>
                  <a:pt x="315" y="129"/>
                </a:cubicBezTo>
                <a:cubicBezTo>
                  <a:pt x="317" y="139"/>
                  <a:pt x="318" y="149"/>
                  <a:pt x="318" y="160"/>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39" name="CuadroTexto 238"/>
          <p:cNvSpPr txBox="1"/>
          <p:nvPr/>
        </p:nvSpPr>
        <p:spPr>
          <a:xfrm>
            <a:off x="2143080" y="3904200"/>
            <a:ext cx="758808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Facilitar la escalabilidad: Estructura flexible que permite el crecimiento del proyecto sin comprometer la calidad</a:t>
            </a:r>
            <a:endParaRPr lang="en-US" sz="1350" b="0" u="none" strike="noStrike">
              <a:solidFill>
                <a:srgbClr val="000000"/>
              </a:solidFill>
              <a:effectLst/>
              <a:uFillTx/>
              <a:latin typeface="Times New Roman"/>
            </a:endParaRPr>
          </a:p>
        </p:txBody>
      </p:sp>
      <p:sp>
        <p:nvSpPr>
          <p:cNvPr id="240" name="CuadroTexto 239"/>
          <p:cNvSpPr txBox="1"/>
          <p:nvPr/>
        </p:nvSpPr>
        <p:spPr>
          <a:xfrm>
            <a:off x="2143080" y="4332600"/>
            <a:ext cx="775980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Facilitar el testeo, localización y resolución de errores: Código modular que simplifica la identificación y corrección</a:t>
            </a:r>
            <a:endParaRPr lang="en-US" sz="1350" b="0" u="none" strike="noStrike">
              <a:solidFill>
                <a:srgbClr val="000000"/>
              </a:solidFill>
              <a:effectLst/>
              <a:uFillTx/>
              <a:latin typeface="Times New Roman"/>
            </a:endParaRPr>
          </a:p>
        </p:txBody>
      </p:sp>
      <p:sp>
        <p:nvSpPr>
          <p:cNvPr id="241" name="CuadroTexto 240"/>
          <p:cNvSpPr txBox="1"/>
          <p:nvPr/>
        </p:nvSpPr>
        <p:spPr>
          <a:xfrm>
            <a:off x="2143080" y="4618440"/>
            <a:ext cx="92304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de problemas</a:t>
            </a:r>
            <a:endParaRPr lang="en-US" sz="1350" b="0" u="none" strike="noStrike">
              <a:solidFill>
                <a:srgbClr val="000000"/>
              </a:solidFill>
              <a:effectLst/>
              <a:uFillTx/>
              <a:latin typeface="Times New Roman"/>
            </a:endParaRPr>
          </a:p>
        </p:txBody>
      </p:sp>
      <p:sp>
        <p:nvSpPr>
          <p:cNvPr id="242" name="CuadroTexto 241"/>
          <p:cNvSpPr txBox="1"/>
          <p:nvPr/>
        </p:nvSpPr>
        <p:spPr>
          <a:xfrm>
            <a:off x="1838160" y="5730840"/>
            <a:ext cx="806832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Referencia:</a:t>
            </a:r>
            <a:r>
              <a:rPr lang="en-US" sz="1200" b="0" u="none" strike="noStrike">
                <a:solidFill>
                  <a:srgbClr val="666666"/>
                </a:solidFill>
                <a:effectLst/>
                <a:uFillTx/>
                <a:latin typeface="CrimsonPro"/>
                <a:ea typeface="CrimsonPro"/>
              </a:rPr>
              <a:t> Robert Cecil Martin, el </a:t>
            </a:r>
            <a:r>
              <a:rPr lang="en-US" sz="1200" b="0" u="none" strike="noStrike">
                <a:solidFill>
                  <a:srgbClr val="DA7756"/>
                </a:solidFill>
                <a:effectLst/>
                <a:uFillTx/>
                <a:latin typeface="CrimsonPro"/>
                <a:ea typeface="CrimsonPro"/>
              </a:rPr>
              <a:t>«Tío Bob»</a:t>
            </a:r>
            <a:r>
              <a:rPr lang="en-US" sz="1200" b="0" u="none" strike="noStrike">
                <a:solidFill>
                  <a:srgbClr val="666666"/>
                </a:solidFill>
                <a:effectLst/>
                <a:uFillTx/>
                <a:latin typeface="CrimsonPro"/>
                <a:ea typeface="CrimsonPro"/>
              </a:rPr>
              <a:t>, es uno de los fundadores principales de los métodos ágiles, autor de </a:t>
            </a:r>
            <a:r>
              <a:rPr lang="en-US" sz="1200" b="0" u="none" strike="noStrike">
                <a:solidFill>
                  <a:srgbClr val="000000"/>
                </a:solidFill>
                <a:effectLst/>
                <a:uFillTx/>
                <a:latin typeface="CrimsonPro"/>
                <a:ea typeface="CrimsonPro"/>
              </a:rPr>
              <a:t>«clean code»</a:t>
            </a:r>
            <a:r>
              <a:rPr lang="en-US" sz="1200" b="0" u="none" strike="noStrike">
                <a:solidFill>
                  <a:srgbClr val="666666"/>
                </a:solidFill>
                <a:effectLst/>
                <a:uFillTx/>
                <a:latin typeface="CrimsonPro"/>
                <a:ea typeface="CrimsonPro"/>
              </a:rPr>
              <a:t> (para</a:t>
            </a:r>
            <a:endParaRPr lang="en-US" sz="1200" b="0" u="none" strike="noStrike">
              <a:solidFill>
                <a:srgbClr val="000000"/>
              </a:solidFill>
              <a:effectLst/>
              <a:uFillTx/>
              <a:latin typeface="Times New Roman"/>
            </a:endParaRPr>
          </a:p>
        </p:txBody>
      </p:sp>
      <p:sp>
        <p:nvSpPr>
          <p:cNvPr id="243" name="CuadroTexto 242"/>
          <p:cNvSpPr txBox="1"/>
          <p:nvPr/>
        </p:nvSpPr>
        <p:spPr>
          <a:xfrm>
            <a:off x="1838160" y="5978520"/>
            <a:ext cx="84438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muchos de nosotros, uno de los mejores libros sobre buen y mal código), es uno de los más influyentes autores en programación orientada a</a:t>
            </a:r>
            <a:endParaRPr lang="en-US" sz="1200" b="0" u="none" strike="noStrike">
              <a:solidFill>
                <a:srgbClr val="000000"/>
              </a:solidFill>
              <a:effectLst/>
              <a:uFillTx/>
              <a:latin typeface="Times New Roman"/>
            </a:endParaRPr>
          </a:p>
        </p:txBody>
      </p:sp>
      <p:sp>
        <p:nvSpPr>
          <p:cNvPr id="244" name="Forma libre: forma 243"/>
          <p:cNvSpPr/>
          <p:nvPr/>
        </p:nvSpPr>
        <p:spPr>
          <a:xfrm>
            <a:off x="571320" y="6743520"/>
            <a:ext cx="11049480" cy="9720"/>
          </a:xfrm>
          <a:custGeom>
            <a:avLst/>
            <a:gdLst/>
            <a:ahLst/>
            <a:cxnLst/>
            <a:rect l="0" t="0" r="r" b="b"/>
            <a:pathLst>
              <a:path w="30693" h="27">
                <a:moveTo>
                  <a:pt x="0" y="0"/>
                </a:moveTo>
                <a:lnTo>
                  <a:pt x="30693" y="0"/>
                </a:lnTo>
                <a:lnTo>
                  <a:pt x="30693"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45" name="CuadroTexto 244"/>
          <p:cNvSpPr txBox="1"/>
          <p:nvPr/>
        </p:nvSpPr>
        <p:spPr>
          <a:xfrm>
            <a:off x="1838160" y="6226200"/>
            <a:ext cx="47988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objetos.</a:t>
            </a:r>
            <a:endParaRPr lang="en-US" sz="1200" b="0" u="none" strike="noStrike">
              <a:solidFill>
                <a:srgbClr val="000000"/>
              </a:solidFill>
              <a:effectLst/>
              <a:uFillTx/>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Forma libre: forma 247"/>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49" name="Forma libre: forma 248"/>
          <p:cNvSpPr/>
          <p:nvPr/>
        </p:nvSpPr>
        <p:spPr>
          <a:xfrm>
            <a:off x="1814400" y="1204560"/>
            <a:ext cx="8563320" cy="2010240"/>
          </a:xfrm>
          <a:custGeom>
            <a:avLst/>
            <a:gdLst/>
            <a:ahLst/>
            <a:cxnLst/>
            <a:rect l="0" t="0" r="r" b="b"/>
            <a:pathLst>
              <a:path w="23787" h="5584">
                <a:moveTo>
                  <a:pt x="0" y="5174"/>
                </a:moveTo>
                <a:lnTo>
                  <a:pt x="0" y="411"/>
                </a:lnTo>
                <a:cubicBezTo>
                  <a:pt x="0" y="384"/>
                  <a:pt x="2" y="357"/>
                  <a:pt x="8" y="331"/>
                </a:cubicBezTo>
                <a:cubicBezTo>
                  <a:pt x="13" y="304"/>
                  <a:pt x="21" y="279"/>
                  <a:pt x="31" y="254"/>
                </a:cubicBezTo>
                <a:cubicBezTo>
                  <a:pt x="41" y="229"/>
                  <a:pt x="54" y="205"/>
                  <a:pt x="69" y="183"/>
                </a:cubicBezTo>
                <a:cubicBezTo>
                  <a:pt x="84" y="160"/>
                  <a:pt x="101" y="140"/>
                  <a:pt x="120" y="121"/>
                </a:cubicBezTo>
                <a:cubicBezTo>
                  <a:pt x="139" y="102"/>
                  <a:pt x="160" y="85"/>
                  <a:pt x="182" y="70"/>
                </a:cubicBezTo>
                <a:cubicBezTo>
                  <a:pt x="204" y="55"/>
                  <a:pt x="228" y="42"/>
                  <a:pt x="253" y="32"/>
                </a:cubicBezTo>
                <a:cubicBezTo>
                  <a:pt x="278" y="21"/>
                  <a:pt x="303" y="14"/>
                  <a:pt x="330" y="8"/>
                </a:cubicBezTo>
                <a:cubicBezTo>
                  <a:pt x="356" y="3"/>
                  <a:pt x="383" y="0"/>
                  <a:pt x="410" y="0"/>
                </a:cubicBezTo>
                <a:lnTo>
                  <a:pt x="23377" y="0"/>
                </a:lnTo>
                <a:cubicBezTo>
                  <a:pt x="23404" y="0"/>
                  <a:pt x="23430" y="3"/>
                  <a:pt x="23457" y="8"/>
                </a:cubicBezTo>
                <a:cubicBezTo>
                  <a:pt x="23483" y="14"/>
                  <a:pt x="23509" y="21"/>
                  <a:pt x="23534" y="32"/>
                </a:cubicBezTo>
                <a:cubicBezTo>
                  <a:pt x="23559" y="42"/>
                  <a:pt x="23582" y="55"/>
                  <a:pt x="23605" y="70"/>
                </a:cubicBezTo>
                <a:cubicBezTo>
                  <a:pt x="23627" y="85"/>
                  <a:pt x="23648" y="102"/>
                  <a:pt x="23667" y="121"/>
                </a:cubicBezTo>
                <a:cubicBezTo>
                  <a:pt x="23686" y="140"/>
                  <a:pt x="23703" y="160"/>
                  <a:pt x="23718" y="183"/>
                </a:cubicBezTo>
                <a:cubicBezTo>
                  <a:pt x="23733" y="205"/>
                  <a:pt x="23745" y="229"/>
                  <a:pt x="23756" y="254"/>
                </a:cubicBezTo>
                <a:cubicBezTo>
                  <a:pt x="23766" y="279"/>
                  <a:pt x="23774" y="304"/>
                  <a:pt x="23779" y="331"/>
                </a:cubicBezTo>
                <a:cubicBezTo>
                  <a:pt x="23784" y="357"/>
                  <a:pt x="23787" y="384"/>
                  <a:pt x="23787" y="411"/>
                </a:cubicBezTo>
                <a:lnTo>
                  <a:pt x="23787" y="5174"/>
                </a:lnTo>
                <a:cubicBezTo>
                  <a:pt x="23787" y="5201"/>
                  <a:pt x="23784" y="5228"/>
                  <a:pt x="23779" y="5254"/>
                </a:cubicBezTo>
                <a:cubicBezTo>
                  <a:pt x="23774" y="5280"/>
                  <a:pt x="23766" y="5306"/>
                  <a:pt x="23756" y="5331"/>
                </a:cubicBezTo>
                <a:cubicBezTo>
                  <a:pt x="23745" y="5356"/>
                  <a:pt x="23733" y="5380"/>
                  <a:pt x="23718" y="5402"/>
                </a:cubicBezTo>
                <a:cubicBezTo>
                  <a:pt x="23703" y="5424"/>
                  <a:pt x="23686" y="5445"/>
                  <a:pt x="23667" y="5464"/>
                </a:cubicBezTo>
                <a:cubicBezTo>
                  <a:pt x="23648" y="5483"/>
                  <a:pt x="23627" y="5500"/>
                  <a:pt x="23605" y="5515"/>
                </a:cubicBezTo>
                <a:cubicBezTo>
                  <a:pt x="23582" y="5530"/>
                  <a:pt x="23559" y="5543"/>
                  <a:pt x="23534" y="5553"/>
                </a:cubicBezTo>
                <a:cubicBezTo>
                  <a:pt x="23509" y="5563"/>
                  <a:pt x="23483" y="5571"/>
                  <a:pt x="23457" y="5576"/>
                </a:cubicBezTo>
                <a:cubicBezTo>
                  <a:pt x="23430" y="5582"/>
                  <a:pt x="23404" y="5584"/>
                  <a:pt x="23377" y="5584"/>
                </a:cubicBezTo>
                <a:lnTo>
                  <a:pt x="410" y="5584"/>
                </a:lnTo>
                <a:cubicBezTo>
                  <a:pt x="383" y="5584"/>
                  <a:pt x="356" y="5582"/>
                  <a:pt x="330" y="5576"/>
                </a:cubicBezTo>
                <a:cubicBezTo>
                  <a:pt x="303" y="5571"/>
                  <a:pt x="278" y="5563"/>
                  <a:pt x="253" y="5553"/>
                </a:cubicBezTo>
                <a:cubicBezTo>
                  <a:pt x="228" y="5543"/>
                  <a:pt x="204" y="5530"/>
                  <a:pt x="182" y="5515"/>
                </a:cubicBezTo>
                <a:cubicBezTo>
                  <a:pt x="160" y="5500"/>
                  <a:pt x="139" y="5483"/>
                  <a:pt x="120" y="5464"/>
                </a:cubicBezTo>
                <a:cubicBezTo>
                  <a:pt x="101" y="5445"/>
                  <a:pt x="84" y="5424"/>
                  <a:pt x="69" y="5402"/>
                </a:cubicBezTo>
                <a:cubicBezTo>
                  <a:pt x="54" y="5380"/>
                  <a:pt x="41" y="5356"/>
                  <a:pt x="31" y="5331"/>
                </a:cubicBezTo>
                <a:cubicBezTo>
                  <a:pt x="21" y="5306"/>
                  <a:pt x="13" y="5280"/>
                  <a:pt x="8" y="5254"/>
                </a:cubicBezTo>
                <a:cubicBezTo>
                  <a:pt x="2" y="5228"/>
                  <a:pt x="0" y="5201"/>
                  <a:pt x="0" y="5174"/>
                </a:cubicBezTo>
                <a:close/>
              </a:path>
            </a:pathLst>
          </a:custGeom>
          <a:solidFill>
            <a:srgbClr val="F5E6E0"/>
          </a:solidFill>
          <a:ln w="0">
            <a:noFill/>
          </a:ln>
        </p:spPr>
        <p:txBody>
          <a:bodyPr lIns="0" tIns="0" rIns="0" bIns="0" anchor="t">
            <a:noAutofit/>
          </a:bodyPr>
          <a:lstStyle/>
          <a:p>
            <a:endParaRPr lang="en-US" sz="2400">
              <a:solidFill>
                <a:srgbClr val="000000"/>
              </a:solidFill>
              <a:latin typeface="Times New Roman"/>
            </a:endParaRPr>
          </a:p>
        </p:txBody>
      </p:sp>
      <p:sp>
        <p:nvSpPr>
          <p:cNvPr id="250" name="Forma libre: forma 249"/>
          <p:cNvSpPr/>
          <p:nvPr/>
        </p:nvSpPr>
        <p:spPr>
          <a:xfrm>
            <a:off x="1814400" y="1204560"/>
            <a:ext cx="8563320" cy="2010240"/>
          </a:xfrm>
          <a:custGeom>
            <a:avLst/>
            <a:gdLst/>
            <a:ahLst/>
            <a:cxnLst/>
            <a:rect l="0" t="0" r="r" b="b"/>
            <a:pathLst>
              <a:path w="23787" h="5584" fill="none">
                <a:moveTo>
                  <a:pt x="0" y="5174"/>
                </a:moveTo>
                <a:lnTo>
                  <a:pt x="0" y="411"/>
                </a:lnTo>
                <a:cubicBezTo>
                  <a:pt x="0" y="384"/>
                  <a:pt x="2" y="357"/>
                  <a:pt x="8" y="331"/>
                </a:cubicBezTo>
                <a:cubicBezTo>
                  <a:pt x="13" y="304"/>
                  <a:pt x="21" y="279"/>
                  <a:pt x="31" y="254"/>
                </a:cubicBezTo>
                <a:cubicBezTo>
                  <a:pt x="41" y="229"/>
                  <a:pt x="54" y="205"/>
                  <a:pt x="69" y="183"/>
                </a:cubicBezTo>
                <a:cubicBezTo>
                  <a:pt x="84" y="160"/>
                  <a:pt x="101" y="140"/>
                  <a:pt x="120" y="121"/>
                </a:cubicBezTo>
                <a:cubicBezTo>
                  <a:pt x="139" y="102"/>
                  <a:pt x="160" y="85"/>
                  <a:pt x="182" y="70"/>
                </a:cubicBezTo>
                <a:cubicBezTo>
                  <a:pt x="204" y="55"/>
                  <a:pt x="228" y="42"/>
                  <a:pt x="253" y="32"/>
                </a:cubicBezTo>
                <a:cubicBezTo>
                  <a:pt x="278" y="21"/>
                  <a:pt x="303" y="14"/>
                  <a:pt x="330" y="8"/>
                </a:cubicBezTo>
                <a:cubicBezTo>
                  <a:pt x="356" y="3"/>
                  <a:pt x="383" y="0"/>
                  <a:pt x="410" y="0"/>
                </a:cubicBezTo>
                <a:lnTo>
                  <a:pt x="23377" y="0"/>
                </a:lnTo>
                <a:cubicBezTo>
                  <a:pt x="23404" y="0"/>
                  <a:pt x="23430" y="3"/>
                  <a:pt x="23457" y="8"/>
                </a:cubicBezTo>
                <a:cubicBezTo>
                  <a:pt x="23483" y="14"/>
                  <a:pt x="23509" y="21"/>
                  <a:pt x="23534" y="32"/>
                </a:cubicBezTo>
                <a:cubicBezTo>
                  <a:pt x="23559" y="42"/>
                  <a:pt x="23582" y="55"/>
                  <a:pt x="23605" y="70"/>
                </a:cubicBezTo>
                <a:cubicBezTo>
                  <a:pt x="23627" y="85"/>
                  <a:pt x="23648" y="102"/>
                  <a:pt x="23667" y="121"/>
                </a:cubicBezTo>
                <a:cubicBezTo>
                  <a:pt x="23686" y="140"/>
                  <a:pt x="23703" y="160"/>
                  <a:pt x="23718" y="183"/>
                </a:cubicBezTo>
                <a:cubicBezTo>
                  <a:pt x="23733" y="205"/>
                  <a:pt x="23745" y="229"/>
                  <a:pt x="23756" y="254"/>
                </a:cubicBezTo>
                <a:cubicBezTo>
                  <a:pt x="23766" y="279"/>
                  <a:pt x="23774" y="304"/>
                  <a:pt x="23779" y="331"/>
                </a:cubicBezTo>
                <a:cubicBezTo>
                  <a:pt x="23784" y="357"/>
                  <a:pt x="23787" y="384"/>
                  <a:pt x="23787" y="411"/>
                </a:cubicBezTo>
                <a:lnTo>
                  <a:pt x="23787" y="5174"/>
                </a:lnTo>
                <a:cubicBezTo>
                  <a:pt x="23787" y="5201"/>
                  <a:pt x="23784" y="5228"/>
                  <a:pt x="23779" y="5254"/>
                </a:cubicBezTo>
                <a:cubicBezTo>
                  <a:pt x="23774" y="5280"/>
                  <a:pt x="23766" y="5306"/>
                  <a:pt x="23756" y="5331"/>
                </a:cubicBezTo>
                <a:cubicBezTo>
                  <a:pt x="23745" y="5356"/>
                  <a:pt x="23733" y="5380"/>
                  <a:pt x="23718" y="5402"/>
                </a:cubicBezTo>
                <a:cubicBezTo>
                  <a:pt x="23703" y="5424"/>
                  <a:pt x="23686" y="5445"/>
                  <a:pt x="23667" y="5464"/>
                </a:cubicBezTo>
                <a:cubicBezTo>
                  <a:pt x="23648" y="5483"/>
                  <a:pt x="23627" y="5500"/>
                  <a:pt x="23605" y="5515"/>
                </a:cubicBezTo>
                <a:cubicBezTo>
                  <a:pt x="23582" y="5530"/>
                  <a:pt x="23559" y="5543"/>
                  <a:pt x="23534" y="5553"/>
                </a:cubicBezTo>
                <a:cubicBezTo>
                  <a:pt x="23509" y="5563"/>
                  <a:pt x="23483" y="5571"/>
                  <a:pt x="23457" y="5576"/>
                </a:cubicBezTo>
                <a:cubicBezTo>
                  <a:pt x="23430" y="5582"/>
                  <a:pt x="23404" y="5584"/>
                  <a:pt x="23377" y="5584"/>
                </a:cubicBezTo>
                <a:lnTo>
                  <a:pt x="410" y="5584"/>
                </a:lnTo>
                <a:cubicBezTo>
                  <a:pt x="383" y="5584"/>
                  <a:pt x="356" y="5582"/>
                  <a:pt x="330" y="5576"/>
                </a:cubicBezTo>
                <a:cubicBezTo>
                  <a:pt x="303" y="5571"/>
                  <a:pt x="278" y="5563"/>
                  <a:pt x="253" y="5553"/>
                </a:cubicBezTo>
                <a:cubicBezTo>
                  <a:pt x="228" y="5543"/>
                  <a:pt x="204" y="5530"/>
                  <a:pt x="182" y="5515"/>
                </a:cubicBezTo>
                <a:cubicBezTo>
                  <a:pt x="160" y="5500"/>
                  <a:pt x="139" y="5483"/>
                  <a:pt x="120" y="5464"/>
                </a:cubicBezTo>
                <a:cubicBezTo>
                  <a:pt x="101" y="5445"/>
                  <a:pt x="84" y="5424"/>
                  <a:pt x="69" y="5402"/>
                </a:cubicBezTo>
                <a:cubicBezTo>
                  <a:pt x="54" y="5380"/>
                  <a:pt x="41" y="5356"/>
                  <a:pt x="31" y="5331"/>
                </a:cubicBezTo>
                <a:cubicBezTo>
                  <a:pt x="21" y="5306"/>
                  <a:pt x="13" y="5280"/>
                  <a:pt x="8" y="5254"/>
                </a:cubicBezTo>
                <a:cubicBezTo>
                  <a:pt x="2" y="5228"/>
                  <a:pt x="0" y="5201"/>
                  <a:pt x="0" y="5174"/>
                </a:cubicBezTo>
              </a:path>
            </a:pathLst>
          </a:custGeom>
          <a:ln w="9360">
            <a:solidFill>
              <a:srgbClr val="E0E0E0"/>
            </a:solidFill>
            <a:miter/>
          </a:ln>
        </p:spPr>
        <p:txBody>
          <a:bodyPr lIns="4680" tIns="4680" rIns="4680" bIns="4680" anchor="t">
            <a:noAutofit/>
          </a:bodyPr>
          <a:lstStyle/>
          <a:p>
            <a:endParaRPr lang="en-US" sz="2400" b="0" u="none" strike="noStrike">
              <a:solidFill>
                <a:srgbClr val="000000"/>
              </a:solidFill>
              <a:effectLst/>
              <a:uFillTx/>
              <a:latin typeface="Times New Roman"/>
            </a:endParaRPr>
          </a:p>
        </p:txBody>
      </p:sp>
      <p:sp>
        <p:nvSpPr>
          <p:cNvPr id="251" name="CuadroTexto 250"/>
          <p:cNvSpPr txBox="1"/>
          <p:nvPr/>
        </p:nvSpPr>
        <p:spPr>
          <a:xfrm>
            <a:off x="571320" y="569160"/>
            <a:ext cx="2576160" cy="381240"/>
          </a:xfrm>
          <a:prstGeom prst="rect">
            <a:avLst/>
          </a:prstGeom>
          <a:noFill/>
          <a:ln w="0">
            <a:noFill/>
          </a:ln>
        </p:spPr>
        <p:txBody>
          <a:bodyPr wrap="none" lIns="0" tIns="0" rIns="0" bIns="0" anchor="t">
            <a:spAutoFit/>
          </a:bodyPr>
          <a:lstStyle/>
          <a:p>
            <a:r>
              <a:rPr lang="en-US" sz="2700" b="0" u="none" strike="noStrike" dirty="0" err="1">
                <a:solidFill>
                  <a:srgbClr val="000000"/>
                </a:solidFill>
                <a:effectLst/>
                <a:uFillTx/>
                <a:latin typeface="CrimsonPro"/>
                <a:ea typeface="CrimsonPro"/>
              </a:rPr>
              <a:t>Patrones</a:t>
            </a:r>
            <a:r>
              <a:rPr lang="en-US" sz="2700" b="0" u="none" strike="noStrike" dirty="0">
                <a:solidFill>
                  <a:srgbClr val="000000"/>
                </a:solidFill>
                <a:effectLst/>
                <a:uFillTx/>
                <a:latin typeface="CrimsonPro"/>
                <a:ea typeface="CrimsonPro"/>
              </a:rPr>
              <a:t> de </a:t>
            </a:r>
            <a:r>
              <a:rPr lang="en-US" sz="2700" b="0" u="none" strike="noStrike" dirty="0" err="1">
                <a:solidFill>
                  <a:srgbClr val="000000"/>
                </a:solidFill>
                <a:effectLst/>
                <a:uFillTx/>
                <a:latin typeface="CrimsonPro"/>
                <a:ea typeface="CrimsonPro"/>
              </a:rPr>
              <a:t>diseño</a:t>
            </a:r>
            <a:endParaRPr lang="en-US" sz="2700" b="0" u="none" strike="noStrike" dirty="0">
              <a:solidFill>
                <a:srgbClr val="000000"/>
              </a:solidFill>
              <a:effectLst/>
              <a:uFillTx/>
              <a:latin typeface="Times New Roman"/>
            </a:endParaRPr>
          </a:p>
        </p:txBody>
      </p:sp>
      <p:sp>
        <p:nvSpPr>
          <p:cNvPr id="252" name="CuadroTexto 251"/>
          <p:cNvSpPr txBox="1"/>
          <p:nvPr/>
        </p:nvSpPr>
        <p:spPr>
          <a:xfrm>
            <a:off x="2124000" y="1537920"/>
            <a:ext cx="688680" cy="148320"/>
          </a:xfrm>
          <a:prstGeom prst="rect">
            <a:avLst/>
          </a:prstGeom>
          <a:noFill/>
          <a:ln w="0">
            <a:noFill/>
          </a:ln>
        </p:spPr>
        <p:txBody>
          <a:bodyPr wrap="none" lIns="0" tIns="0" rIns="0" bIns="0" anchor="t">
            <a:spAutoFit/>
          </a:bodyPr>
          <a:lstStyle/>
          <a:p>
            <a:r>
              <a:rPr lang="en-US" sz="1050" b="0" u="none" strike="noStrike">
                <a:solidFill>
                  <a:srgbClr val="DA7756"/>
                </a:solidFill>
                <a:effectLst/>
                <a:uFillTx/>
                <a:latin typeface="CrimsonPro"/>
                <a:ea typeface="CrimsonPro"/>
              </a:rPr>
              <a:t>DEFINICIÓN</a:t>
            </a:r>
            <a:endParaRPr lang="en-US" sz="1050" b="0" u="none" strike="noStrike">
              <a:solidFill>
                <a:srgbClr val="000000"/>
              </a:solidFill>
              <a:effectLst/>
              <a:uFillTx/>
              <a:latin typeface="Times New Roman"/>
            </a:endParaRPr>
          </a:p>
        </p:txBody>
      </p:sp>
      <p:sp>
        <p:nvSpPr>
          <p:cNvPr id="253" name="CuadroTexto 252"/>
          <p:cNvSpPr txBox="1"/>
          <p:nvPr/>
        </p:nvSpPr>
        <p:spPr>
          <a:xfrm>
            <a:off x="2124000" y="1867680"/>
            <a:ext cx="7911720" cy="830997"/>
          </a:xfrm>
          <a:prstGeom prst="rect">
            <a:avLst/>
          </a:prstGeom>
          <a:noFill/>
          <a:ln w="0">
            <a:noFill/>
          </a:ln>
        </p:spPr>
        <p:txBody>
          <a:bodyPr wrap="square" lIns="0" tIns="0" rIns="0" bIns="0" anchor="t">
            <a:spAutoFit/>
          </a:bodyPr>
          <a:lstStyle/>
          <a:p>
            <a:pPr algn="just"/>
            <a:r>
              <a:rPr lang="en-US" dirty="0"/>
              <a:t>Es </a:t>
            </a:r>
            <a:r>
              <a:rPr lang="en-US" dirty="0" err="1"/>
              <a:t>una</a:t>
            </a:r>
            <a:r>
              <a:rPr lang="en-US" dirty="0"/>
              <a:t> </a:t>
            </a:r>
            <a:r>
              <a:rPr lang="en-US" dirty="0" err="1"/>
              <a:t>solución</a:t>
            </a:r>
            <a:r>
              <a:rPr lang="en-US" dirty="0"/>
              <a:t> general reusable </a:t>
            </a:r>
            <a:r>
              <a:rPr lang="en-US" dirty="0" err="1"/>
              <a:t>que</a:t>
            </a:r>
            <a:r>
              <a:rPr lang="en-US" dirty="0"/>
              <a:t> </a:t>
            </a:r>
            <a:r>
              <a:rPr lang="en-US" dirty="0" err="1"/>
              <a:t>puede</a:t>
            </a:r>
            <a:r>
              <a:rPr lang="en-US" dirty="0"/>
              <a:t> ser </a:t>
            </a:r>
            <a:r>
              <a:rPr lang="en-US" dirty="0" err="1"/>
              <a:t>aplicada</a:t>
            </a:r>
            <a:r>
              <a:rPr lang="en-US" dirty="0"/>
              <a:t> a </a:t>
            </a:r>
            <a:r>
              <a:rPr lang="en-US" dirty="0" err="1"/>
              <a:t>problemas</a:t>
            </a:r>
            <a:r>
              <a:rPr lang="en-US" dirty="0"/>
              <a:t> </a:t>
            </a:r>
            <a:r>
              <a:rPr lang="en-US" dirty="0" err="1"/>
              <a:t>que</a:t>
            </a:r>
            <a:r>
              <a:rPr lang="en-US" dirty="0"/>
              <a:t> </a:t>
            </a:r>
            <a:r>
              <a:rPr lang="en-US" dirty="0" err="1"/>
              <a:t>ocurren</a:t>
            </a:r>
            <a:r>
              <a:rPr lang="en-US" dirty="0"/>
              <a:t> </a:t>
            </a:r>
            <a:r>
              <a:rPr lang="en-US" dirty="0" err="1"/>
              <a:t>comúnmente</a:t>
            </a:r>
            <a:r>
              <a:rPr lang="en-US" dirty="0"/>
              <a:t> </a:t>
            </a:r>
            <a:r>
              <a:rPr lang="en-US" dirty="0" err="1"/>
              <a:t>en</a:t>
            </a:r>
            <a:r>
              <a:rPr lang="en-US" dirty="0"/>
              <a:t> </a:t>
            </a:r>
            <a:r>
              <a:rPr lang="en-US" dirty="0" err="1"/>
              <a:t>el</a:t>
            </a:r>
            <a:r>
              <a:rPr lang="en-US" dirty="0"/>
              <a:t> </a:t>
            </a:r>
            <a:r>
              <a:rPr lang="en-US" dirty="0" err="1"/>
              <a:t>desarrollo</a:t>
            </a:r>
            <a:r>
              <a:rPr lang="en-US" dirty="0"/>
              <a:t> de software, es la </a:t>
            </a:r>
            <a:r>
              <a:rPr lang="en-US" dirty="0" err="1"/>
              <a:t>descripción</a:t>
            </a:r>
            <a:r>
              <a:rPr lang="en-US" dirty="0"/>
              <a:t> o </a:t>
            </a:r>
            <a:r>
              <a:rPr lang="en-US" dirty="0" err="1"/>
              <a:t>plantilla</a:t>
            </a:r>
            <a:r>
              <a:rPr lang="en-US" dirty="0"/>
              <a:t> de </a:t>
            </a:r>
            <a:r>
              <a:rPr lang="en-US" dirty="0" err="1"/>
              <a:t>cómo</a:t>
            </a:r>
            <a:r>
              <a:rPr lang="en-US" dirty="0"/>
              <a:t> resolver un </a:t>
            </a:r>
            <a:r>
              <a:rPr lang="en-US" dirty="0" err="1"/>
              <a:t>problema</a:t>
            </a:r>
            <a:r>
              <a:rPr lang="en-US" dirty="0"/>
              <a:t> </a:t>
            </a:r>
            <a:r>
              <a:rPr lang="en-US" dirty="0" err="1"/>
              <a:t>que</a:t>
            </a:r>
            <a:r>
              <a:rPr lang="en-US" dirty="0"/>
              <a:t> </a:t>
            </a:r>
            <a:r>
              <a:rPr lang="en-US" dirty="0" err="1"/>
              <a:t>puede</a:t>
            </a:r>
            <a:r>
              <a:rPr lang="en-US" dirty="0"/>
              <a:t> ser </a:t>
            </a:r>
            <a:r>
              <a:rPr lang="en-US" dirty="0" err="1"/>
              <a:t>usada</a:t>
            </a:r>
            <a:r>
              <a:rPr lang="en-US" dirty="0"/>
              <a:t> </a:t>
            </a:r>
            <a:r>
              <a:rPr lang="en-US" dirty="0" err="1"/>
              <a:t>en</a:t>
            </a:r>
            <a:r>
              <a:rPr lang="en-US" dirty="0"/>
              <a:t> </a:t>
            </a:r>
            <a:r>
              <a:rPr lang="en-US" dirty="0" err="1">
                <a:solidFill>
                  <a:srgbClr val="000000"/>
                </a:solidFill>
                <a:latin typeface="CrimsonPro"/>
                <a:ea typeface="CrimsonPro"/>
              </a:rPr>
              <a:t>diferentes</a:t>
            </a:r>
            <a:r>
              <a:rPr lang="en-US" dirty="0">
                <a:solidFill>
                  <a:srgbClr val="000000"/>
                </a:solidFill>
                <a:latin typeface="CrimsonPro"/>
                <a:ea typeface="CrimsonPro"/>
              </a:rPr>
              <a:t> </a:t>
            </a:r>
            <a:r>
              <a:rPr lang="en-US" dirty="0" err="1">
                <a:solidFill>
                  <a:srgbClr val="000000"/>
                </a:solidFill>
                <a:latin typeface="CrimsonPro"/>
                <a:ea typeface="CrimsonPro"/>
              </a:rPr>
              <a:t>situaciones</a:t>
            </a:r>
            <a:r>
              <a:rPr lang="en-US" dirty="0">
                <a:solidFill>
                  <a:srgbClr val="000000"/>
                </a:solidFill>
                <a:latin typeface="CrimsonPro"/>
                <a:ea typeface="CrimsonPro"/>
              </a:rPr>
              <a:t>.</a:t>
            </a:r>
            <a:endParaRPr lang="en-US" dirty="0">
              <a:solidFill>
                <a:srgbClr val="000000"/>
              </a:solidFill>
              <a:latin typeface="Times New Roman"/>
            </a:endParaRPr>
          </a:p>
        </p:txBody>
      </p:sp>
      <p:sp>
        <p:nvSpPr>
          <p:cNvPr id="256" name="Forma libre: forma 255"/>
          <p:cNvSpPr/>
          <p:nvPr/>
        </p:nvSpPr>
        <p:spPr>
          <a:xfrm>
            <a:off x="1809720" y="4019400"/>
            <a:ext cx="2733840" cy="1600560"/>
          </a:xfrm>
          <a:custGeom>
            <a:avLst/>
            <a:gdLst/>
            <a:ahLst/>
            <a:cxnLst/>
            <a:rect l="0" t="0" r="r" b="b"/>
            <a:pathLst>
              <a:path w="7594" h="4446">
                <a:moveTo>
                  <a:pt x="0" y="4127"/>
                </a:moveTo>
                <a:lnTo>
                  <a:pt x="0" y="317"/>
                </a:lnTo>
                <a:cubicBezTo>
                  <a:pt x="0" y="297"/>
                  <a:pt x="2" y="276"/>
                  <a:pt x="6" y="255"/>
                </a:cubicBezTo>
                <a:cubicBezTo>
                  <a:pt x="10" y="235"/>
                  <a:pt x="16" y="215"/>
                  <a:pt x="24" y="196"/>
                </a:cubicBezTo>
                <a:cubicBezTo>
                  <a:pt x="32" y="177"/>
                  <a:pt x="42" y="158"/>
                  <a:pt x="53" y="141"/>
                </a:cubicBezTo>
                <a:cubicBezTo>
                  <a:pt x="65" y="124"/>
                  <a:pt x="78" y="108"/>
                  <a:pt x="93" y="93"/>
                </a:cubicBezTo>
                <a:cubicBezTo>
                  <a:pt x="107" y="78"/>
                  <a:pt x="123" y="65"/>
                  <a:pt x="141" y="53"/>
                </a:cubicBezTo>
                <a:cubicBezTo>
                  <a:pt x="158" y="42"/>
                  <a:pt x="176" y="32"/>
                  <a:pt x="196" y="24"/>
                </a:cubicBezTo>
                <a:cubicBezTo>
                  <a:pt x="215" y="16"/>
                  <a:pt x="235" y="10"/>
                  <a:pt x="255" y="6"/>
                </a:cubicBezTo>
                <a:cubicBezTo>
                  <a:pt x="276" y="2"/>
                  <a:pt x="296" y="0"/>
                  <a:pt x="317" y="0"/>
                </a:cubicBezTo>
                <a:lnTo>
                  <a:pt x="7277" y="0"/>
                </a:lnTo>
                <a:cubicBezTo>
                  <a:pt x="7297" y="0"/>
                  <a:pt x="7318" y="2"/>
                  <a:pt x="7339" y="6"/>
                </a:cubicBezTo>
                <a:cubicBezTo>
                  <a:pt x="7359" y="10"/>
                  <a:pt x="7379" y="16"/>
                  <a:pt x="7398" y="24"/>
                </a:cubicBezTo>
                <a:cubicBezTo>
                  <a:pt x="7417" y="32"/>
                  <a:pt x="7436" y="42"/>
                  <a:pt x="7453" y="53"/>
                </a:cubicBezTo>
                <a:cubicBezTo>
                  <a:pt x="7470" y="65"/>
                  <a:pt x="7486" y="78"/>
                  <a:pt x="7501" y="93"/>
                </a:cubicBezTo>
                <a:cubicBezTo>
                  <a:pt x="7516" y="108"/>
                  <a:pt x="7529" y="124"/>
                  <a:pt x="7541" y="141"/>
                </a:cubicBezTo>
                <a:cubicBezTo>
                  <a:pt x="7552" y="158"/>
                  <a:pt x="7562" y="177"/>
                  <a:pt x="7570" y="196"/>
                </a:cubicBezTo>
                <a:cubicBezTo>
                  <a:pt x="7578" y="215"/>
                  <a:pt x="7584" y="235"/>
                  <a:pt x="7588" y="255"/>
                </a:cubicBezTo>
                <a:cubicBezTo>
                  <a:pt x="7592" y="276"/>
                  <a:pt x="7594" y="297"/>
                  <a:pt x="7594" y="317"/>
                </a:cubicBezTo>
                <a:lnTo>
                  <a:pt x="7594" y="4127"/>
                </a:lnTo>
                <a:cubicBezTo>
                  <a:pt x="7594" y="4148"/>
                  <a:pt x="7592" y="4169"/>
                  <a:pt x="7588" y="4189"/>
                </a:cubicBezTo>
                <a:cubicBezTo>
                  <a:pt x="7584" y="4210"/>
                  <a:pt x="7578" y="4230"/>
                  <a:pt x="7570" y="4249"/>
                </a:cubicBezTo>
                <a:cubicBezTo>
                  <a:pt x="7562" y="4268"/>
                  <a:pt x="7552" y="4286"/>
                  <a:pt x="7541" y="4304"/>
                </a:cubicBezTo>
                <a:cubicBezTo>
                  <a:pt x="7529" y="4321"/>
                  <a:pt x="7516" y="4337"/>
                  <a:pt x="7501" y="4352"/>
                </a:cubicBezTo>
                <a:cubicBezTo>
                  <a:pt x="7486" y="4367"/>
                  <a:pt x="7470" y="4380"/>
                  <a:pt x="7453" y="4392"/>
                </a:cubicBezTo>
                <a:cubicBezTo>
                  <a:pt x="7436" y="4404"/>
                  <a:pt x="7417" y="4414"/>
                  <a:pt x="7398" y="4422"/>
                </a:cubicBezTo>
                <a:cubicBezTo>
                  <a:pt x="7379" y="4430"/>
                  <a:pt x="7359" y="4436"/>
                  <a:pt x="7339" y="4440"/>
                </a:cubicBezTo>
                <a:cubicBezTo>
                  <a:pt x="7318" y="4444"/>
                  <a:pt x="7297" y="4446"/>
                  <a:pt x="7277" y="4446"/>
                </a:cubicBezTo>
                <a:lnTo>
                  <a:pt x="317" y="4446"/>
                </a:lnTo>
                <a:cubicBezTo>
                  <a:pt x="296" y="4446"/>
                  <a:pt x="276" y="4444"/>
                  <a:pt x="255" y="4440"/>
                </a:cubicBezTo>
                <a:cubicBezTo>
                  <a:pt x="235" y="4436"/>
                  <a:pt x="215" y="4430"/>
                  <a:pt x="196" y="4422"/>
                </a:cubicBezTo>
                <a:cubicBezTo>
                  <a:pt x="176" y="4414"/>
                  <a:pt x="158" y="4404"/>
                  <a:pt x="141" y="4392"/>
                </a:cubicBezTo>
                <a:cubicBezTo>
                  <a:pt x="123" y="4380"/>
                  <a:pt x="107" y="4367"/>
                  <a:pt x="93" y="4352"/>
                </a:cubicBezTo>
                <a:cubicBezTo>
                  <a:pt x="78" y="4337"/>
                  <a:pt x="65" y="4321"/>
                  <a:pt x="53" y="4304"/>
                </a:cubicBezTo>
                <a:cubicBezTo>
                  <a:pt x="42" y="4286"/>
                  <a:pt x="32" y="4268"/>
                  <a:pt x="24" y="4249"/>
                </a:cubicBezTo>
                <a:cubicBezTo>
                  <a:pt x="16" y="4230"/>
                  <a:pt x="10" y="4210"/>
                  <a:pt x="6" y="4189"/>
                </a:cubicBezTo>
                <a:cubicBezTo>
                  <a:pt x="2" y="4169"/>
                  <a:pt x="0" y="4148"/>
                  <a:pt x="0" y="4127"/>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57" name="Forma libre: forma 256"/>
          <p:cNvSpPr/>
          <p:nvPr/>
        </p:nvSpPr>
        <p:spPr>
          <a:xfrm>
            <a:off x="2943000" y="4248000"/>
            <a:ext cx="457560" cy="457560"/>
          </a:xfrm>
          <a:custGeom>
            <a:avLst/>
            <a:gdLst/>
            <a:ahLst/>
            <a:cxnLst/>
            <a:rect l="0" t="0" r="r" b="b"/>
            <a:pathLst>
              <a:path w="1271" h="1271">
                <a:moveTo>
                  <a:pt x="1271" y="636"/>
                </a:moveTo>
                <a:cubicBezTo>
                  <a:pt x="1271" y="657"/>
                  <a:pt x="1270" y="677"/>
                  <a:pt x="1268" y="698"/>
                </a:cubicBezTo>
                <a:cubicBezTo>
                  <a:pt x="1266" y="719"/>
                  <a:pt x="1263" y="739"/>
                  <a:pt x="1259" y="760"/>
                </a:cubicBezTo>
                <a:cubicBezTo>
                  <a:pt x="1255" y="780"/>
                  <a:pt x="1250" y="800"/>
                  <a:pt x="1244" y="820"/>
                </a:cubicBezTo>
                <a:cubicBezTo>
                  <a:pt x="1238" y="840"/>
                  <a:pt x="1231" y="860"/>
                  <a:pt x="1223" y="879"/>
                </a:cubicBezTo>
                <a:cubicBezTo>
                  <a:pt x="1215" y="898"/>
                  <a:pt x="1206" y="917"/>
                  <a:pt x="1196" y="935"/>
                </a:cubicBezTo>
                <a:cubicBezTo>
                  <a:pt x="1186" y="954"/>
                  <a:pt x="1176" y="971"/>
                  <a:pt x="1164" y="989"/>
                </a:cubicBezTo>
                <a:cubicBezTo>
                  <a:pt x="1153" y="1006"/>
                  <a:pt x="1140" y="1023"/>
                  <a:pt x="1127" y="1039"/>
                </a:cubicBezTo>
                <a:cubicBezTo>
                  <a:pt x="1114" y="1055"/>
                  <a:pt x="1100" y="1070"/>
                  <a:pt x="1085" y="1085"/>
                </a:cubicBezTo>
                <a:cubicBezTo>
                  <a:pt x="1070" y="1100"/>
                  <a:pt x="1055" y="1114"/>
                  <a:pt x="1039" y="1127"/>
                </a:cubicBezTo>
                <a:cubicBezTo>
                  <a:pt x="1023" y="1140"/>
                  <a:pt x="1006" y="1152"/>
                  <a:pt x="989" y="1164"/>
                </a:cubicBezTo>
                <a:cubicBezTo>
                  <a:pt x="972" y="1175"/>
                  <a:pt x="954" y="1186"/>
                  <a:pt x="935" y="1196"/>
                </a:cubicBezTo>
                <a:cubicBezTo>
                  <a:pt x="917" y="1206"/>
                  <a:pt x="898" y="1215"/>
                  <a:pt x="879" y="1223"/>
                </a:cubicBezTo>
                <a:cubicBezTo>
                  <a:pt x="860" y="1231"/>
                  <a:pt x="840" y="1238"/>
                  <a:pt x="820" y="1244"/>
                </a:cubicBezTo>
                <a:cubicBezTo>
                  <a:pt x="801" y="1250"/>
                  <a:pt x="780" y="1255"/>
                  <a:pt x="760" y="1259"/>
                </a:cubicBezTo>
                <a:cubicBezTo>
                  <a:pt x="740" y="1263"/>
                  <a:pt x="719" y="1266"/>
                  <a:pt x="698" y="1268"/>
                </a:cubicBezTo>
                <a:cubicBezTo>
                  <a:pt x="678" y="1270"/>
                  <a:pt x="657" y="1271"/>
                  <a:pt x="636" y="1271"/>
                </a:cubicBezTo>
                <a:cubicBezTo>
                  <a:pt x="615" y="1271"/>
                  <a:pt x="595" y="1270"/>
                  <a:pt x="574" y="1268"/>
                </a:cubicBezTo>
                <a:cubicBezTo>
                  <a:pt x="553" y="1266"/>
                  <a:pt x="533" y="1263"/>
                  <a:pt x="512" y="1259"/>
                </a:cubicBezTo>
                <a:cubicBezTo>
                  <a:pt x="492" y="1255"/>
                  <a:pt x="472" y="1250"/>
                  <a:pt x="452" y="1244"/>
                </a:cubicBezTo>
                <a:cubicBezTo>
                  <a:pt x="432" y="1238"/>
                  <a:pt x="412" y="1231"/>
                  <a:pt x="393" y="1223"/>
                </a:cubicBezTo>
                <a:cubicBezTo>
                  <a:pt x="374" y="1215"/>
                  <a:pt x="355" y="1206"/>
                  <a:pt x="337" y="1196"/>
                </a:cubicBezTo>
                <a:cubicBezTo>
                  <a:pt x="318" y="1186"/>
                  <a:pt x="301" y="1175"/>
                  <a:pt x="283" y="1164"/>
                </a:cubicBezTo>
                <a:cubicBezTo>
                  <a:pt x="266" y="1152"/>
                  <a:pt x="249" y="1140"/>
                  <a:pt x="233" y="1127"/>
                </a:cubicBezTo>
                <a:cubicBezTo>
                  <a:pt x="217" y="1114"/>
                  <a:pt x="202" y="1100"/>
                  <a:pt x="187" y="1085"/>
                </a:cubicBezTo>
                <a:cubicBezTo>
                  <a:pt x="172" y="1070"/>
                  <a:pt x="158" y="1055"/>
                  <a:pt x="145" y="1039"/>
                </a:cubicBezTo>
                <a:cubicBezTo>
                  <a:pt x="132" y="1023"/>
                  <a:pt x="120" y="1006"/>
                  <a:pt x="108" y="989"/>
                </a:cubicBezTo>
                <a:cubicBezTo>
                  <a:pt x="97" y="971"/>
                  <a:pt x="86" y="954"/>
                  <a:pt x="76" y="935"/>
                </a:cubicBezTo>
                <a:cubicBezTo>
                  <a:pt x="65" y="917"/>
                  <a:pt x="56" y="898"/>
                  <a:pt x="48" y="879"/>
                </a:cubicBezTo>
                <a:cubicBezTo>
                  <a:pt x="41" y="860"/>
                  <a:pt x="34" y="840"/>
                  <a:pt x="27" y="820"/>
                </a:cubicBezTo>
                <a:cubicBezTo>
                  <a:pt x="21" y="800"/>
                  <a:pt x="16" y="780"/>
                  <a:pt x="12" y="760"/>
                </a:cubicBezTo>
                <a:cubicBezTo>
                  <a:pt x="8" y="739"/>
                  <a:pt x="5" y="719"/>
                  <a:pt x="3" y="698"/>
                </a:cubicBezTo>
                <a:cubicBezTo>
                  <a:pt x="1" y="677"/>
                  <a:pt x="0" y="657"/>
                  <a:pt x="0" y="636"/>
                </a:cubicBezTo>
                <a:cubicBezTo>
                  <a:pt x="0" y="615"/>
                  <a:pt x="1" y="594"/>
                  <a:pt x="3" y="574"/>
                </a:cubicBezTo>
                <a:cubicBezTo>
                  <a:pt x="5" y="553"/>
                  <a:pt x="8" y="532"/>
                  <a:pt x="12" y="512"/>
                </a:cubicBezTo>
                <a:cubicBezTo>
                  <a:pt x="16" y="492"/>
                  <a:pt x="21" y="471"/>
                  <a:pt x="27" y="452"/>
                </a:cubicBezTo>
                <a:cubicBezTo>
                  <a:pt x="34" y="432"/>
                  <a:pt x="41" y="412"/>
                  <a:pt x="48" y="393"/>
                </a:cubicBezTo>
                <a:cubicBezTo>
                  <a:pt x="56" y="374"/>
                  <a:pt x="65" y="355"/>
                  <a:pt x="76" y="337"/>
                </a:cubicBezTo>
                <a:cubicBezTo>
                  <a:pt x="86" y="318"/>
                  <a:pt x="97" y="300"/>
                  <a:pt x="108" y="283"/>
                </a:cubicBezTo>
                <a:cubicBezTo>
                  <a:pt x="120" y="266"/>
                  <a:pt x="132" y="248"/>
                  <a:pt x="145" y="232"/>
                </a:cubicBezTo>
                <a:cubicBezTo>
                  <a:pt x="158" y="216"/>
                  <a:pt x="172" y="201"/>
                  <a:pt x="187" y="186"/>
                </a:cubicBezTo>
                <a:cubicBezTo>
                  <a:pt x="202" y="171"/>
                  <a:pt x="217" y="157"/>
                  <a:pt x="233" y="144"/>
                </a:cubicBezTo>
                <a:cubicBezTo>
                  <a:pt x="249" y="131"/>
                  <a:pt x="266" y="118"/>
                  <a:pt x="283" y="107"/>
                </a:cubicBezTo>
                <a:cubicBezTo>
                  <a:pt x="301" y="95"/>
                  <a:pt x="318" y="85"/>
                  <a:pt x="337" y="75"/>
                </a:cubicBezTo>
                <a:cubicBezTo>
                  <a:pt x="355" y="65"/>
                  <a:pt x="374" y="56"/>
                  <a:pt x="393" y="48"/>
                </a:cubicBezTo>
                <a:cubicBezTo>
                  <a:pt x="412" y="40"/>
                  <a:pt x="432" y="33"/>
                  <a:pt x="452" y="27"/>
                </a:cubicBezTo>
                <a:cubicBezTo>
                  <a:pt x="472" y="21"/>
                  <a:pt x="492" y="16"/>
                  <a:pt x="512" y="12"/>
                </a:cubicBezTo>
                <a:cubicBezTo>
                  <a:pt x="533" y="8"/>
                  <a:pt x="553" y="5"/>
                  <a:pt x="574" y="3"/>
                </a:cubicBezTo>
                <a:cubicBezTo>
                  <a:pt x="595" y="1"/>
                  <a:pt x="615" y="0"/>
                  <a:pt x="636" y="0"/>
                </a:cubicBezTo>
                <a:cubicBezTo>
                  <a:pt x="657" y="0"/>
                  <a:pt x="678" y="1"/>
                  <a:pt x="698" y="3"/>
                </a:cubicBezTo>
                <a:cubicBezTo>
                  <a:pt x="719" y="5"/>
                  <a:pt x="740" y="8"/>
                  <a:pt x="760" y="12"/>
                </a:cubicBezTo>
                <a:cubicBezTo>
                  <a:pt x="780" y="16"/>
                  <a:pt x="801" y="21"/>
                  <a:pt x="820" y="27"/>
                </a:cubicBezTo>
                <a:cubicBezTo>
                  <a:pt x="840" y="33"/>
                  <a:pt x="860" y="40"/>
                  <a:pt x="879" y="48"/>
                </a:cubicBezTo>
                <a:cubicBezTo>
                  <a:pt x="898" y="56"/>
                  <a:pt x="917" y="65"/>
                  <a:pt x="935" y="75"/>
                </a:cubicBezTo>
                <a:cubicBezTo>
                  <a:pt x="954" y="85"/>
                  <a:pt x="972" y="95"/>
                  <a:pt x="989" y="107"/>
                </a:cubicBezTo>
                <a:cubicBezTo>
                  <a:pt x="1006" y="118"/>
                  <a:pt x="1023" y="131"/>
                  <a:pt x="1039" y="144"/>
                </a:cubicBezTo>
                <a:cubicBezTo>
                  <a:pt x="1055" y="157"/>
                  <a:pt x="1070" y="171"/>
                  <a:pt x="1085" y="186"/>
                </a:cubicBezTo>
                <a:cubicBezTo>
                  <a:pt x="1100" y="201"/>
                  <a:pt x="1114" y="216"/>
                  <a:pt x="1127" y="232"/>
                </a:cubicBezTo>
                <a:cubicBezTo>
                  <a:pt x="1140" y="248"/>
                  <a:pt x="1153" y="266"/>
                  <a:pt x="1164" y="283"/>
                </a:cubicBezTo>
                <a:cubicBezTo>
                  <a:pt x="1176" y="300"/>
                  <a:pt x="1186" y="318"/>
                  <a:pt x="1196" y="337"/>
                </a:cubicBezTo>
                <a:cubicBezTo>
                  <a:pt x="1206" y="355"/>
                  <a:pt x="1215" y="374"/>
                  <a:pt x="1223" y="393"/>
                </a:cubicBezTo>
                <a:cubicBezTo>
                  <a:pt x="1231" y="412"/>
                  <a:pt x="1238" y="432"/>
                  <a:pt x="1244" y="452"/>
                </a:cubicBezTo>
                <a:cubicBezTo>
                  <a:pt x="1250" y="471"/>
                  <a:pt x="1255" y="492"/>
                  <a:pt x="1259" y="512"/>
                </a:cubicBezTo>
                <a:cubicBezTo>
                  <a:pt x="1263" y="532"/>
                  <a:pt x="1266" y="553"/>
                  <a:pt x="1268" y="574"/>
                </a:cubicBezTo>
                <a:cubicBezTo>
                  <a:pt x="1270" y="594"/>
                  <a:pt x="1271" y="615"/>
                  <a:pt x="1271" y="63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58" name="Forma libre: forma 257"/>
          <p:cNvSpPr/>
          <p:nvPr/>
        </p:nvSpPr>
        <p:spPr>
          <a:xfrm>
            <a:off x="3085920" y="4390920"/>
            <a:ext cx="171720" cy="171720"/>
          </a:xfrm>
          <a:custGeom>
            <a:avLst/>
            <a:gdLst/>
            <a:ahLst/>
            <a:cxnLst/>
            <a:rect l="0" t="0" r="r" b="b"/>
            <a:pathLst>
              <a:path w="477" h="477" fill="none">
                <a:moveTo>
                  <a:pt x="159" y="238"/>
                </a:moveTo>
                <a:lnTo>
                  <a:pt x="212" y="291"/>
                </a:lnTo>
                <a:lnTo>
                  <a:pt x="318" y="185"/>
                </a:lnTo>
                <a:moveTo>
                  <a:pt x="477" y="238"/>
                </a:moveTo>
                <a:cubicBezTo>
                  <a:pt x="477" y="254"/>
                  <a:pt x="476" y="269"/>
                  <a:pt x="473" y="284"/>
                </a:cubicBezTo>
                <a:cubicBezTo>
                  <a:pt x="470" y="300"/>
                  <a:pt x="465" y="315"/>
                  <a:pt x="459" y="329"/>
                </a:cubicBezTo>
                <a:cubicBezTo>
                  <a:pt x="453" y="344"/>
                  <a:pt x="446" y="357"/>
                  <a:pt x="437" y="370"/>
                </a:cubicBezTo>
                <a:cubicBezTo>
                  <a:pt x="428" y="383"/>
                  <a:pt x="419" y="395"/>
                  <a:pt x="408" y="406"/>
                </a:cubicBezTo>
                <a:cubicBezTo>
                  <a:pt x="396" y="418"/>
                  <a:pt x="384" y="428"/>
                  <a:pt x="371" y="437"/>
                </a:cubicBezTo>
                <a:cubicBezTo>
                  <a:pt x="358" y="446"/>
                  <a:pt x="345" y="453"/>
                  <a:pt x="330" y="459"/>
                </a:cubicBezTo>
                <a:cubicBezTo>
                  <a:pt x="316" y="465"/>
                  <a:pt x="301" y="469"/>
                  <a:pt x="286" y="473"/>
                </a:cubicBezTo>
                <a:cubicBezTo>
                  <a:pt x="270" y="476"/>
                  <a:pt x="255" y="477"/>
                  <a:pt x="239" y="477"/>
                </a:cubicBezTo>
                <a:cubicBezTo>
                  <a:pt x="222" y="477"/>
                  <a:pt x="207" y="476"/>
                  <a:pt x="192" y="473"/>
                </a:cubicBezTo>
                <a:cubicBezTo>
                  <a:pt x="176" y="469"/>
                  <a:pt x="161" y="465"/>
                  <a:pt x="147" y="459"/>
                </a:cubicBezTo>
                <a:cubicBezTo>
                  <a:pt x="133" y="453"/>
                  <a:pt x="119" y="446"/>
                  <a:pt x="106" y="437"/>
                </a:cubicBezTo>
                <a:cubicBezTo>
                  <a:pt x="93" y="428"/>
                  <a:pt x="81" y="418"/>
                  <a:pt x="70" y="406"/>
                </a:cubicBezTo>
                <a:cubicBezTo>
                  <a:pt x="59" y="395"/>
                  <a:pt x="49" y="383"/>
                  <a:pt x="40" y="370"/>
                </a:cubicBezTo>
                <a:cubicBezTo>
                  <a:pt x="31" y="357"/>
                  <a:pt x="24" y="344"/>
                  <a:pt x="18" y="329"/>
                </a:cubicBezTo>
                <a:cubicBezTo>
                  <a:pt x="12" y="315"/>
                  <a:pt x="8" y="300"/>
                  <a:pt x="5" y="284"/>
                </a:cubicBezTo>
                <a:cubicBezTo>
                  <a:pt x="2" y="269"/>
                  <a:pt x="0" y="254"/>
                  <a:pt x="0" y="238"/>
                </a:cubicBezTo>
                <a:cubicBezTo>
                  <a:pt x="0" y="222"/>
                  <a:pt x="2" y="207"/>
                  <a:pt x="5" y="191"/>
                </a:cubicBezTo>
                <a:cubicBezTo>
                  <a:pt x="8" y="176"/>
                  <a:pt x="12" y="161"/>
                  <a:pt x="18" y="147"/>
                </a:cubicBezTo>
                <a:cubicBezTo>
                  <a:pt x="24" y="132"/>
                  <a:pt x="31" y="119"/>
                  <a:pt x="40" y="106"/>
                </a:cubicBezTo>
                <a:cubicBezTo>
                  <a:pt x="49" y="93"/>
                  <a:pt x="59" y="81"/>
                  <a:pt x="70" y="70"/>
                </a:cubicBezTo>
                <a:cubicBezTo>
                  <a:pt x="81" y="59"/>
                  <a:pt x="93" y="49"/>
                  <a:pt x="106" y="40"/>
                </a:cubicBezTo>
                <a:cubicBezTo>
                  <a:pt x="119" y="31"/>
                  <a:pt x="133" y="24"/>
                  <a:pt x="147" y="18"/>
                </a:cubicBezTo>
                <a:cubicBezTo>
                  <a:pt x="161" y="12"/>
                  <a:pt x="176" y="7"/>
                  <a:pt x="192" y="4"/>
                </a:cubicBezTo>
                <a:cubicBezTo>
                  <a:pt x="207" y="1"/>
                  <a:pt x="222" y="0"/>
                  <a:pt x="239" y="0"/>
                </a:cubicBezTo>
                <a:cubicBezTo>
                  <a:pt x="255" y="0"/>
                  <a:pt x="270" y="1"/>
                  <a:pt x="286" y="4"/>
                </a:cubicBezTo>
                <a:cubicBezTo>
                  <a:pt x="301" y="7"/>
                  <a:pt x="316" y="12"/>
                  <a:pt x="330" y="18"/>
                </a:cubicBezTo>
                <a:cubicBezTo>
                  <a:pt x="345" y="24"/>
                  <a:pt x="358" y="31"/>
                  <a:pt x="371" y="40"/>
                </a:cubicBezTo>
                <a:cubicBezTo>
                  <a:pt x="384" y="49"/>
                  <a:pt x="396" y="59"/>
                  <a:pt x="407" y="70"/>
                </a:cubicBezTo>
                <a:cubicBezTo>
                  <a:pt x="419" y="81"/>
                  <a:pt x="428" y="93"/>
                  <a:pt x="437" y="106"/>
                </a:cubicBezTo>
                <a:cubicBezTo>
                  <a:pt x="446" y="119"/>
                  <a:pt x="453" y="132"/>
                  <a:pt x="459" y="147"/>
                </a:cubicBezTo>
                <a:cubicBezTo>
                  <a:pt x="465" y="161"/>
                  <a:pt x="470" y="176"/>
                  <a:pt x="473" y="191"/>
                </a:cubicBezTo>
                <a:cubicBezTo>
                  <a:pt x="476" y="207"/>
                  <a:pt x="477" y="222"/>
                  <a:pt x="477" y="238"/>
                </a:cubicBezTo>
              </a:path>
            </a:pathLst>
          </a:custGeom>
          <a:ln w="18720" cap="rnd">
            <a:solidFill>
              <a:srgbClr val="FFFFFF"/>
            </a:solidFill>
            <a:round/>
          </a:ln>
        </p:spPr>
        <p:txBody>
          <a:bodyPr lIns="9360" tIns="9360" rIns="9360" bIns="9360" anchor="t">
            <a:noAutofit/>
          </a:bodyPr>
          <a:lstStyle/>
          <a:p>
            <a:endParaRPr lang="en-US" sz="2400" b="0" u="none" strike="noStrike">
              <a:solidFill>
                <a:srgbClr val="000000"/>
              </a:solidFill>
              <a:effectLst/>
              <a:uFillTx/>
              <a:latin typeface="Times New Roman"/>
            </a:endParaRPr>
          </a:p>
        </p:txBody>
      </p:sp>
      <p:sp>
        <p:nvSpPr>
          <p:cNvPr id="259" name="CuadroTexto 258"/>
          <p:cNvSpPr txBox="1"/>
          <p:nvPr/>
        </p:nvSpPr>
        <p:spPr>
          <a:xfrm>
            <a:off x="1809720" y="3548160"/>
            <a:ext cx="1378006" cy="276999"/>
          </a:xfrm>
          <a:prstGeom prst="rect">
            <a:avLst/>
          </a:prstGeom>
          <a:noFill/>
          <a:ln w="0">
            <a:noFill/>
          </a:ln>
        </p:spPr>
        <p:txBody>
          <a:bodyPr wrap="none" lIns="0" tIns="0" rIns="0" bIns="0" anchor="t">
            <a:spAutoFit/>
          </a:bodyPr>
          <a:lstStyle/>
          <a:p>
            <a:r>
              <a:rPr lang="en-US" sz="1800" b="1" u="none" strike="noStrike" dirty="0" err="1">
                <a:solidFill>
                  <a:srgbClr val="000000"/>
                </a:solidFill>
                <a:effectLst/>
                <a:uFillTx/>
                <a:latin typeface="CrimsonPro"/>
                <a:ea typeface="CrimsonPro"/>
              </a:rPr>
              <a:t>Características</a:t>
            </a:r>
            <a:endParaRPr lang="en-US" sz="1800" b="1" u="none" strike="noStrike" dirty="0">
              <a:solidFill>
                <a:srgbClr val="000000"/>
              </a:solidFill>
              <a:effectLst/>
              <a:uFillTx/>
              <a:latin typeface="Times New Roman"/>
            </a:endParaRPr>
          </a:p>
        </p:txBody>
      </p:sp>
      <p:sp>
        <p:nvSpPr>
          <p:cNvPr id="260" name="CuadroTexto 259"/>
          <p:cNvSpPr txBox="1"/>
          <p:nvPr/>
        </p:nvSpPr>
        <p:spPr>
          <a:xfrm>
            <a:off x="2357300" y="4856400"/>
            <a:ext cx="1711879" cy="246221"/>
          </a:xfrm>
          <a:prstGeom prst="rect">
            <a:avLst/>
          </a:prstGeom>
          <a:noFill/>
          <a:ln w="0">
            <a:noFill/>
          </a:ln>
        </p:spPr>
        <p:txBody>
          <a:bodyPr wrap="none" lIns="0" tIns="0" rIns="0" bIns="0" anchor="t">
            <a:spAutoFit/>
          </a:bodyPr>
          <a:lstStyle/>
          <a:p>
            <a:r>
              <a:rPr lang="en-US" sz="1600" b="0" u="none" strike="noStrike" dirty="0">
                <a:solidFill>
                  <a:srgbClr val="000000"/>
                </a:solidFill>
                <a:effectLst/>
                <a:uFillTx/>
                <a:latin typeface="CrimsonPro"/>
                <a:ea typeface="CrimsonPro"/>
              </a:rPr>
              <a:t>Soluciones </a:t>
            </a:r>
            <a:r>
              <a:rPr lang="en-US" sz="1600" b="0" u="none" strike="noStrike" dirty="0" err="1">
                <a:solidFill>
                  <a:srgbClr val="000000"/>
                </a:solidFill>
                <a:effectLst/>
                <a:uFillTx/>
                <a:latin typeface="CrimsonPro"/>
                <a:ea typeface="CrimsonPro"/>
              </a:rPr>
              <a:t>probadas</a:t>
            </a:r>
            <a:endParaRPr lang="en-US" sz="1600" b="0" u="none" strike="noStrike" dirty="0">
              <a:solidFill>
                <a:srgbClr val="000000"/>
              </a:solidFill>
              <a:effectLst/>
              <a:uFillTx/>
              <a:latin typeface="Times New Roman"/>
            </a:endParaRPr>
          </a:p>
        </p:txBody>
      </p:sp>
      <p:sp>
        <p:nvSpPr>
          <p:cNvPr id="261" name="Forma libre: forma 260"/>
          <p:cNvSpPr/>
          <p:nvPr/>
        </p:nvSpPr>
        <p:spPr>
          <a:xfrm>
            <a:off x="4733640" y="4019400"/>
            <a:ext cx="2724480" cy="1600560"/>
          </a:xfrm>
          <a:custGeom>
            <a:avLst/>
            <a:gdLst/>
            <a:ahLst/>
            <a:cxnLst/>
            <a:rect l="0" t="0" r="r" b="b"/>
            <a:pathLst>
              <a:path w="7568" h="4446">
                <a:moveTo>
                  <a:pt x="0" y="4127"/>
                </a:moveTo>
                <a:lnTo>
                  <a:pt x="0" y="317"/>
                </a:lnTo>
                <a:cubicBezTo>
                  <a:pt x="0" y="297"/>
                  <a:pt x="2" y="276"/>
                  <a:pt x="6" y="255"/>
                </a:cubicBezTo>
                <a:cubicBezTo>
                  <a:pt x="10" y="235"/>
                  <a:pt x="16" y="215"/>
                  <a:pt x="24" y="196"/>
                </a:cubicBezTo>
                <a:cubicBezTo>
                  <a:pt x="32" y="177"/>
                  <a:pt x="42" y="158"/>
                  <a:pt x="54" y="141"/>
                </a:cubicBezTo>
                <a:cubicBezTo>
                  <a:pt x="65" y="124"/>
                  <a:pt x="79" y="108"/>
                  <a:pt x="93" y="93"/>
                </a:cubicBezTo>
                <a:cubicBezTo>
                  <a:pt x="108" y="78"/>
                  <a:pt x="124" y="65"/>
                  <a:pt x="141" y="53"/>
                </a:cubicBezTo>
                <a:cubicBezTo>
                  <a:pt x="159" y="42"/>
                  <a:pt x="177" y="32"/>
                  <a:pt x="196" y="24"/>
                </a:cubicBezTo>
                <a:cubicBezTo>
                  <a:pt x="216" y="16"/>
                  <a:pt x="235" y="10"/>
                  <a:pt x="256" y="6"/>
                </a:cubicBezTo>
                <a:cubicBezTo>
                  <a:pt x="276" y="2"/>
                  <a:pt x="297" y="0"/>
                  <a:pt x="318" y="0"/>
                </a:cubicBezTo>
                <a:lnTo>
                  <a:pt x="7251" y="0"/>
                </a:lnTo>
                <a:cubicBezTo>
                  <a:pt x="7272" y="0"/>
                  <a:pt x="7292" y="2"/>
                  <a:pt x="7313" y="6"/>
                </a:cubicBezTo>
                <a:cubicBezTo>
                  <a:pt x="7333" y="10"/>
                  <a:pt x="7353" y="16"/>
                  <a:pt x="7372" y="24"/>
                </a:cubicBezTo>
                <a:cubicBezTo>
                  <a:pt x="7392" y="32"/>
                  <a:pt x="7410" y="42"/>
                  <a:pt x="7427" y="53"/>
                </a:cubicBezTo>
                <a:cubicBezTo>
                  <a:pt x="7445" y="65"/>
                  <a:pt x="7461" y="78"/>
                  <a:pt x="7475" y="93"/>
                </a:cubicBezTo>
                <a:cubicBezTo>
                  <a:pt x="7490" y="108"/>
                  <a:pt x="7503" y="124"/>
                  <a:pt x="7515" y="141"/>
                </a:cubicBezTo>
                <a:cubicBezTo>
                  <a:pt x="7526" y="158"/>
                  <a:pt x="7536" y="177"/>
                  <a:pt x="7544" y="196"/>
                </a:cubicBezTo>
                <a:cubicBezTo>
                  <a:pt x="7552" y="215"/>
                  <a:pt x="7558" y="235"/>
                  <a:pt x="7562" y="255"/>
                </a:cubicBezTo>
                <a:cubicBezTo>
                  <a:pt x="7566" y="276"/>
                  <a:pt x="7568" y="297"/>
                  <a:pt x="7568" y="317"/>
                </a:cubicBezTo>
                <a:lnTo>
                  <a:pt x="7568" y="4127"/>
                </a:lnTo>
                <a:cubicBezTo>
                  <a:pt x="7568" y="4148"/>
                  <a:pt x="7566" y="4169"/>
                  <a:pt x="7562" y="4189"/>
                </a:cubicBezTo>
                <a:cubicBezTo>
                  <a:pt x="7558" y="4210"/>
                  <a:pt x="7552" y="4230"/>
                  <a:pt x="7544" y="4249"/>
                </a:cubicBezTo>
                <a:cubicBezTo>
                  <a:pt x="7536" y="4268"/>
                  <a:pt x="7526" y="4286"/>
                  <a:pt x="7515" y="4304"/>
                </a:cubicBezTo>
                <a:cubicBezTo>
                  <a:pt x="7503" y="4321"/>
                  <a:pt x="7490" y="4337"/>
                  <a:pt x="7475" y="4352"/>
                </a:cubicBezTo>
                <a:cubicBezTo>
                  <a:pt x="7461" y="4367"/>
                  <a:pt x="7445" y="4380"/>
                  <a:pt x="7427" y="4392"/>
                </a:cubicBezTo>
                <a:cubicBezTo>
                  <a:pt x="7410" y="4404"/>
                  <a:pt x="7392" y="4414"/>
                  <a:pt x="7372" y="4422"/>
                </a:cubicBezTo>
                <a:cubicBezTo>
                  <a:pt x="7353" y="4430"/>
                  <a:pt x="7333" y="4436"/>
                  <a:pt x="7313" y="4440"/>
                </a:cubicBezTo>
                <a:cubicBezTo>
                  <a:pt x="7292" y="4444"/>
                  <a:pt x="7272" y="4446"/>
                  <a:pt x="7251" y="4446"/>
                </a:cubicBezTo>
                <a:lnTo>
                  <a:pt x="318" y="4446"/>
                </a:lnTo>
                <a:cubicBezTo>
                  <a:pt x="297" y="4446"/>
                  <a:pt x="276" y="4444"/>
                  <a:pt x="256" y="4440"/>
                </a:cubicBezTo>
                <a:cubicBezTo>
                  <a:pt x="235" y="4436"/>
                  <a:pt x="216" y="4430"/>
                  <a:pt x="196" y="4422"/>
                </a:cubicBezTo>
                <a:cubicBezTo>
                  <a:pt x="177" y="4414"/>
                  <a:pt x="159" y="4404"/>
                  <a:pt x="141" y="4392"/>
                </a:cubicBezTo>
                <a:cubicBezTo>
                  <a:pt x="124" y="4380"/>
                  <a:pt x="108" y="4367"/>
                  <a:pt x="93" y="4352"/>
                </a:cubicBezTo>
                <a:cubicBezTo>
                  <a:pt x="79" y="4337"/>
                  <a:pt x="65" y="4321"/>
                  <a:pt x="54" y="4304"/>
                </a:cubicBezTo>
                <a:cubicBezTo>
                  <a:pt x="42" y="4286"/>
                  <a:pt x="32" y="4268"/>
                  <a:pt x="24" y="4249"/>
                </a:cubicBezTo>
                <a:cubicBezTo>
                  <a:pt x="16" y="4230"/>
                  <a:pt x="10" y="4210"/>
                  <a:pt x="6" y="4189"/>
                </a:cubicBezTo>
                <a:cubicBezTo>
                  <a:pt x="2" y="4169"/>
                  <a:pt x="0" y="4148"/>
                  <a:pt x="0" y="4127"/>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62" name="Forma libre: forma 261"/>
          <p:cNvSpPr/>
          <p:nvPr/>
        </p:nvSpPr>
        <p:spPr>
          <a:xfrm>
            <a:off x="5867280" y="4248000"/>
            <a:ext cx="457560" cy="457560"/>
          </a:xfrm>
          <a:custGeom>
            <a:avLst/>
            <a:gdLst/>
            <a:ahLst/>
            <a:cxnLst/>
            <a:rect l="0" t="0" r="r" b="b"/>
            <a:pathLst>
              <a:path w="1271" h="1271">
                <a:moveTo>
                  <a:pt x="1271" y="636"/>
                </a:moveTo>
                <a:cubicBezTo>
                  <a:pt x="1271" y="657"/>
                  <a:pt x="1270" y="677"/>
                  <a:pt x="1268" y="698"/>
                </a:cubicBezTo>
                <a:cubicBezTo>
                  <a:pt x="1266" y="719"/>
                  <a:pt x="1263" y="739"/>
                  <a:pt x="1259" y="760"/>
                </a:cubicBezTo>
                <a:cubicBezTo>
                  <a:pt x="1255" y="780"/>
                  <a:pt x="1250" y="800"/>
                  <a:pt x="1243" y="820"/>
                </a:cubicBezTo>
                <a:cubicBezTo>
                  <a:pt x="1237" y="840"/>
                  <a:pt x="1230" y="860"/>
                  <a:pt x="1222" y="879"/>
                </a:cubicBezTo>
                <a:cubicBezTo>
                  <a:pt x="1215" y="898"/>
                  <a:pt x="1206" y="917"/>
                  <a:pt x="1196" y="935"/>
                </a:cubicBezTo>
                <a:cubicBezTo>
                  <a:pt x="1186" y="954"/>
                  <a:pt x="1175" y="971"/>
                  <a:pt x="1164" y="989"/>
                </a:cubicBezTo>
                <a:cubicBezTo>
                  <a:pt x="1152" y="1006"/>
                  <a:pt x="1140" y="1023"/>
                  <a:pt x="1127" y="1039"/>
                </a:cubicBezTo>
                <a:cubicBezTo>
                  <a:pt x="1114" y="1055"/>
                  <a:pt x="1100" y="1070"/>
                  <a:pt x="1085" y="1085"/>
                </a:cubicBezTo>
                <a:cubicBezTo>
                  <a:pt x="1070" y="1100"/>
                  <a:pt x="1055" y="1114"/>
                  <a:pt x="1039" y="1127"/>
                </a:cubicBezTo>
                <a:cubicBezTo>
                  <a:pt x="1023" y="1140"/>
                  <a:pt x="1006" y="1152"/>
                  <a:pt x="989" y="1164"/>
                </a:cubicBezTo>
                <a:cubicBezTo>
                  <a:pt x="971" y="1175"/>
                  <a:pt x="954" y="1186"/>
                  <a:pt x="935" y="1196"/>
                </a:cubicBezTo>
                <a:cubicBezTo>
                  <a:pt x="917" y="1206"/>
                  <a:pt x="898" y="1215"/>
                  <a:pt x="879" y="1223"/>
                </a:cubicBezTo>
                <a:cubicBezTo>
                  <a:pt x="860" y="1231"/>
                  <a:pt x="840" y="1238"/>
                  <a:pt x="819" y="1244"/>
                </a:cubicBezTo>
                <a:cubicBezTo>
                  <a:pt x="799" y="1250"/>
                  <a:pt x="779" y="1255"/>
                  <a:pt x="759" y="1259"/>
                </a:cubicBezTo>
                <a:cubicBezTo>
                  <a:pt x="738" y="1263"/>
                  <a:pt x="718" y="1266"/>
                  <a:pt x="697" y="1268"/>
                </a:cubicBezTo>
                <a:cubicBezTo>
                  <a:pt x="676" y="1270"/>
                  <a:pt x="656" y="1271"/>
                  <a:pt x="635" y="1271"/>
                </a:cubicBezTo>
                <a:cubicBezTo>
                  <a:pt x="614" y="1271"/>
                  <a:pt x="593" y="1270"/>
                  <a:pt x="573" y="1268"/>
                </a:cubicBezTo>
                <a:cubicBezTo>
                  <a:pt x="552" y="1266"/>
                  <a:pt x="531" y="1263"/>
                  <a:pt x="511" y="1259"/>
                </a:cubicBezTo>
                <a:cubicBezTo>
                  <a:pt x="491" y="1255"/>
                  <a:pt x="470" y="1250"/>
                  <a:pt x="451" y="1244"/>
                </a:cubicBezTo>
                <a:cubicBezTo>
                  <a:pt x="431" y="1238"/>
                  <a:pt x="411" y="1231"/>
                  <a:pt x="392" y="1223"/>
                </a:cubicBezTo>
                <a:cubicBezTo>
                  <a:pt x="373" y="1215"/>
                  <a:pt x="354" y="1206"/>
                  <a:pt x="335" y="1196"/>
                </a:cubicBezTo>
                <a:cubicBezTo>
                  <a:pt x="317" y="1186"/>
                  <a:pt x="299" y="1175"/>
                  <a:pt x="282" y="1164"/>
                </a:cubicBezTo>
                <a:cubicBezTo>
                  <a:pt x="265" y="1152"/>
                  <a:pt x="248" y="1140"/>
                  <a:pt x="232" y="1127"/>
                </a:cubicBezTo>
                <a:cubicBezTo>
                  <a:pt x="216" y="1114"/>
                  <a:pt x="201" y="1100"/>
                  <a:pt x="186" y="1085"/>
                </a:cubicBezTo>
                <a:cubicBezTo>
                  <a:pt x="171" y="1070"/>
                  <a:pt x="157" y="1055"/>
                  <a:pt x="144" y="1039"/>
                </a:cubicBezTo>
                <a:cubicBezTo>
                  <a:pt x="131" y="1023"/>
                  <a:pt x="118" y="1006"/>
                  <a:pt x="107" y="989"/>
                </a:cubicBezTo>
                <a:cubicBezTo>
                  <a:pt x="95" y="971"/>
                  <a:pt x="85" y="954"/>
                  <a:pt x="75" y="935"/>
                </a:cubicBezTo>
                <a:cubicBezTo>
                  <a:pt x="65" y="917"/>
                  <a:pt x="56" y="898"/>
                  <a:pt x="48" y="879"/>
                </a:cubicBezTo>
                <a:cubicBezTo>
                  <a:pt x="40" y="860"/>
                  <a:pt x="33" y="840"/>
                  <a:pt x="27" y="820"/>
                </a:cubicBezTo>
                <a:cubicBezTo>
                  <a:pt x="21" y="800"/>
                  <a:pt x="16" y="780"/>
                  <a:pt x="12" y="760"/>
                </a:cubicBezTo>
                <a:cubicBezTo>
                  <a:pt x="8" y="739"/>
                  <a:pt x="5" y="719"/>
                  <a:pt x="3" y="698"/>
                </a:cubicBezTo>
                <a:cubicBezTo>
                  <a:pt x="1" y="677"/>
                  <a:pt x="0" y="657"/>
                  <a:pt x="0" y="636"/>
                </a:cubicBezTo>
                <a:cubicBezTo>
                  <a:pt x="0" y="615"/>
                  <a:pt x="1" y="594"/>
                  <a:pt x="3" y="574"/>
                </a:cubicBezTo>
                <a:cubicBezTo>
                  <a:pt x="5" y="553"/>
                  <a:pt x="8" y="532"/>
                  <a:pt x="12" y="512"/>
                </a:cubicBezTo>
                <a:cubicBezTo>
                  <a:pt x="16" y="492"/>
                  <a:pt x="21" y="471"/>
                  <a:pt x="27" y="452"/>
                </a:cubicBezTo>
                <a:cubicBezTo>
                  <a:pt x="33" y="432"/>
                  <a:pt x="40" y="412"/>
                  <a:pt x="48" y="393"/>
                </a:cubicBezTo>
                <a:cubicBezTo>
                  <a:pt x="56" y="374"/>
                  <a:pt x="65" y="355"/>
                  <a:pt x="75" y="337"/>
                </a:cubicBezTo>
                <a:cubicBezTo>
                  <a:pt x="85" y="318"/>
                  <a:pt x="95" y="300"/>
                  <a:pt x="107" y="283"/>
                </a:cubicBezTo>
                <a:cubicBezTo>
                  <a:pt x="118" y="266"/>
                  <a:pt x="131" y="248"/>
                  <a:pt x="144" y="232"/>
                </a:cubicBezTo>
                <a:cubicBezTo>
                  <a:pt x="157" y="216"/>
                  <a:pt x="171" y="201"/>
                  <a:pt x="186" y="186"/>
                </a:cubicBezTo>
                <a:cubicBezTo>
                  <a:pt x="201" y="171"/>
                  <a:pt x="216" y="157"/>
                  <a:pt x="232" y="144"/>
                </a:cubicBezTo>
                <a:cubicBezTo>
                  <a:pt x="248" y="131"/>
                  <a:pt x="265" y="118"/>
                  <a:pt x="282" y="107"/>
                </a:cubicBezTo>
                <a:cubicBezTo>
                  <a:pt x="299" y="95"/>
                  <a:pt x="317" y="85"/>
                  <a:pt x="335" y="75"/>
                </a:cubicBezTo>
                <a:cubicBezTo>
                  <a:pt x="354" y="65"/>
                  <a:pt x="373" y="56"/>
                  <a:pt x="392" y="48"/>
                </a:cubicBezTo>
                <a:cubicBezTo>
                  <a:pt x="411" y="40"/>
                  <a:pt x="431" y="33"/>
                  <a:pt x="451" y="27"/>
                </a:cubicBezTo>
                <a:cubicBezTo>
                  <a:pt x="470" y="21"/>
                  <a:pt x="491" y="16"/>
                  <a:pt x="511" y="12"/>
                </a:cubicBezTo>
                <a:cubicBezTo>
                  <a:pt x="531" y="8"/>
                  <a:pt x="552" y="5"/>
                  <a:pt x="573" y="3"/>
                </a:cubicBezTo>
                <a:cubicBezTo>
                  <a:pt x="593" y="1"/>
                  <a:pt x="614" y="0"/>
                  <a:pt x="635" y="0"/>
                </a:cubicBezTo>
                <a:cubicBezTo>
                  <a:pt x="656" y="0"/>
                  <a:pt x="676" y="1"/>
                  <a:pt x="697" y="3"/>
                </a:cubicBezTo>
                <a:cubicBezTo>
                  <a:pt x="718" y="5"/>
                  <a:pt x="738" y="8"/>
                  <a:pt x="759" y="12"/>
                </a:cubicBezTo>
                <a:cubicBezTo>
                  <a:pt x="779" y="16"/>
                  <a:pt x="799" y="21"/>
                  <a:pt x="819" y="27"/>
                </a:cubicBezTo>
                <a:cubicBezTo>
                  <a:pt x="840" y="33"/>
                  <a:pt x="860" y="40"/>
                  <a:pt x="879" y="48"/>
                </a:cubicBezTo>
                <a:cubicBezTo>
                  <a:pt x="898" y="56"/>
                  <a:pt x="917" y="65"/>
                  <a:pt x="935" y="75"/>
                </a:cubicBezTo>
                <a:cubicBezTo>
                  <a:pt x="954" y="85"/>
                  <a:pt x="971" y="95"/>
                  <a:pt x="989" y="107"/>
                </a:cubicBezTo>
                <a:cubicBezTo>
                  <a:pt x="1006" y="118"/>
                  <a:pt x="1023" y="131"/>
                  <a:pt x="1039" y="144"/>
                </a:cubicBezTo>
                <a:cubicBezTo>
                  <a:pt x="1055" y="157"/>
                  <a:pt x="1070" y="171"/>
                  <a:pt x="1085" y="186"/>
                </a:cubicBezTo>
                <a:cubicBezTo>
                  <a:pt x="1100" y="201"/>
                  <a:pt x="1114" y="216"/>
                  <a:pt x="1127" y="232"/>
                </a:cubicBezTo>
                <a:cubicBezTo>
                  <a:pt x="1140" y="248"/>
                  <a:pt x="1152" y="266"/>
                  <a:pt x="1164" y="283"/>
                </a:cubicBezTo>
                <a:cubicBezTo>
                  <a:pt x="1175" y="300"/>
                  <a:pt x="1186" y="318"/>
                  <a:pt x="1196" y="337"/>
                </a:cubicBezTo>
                <a:cubicBezTo>
                  <a:pt x="1206" y="355"/>
                  <a:pt x="1215" y="374"/>
                  <a:pt x="1222" y="393"/>
                </a:cubicBezTo>
                <a:cubicBezTo>
                  <a:pt x="1230" y="412"/>
                  <a:pt x="1237" y="432"/>
                  <a:pt x="1243" y="452"/>
                </a:cubicBezTo>
                <a:cubicBezTo>
                  <a:pt x="1250" y="471"/>
                  <a:pt x="1255" y="492"/>
                  <a:pt x="1259" y="512"/>
                </a:cubicBezTo>
                <a:cubicBezTo>
                  <a:pt x="1263" y="532"/>
                  <a:pt x="1266" y="553"/>
                  <a:pt x="1268" y="574"/>
                </a:cubicBezTo>
                <a:cubicBezTo>
                  <a:pt x="1270" y="594"/>
                  <a:pt x="1271" y="615"/>
                  <a:pt x="1271" y="63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63" name="Forma libre: forma 262"/>
          <p:cNvSpPr/>
          <p:nvPr/>
        </p:nvSpPr>
        <p:spPr>
          <a:xfrm>
            <a:off x="6010200" y="4400280"/>
            <a:ext cx="171720" cy="153000"/>
          </a:xfrm>
          <a:custGeom>
            <a:avLst/>
            <a:gdLst/>
            <a:ahLst/>
            <a:cxnLst/>
            <a:rect l="0" t="0" r="r" b="b"/>
            <a:pathLst>
              <a:path w="477" h="425" fill="none">
                <a:moveTo>
                  <a:pt x="106" y="106"/>
                </a:moveTo>
                <a:lnTo>
                  <a:pt x="371" y="106"/>
                </a:lnTo>
                <a:moveTo>
                  <a:pt x="106" y="212"/>
                </a:moveTo>
                <a:lnTo>
                  <a:pt x="212" y="212"/>
                </a:lnTo>
                <a:moveTo>
                  <a:pt x="239" y="425"/>
                </a:moveTo>
                <a:lnTo>
                  <a:pt x="132" y="319"/>
                </a:lnTo>
                <a:lnTo>
                  <a:pt x="53" y="319"/>
                </a:lnTo>
                <a:cubicBezTo>
                  <a:pt x="46" y="319"/>
                  <a:pt x="39" y="317"/>
                  <a:pt x="32" y="315"/>
                </a:cubicBezTo>
                <a:cubicBezTo>
                  <a:pt x="26" y="312"/>
                  <a:pt x="20" y="308"/>
                  <a:pt x="15" y="303"/>
                </a:cubicBezTo>
                <a:cubicBezTo>
                  <a:pt x="10" y="298"/>
                  <a:pt x="6" y="293"/>
                  <a:pt x="4" y="286"/>
                </a:cubicBezTo>
                <a:cubicBezTo>
                  <a:pt x="1" y="280"/>
                  <a:pt x="0" y="273"/>
                  <a:pt x="0" y="266"/>
                </a:cubicBezTo>
                <a:lnTo>
                  <a:pt x="0" y="53"/>
                </a:lnTo>
                <a:cubicBezTo>
                  <a:pt x="0" y="46"/>
                  <a:pt x="1" y="39"/>
                  <a:pt x="4" y="33"/>
                </a:cubicBezTo>
                <a:cubicBezTo>
                  <a:pt x="6" y="26"/>
                  <a:pt x="10" y="21"/>
                  <a:pt x="15" y="16"/>
                </a:cubicBezTo>
                <a:cubicBezTo>
                  <a:pt x="20" y="11"/>
                  <a:pt x="26" y="7"/>
                  <a:pt x="32" y="4"/>
                </a:cubicBezTo>
                <a:cubicBezTo>
                  <a:pt x="39" y="2"/>
                  <a:pt x="46" y="0"/>
                  <a:pt x="53" y="0"/>
                </a:cubicBezTo>
                <a:lnTo>
                  <a:pt x="424" y="0"/>
                </a:lnTo>
                <a:cubicBezTo>
                  <a:pt x="431" y="0"/>
                  <a:pt x="438" y="2"/>
                  <a:pt x="444" y="4"/>
                </a:cubicBezTo>
                <a:cubicBezTo>
                  <a:pt x="451" y="7"/>
                  <a:pt x="456" y="11"/>
                  <a:pt x="461" y="16"/>
                </a:cubicBezTo>
                <a:cubicBezTo>
                  <a:pt x="466" y="21"/>
                  <a:pt x="470" y="26"/>
                  <a:pt x="473" y="33"/>
                </a:cubicBezTo>
                <a:cubicBezTo>
                  <a:pt x="476" y="39"/>
                  <a:pt x="477" y="46"/>
                  <a:pt x="477" y="53"/>
                </a:cubicBezTo>
                <a:lnTo>
                  <a:pt x="477" y="266"/>
                </a:lnTo>
                <a:cubicBezTo>
                  <a:pt x="477" y="273"/>
                  <a:pt x="476" y="280"/>
                  <a:pt x="473" y="286"/>
                </a:cubicBezTo>
                <a:cubicBezTo>
                  <a:pt x="470" y="293"/>
                  <a:pt x="466" y="298"/>
                  <a:pt x="461" y="303"/>
                </a:cubicBezTo>
                <a:cubicBezTo>
                  <a:pt x="456" y="308"/>
                  <a:pt x="451" y="312"/>
                  <a:pt x="444" y="315"/>
                </a:cubicBezTo>
                <a:cubicBezTo>
                  <a:pt x="438" y="317"/>
                  <a:pt x="431" y="319"/>
                  <a:pt x="424" y="319"/>
                </a:cubicBezTo>
                <a:lnTo>
                  <a:pt x="345" y="319"/>
                </a:lnTo>
                <a:lnTo>
                  <a:pt x="239" y="425"/>
                </a:lnTo>
              </a:path>
            </a:pathLst>
          </a:custGeom>
          <a:ln w="18720" cap="rnd">
            <a:solidFill>
              <a:srgbClr val="FFFFFF"/>
            </a:solidFill>
            <a:round/>
          </a:ln>
        </p:spPr>
        <p:txBody>
          <a:bodyPr lIns="9360" tIns="9360" rIns="9360" bIns="9360" anchor="t">
            <a:noAutofit/>
          </a:bodyPr>
          <a:lstStyle/>
          <a:p>
            <a:endParaRPr lang="en-US" sz="2400" b="0" u="none" strike="noStrike">
              <a:solidFill>
                <a:srgbClr val="000000"/>
              </a:solidFill>
              <a:effectLst/>
              <a:uFillTx/>
              <a:latin typeface="Times New Roman"/>
            </a:endParaRPr>
          </a:p>
        </p:txBody>
      </p:sp>
      <p:sp>
        <p:nvSpPr>
          <p:cNvPr id="264" name="CuadroTexto 263"/>
          <p:cNvSpPr txBox="1"/>
          <p:nvPr/>
        </p:nvSpPr>
        <p:spPr>
          <a:xfrm>
            <a:off x="2328840" y="5187960"/>
            <a:ext cx="17006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Validadas por la comunidad</a:t>
            </a:r>
            <a:endParaRPr lang="en-US" sz="1200" b="0" u="none" strike="noStrike">
              <a:solidFill>
                <a:srgbClr val="000000"/>
              </a:solidFill>
              <a:effectLst/>
              <a:uFillTx/>
              <a:latin typeface="Times New Roman"/>
            </a:endParaRPr>
          </a:p>
        </p:txBody>
      </p:sp>
      <p:sp>
        <p:nvSpPr>
          <p:cNvPr id="265" name="CuadroTexto 264"/>
          <p:cNvSpPr txBox="1"/>
          <p:nvPr/>
        </p:nvSpPr>
        <p:spPr>
          <a:xfrm>
            <a:off x="5629340" y="4856400"/>
            <a:ext cx="863121" cy="246221"/>
          </a:xfrm>
          <a:prstGeom prst="rect">
            <a:avLst/>
          </a:prstGeom>
          <a:noFill/>
          <a:ln w="0">
            <a:noFill/>
          </a:ln>
        </p:spPr>
        <p:txBody>
          <a:bodyPr wrap="none" lIns="0" tIns="0" rIns="0" bIns="0" anchor="t">
            <a:spAutoFit/>
          </a:bodyPr>
          <a:lstStyle/>
          <a:p>
            <a:r>
              <a:rPr lang="en-US" sz="1600" b="0" u="none" strike="noStrike">
                <a:solidFill>
                  <a:srgbClr val="000000"/>
                </a:solidFill>
                <a:effectLst/>
                <a:uFillTx/>
                <a:latin typeface="CrimsonPro"/>
                <a:ea typeface="CrimsonPro"/>
              </a:rPr>
              <a:t>Expresivas</a:t>
            </a:r>
            <a:endParaRPr lang="en-US" sz="1600" b="0" u="none" strike="noStrike">
              <a:solidFill>
                <a:srgbClr val="000000"/>
              </a:solidFill>
              <a:effectLst/>
              <a:uFillTx/>
              <a:latin typeface="Times New Roman"/>
            </a:endParaRPr>
          </a:p>
        </p:txBody>
      </p:sp>
      <p:sp>
        <p:nvSpPr>
          <p:cNvPr id="266" name="Forma libre: forma 265"/>
          <p:cNvSpPr/>
          <p:nvPr/>
        </p:nvSpPr>
        <p:spPr>
          <a:xfrm>
            <a:off x="7648560" y="4019400"/>
            <a:ext cx="2733840" cy="1600560"/>
          </a:xfrm>
          <a:custGeom>
            <a:avLst/>
            <a:gdLst/>
            <a:ahLst/>
            <a:cxnLst/>
            <a:rect l="0" t="0" r="r" b="b"/>
            <a:pathLst>
              <a:path w="7594" h="4446">
                <a:moveTo>
                  <a:pt x="0" y="4127"/>
                </a:moveTo>
                <a:lnTo>
                  <a:pt x="0" y="317"/>
                </a:lnTo>
                <a:cubicBezTo>
                  <a:pt x="0" y="297"/>
                  <a:pt x="2" y="276"/>
                  <a:pt x="6" y="255"/>
                </a:cubicBezTo>
                <a:cubicBezTo>
                  <a:pt x="10" y="235"/>
                  <a:pt x="16" y="215"/>
                  <a:pt x="24" y="196"/>
                </a:cubicBezTo>
                <a:cubicBezTo>
                  <a:pt x="32" y="177"/>
                  <a:pt x="41" y="158"/>
                  <a:pt x="53" y="141"/>
                </a:cubicBezTo>
                <a:cubicBezTo>
                  <a:pt x="65" y="124"/>
                  <a:pt x="78" y="108"/>
                  <a:pt x="93" y="93"/>
                </a:cubicBezTo>
                <a:cubicBezTo>
                  <a:pt x="107" y="78"/>
                  <a:pt x="123" y="65"/>
                  <a:pt x="141" y="53"/>
                </a:cubicBezTo>
                <a:cubicBezTo>
                  <a:pt x="158" y="42"/>
                  <a:pt x="176" y="32"/>
                  <a:pt x="196" y="24"/>
                </a:cubicBezTo>
                <a:cubicBezTo>
                  <a:pt x="215" y="16"/>
                  <a:pt x="235" y="10"/>
                  <a:pt x="255" y="6"/>
                </a:cubicBezTo>
                <a:cubicBezTo>
                  <a:pt x="276" y="2"/>
                  <a:pt x="296" y="0"/>
                  <a:pt x="317" y="0"/>
                </a:cubicBezTo>
                <a:lnTo>
                  <a:pt x="7277" y="0"/>
                </a:lnTo>
                <a:cubicBezTo>
                  <a:pt x="7297" y="0"/>
                  <a:pt x="7318" y="2"/>
                  <a:pt x="7339" y="6"/>
                </a:cubicBezTo>
                <a:cubicBezTo>
                  <a:pt x="7359" y="10"/>
                  <a:pt x="7379" y="16"/>
                  <a:pt x="7398" y="24"/>
                </a:cubicBezTo>
                <a:cubicBezTo>
                  <a:pt x="7417" y="32"/>
                  <a:pt x="7436" y="42"/>
                  <a:pt x="7453" y="53"/>
                </a:cubicBezTo>
                <a:cubicBezTo>
                  <a:pt x="7470" y="65"/>
                  <a:pt x="7486" y="78"/>
                  <a:pt x="7501" y="93"/>
                </a:cubicBezTo>
                <a:cubicBezTo>
                  <a:pt x="7516" y="108"/>
                  <a:pt x="7529" y="124"/>
                  <a:pt x="7541" y="141"/>
                </a:cubicBezTo>
                <a:cubicBezTo>
                  <a:pt x="7552" y="158"/>
                  <a:pt x="7562" y="177"/>
                  <a:pt x="7570" y="196"/>
                </a:cubicBezTo>
                <a:cubicBezTo>
                  <a:pt x="7578" y="215"/>
                  <a:pt x="7584" y="235"/>
                  <a:pt x="7588" y="255"/>
                </a:cubicBezTo>
                <a:cubicBezTo>
                  <a:pt x="7592" y="276"/>
                  <a:pt x="7594" y="297"/>
                  <a:pt x="7594" y="317"/>
                </a:cubicBezTo>
                <a:lnTo>
                  <a:pt x="7594" y="4127"/>
                </a:lnTo>
                <a:cubicBezTo>
                  <a:pt x="7594" y="4148"/>
                  <a:pt x="7592" y="4169"/>
                  <a:pt x="7588" y="4189"/>
                </a:cubicBezTo>
                <a:cubicBezTo>
                  <a:pt x="7584" y="4210"/>
                  <a:pt x="7578" y="4230"/>
                  <a:pt x="7570" y="4249"/>
                </a:cubicBezTo>
                <a:cubicBezTo>
                  <a:pt x="7562" y="4268"/>
                  <a:pt x="7552" y="4286"/>
                  <a:pt x="7541" y="4304"/>
                </a:cubicBezTo>
                <a:cubicBezTo>
                  <a:pt x="7529" y="4321"/>
                  <a:pt x="7516" y="4337"/>
                  <a:pt x="7501" y="4352"/>
                </a:cubicBezTo>
                <a:cubicBezTo>
                  <a:pt x="7486" y="4367"/>
                  <a:pt x="7470" y="4380"/>
                  <a:pt x="7453" y="4392"/>
                </a:cubicBezTo>
                <a:cubicBezTo>
                  <a:pt x="7436" y="4404"/>
                  <a:pt x="7417" y="4414"/>
                  <a:pt x="7398" y="4422"/>
                </a:cubicBezTo>
                <a:cubicBezTo>
                  <a:pt x="7379" y="4430"/>
                  <a:pt x="7359" y="4436"/>
                  <a:pt x="7339" y="4440"/>
                </a:cubicBezTo>
                <a:cubicBezTo>
                  <a:pt x="7318" y="4444"/>
                  <a:pt x="7297" y="4446"/>
                  <a:pt x="7277" y="4446"/>
                </a:cubicBezTo>
                <a:lnTo>
                  <a:pt x="317" y="4446"/>
                </a:lnTo>
                <a:cubicBezTo>
                  <a:pt x="296" y="4446"/>
                  <a:pt x="276" y="4444"/>
                  <a:pt x="255" y="4440"/>
                </a:cubicBezTo>
                <a:cubicBezTo>
                  <a:pt x="235" y="4436"/>
                  <a:pt x="215" y="4430"/>
                  <a:pt x="196" y="4422"/>
                </a:cubicBezTo>
                <a:cubicBezTo>
                  <a:pt x="176" y="4414"/>
                  <a:pt x="158" y="4404"/>
                  <a:pt x="141" y="4392"/>
                </a:cubicBezTo>
                <a:cubicBezTo>
                  <a:pt x="123" y="4380"/>
                  <a:pt x="107" y="4367"/>
                  <a:pt x="93" y="4352"/>
                </a:cubicBezTo>
                <a:cubicBezTo>
                  <a:pt x="78" y="4337"/>
                  <a:pt x="65" y="4321"/>
                  <a:pt x="53" y="4304"/>
                </a:cubicBezTo>
                <a:cubicBezTo>
                  <a:pt x="41" y="4286"/>
                  <a:pt x="32" y="4268"/>
                  <a:pt x="24" y="4249"/>
                </a:cubicBezTo>
                <a:cubicBezTo>
                  <a:pt x="16" y="4230"/>
                  <a:pt x="10" y="4210"/>
                  <a:pt x="6" y="4189"/>
                </a:cubicBezTo>
                <a:cubicBezTo>
                  <a:pt x="2" y="4169"/>
                  <a:pt x="0" y="4148"/>
                  <a:pt x="0" y="4127"/>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67" name="Forma libre: forma 266"/>
          <p:cNvSpPr/>
          <p:nvPr/>
        </p:nvSpPr>
        <p:spPr>
          <a:xfrm>
            <a:off x="8791560" y="4248000"/>
            <a:ext cx="457560" cy="457560"/>
          </a:xfrm>
          <a:custGeom>
            <a:avLst/>
            <a:gdLst/>
            <a:ahLst/>
            <a:cxnLst/>
            <a:rect l="0" t="0" r="r" b="b"/>
            <a:pathLst>
              <a:path w="1271" h="1271">
                <a:moveTo>
                  <a:pt x="1271" y="636"/>
                </a:moveTo>
                <a:cubicBezTo>
                  <a:pt x="1271" y="657"/>
                  <a:pt x="1270" y="677"/>
                  <a:pt x="1267" y="698"/>
                </a:cubicBezTo>
                <a:cubicBezTo>
                  <a:pt x="1265" y="719"/>
                  <a:pt x="1262" y="739"/>
                  <a:pt x="1258" y="760"/>
                </a:cubicBezTo>
                <a:cubicBezTo>
                  <a:pt x="1254" y="780"/>
                  <a:pt x="1249" y="800"/>
                  <a:pt x="1243" y="820"/>
                </a:cubicBezTo>
                <a:cubicBezTo>
                  <a:pt x="1237" y="840"/>
                  <a:pt x="1230" y="860"/>
                  <a:pt x="1222" y="879"/>
                </a:cubicBezTo>
                <a:cubicBezTo>
                  <a:pt x="1214" y="898"/>
                  <a:pt x="1205" y="917"/>
                  <a:pt x="1196" y="935"/>
                </a:cubicBezTo>
                <a:cubicBezTo>
                  <a:pt x="1186" y="954"/>
                  <a:pt x="1175" y="971"/>
                  <a:pt x="1164" y="989"/>
                </a:cubicBezTo>
                <a:cubicBezTo>
                  <a:pt x="1152" y="1006"/>
                  <a:pt x="1140" y="1023"/>
                  <a:pt x="1126" y="1039"/>
                </a:cubicBezTo>
                <a:cubicBezTo>
                  <a:pt x="1113" y="1055"/>
                  <a:pt x="1099" y="1070"/>
                  <a:pt x="1085" y="1085"/>
                </a:cubicBezTo>
                <a:cubicBezTo>
                  <a:pt x="1070" y="1100"/>
                  <a:pt x="1054" y="1114"/>
                  <a:pt x="1038" y="1127"/>
                </a:cubicBezTo>
                <a:cubicBezTo>
                  <a:pt x="1022" y="1140"/>
                  <a:pt x="1006" y="1152"/>
                  <a:pt x="988" y="1164"/>
                </a:cubicBezTo>
                <a:cubicBezTo>
                  <a:pt x="971" y="1175"/>
                  <a:pt x="953" y="1186"/>
                  <a:pt x="935" y="1196"/>
                </a:cubicBezTo>
                <a:cubicBezTo>
                  <a:pt x="917" y="1206"/>
                  <a:pt x="898" y="1215"/>
                  <a:pt x="879" y="1223"/>
                </a:cubicBezTo>
                <a:cubicBezTo>
                  <a:pt x="859" y="1231"/>
                  <a:pt x="840" y="1238"/>
                  <a:pt x="820" y="1244"/>
                </a:cubicBezTo>
                <a:cubicBezTo>
                  <a:pt x="800" y="1250"/>
                  <a:pt x="780" y="1255"/>
                  <a:pt x="759" y="1259"/>
                </a:cubicBezTo>
                <a:cubicBezTo>
                  <a:pt x="739" y="1263"/>
                  <a:pt x="718" y="1266"/>
                  <a:pt x="698" y="1268"/>
                </a:cubicBezTo>
                <a:cubicBezTo>
                  <a:pt x="677" y="1270"/>
                  <a:pt x="656" y="1271"/>
                  <a:pt x="636" y="1271"/>
                </a:cubicBezTo>
                <a:cubicBezTo>
                  <a:pt x="615" y="1271"/>
                  <a:pt x="594" y="1270"/>
                  <a:pt x="573" y="1268"/>
                </a:cubicBezTo>
                <a:cubicBezTo>
                  <a:pt x="553" y="1266"/>
                  <a:pt x="532" y="1263"/>
                  <a:pt x="512" y="1259"/>
                </a:cubicBezTo>
                <a:cubicBezTo>
                  <a:pt x="491" y="1255"/>
                  <a:pt x="471" y="1250"/>
                  <a:pt x="451" y="1244"/>
                </a:cubicBezTo>
                <a:cubicBezTo>
                  <a:pt x="431" y="1238"/>
                  <a:pt x="412" y="1231"/>
                  <a:pt x="393" y="1223"/>
                </a:cubicBezTo>
                <a:cubicBezTo>
                  <a:pt x="373" y="1215"/>
                  <a:pt x="355" y="1206"/>
                  <a:pt x="336" y="1196"/>
                </a:cubicBezTo>
                <a:cubicBezTo>
                  <a:pt x="317" y="1186"/>
                  <a:pt x="299" y="1175"/>
                  <a:pt x="282" y="1164"/>
                </a:cubicBezTo>
                <a:cubicBezTo>
                  <a:pt x="264" y="1152"/>
                  <a:pt x="248" y="1140"/>
                  <a:pt x="232" y="1127"/>
                </a:cubicBezTo>
                <a:cubicBezTo>
                  <a:pt x="216" y="1114"/>
                  <a:pt x="200" y="1100"/>
                  <a:pt x="186" y="1085"/>
                </a:cubicBezTo>
                <a:cubicBezTo>
                  <a:pt x="171" y="1070"/>
                  <a:pt x="157" y="1055"/>
                  <a:pt x="144" y="1039"/>
                </a:cubicBezTo>
                <a:cubicBezTo>
                  <a:pt x="130" y="1023"/>
                  <a:pt x="118" y="1006"/>
                  <a:pt x="107" y="989"/>
                </a:cubicBezTo>
                <a:cubicBezTo>
                  <a:pt x="95" y="971"/>
                  <a:pt x="84" y="954"/>
                  <a:pt x="75" y="935"/>
                </a:cubicBezTo>
                <a:cubicBezTo>
                  <a:pt x="65" y="917"/>
                  <a:pt x="56" y="898"/>
                  <a:pt x="48" y="879"/>
                </a:cubicBezTo>
                <a:cubicBezTo>
                  <a:pt x="40" y="860"/>
                  <a:pt x="33" y="840"/>
                  <a:pt x="27" y="820"/>
                </a:cubicBezTo>
                <a:cubicBezTo>
                  <a:pt x="21" y="800"/>
                  <a:pt x="16" y="780"/>
                  <a:pt x="12" y="760"/>
                </a:cubicBezTo>
                <a:cubicBezTo>
                  <a:pt x="8" y="739"/>
                  <a:pt x="5" y="719"/>
                  <a:pt x="3" y="698"/>
                </a:cubicBezTo>
                <a:cubicBezTo>
                  <a:pt x="1" y="677"/>
                  <a:pt x="0" y="657"/>
                  <a:pt x="0" y="636"/>
                </a:cubicBezTo>
                <a:cubicBezTo>
                  <a:pt x="0" y="615"/>
                  <a:pt x="1" y="594"/>
                  <a:pt x="3" y="574"/>
                </a:cubicBezTo>
                <a:cubicBezTo>
                  <a:pt x="5" y="553"/>
                  <a:pt x="8" y="532"/>
                  <a:pt x="12" y="512"/>
                </a:cubicBezTo>
                <a:cubicBezTo>
                  <a:pt x="16" y="492"/>
                  <a:pt x="21" y="471"/>
                  <a:pt x="27" y="452"/>
                </a:cubicBezTo>
                <a:cubicBezTo>
                  <a:pt x="33" y="432"/>
                  <a:pt x="40" y="412"/>
                  <a:pt x="48" y="393"/>
                </a:cubicBezTo>
                <a:cubicBezTo>
                  <a:pt x="56" y="374"/>
                  <a:pt x="65" y="355"/>
                  <a:pt x="75" y="337"/>
                </a:cubicBezTo>
                <a:cubicBezTo>
                  <a:pt x="84" y="318"/>
                  <a:pt x="95" y="300"/>
                  <a:pt x="107" y="283"/>
                </a:cubicBezTo>
                <a:cubicBezTo>
                  <a:pt x="118" y="266"/>
                  <a:pt x="130" y="248"/>
                  <a:pt x="144" y="232"/>
                </a:cubicBezTo>
                <a:cubicBezTo>
                  <a:pt x="157" y="216"/>
                  <a:pt x="171" y="201"/>
                  <a:pt x="186" y="186"/>
                </a:cubicBezTo>
                <a:cubicBezTo>
                  <a:pt x="200" y="171"/>
                  <a:pt x="216" y="157"/>
                  <a:pt x="232" y="144"/>
                </a:cubicBezTo>
                <a:cubicBezTo>
                  <a:pt x="248" y="131"/>
                  <a:pt x="264" y="118"/>
                  <a:pt x="282" y="107"/>
                </a:cubicBezTo>
                <a:cubicBezTo>
                  <a:pt x="299" y="95"/>
                  <a:pt x="317" y="85"/>
                  <a:pt x="336" y="75"/>
                </a:cubicBezTo>
                <a:cubicBezTo>
                  <a:pt x="355" y="65"/>
                  <a:pt x="373" y="56"/>
                  <a:pt x="393" y="48"/>
                </a:cubicBezTo>
                <a:cubicBezTo>
                  <a:pt x="412" y="40"/>
                  <a:pt x="431" y="33"/>
                  <a:pt x="451" y="27"/>
                </a:cubicBezTo>
                <a:cubicBezTo>
                  <a:pt x="471" y="21"/>
                  <a:pt x="491" y="16"/>
                  <a:pt x="512" y="12"/>
                </a:cubicBezTo>
                <a:cubicBezTo>
                  <a:pt x="532" y="8"/>
                  <a:pt x="553" y="5"/>
                  <a:pt x="573" y="3"/>
                </a:cubicBezTo>
                <a:cubicBezTo>
                  <a:pt x="594" y="1"/>
                  <a:pt x="615" y="0"/>
                  <a:pt x="636" y="0"/>
                </a:cubicBezTo>
                <a:cubicBezTo>
                  <a:pt x="656" y="0"/>
                  <a:pt x="677" y="1"/>
                  <a:pt x="698" y="3"/>
                </a:cubicBezTo>
                <a:cubicBezTo>
                  <a:pt x="718" y="5"/>
                  <a:pt x="739" y="8"/>
                  <a:pt x="759" y="12"/>
                </a:cubicBezTo>
                <a:cubicBezTo>
                  <a:pt x="780" y="16"/>
                  <a:pt x="800" y="21"/>
                  <a:pt x="820" y="27"/>
                </a:cubicBezTo>
                <a:cubicBezTo>
                  <a:pt x="840" y="33"/>
                  <a:pt x="859" y="40"/>
                  <a:pt x="879" y="48"/>
                </a:cubicBezTo>
                <a:cubicBezTo>
                  <a:pt x="898" y="56"/>
                  <a:pt x="917" y="65"/>
                  <a:pt x="935" y="75"/>
                </a:cubicBezTo>
                <a:cubicBezTo>
                  <a:pt x="953" y="85"/>
                  <a:pt x="971" y="95"/>
                  <a:pt x="988" y="107"/>
                </a:cubicBezTo>
                <a:cubicBezTo>
                  <a:pt x="1006" y="118"/>
                  <a:pt x="1022" y="131"/>
                  <a:pt x="1038" y="144"/>
                </a:cubicBezTo>
                <a:cubicBezTo>
                  <a:pt x="1054" y="157"/>
                  <a:pt x="1070" y="171"/>
                  <a:pt x="1085" y="186"/>
                </a:cubicBezTo>
                <a:cubicBezTo>
                  <a:pt x="1099" y="201"/>
                  <a:pt x="1113" y="216"/>
                  <a:pt x="1126" y="232"/>
                </a:cubicBezTo>
                <a:cubicBezTo>
                  <a:pt x="1140" y="248"/>
                  <a:pt x="1152" y="266"/>
                  <a:pt x="1164" y="283"/>
                </a:cubicBezTo>
                <a:cubicBezTo>
                  <a:pt x="1175" y="300"/>
                  <a:pt x="1186" y="318"/>
                  <a:pt x="1196" y="337"/>
                </a:cubicBezTo>
                <a:cubicBezTo>
                  <a:pt x="1205" y="355"/>
                  <a:pt x="1214" y="374"/>
                  <a:pt x="1222" y="393"/>
                </a:cubicBezTo>
                <a:cubicBezTo>
                  <a:pt x="1230" y="412"/>
                  <a:pt x="1237" y="432"/>
                  <a:pt x="1243" y="452"/>
                </a:cubicBezTo>
                <a:cubicBezTo>
                  <a:pt x="1249" y="471"/>
                  <a:pt x="1254" y="492"/>
                  <a:pt x="1258" y="512"/>
                </a:cubicBezTo>
                <a:cubicBezTo>
                  <a:pt x="1262" y="532"/>
                  <a:pt x="1265" y="553"/>
                  <a:pt x="1267" y="574"/>
                </a:cubicBezTo>
                <a:cubicBezTo>
                  <a:pt x="1270" y="594"/>
                  <a:pt x="1271" y="615"/>
                  <a:pt x="1271" y="63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68" name="Forma libre: forma 267"/>
          <p:cNvSpPr/>
          <p:nvPr/>
        </p:nvSpPr>
        <p:spPr>
          <a:xfrm>
            <a:off x="8934120" y="4390920"/>
            <a:ext cx="171720" cy="172080"/>
          </a:xfrm>
          <a:custGeom>
            <a:avLst/>
            <a:gdLst/>
            <a:ahLst/>
            <a:cxnLst/>
            <a:rect l="0" t="0" r="r" b="b"/>
            <a:pathLst>
              <a:path w="477" h="478" fill="none">
                <a:moveTo>
                  <a:pt x="195" y="35"/>
                </a:moveTo>
                <a:cubicBezTo>
                  <a:pt x="206" y="-12"/>
                  <a:pt x="273" y="-12"/>
                  <a:pt x="284" y="35"/>
                </a:cubicBezTo>
                <a:cubicBezTo>
                  <a:pt x="286" y="42"/>
                  <a:pt x="289" y="48"/>
                  <a:pt x="294" y="54"/>
                </a:cubicBezTo>
                <a:cubicBezTo>
                  <a:pt x="298" y="59"/>
                  <a:pt x="304" y="63"/>
                  <a:pt x="311" y="66"/>
                </a:cubicBezTo>
                <a:cubicBezTo>
                  <a:pt x="317" y="69"/>
                  <a:pt x="324" y="70"/>
                  <a:pt x="332" y="69"/>
                </a:cubicBezTo>
                <a:cubicBezTo>
                  <a:pt x="339" y="69"/>
                  <a:pt x="346" y="67"/>
                  <a:pt x="352" y="63"/>
                </a:cubicBezTo>
                <a:cubicBezTo>
                  <a:pt x="393" y="38"/>
                  <a:pt x="440" y="85"/>
                  <a:pt x="415" y="126"/>
                </a:cubicBezTo>
                <a:cubicBezTo>
                  <a:pt x="411" y="132"/>
                  <a:pt x="409" y="138"/>
                  <a:pt x="408" y="146"/>
                </a:cubicBezTo>
                <a:cubicBezTo>
                  <a:pt x="408" y="153"/>
                  <a:pt x="409" y="160"/>
                  <a:pt x="411" y="167"/>
                </a:cubicBezTo>
                <a:cubicBezTo>
                  <a:pt x="414" y="173"/>
                  <a:pt x="418" y="179"/>
                  <a:pt x="424" y="184"/>
                </a:cubicBezTo>
                <a:cubicBezTo>
                  <a:pt x="429" y="189"/>
                  <a:pt x="436" y="192"/>
                  <a:pt x="443" y="194"/>
                </a:cubicBezTo>
                <a:cubicBezTo>
                  <a:pt x="489" y="205"/>
                  <a:pt x="489" y="271"/>
                  <a:pt x="443" y="282"/>
                </a:cubicBezTo>
                <a:cubicBezTo>
                  <a:pt x="436" y="284"/>
                  <a:pt x="429" y="287"/>
                  <a:pt x="424" y="292"/>
                </a:cubicBezTo>
                <a:cubicBezTo>
                  <a:pt x="418" y="297"/>
                  <a:pt x="414" y="302"/>
                  <a:pt x="411" y="309"/>
                </a:cubicBezTo>
                <a:cubicBezTo>
                  <a:pt x="409" y="316"/>
                  <a:pt x="408" y="323"/>
                  <a:pt x="408" y="330"/>
                </a:cubicBezTo>
                <a:cubicBezTo>
                  <a:pt x="409" y="337"/>
                  <a:pt x="411" y="344"/>
                  <a:pt x="415" y="350"/>
                </a:cubicBezTo>
                <a:cubicBezTo>
                  <a:pt x="439" y="391"/>
                  <a:pt x="393" y="439"/>
                  <a:pt x="352" y="413"/>
                </a:cubicBezTo>
                <a:cubicBezTo>
                  <a:pt x="346" y="409"/>
                  <a:pt x="339" y="407"/>
                  <a:pt x="332" y="406"/>
                </a:cubicBezTo>
                <a:cubicBezTo>
                  <a:pt x="324" y="406"/>
                  <a:pt x="317" y="407"/>
                  <a:pt x="311" y="410"/>
                </a:cubicBezTo>
                <a:cubicBezTo>
                  <a:pt x="304" y="413"/>
                  <a:pt x="298" y="418"/>
                  <a:pt x="294" y="423"/>
                </a:cubicBezTo>
                <a:cubicBezTo>
                  <a:pt x="289" y="429"/>
                  <a:pt x="286" y="435"/>
                  <a:pt x="284" y="442"/>
                </a:cubicBezTo>
                <a:cubicBezTo>
                  <a:pt x="273" y="489"/>
                  <a:pt x="206" y="489"/>
                  <a:pt x="195" y="442"/>
                </a:cubicBezTo>
                <a:cubicBezTo>
                  <a:pt x="194" y="435"/>
                  <a:pt x="190" y="429"/>
                  <a:pt x="186" y="423"/>
                </a:cubicBezTo>
                <a:cubicBezTo>
                  <a:pt x="181" y="418"/>
                  <a:pt x="175" y="413"/>
                  <a:pt x="167" y="410"/>
                </a:cubicBezTo>
                <a:cubicBezTo>
                  <a:pt x="161" y="407"/>
                  <a:pt x="154" y="406"/>
                  <a:pt x="146" y="406"/>
                </a:cubicBezTo>
                <a:cubicBezTo>
                  <a:pt x="139" y="407"/>
                  <a:pt x="132" y="409"/>
                  <a:pt x="126" y="413"/>
                </a:cubicBezTo>
                <a:cubicBezTo>
                  <a:pt x="85" y="439"/>
                  <a:pt x="39" y="391"/>
                  <a:pt x="63" y="350"/>
                </a:cubicBezTo>
                <a:cubicBezTo>
                  <a:pt x="67" y="344"/>
                  <a:pt x="69" y="337"/>
                  <a:pt x="70" y="330"/>
                </a:cubicBezTo>
                <a:cubicBezTo>
                  <a:pt x="71" y="323"/>
                  <a:pt x="69" y="316"/>
                  <a:pt x="67" y="309"/>
                </a:cubicBezTo>
                <a:cubicBezTo>
                  <a:pt x="64" y="302"/>
                  <a:pt x="60" y="297"/>
                  <a:pt x="54" y="292"/>
                </a:cubicBezTo>
                <a:cubicBezTo>
                  <a:pt x="49" y="287"/>
                  <a:pt x="42" y="284"/>
                  <a:pt x="35" y="282"/>
                </a:cubicBezTo>
                <a:cubicBezTo>
                  <a:pt x="-11" y="271"/>
                  <a:pt x="-11" y="205"/>
                  <a:pt x="35" y="194"/>
                </a:cubicBezTo>
                <a:cubicBezTo>
                  <a:pt x="42" y="192"/>
                  <a:pt x="49" y="189"/>
                  <a:pt x="54" y="184"/>
                </a:cubicBezTo>
                <a:cubicBezTo>
                  <a:pt x="60" y="179"/>
                  <a:pt x="64" y="173"/>
                  <a:pt x="67" y="167"/>
                </a:cubicBezTo>
                <a:cubicBezTo>
                  <a:pt x="69" y="160"/>
                  <a:pt x="71" y="153"/>
                  <a:pt x="70" y="146"/>
                </a:cubicBezTo>
                <a:cubicBezTo>
                  <a:pt x="69" y="138"/>
                  <a:pt x="67" y="132"/>
                  <a:pt x="63" y="126"/>
                </a:cubicBezTo>
                <a:cubicBezTo>
                  <a:pt x="39" y="85"/>
                  <a:pt x="85" y="38"/>
                  <a:pt x="126" y="63"/>
                </a:cubicBezTo>
                <a:cubicBezTo>
                  <a:pt x="153" y="79"/>
                  <a:pt x="188" y="65"/>
                  <a:pt x="195" y="35"/>
                </a:cubicBezTo>
              </a:path>
            </a:pathLst>
          </a:custGeom>
          <a:ln w="18720" cap="rnd">
            <a:solidFill>
              <a:srgbClr val="FFFFFF"/>
            </a:solidFill>
            <a:round/>
          </a:ln>
        </p:spPr>
        <p:txBody>
          <a:bodyPr lIns="9360" tIns="9360" rIns="9360" bIns="9360" anchor="t">
            <a:noAutofit/>
          </a:bodyPr>
          <a:lstStyle/>
          <a:p>
            <a:endParaRPr lang="en-US" sz="2400" b="0" u="none" strike="noStrike">
              <a:solidFill>
                <a:srgbClr val="000000"/>
              </a:solidFill>
              <a:effectLst/>
              <a:uFillTx/>
              <a:latin typeface="Times New Roman"/>
            </a:endParaRPr>
          </a:p>
        </p:txBody>
      </p:sp>
      <p:sp>
        <p:nvSpPr>
          <p:cNvPr id="269" name="Forma libre: forma 268"/>
          <p:cNvSpPr/>
          <p:nvPr/>
        </p:nvSpPr>
        <p:spPr>
          <a:xfrm>
            <a:off x="8991360" y="4448160"/>
            <a:ext cx="57600" cy="57240"/>
          </a:xfrm>
          <a:custGeom>
            <a:avLst/>
            <a:gdLst/>
            <a:ahLst/>
            <a:cxnLst/>
            <a:rect l="0" t="0" r="r" b="b"/>
            <a:pathLst>
              <a:path w="160" h="159" fill="none">
                <a:moveTo>
                  <a:pt x="160" y="80"/>
                </a:moveTo>
                <a:cubicBezTo>
                  <a:pt x="160" y="90"/>
                  <a:pt x="158" y="101"/>
                  <a:pt x="154" y="110"/>
                </a:cubicBezTo>
                <a:cubicBezTo>
                  <a:pt x="150" y="120"/>
                  <a:pt x="144" y="129"/>
                  <a:pt x="137" y="136"/>
                </a:cubicBezTo>
                <a:cubicBezTo>
                  <a:pt x="129" y="143"/>
                  <a:pt x="121" y="149"/>
                  <a:pt x="111" y="153"/>
                </a:cubicBezTo>
                <a:cubicBezTo>
                  <a:pt x="101" y="157"/>
                  <a:pt x="91" y="159"/>
                  <a:pt x="81" y="159"/>
                </a:cubicBezTo>
                <a:cubicBezTo>
                  <a:pt x="70" y="159"/>
                  <a:pt x="59" y="157"/>
                  <a:pt x="49" y="153"/>
                </a:cubicBezTo>
                <a:cubicBezTo>
                  <a:pt x="39" y="149"/>
                  <a:pt x="31" y="143"/>
                  <a:pt x="23" y="136"/>
                </a:cubicBezTo>
                <a:cubicBezTo>
                  <a:pt x="16" y="129"/>
                  <a:pt x="10" y="120"/>
                  <a:pt x="6" y="110"/>
                </a:cubicBezTo>
                <a:cubicBezTo>
                  <a:pt x="2" y="101"/>
                  <a:pt x="0" y="90"/>
                  <a:pt x="0" y="80"/>
                </a:cubicBezTo>
                <a:cubicBezTo>
                  <a:pt x="0" y="69"/>
                  <a:pt x="2" y="59"/>
                  <a:pt x="6" y="50"/>
                </a:cubicBezTo>
                <a:cubicBezTo>
                  <a:pt x="10" y="39"/>
                  <a:pt x="16" y="30"/>
                  <a:pt x="23" y="23"/>
                </a:cubicBezTo>
                <a:cubicBezTo>
                  <a:pt x="31" y="15"/>
                  <a:pt x="39" y="10"/>
                  <a:pt x="49" y="6"/>
                </a:cubicBezTo>
                <a:cubicBezTo>
                  <a:pt x="59" y="2"/>
                  <a:pt x="70" y="0"/>
                  <a:pt x="81" y="0"/>
                </a:cubicBezTo>
                <a:cubicBezTo>
                  <a:pt x="91" y="0"/>
                  <a:pt x="101" y="2"/>
                  <a:pt x="111" y="6"/>
                </a:cubicBezTo>
                <a:cubicBezTo>
                  <a:pt x="121" y="10"/>
                  <a:pt x="129" y="15"/>
                  <a:pt x="137" y="23"/>
                </a:cubicBezTo>
                <a:cubicBezTo>
                  <a:pt x="144" y="30"/>
                  <a:pt x="150" y="39"/>
                  <a:pt x="154" y="50"/>
                </a:cubicBezTo>
                <a:cubicBezTo>
                  <a:pt x="158" y="59"/>
                  <a:pt x="160" y="69"/>
                  <a:pt x="160" y="80"/>
                </a:cubicBezTo>
              </a:path>
            </a:pathLst>
          </a:custGeom>
          <a:ln w="18720" cap="rnd">
            <a:solidFill>
              <a:srgbClr val="FFFFFF"/>
            </a:solidFill>
            <a:round/>
          </a:ln>
        </p:spPr>
        <p:txBody>
          <a:bodyPr lIns="9360" tIns="9360" rIns="9360" bIns="9360" anchor="t">
            <a:noAutofit/>
          </a:bodyPr>
          <a:lstStyle/>
          <a:p>
            <a:endParaRPr lang="en-US" sz="2400" b="0" u="none" strike="noStrike">
              <a:solidFill>
                <a:srgbClr val="000000"/>
              </a:solidFill>
              <a:effectLst/>
              <a:uFillTx/>
              <a:latin typeface="Times New Roman"/>
            </a:endParaRPr>
          </a:p>
        </p:txBody>
      </p:sp>
      <p:sp>
        <p:nvSpPr>
          <p:cNvPr id="270" name="CuadroTexto 269"/>
          <p:cNvSpPr txBox="1"/>
          <p:nvPr/>
        </p:nvSpPr>
        <p:spPr>
          <a:xfrm>
            <a:off x="5083200" y="5187960"/>
            <a:ext cx="203292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Comunican intención claramente</a:t>
            </a:r>
            <a:endParaRPr lang="en-US" sz="1200" b="0" u="none" strike="noStrike">
              <a:solidFill>
                <a:srgbClr val="000000"/>
              </a:solidFill>
              <a:effectLst/>
              <a:uFillTx/>
              <a:latin typeface="Times New Roman"/>
            </a:endParaRPr>
          </a:p>
        </p:txBody>
      </p:sp>
      <p:sp>
        <p:nvSpPr>
          <p:cNvPr id="271" name="CuadroTexto 270"/>
          <p:cNvSpPr txBox="1"/>
          <p:nvPr/>
        </p:nvSpPr>
        <p:spPr>
          <a:xfrm>
            <a:off x="8220980" y="4856400"/>
            <a:ext cx="1670329" cy="246221"/>
          </a:xfrm>
          <a:prstGeom prst="rect">
            <a:avLst/>
          </a:prstGeom>
          <a:noFill/>
          <a:ln w="0">
            <a:noFill/>
          </a:ln>
        </p:spPr>
        <p:txBody>
          <a:bodyPr wrap="none" lIns="0" tIns="0" rIns="0" bIns="0" anchor="t">
            <a:spAutoFit/>
          </a:bodyPr>
          <a:lstStyle/>
          <a:p>
            <a:r>
              <a:rPr lang="en-US" sz="1600" b="0" u="none" strike="noStrike">
                <a:solidFill>
                  <a:srgbClr val="000000"/>
                </a:solidFill>
                <a:effectLst/>
                <a:uFillTx/>
                <a:latin typeface="CrimsonPro"/>
                <a:ea typeface="CrimsonPro"/>
              </a:rPr>
              <a:t>Fáciles de mantener</a:t>
            </a:r>
            <a:endParaRPr lang="en-US" sz="1600" b="0" u="none" strike="noStrike">
              <a:solidFill>
                <a:srgbClr val="000000"/>
              </a:solidFill>
              <a:effectLst/>
              <a:uFillTx/>
              <a:latin typeface="Times New Roman"/>
            </a:endParaRPr>
          </a:p>
        </p:txBody>
      </p:sp>
      <p:sp>
        <p:nvSpPr>
          <p:cNvPr id="272" name="CuadroTexto 271"/>
          <p:cNvSpPr txBox="1"/>
          <p:nvPr/>
        </p:nvSpPr>
        <p:spPr>
          <a:xfrm>
            <a:off x="8386200" y="5187960"/>
            <a:ext cx="12636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Simplifican el código</a:t>
            </a:r>
            <a:endParaRPr lang="en-US" sz="1200" b="0" u="none" strike="noStrike">
              <a:solidFill>
                <a:srgbClr val="000000"/>
              </a:solidFill>
              <a:effectLst/>
              <a:uFillTx/>
              <a:latin typeface="Times New Roman"/>
            </a:endParaRPr>
          </a:p>
        </p:txBody>
      </p:sp>
      <p:sp>
        <p:nvSpPr>
          <p:cNvPr id="273" name="Forma libre: forma 272"/>
          <p:cNvSpPr/>
          <p:nvPr/>
        </p:nvSpPr>
        <p:spPr>
          <a:xfrm>
            <a:off x="571320" y="622908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74" name="CuadroTexto 273"/>
          <p:cNvSpPr txBox="1"/>
          <p:nvPr/>
        </p:nvSpPr>
        <p:spPr>
          <a:xfrm>
            <a:off x="1797700" y="5670680"/>
            <a:ext cx="8580019" cy="430887"/>
          </a:xfrm>
          <a:prstGeom prst="rect">
            <a:avLst/>
          </a:prstGeom>
          <a:noFill/>
          <a:ln w="0">
            <a:noFill/>
          </a:ln>
        </p:spPr>
        <p:txBody>
          <a:bodyPr wrap="square" lIns="0" tIns="0" rIns="0" bIns="0" anchor="t">
            <a:spAutoFit/>
          </a:bodyPr>
          <a:lstStyle/>
          <a:p>
            <a:pPr algn="just"/>
            <a:r>
              <a:rPr lang="en-US" sz="1400" b="0" u="none" strike="noStrike" dirty="0">
                <a:solidFill>
                  <a:srgbClr val="666666"/>
                </a:solidFill>
                <a:effectLst/>
                <a:uFillTx/>
                <a:latin typeface="CrimsonPro"/>
                <a:ea typeface="CrimsonPro"/>
              </a:rPr>
              <a:t>Muchos developers </a:t>
            </a:r>
            <a:r>
              <a:rPr lang="en-US" sz="1400" b="0" u="none" strike="noStrike" dirty="0" err="1">
                <a:solidFill>
                  <a:srgbClr val="666666"/>
                </a:solidFill>
                <a:effectLst/>
                <a:uFillTx/>
                <a:latin typeface="CrimsonPro"/>
                <a:ea typeface="CrimsonPro"/>
              </a:rPr>
              <a:t>están</a:t>
            </a:r>
            <a:r>
              <a:rPr lang="en-US" sz="1400" b="0" u="none" strike="noStrike" dirty="0">
                <a:solidFill>
                  <a:srgbClr val="666666"/>
                </a:solidFill>
                <a:effectLst/>
                <a:uFillTx/>
                <a:latin typeface="CrimsonPro"/>
                <a:ea typeface="CrimsonPro"/>
              </a:rPr>
              <a:t> </a:t>
            </a:r>
            <a:r>
              <a:rPr lang="en-US" sz="1400" b="0" u="none" strike="noStrike" dirty="0" err="1">
                <a:solidFill>
                  <a:srgbClr val="666666"/>
                </a:solidFill>
                <a:effectLst/>
                <a:uFillTx/>
                <a:latin typeface="CrimsonPro"/>
                <a:ea typeface="CrimsonPro"/>
              </a:rPr>
              <a:t>familiarizados</a:t>
            </a:r>
            <a:r>
              <a:rPr lang="en-US" sz="1400" b="0" u="none" strike="noStrike" dirty="0">
                <a:solidFill>
                  <a:srgbClr val="666666"/>
                </a:solidFill>
                <a:effectLst/>
                <a:uFillTx/>
                <a:latin typeface="CrimsonPro"/>
                <a:ea typeface="CrimsonPro"/>
              </a:rPr>
              <a:t> con los </a:t>
            </a:r>
            <a:r>
              <a:rPr lang="en-US" sz="1400" b="0" u="none" strike="noStrike" dirty="0" err="1">
                <a:solidFill>
                  <a:srgbClr val="666666"/>
                </a:solidFill>
                <a:effectLst/>
                <a:uFillTx/>
                <a:latin typeface="CrimsonPro"/>
                <a:ea typeface="CrimsonPro"/>
              </a:rPr>
              <a:t>Patrones</a:t>
            </a:r>
            <a:r>
              <a:rPr lang="en-US" sz="1400" b="0" u="none" strike="noStrike" dirty="0">
                <a:solidFill>
                  <a:srgbClr val="666666"/>
                </a:solidFill>
                <a:effectLst/>
                <a:uFillTx/>
                <a:latin typeface="CrimsonPro"/>
                <a:ea typeface="CrimsonPro"/>
              </a:rPr>
              <a:t> de </a:t>
            </a:r>
            <a:r>
              <a:rPr lang="en-US" sz="1400" b="0" u="none" strike="noStrike" dirty="0" err="1">
                <a:solidFill>
                  <a:srgbClr val="666666"/>
                </a:solidFill>
                <a:effectLst/>
                <a:uFillTx/>
                <a:latin typeface="CrimsonPro"/>
                <a:ea typeface="CrimsonPro"/>
              </a:rPr>
              <a:t>diseño</a:t>
            </a:r>
            <a:r>
              <a:rPr lang="en-US" sz="1400" b="0" u="none" strike="noStrike" dirty="0">
                <a:solidFill>
                  <a:srgbClr val="666666"/>
                </a:solidFill>
                <a:effectLst/>
                <a:uFillTx/>
                <a:latin typeface="CrimsonPro"/>
                <a:ea typeface="CrimsonPro"/>
              </a:rPr>
              <a:t>, </a:t>
            </a:r>
            <a:r>
              <a:rPr lang="en-US" sz="1400" b="0" u="none" strike="noStrike" dirty="0" err="1">
                <a:solidFill>
                  <a:srgbClr val="666666"/>
                </a:solidFill>
                <a:effectLst/>
                <a:uFillTx/>
                <a:latin typeface="CrimsonPro"/>
                <a:ea typeface="CrimsonPro"/>
              </a:rPr>
              <a:t>así</a:t>
            </a:r>
            <a:r>
              <a:rPr lang="en-US" sz="1400" b="0" u="none" strike="noStrike" dirty="0">
                <a:solidFill>
                  <a:srgbClr val="666666"/>
                </a:solidFill>
                <a:effectLst/>
                <a:uFillTx/>
                <a:latin typeface="CrimsonPro"/>
                <a:ea typeface="CrimsonPro"/>
              </a:rPr>
              <a:t> </a:t>
            </a:r>
            <a:r>
              <a:rPr lang="en-US" sz="1400" b="0" u="none" strike="noStrike" dirty="0" err="1">
                <a:solidFill>
                  <a:srgbClr val="666666"/>
                </a:solidFill>
                <a:effectLst/>
                <a:uFillTx/>
                <a:latin typeface="CrimsonPro"/>
                <a:ea typeface="CrimsonPro"/>
              </a:rPr>
              <a:t>que</a:t>
            </a:r>
            <a:r>
              <a:rPr lang="en-US" sz="1400" b="0" u="none" strike="noStrike" dirty="0">
                <a:solidFill>
                  <a:srgbClr val="666666"/>
                </a:solidFill>
                <a:effectLst/>
                <a:uFillTx/>
                <a:latin typeface="CrimsonPro"/>
                <a:ea typeface="CrimsonPro"/>
              </a:rPr>
              <a:t> </a:t>
            </a:r>
            <a:r>
              <a:rPr lang="en-US" sz="1400" b="0" u="none" strike="noStrike" dirty="0" err="1">
                <a:solidFill>
                  <a:srgbClr val="666666"/>
                </a:solidFill>
                <a:effectLst/>
                <a:uFillTx/>
                <a:latin typeface="CrimsonPro"/>
                <a:ea typeface="CrimsonPro"/>
              </a:rPr>
              <a:t>podemos</a:t>
            </a:r>
            <a:r>
              <a:rPr lang="en-US" sz="1400" b="0" u="none" strike="noStrike" dirty="0">
                <a:solidFill>
                  <a:srgbClr val="666666"/>
                </a:solidFill>
                <a:effectLst/>
                <a:uFillTx/>
                <a:latin typeface="CrimsonPro"/>
                <a:ea typeface="CrimsonPro"/>
              </a:rPr>
              <a:t> </a:t>
            </a:r>
            <a:r>
              <a:rPr lang="en-US" sz="1400" b="0" u="none" strike="noStrike" dirty="0" err="1">
                <a:solidFill>
                  <a:srgbClr val="666666"/>
                </a:solidFill>
                <a:effectLst/>
                <a:uFillTx/>
                <a:latin typeface="CrimsonPro"/>
                <a:ea typeface="CrimsonPro"/>
              </a:rPr>
              <a:t>decir</a:t>
            </a:r>
            <a:r>
              <a:rPr lang="en-US" sz="1400" b="0" u="none" strike="noStrike" dirty="0">
                <a:solidFill>
                  <a:srgbClr val="666666"/>
                </a:solidFill>
                <a:effectLst/>
                <a:uFillTx/>
                <a:latin typeface="CrimsonPro"/>
                <a:ea typeface="CrimsonPro"/>
              </a:rPr>
              <a:t> </a:t>
            </a:r>
            <a:r>
              <a:rPr lang="en-US" sz="1400" b="0" u="none" strike="noStrike" dirty="0" err="1">
                <a:solidFill>
                  <a:srgbClr val="666666"/>
                </a:solidFill>
                <a:effectLst/>
                <a:uFillTx/>
                <a:latin typeface="CrimsonPro"/>
                <a:ea typeface="CrimsonPro"/>
              </a:rPr>
              <a:t>que</a:t>
            </a:r>
            <a:r>
              <a:rPr lang="en-US" sz="1400" b="0" u="none" strike="noStrike" dirty="0">
                <a:solidFill>
                  <a:srgbClr val="666666"/>
                </a:solidFill>
                <a:effectLst/>
                <a:uFillTx/>
                <a:latin typeface="CrimsonPro"/>
                <a:ea typeface="CrimsonPro"/>
              </a:rPr>
              <a:t> es un </a:t>
            </a:r>
            <a:r>
              <a:rPr lang="en-US" sz="1400" b="0" u="none" strike="noStrike" dirty="0" err="1">
                <a:solidFill>
                  <a:srgbClr val="666666"/>
                </a:solidFill>
                <a:effectLst/>
                <a:uFillTx/>
                <a:latin typeface="CrimsonPro"/>
                <a:ea typeface="CrimsonPro"/>
              </a:rPr>
              <a:t>tipo</a:t>
            </a:r>
            <a:r>
              <a:rPr lang="en-US" sz="1400" b="0" u="none" strike="noStrike" dirty="0">
                <a:solidFill>
                  <a:srgbClr val="666666"/>
                </a:solidFill>
                <a:effectLst/>
                <a:uFillTx/>
                <a:latin typeface="CrimsonPro"/>
                <a:ea typeface="CrimsonPro"/>
              </a:rPr>
              <a:t> de </a:t>
            </a:r>
            <a:r>
              <a:rPr lang="en-US" sz="1400" b="0" u="none" strike="noStrike" dirty="0" err="1">
                <a:solidFill>
                  <a:srgbClr val="000000"/>
                </a:solidFill>
                <a:effectLst/>
                <a:uFillTx/>
                <a:latin typeface="CrimsonPro"/>
                <a:ea typeface="CrimsonPro"/>
              </a:rPr>
              <a:t>estándar</a:t>
            </a:r>
            <a:r>
              <a:rPr lang="en-US" sz="1400" b="0" u="none" strike="noStrike" dirty="0">
                <a:solidFill>
                  <a:srgbClr val="000000"/>
                </a:solidFill>
                <a:effectLst/>
                <a:uFillTx/>
                <a:latin typeface="CrimsonPro"/>
                <a:ea typeface="CrimsonPro"/>
              </a:rPr>
              <a:t> de </a:t>
            </a:r>
            <a:r>
              <a:rPr lang="en-US" sz="1400" b="0" u="none" strike="noStrike" dirty="0" err="1">
                <a:solidFill>
                  <a:srgbClr val="000000"/>
                </a:solidFill>
                <a:effectLst/>
                <a:uFillTx/>
                <a:latin typeface="CrimsonPro"/>
                <a:ea typeface="CrimsonPro"/>
              </a:rPr>
              <a:t>desarrollo</a:t>
            </a:r>
            <a:r>
              <a:rPr lang="en-US" sz="1400" b="0" u="none" strike="noStrike" dirty="0">
                <a:solidFill>
                  <a:srgbClr val="666666"/>
                </a:solidFill>
                <a:effectLst/>
                <a:uFillTx/>
                <a:latin typeface="CrimsonPro"/>
                <a:ea typeface="CrimsonPro"/>
              </a:rPr>
              <a:t>.</a:t>
            </a:r>
            <a:endParaRPr lang="en-US" sz="1400" b="0" u="none" strike="noStrike" dirty="0">
              <a:solidFill>
                <a:srgbClr val="000000"/>
              </a:solidFill>
              <a:effectLst/>
              <a:uFillTx/>
              <a:latin typeface="Times New Roman"/>
            </a:endParaRPr>
          </a:p>
        </p:txBody>
      </p:sp>
      <p:sp>
        <p:nvSpPr>
          <p:cNvPr id="275" name="CuadroTexto 274"/>
          <p:cNvSpPr txBox="1"/>
          <p:nvPr/>
        </p:nvSpPr>
        <p:spPr>
          <a:xfrm>
            <a:off x="571320" y="641664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276" name="CuadroTexto 275"/>
          <p:cNvSpPr txBox="1"/>
          <p:nvPr/>
        </p:nvSpPr>
        <p:spPr>
          <a:xfrm>
            <a:off x="9868320" y="6416640"/>
            <a:ext cx="176436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Tomado de nearsoftjobs.com</a:t>
            </a:r>
            <a:endParaRPr lang="en-US" sz="1200" b="0" u="none" strike="noStrike">
              <a:solidFill>
                <a:srgbClr val="000000"/>
              </a:solidFill>
              <a:effectLst/>
              <a:uFillTx/>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Forma libre: forma 278"/>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80" name="Forma libre: forma 279"/>
          <p:cNvSpPr/>
          <p:nvPr/>
        </p:nvSpPr>
        <p:spPr>
          <a:xfrm>
            <a:off x="590400" y="1390320"/>
            <a:ext cx="5353200" cy="4277160"/>
          </a:xfrm>
          <a:custGeom>
            <a:avLst/>
            <a:gdLst/>
            <a:ahLst/>
            <a:cxnLst/>
            <a:rect l="0" t="0" r="r" b="b"/>
            <a:pathLst>
              <a:path w="14870" h="11881">
                <a:moveTo>
                  <a:pt x="0" y="11564"/>
                </a:moveTo>
                <a:lnTo>
                  <a:pt x="0" y="318"/>
                </a:lnTo>
                <a:cubicBezTo>
                  <a:pt x="0" y="297"/>
                  <a:pt x="2" y="276"/>
                  <a:pt x="5" y="256"/>
                </a:cubicBezTo>
                <a:cubicBezTo>
                  <a:pt x="8" y="236"/>
                  <a:pt x="13" y="216"/>
                  <a:pt x="20" y="196"/>
                </a:cubicBezTo>
                <a:cubicBezTo>
                  <a:pt x="27" y="177"/>
                  <a:pt x="35" y="159"/>
                  <a:pt x="45" y="142"/>
                </a:cubicBezTo>
                <a:cubicBezTo>
                  <a:pt x="54" y="124"/>
                  <a:pt x="65" y="108"/>
                  <a:pt x="77" y="93"/>
                </a:cubicBezTo>
                <a:cubicBezTo>
                  <a:pt x="90" y="79"/>
                  <a:pt x="103" y="66"/>
                  <a:pt x="118" y="54"/>
                </a:cubicBezTo>
                <a:cubicBezTo>
                  <a:pt x="132" y="42"/>
                  <a:pt x="147" y="33"/>
                  <a:pt x="163" y="25"/>
                </a:cubicBezTo>
                <a:cubicBezTo>
                  <a:pt x="179" y="17"/>
                  <a:pt x="196" y="11"/>
                  <a:pt x="213" y="7"/>
                </a:cubicBezTo>
                <a:cubicBezTo>
                  <a:pt x="230" y="2"/>
                  <a:pt x="247" y="0"/>
                  <a:pt x="264" y="0"/>
                </a:cubicBezTo>
                <a:lnTo>
                  <a:pt x="14553" y="0"/>
                </a:lnTo>
                <a:cubicBezTo>
                  <a:pt x="14574" y="0"/>
                  <a:pt x="14594" y="2"/>
                  <a:pt x="14615" y="7"/>
                </a:cubicBezTo>
                <a:cubicBezTo>
                  <a:pt x="14635" y="11"/>
                  <a:pt x="14655" y="17"/>
                  <a:pt x="14674" y="25"/>
                </a:cubicBezTo>
                <a:cubicBezTo>
                  <a:pt x="14694" y="33"/>
                  <a:pt x="14712" y="42"/>
                  <a:pt x="14729" y="54"/>
                </a:cubicBezTo>
                <a:cubicBezTo>
                  <a:pt x="14747" y="66"/>
                  <a:pt x="14763" y="79"/>
                  <a:pt x="14778" y="93"/>
                </a:cubicBezTo>
                <a:cubicBezTo>
                  <a:pt x="14792" y="108"/>
                  <a:pt x="14805" y="124"/>
                  <a:pt x="14817" y="142"/>
                </a:cubicBezTo>
                <a:cubicBezTo>
                  <a:pt x="14829" y="159"/>
                  <a:pt x="14838" y="177"/>
                  <a:pt x="14846" y="196"/>
                </a:cubicBezTo>
                <a:cubicBezTo>
                  <a:pt x="14854" y="216"/>
                  <a:pt x="14860" y="236"/>
                  <a:pt x="14864" y="256"/>
                </a:cubicBezTo>
                <a:cubicBezTo>
                  <a:pt x="14868" y="276"/>
                  <a:pt x="14870" y="297"/>
                  <a:pt x="14870" y="318"/>
                </a:cubicBezTo>
                <a:lnTo>
                  <a:pt x="14870" y="11564"/>
                </a:lnTo>
                <a:cubicBezTo>
                  <a:pt x="14870" y="11585"/>
                  <a:pt x="14868" y="11605"/>
                  <a:pt x="14864" y="11626"/>
                </a:cubicBezTo>
                <a:cubicBezTo>
                  <a:pt x="14860" y="11646"/>
                  <a:pt x="14854" y="11666"/>
                  <a:pt x="14846" y="11685"/>
                </a:cubicBezTo>
                <a:cubicBezTo>
                  <a:pt x="14838" y="11704"/>
                  <a:pt x="14829" y="11723"/>
                  <a:pt x="14817" y="11740"/>
                </a:cubicBezTo>
                <a:cubicBezTo>
                  <a:pt x="14805" y="11757"/>
                  <a:pt x="14792" y="11773"/>
                  <a:pt x="14778" y="11788"/>
                </a:cubicBezTo>
                <a:cubicBezTo>
                  <a:pt x="14763" y="11803"/>
                  <a:pt x="14747" y="11816"/>
                  <a:pt x="14729" y="11828"/>
                </a:cubicBezTo>
                <a:cubicBezTo>
                  <a:pt x="14712" y="11839"/>
                  <a:pt x="14694" y="11849"/>
                  <a:pt x="14674" y="11857"/>
                </a:cubicBezTo>
                <a:cubicBezTo>
                  <a:pt x="14655" y="11865"/>
                  <a:pt x="14635" y="11871"/>
                  <a:pt x="14615" y="11875"/>
                </a:cubicBezTo>
                <a:cubicBezTo>
                  <a:pt x="14594" y="11879"/>
                  <a:pt x="14574" y="11881"/>
                  <a:pt x="14553" y="11881"/>
                </a:cubicBezTo>
                <a:lnTo>
                  <a:pt x="264" y="11881"/>
                </a:lnTo>
                <a:cubicBezTo>
                  <a:pt x="247" y="11881"/>
                  <a:pt x="230" y="11879"/>
                  <a:pt x="213" y="11875"/>
                </a:cubicBezTo>
                <a:cubicBezTo>
                  <a:pt x="196" y="11871"/>
                  <a:pt x="179" y="11865"/>
                  <a:pt x="163" y="11857"/>
                </a:cubicBezTo>
                <a:cubicBezTo>
                  <a:pt x="147" y="11849"/>
                  <a:pt x="132" y="11839"/>
                  <a:pt x="118" y="11828"/>
                </a:cubicBezTo>
                <a:cubicBezTo>
                  <a:pt x="103" y="11816"/>
                  <a:pt x="90" y="11803"/>
                  <a:pt x="77" y="11788"/>
                </a:cubicBezTo>
                <a:cubicBezTo>
                  <a:pt x="65" y="11773"/>
                  <a:pt x="54" y="11757"/>
                  <a:pt x="45" y="11740"/>
                </a:cubicBezTo>
                <a:cubicBezTo>
                  <a:pt x="35" y="11723"/>
                  <a:pt x="27" y="11704"/>
                  <a:pt x="20" y="11685"/>
                </a:cubicBezTo>
                <a:cubicBezTo>
                  <a:pt x="13" y="11666"/>
                  <a:pt x="8" y="11646"/>
                  <a:pt x="5" y="11626"/>
                </a:cubicBezTo>
                <a:cubicBezTo>
                  <a:pt x="2" y="11605"/>
                  <a:pt x="0" y="11585"/>
                  <a:pt x="0" y="11564"/>
                </a:cubicBezTo>
                <a:close/>
              </a:path>
            </a:pathLst>
          </a:custGeom>
          <a:solidFill>
            <a:srgbClr val="FFE5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81" name="Forma libre: forma 280"/>
          <p:cNvSpPr/>
          <p:nvPr/>
        </p:nvSpPr>
        <p:spPr>
          <a:xfrm>
            <a:off x="571320" y="1390320"/>
            <a:ext cx="114480" cy="4277160"/>
          </a:xfrm>
          <a:custGeom>
            <a:avLst/>
            <a:gdLst/>
            <a:ahLst/>
            <a:cxnLst/>
            <a:rect l="0" t="0" r="r" b="b"/>
            <a:pathLst>
              <a:path w="318" h="11881">
                <a:moveTo>
                  <a:pt x="0" y="0"/>
                </a:moveTo>
                <a:lnTo>
                  <a:pt x="318" y="0"/>
                </a:lnTo>
                <a:lnTo>
                  <a:pt x="318" y="11881"/>
                </a:lnTo>
                <a:lnTo>
                  <a:pt x="0" y="11881"/>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82" name="CuadroTexto 281"/>
          <p:cNvSpPr txBox="1"/>
          <p:nvPr/>
        </p:nvSpPr>
        <p:spPr>
          <a:xfrm>
            <a:off x="571320" y="569160"/>
            <a:ext cx="45363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Patrones de diseño - Perspectivas</a:t>
            </a:r>
            <a:endParaRPr lang="en-US" sz="2700" b="0" u="none" strike="noStrike">
              <a:solidFill>
                <a:srgbClr val="000000"/>
              </a:solidFill>
              <a:effectLst/>
              <a:uFillTx/>
              <a:latin typeface="Times New Roman"/>
            </a:endParaRPr>
          </a:p>
        </p:txBody>
      </p:sp>
      <p:sp>
        <p:nvSpPr>
          <p:cNvPr id="283" name="Forma libre: forma 282"/>
          <p:cNvSpPr/>
          <p:nvPr/>
        </p:nvSpPr>
        <p:spPr>
          <a:xfrm>
            <a:off x="838080" y="2190600"/>
            <a:ext cx="76320" cy="76680"/>
          </a:xfrm>
          <a:custGeom>
            <a:avLst/>
            <a:gdLst/>
            <a:ahLst/>
            <a:cxnLst/>
            <a:rect l="0" t="0" r="r" b="b"/>
            <a:pathLst>
              <a:path w="212" h="213">
                <a:moveTo>
                  <a:pt x="212" y="106"/>
                </a:moveTo>
                <a:cubicBezTo>
                  <a:pt x="212" y="120"/>
                  <a:pt x="210" y="133"/>
                  <a:pt x="204" y="147"/>
                </a:cubicBezTo>
                <a:cubicBezTo>
                  <a:pt x="199" y="160"/>
                  <a:pt x="191" y="172"/>
                  <a:pt x="182" y="182"/>
                </a:cubicBezTo>
                <a:cubicBezTo>
                  <a:pt x="172" y="192"/>
                  <a:pt x="160" y="199"/>
                  <a:pt x="147" y="205"/>
                </a:cubicBezTo>
                <a:cubicBezTo>
                  <a:pt x="134" y="210"/>
                  <a:pt x="121" y="213"/>
                  <a:pt x="107" y="213"/>
                </a:cubicBezTo>
                <a:cubicBezTo>
                  <a:pt x="92" y="213"/>
                  <a:pt x="78" y="210"/>
                  <a:pt x="65" y="205"/>
                </a:cubicBezTo>
                <a:cubicBezTo>
                  <a:pt x="52" y="199"/>
                  <a:pt x="41" y="192"/>
                  <a:pt x="31" y="182"/>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7" y="0"/>
                </a:cubicBezTo>
                <a:cubicBezTo>
                  <a:pt x="121" y="0"/>
                  <a:pt x="134" y="3"/>
                  <a:pt x="147" y="8"/>
                </a:cubicBezTo>
                <a:cubicBezTo>
                  <a:pt x="160" y="13"/>
                  <a:pt x="172" y="21"/>
                  <a:pt x="182" y="31"/>
                </a:cubicBezTo>
                <a:cubicBezTo>
                  <a:pt x="191" y="41"/>
                  <a:pt x="199" y="52"/>
                  <a:pt x="204" y="65"/>
                </a:cubicBezTo>
                <a:cubicBezTo>
                  <a:pt x="210" y="78"/>
                  <a:pt x="212" y="92"/>
                  <a:pt x="212"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84" name="CuadroTexto 283"/>
          <p:cNvSpPr txBox="1"/>
          <p:nvPr/>
        </p:nvSpPr>
        <p:spPr>
          <a:xfrm>
            <a:off x="838080" y="1643040"/>
            <a:ext cx="376272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Estás totalmente perdido si piensas que...</a:t>
            </a:r>
            <a:endParaRPr lang="en-US" sz="1800" b="0" u="none" strike="noStrike">
              <a:solidFill>
                <a:srgbClr val="000000"/>
              </a:solidFill>
              <a:effectLst/>
              <a:uFillTx/>
              <a:latin typeface="Times New Roman"/>
            </a:endParaRPr>
          </a:p>
        </p:txBody>
      </p:sp>
      <p:sp>
        <p:nvSpPr>
          <p:cNvPr id="285" name="Forma libre: forma 284"/>
          <p:cNvSpPr/>
          <p:nvPr/>
        </p:nvSpPr>
        <p:spPr>
          <a:xfrm>
            <a:off x="838080" y="2619360"/>
            <a:ext cx="76320" cy="76320"/>
          </a:xfrm>
          <a:custGeom>
            <a:avLst/>
            <a:gdLst/>
            <a:ahLst/>
            <a:cxnLst/>
            <a:rect l="0" t="0" r="r" b="b"/>
            <a:pathLst>
              <a:path w="212" h="212">
                <a:moveTo>
                  <a:pt x="212" y="106"/>
                </a:moveTo>
                <a:cubicBezTo>
                  <a:pt x="212" y="120"/>
                  <a:pt x="210" y="134"/>
                  <a:pt x="204" y="147"/>
                </a:cubicBezTo>
                <a:cubicBezTo>
                  <a:pt x="199" y="160"/>
                  <a:pt x="191" y="171"/>
                  <a:pt x="182" y="181"/>
                </a:cubicBezTo>
                <a:cubicBezTo>
                  <a:pt x="172" y="191"/>
                  <a:pt x="160" y="199"/>
                  <a:pt x="147" y="204"/>
                </a:cubicBezTo>
                <a:cubicBezTo>
                  <a:pt x="134" y="210"/>
                  <a:pt x="121" y="212"/>
                  <a:pt x="107" y="212"/>
                </a:cubicBezTo>
                <a:cubicBezTo>
                  <a:pt x="92" y="212"/>
                  <a:pt x="78" y="210"/>
                  <a:pt x="65" y="204"/>
                </a:cubicBezTo>
                <a:cubicBezTo>
                  <a:pt x="52" y="199"/>
                  <a:pt x="41" y="191"/>
                  <a:pt x="31" y="181"/>
                </a:cubicBezTo>
                <a:cubicBezTo>
                  <a:pt x="21" y="171"/>
                  <a:pt x="13" y="160"/>
                  <a:pt x="8" y="147"/>
                </a:cubicBezTo>
                <a:cubicBezTo>
                  <a:pt x="3" y="134"/>
                  <a:pt x="0" y="120"/>
                  <a:pt x="0" y="106"/>
                </a:cubicBezTo>
                <a:cubicBezTo>
                  <a:pt x="0" y="92"/>
                  <a:pt x="3" y="79"/>
                  <a:pt x="8" y="66"/>
                </a:cubicBezTo>
                <a:cubicBezTo>
                  <a:pt x="13" y="53"/>
                  <a:pt x="21" y="41"/>
                  <a:pt x="31" y="32"/>
                </a:cubicBezTo>
                <a:cubicBezTo>
                  <a:pt x="41" y="22"/>
                  <a:pt x="52" y="14"/>
                  <a:pt x="65" y="9"/>
                </a:cubicBezTo>
                <a:cubicBezTo>
                  <a:pt x="78" y="2"/>
                  <a:pt x="92" y="0"/>
                  <a:pt x="107" y="0"/>
                </a:cubicBezTo>
                <a:cubicBezTo>
                  <a:pt x="121" y="0"/>
                  <a:pt x="134" y="2"/>
                  <a:pt x="147" y="9"/>
                </a:cubicBezTo>
                <a:cubicBezTo>
                  <a:pt x="160" y="14"/>
                  <a:pt x="172" y="22"/>
                  <a:pt x="182" y="32"/>
                </a:cubicBezTo>
                <a:cubicBezTo>
                  <a:pt x="191" y="41"/>
                  <a:pt x="199" y="53"/>
                  <a:pt x="204" y="66"/>
                </a:cubicBezTo>
                <a:cubicBezTo>
                  <a:pt x="210" y="79"/>
                  <a:pt x="212" y="92"/>
                  <a:pt x="212"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86" name="CuadroTexto 285"/>
          <p:cNvSpPr txBox="1"/>
          <p:nvPr/>
        </p:nvSpPr>
        <p:spPr>
          <a:xfrm>
            <a:off x="1028520" y="2151360"/>
            <a:ext cx="376308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Debes usarlos solo porque la gente dice que es lo de hoy</a:t>
            </a:r>
            <a:endParaRPr lang="en-US" sz="1350" b="0" u="none" strike="noStrike">
              <a:solidFill>
                <a:srgbClr val="000000"/>
              </a:solidFill>
              <a:effectLst/>
              <a:uFillTx/>
              <a:latin typeface="Times New Roman"/>
            </a:endParaRPr>
          </a:p>
        </p:txBody>
      </p:sp>
      <p:sp>
        <p:nvSpPr>
          <p:cNvPr id="287" name="Forma libre: forma 286"/>
          <p:cNvSpPr/>
          <p:nvPr/>
        </p:nvSpPr>
        <p:spPr>
          <a:xfrm>
            <a:off x="838080" y="3057480"/>
            <a:ext cx="76320" cy="76320"/>
          </a:xfrm>
          <a:custGeom>
            <a:avLst/>
            <a:gdLst/>
            <a:ahLst/>
            <a:cxnLst/>
            <a:rect l="0" t="0" r="r" b="b"/>
            <a:pathLst>
              <a:path w="212" h="212">
                <a:moveTo>
                  <a:pt x="212" y="106"/>
                </a:moveTo>
                <a:cubicBezTo>
                  <a:pt x="212" y="120"/>
                  <a:pt x="210" y="134"/>
                  <a:pt x="204" y="147"/>
                </a:cubicBezTo>
                <a:cubicBezTo>
                  <a:pt x="199" y="160"/>
                  <a:pt x="191" y="171"/>
                  <a:pt x="182" y="181"/>
                </a:cubicBezTo>
                <a:cubicBezTo>
                  <a:pt x="172" y="191"/>
                  <a:pt x="160" y="199"/>
                  <a:pt x="147" y="204"/>
                </a:cubicBezTo>
                <a:cubicBezTo>
                  <a:pt x="134" y="210"/>
                  <a:pt x="121" y="212"/>
                  <a:pt x="107" y="212"/>
                </a:cubicBezTo>
                <a:cubicBezTo>
                  <a:pt x="92" y="212"/>
                  <a:pt x="78" y="210"/>
                  <a:pt x="65" y="204"/>
                </a:cubicBezTo>
                <a:cubicBezTo>
                  <a:pt x="52" y="199"/>
                  <a:pt x="41" y="191"/>
                  <a:pt x="31" y="181"/>
                </a:cubicBezTo>
                <a:cubicBezTo>
                  <a:pt x="21" y="171"/>
                  <a:pt x="13" y="160"/>
                  <a:pt x="8" y="147"/>
                </a:cubicBezTo>
                <a:cubicBezTo>
                  <a:pt x="3" y="134"/>
                  <a:pt x="0" y="120"/>
                  <a:pt x="0" y="106"/>
                </a:cubicBezTo>
                <a:cubicBezTo>
                  <a:pt x="0" y="92"/>
                  <a:pt x="3" y="79"/>
                  <a:pt x="8" y="66"/>
                </a:cubicBezTo>
                <a:cubicBezTo>
                  <a:pt x="13" y="52"/>
                  <a:pt x="21" y="41"/>
                  <a:pt x="31" y="31"/>
                </a:cubicBezTo>
                <a:cubicBezTo>
                  <a:pt x="41" y="21"/>
                  <a:pt x="52" y="13"/>
                  <a:pt x="65" y="8"/>
                </a:cubicBezTo>
                <a:cubicBezTo>
                  <a:pt x="78" y="2"/>
                  <a:pt x="92" y="0"/>
                  <a:pt x="107" y="0"/>
                </a:cubicBezTo>
                <a:cubicBezTo>
                  <a:pt x="121" y="0"/>
                  <a:pt x="134" y="2"/>
                  <a:pt x="147" y="8"/>
                </a:cubicBezTo>
                <a:cubicBezTo>
                  <a:pt x="160" y="13"/>
                  <a:pt x="172" y="21"/>
                  <a:pt x="182" y="31"/>
                </a:cubicBezTo>
                <a:cubicBezTo>
                  <a:pt x="191" y="41"/>
                  <a:pt x="199" y="52"/>
                  <a:pt x="204" y="66"/>
                </a:cubicBezTo>
                <a:cubicBezTo>
                  <a:pt x="210" y="79"/>
                  <a:pt x="212" y="92"/>
                  <a:pt x="212"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88" name="CuadroTexto 287"/>
          <p:cNvSpPr txBox="1"/>
          <p:nvPr/>
        </p:nvSpPr>
        <p:spPr>
          <a:xfrm>
            <a:off x="1028520" y="2580120"/>
            <a:ext cx="362124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Son siempre la mejor opción sin importar la situación</a:t>
            </a:r>
            <a:endParaRPr lang="en-US" sz="1350" b="0" u="none" strike="noStrike">
              <a:solidFill>
                <a:srgbClr val="000000"/>
              </a:solidFill>
              <a:effectLst/>
              <a:uFillTx/>
              <a:latin typeface="Times New Roman"/>
            </a:endParaRPr>
          </a:p>
        </p:txBody>
      </p:sp>
      <p:sp>
        <p:nvSpPr>
          <p:cNvPr id="289" name="Forma libre: forma 288"/>
          <p:cNvSpPr/>
          <p:nvPr/>
        </p:nvSpPr>
        <p:spPr>
          <a:xfrm>
            <a:off x="6267240" y="1390320"/>
            <a:ext cx="5353560" cy="4277160"/>
          </a:xfrm>
          <a:custGeom>
            <a:avLst/>
            <a:gdLst/>
            <a:ahLst/>
            <a:cxnLst/>
            <a:rect l="0" t="0" r="r" b="b"/>
            <a:pathLst>
              <a:path w="14871" h="11881">
                <a:moveTo>
                  <a:pt x="0" y="11564"/>
                </a:moveTo>
                <a:lnTo>
                  <a:pt x="0" y="318"/>
                </a:lnTo>
                <a:cubicBezTo>
                  <a:pt x="0" y="297"/>
                  <a:pt x="2" y="276"/>
                  <a:pt x="5" y="256"/>
                </a:cubicBezTo>
                <a:cubicBezTo>
                  <a:pt x="9" y="236"/>
                  <a:pt x="14" y="216"/>
                  <a:pt x="20" y="196"/>
                </a:cubicBezTo>
                <a:cubicBezTo>
                  <a:pt x="27" y="177"/>
                  <a:pt x="35" y="159"/>
                  <a:pt x="45" y="142"/>
                </a:cubicBezTo>
                <a:cubicBezTo>
                  <a:pt x="54" y="124"/>
                  <a:pt x="65" y="108"/>
                  <a:pt x="78" y="93"/>
                </a:cubicBezTo>
                <a:cubicBezTo>
                  <a:pt x="90" y="79"/>
                  <a:pt x="103" y="66"/>
                  <a:pt x="118" y="54"/>
                </a:cubicBezTo>
                <a:cubicBezTo>
                  <a:pt x="132" y="42"/>
                  <a:pt x="147" y="33"/>
                  <a:pt x="163" y="25"/>
                </a:cubicBezTo>
                <a:cubicBezTo>
                  <a:pt x="179" y="17"/>
                  <a:pt x="196" y="11"/>
                  <a:pt x="213" y="7"/>
                </a:cubicBezTo>
                <a:cubicBezTo>
                  <a:pt x="230" y="2"/>
                  <a:pt x="247" y="0"/>
                  <a:pt x="265" y="0"/>
                </a:cubicBezTo>
                <a:lnTo>
                  <a:pt x="14553" y="0"/>
                </a:lnTo>
                <a:cubicBezTo>
                  <a:pt x="14574" y="0"/>
                  <a:pt x="14595" y="2"/>
                  <a:pt x="14615" y="7"/>
                </a:cubicBezTo>
                <a:cubicBezTo>
                  <a:pt x="14636" y="11"/>
                  <a:pt x="14655" y="17"/>
                  <a:pt x="14675" y="25"/>
                </a:cubicBezTo>
                <a:cubicBezTo>
                  <a:pt x="14694" y="33"/>
                  <a:pt x="14712" y="42"/>
                  <a:pt x="14730" y="54"/>
                </a:cubicBezTo>
                <a:cubicBezTo>
                  <a:pt x="14747" y="66"/>
                  <a:pt x="14763" y="79"/>
                  <a:pt x="14778" y="93"/>
                </a:cubicBezTo>
                <a:cubicBezTo>
                  <a:pt x="14792" y="108"/>
                  <a:pt x="14806" y="124"/>
                  <a:pt x="14817" y="142"/>
                </a:cubicBezTo>
                <a:cubicBezTo>
                  <a:pt x="14829" y="159"/>
                  <a:pt x="14839" y="177"/>
                  <a:pt x="14846" y="196"/>
                </a:cubicBezTo>
                <a:cubicBezTo>
                  <a:pt x="14854" y="216"/>
                  <a:pt x="14860" y="236"/>
                  <a:pt x="14865" y="256"/>
                </a:cubicBezTo>
                <a:cubicBezTo>
                  <a:pt x="14869" y="276"/>
                  <a:pt x="14871" y="297"/>
                  <a:pt x="14871" y="318"/>
                </a:cubicBezTo>
                <a:lnTo>
                  <a:pt x="14871" y="11564"/>
                </a:lnTo>
                <a:cubicBezTo>
                  <a:pt x="14871" y="11585"/>
                  <a:pt x="14869" y="11605"/>
                  <a:pt x="14865" y="11626"/>
                </a:cubicBezTo>
                <a:cubicBezTo>
                  <a:pt x="14860" y="11646"/>
                  <a:pt x="14854" y="11666"/>
                  <a:pt x="14846" y="11685"/>
                </a:cubicBezTo>
                <a:cubicBezTo>
                  <a:pt x="14839" y="11704"/>
                  <a:pt x="14829" y="11723"/>
                  <a:pt x="14817" y="11740"/>
                </a:cubicBezTo>
                <a:cubicBezTo>
                  <a:pt x="14806" y="11757"/>
                  <a:pt x="14792" y="11773"/>
                  <a:pt x="14778" y="11788"/>
                </a:cubicBezTo>
                <a:cubicBezTo>
                  <a:pt x="14763" y="11803"/>
                  <a:pt x="14747" y="11816"/>
                  <a:pt x="14730" y="11828"/>
                </a:cubicBezTo>
                <a:cubicBezTo>
                  <a:pt x="14712" y="11839"/>
                  <a:pt x="14694" y="11849"/>
                  <a:pt x="14675" y="11857"/>
                </a:cubicBezTo>
                <a:cubicBezTo>
                  <a:pt x="14655" y="11865"/>
                  <a:pt x="14636" y="11871"/>
                  <a:pt x="14615" y="11875"/>
                </a:cubicBezTo>
                <a:cubicBezTo>
                  <a:pt x="14595" y="11879"/>
                  <a:pt x="14574" y="11881"/>
                  <a:pt x="14553" y="11881"/>
                </a:cubicBezTo>
                <a:lnTo>
                  <a:pt x="265" y="11881"/>
                </a:lnTo>
                <a:cubicBezTo>
                  <a:pt x="247" y="11881"/>
                  <a:pt x="230" y="11879"/>
                  <a:pt x="213" y="11875"/>
                </a:cubicBezTo>
                <a:cubicBezTo>
                  <a:pt x="196" y="11871"/>
                  <a:pt x="179" y="11865"/>
                  <a:pt x="163" y="11857"/>
                </a:cubicBezTo>
                <a:cubicBezTo>
                  <a:pt x="147" y="11849"/>
                  <a:pt x="132" y="11839"/>
                  <a:pt x="118" y="11828"/>
                </a:cubicBezTo>
                <a:cubicBezTo>
                  <a:pt x="103" y="11816"/>
                  <a:pt x="90" y="11803"/>
                  <a:pt x="78" y="11788"/>
                </a:cubicBezTo>
                <a:cubicBezTo>
                  <a:pt x="65" y="11773"/>
                  <a:pt x="54" y="11757"/>
                  <a:pt x="45" y="11740"/>
                </a:cubicBezTo>
                <a:cubicBezTo>
                  <a:pt x="35" y="11723"/>
                  <a:pt x="27" y="11704"/>
                  <a:pt x="20" y="11685"/>
                </a:cubicBezTo>
                <a:cubicBezTo>
                  <a:pt x="14" y="11666"/>
                  <a:pt x="9" y="11646"/>
                  <a:pt x="5" y="11626"/>
                </a:cubicBezTo>
                <a:cubicBezTo>
                  <a:pt x="2" y="11605"/>
                  <a:pt x="0" y="11585"/>
                  <a:pt x="0" y="11564"/>
                </a:cubicBezTo>
                <a:close/>
              </a:path>
            </a:pathLst>
          </a:custGeom>
          <a:solidFill>
            <a:srgbClr val="E8F5E9"/>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290" name="Forma libre: forma 289"/>
          <p:cNvSpPr/>
          <p:nvPr/>
        </p:nvSpPr>
        <p:spPr>
          <a:xfrm>
            <a:off x="6248160" y="1390320"/>
            <a:ext cx="114840" cy="4277160"/>
          </a:xfrm>
          <a:custGeom>
            <a:avLst/>
            <a:gdLst/>
            <a:ahLst/>
            <a:cxnLst/>
            <a:rect l="0" t="0" r="r" b="b"/>
            <a:pathLst>
              <a:path w="319" h="11881">
                <a:moveTo>
                  <a:pt x="0" y="0"/>
                </a:moveTo>
                <a:lnTo>
                  <a:pt x="319" y="0"/>
                </a:lnTo>
                <a:lnTo>
                  <a:pt x="319" y="11881"/>
                </a:lnTo>
                <a:lnTo>
                  <a:pt x="0" y="11881"/>
                </a:lnTo>
                <a:lnTo>
                  <a:pt x="0" y="0"/>
                </a:ln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91" name="CuadroTexto 290"/>
          <p:cNvSpPr txBox="1"/>
          <p:nvPr/>
        </p:nvSpPr>
        <p:spPr>
          <a:xfrm>
            <a:off x="1028520" y="3018240"/>
            <a:ext cx="370044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Si no aplicas Patrones de Diseño eres un mal developer</a:t>
            </a:r>
            <a:endParaRPr lang="en-US" sz="1350" b="0" u="none" strike="noStrike">
              <a:solidFill>
                <a:srgbClr val="000000"/>
              </a:solidFill>
              <a:effectLst/>
              <a:uFillTx/>
              <a:latin typeface="Times New Roman"/>
            </a:endParaRPr>
          </a:p>
        </p:txBody>
      </p:sp>
      <p:sp>
        <p:nvSpPr>
          <p:cNvPr id="292" name="Forma libre: forma 291"/>
          <p:cNvSpPr/>
          <p:nvPr/>
        </p:nvSpPr>
        <p:spPr>
          <a:xfrm>
            <a:off x="6514920" y="2190600"/>
            <a:ext cx="76680" cy="76680"/>
          </a:xfrm>
          <a:custGeom>
            <a:avLst/>
            <a:gdLst/>
            <a:ahLst/>
            <a:cxnLst/>
            <a:rect l="0" t="0" r="r" b="b"/>
            <a:pathLst>
              <a:path w="213" h="213">
                <a:moveTo>
                  <a:pt x="213" y="106"/>
                </a:moveTo>
                <a:cubicBezTo>
                  <a:pt x="213" y="120"/>
                  <a:pt x="210" y="133"/>
                  <a:pt x="205" y="147"/>
                </a:cubicBezTo>
                <a:cubicBezTo>
                  <a:pt x="199" y="160"/>
                  <a:pt x="192" y="172"/>
                  <a:pt x="182" y="182"/>
                </a:cubicBezTo>
                <a:cubicBezTo>
                  <a:pt x="172" y="192"/>
                  <a:pt x="160"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60" y="13"/>
                  <a:pt x="172" y="21"/>
                  <a:pt x="182" y="31"/>
                </a:cubicBezTo>
                <a:cubicBezTo>
                  <a:pt x="192" y="41"/>
                  <a:pt x="199" y="52"/>
                  <a:pt x="205" y="65"/>
                </a:cubicBezTo>
                <a:cubicBezTo>
                  <a:pt x="210" y="78"/>
                  <a:pt x="213" y="92"/>
                  <a:pt x="213" y="106"/>
                </a:cubicBez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93" name="CuadroTexto 292"/>
          <p:cNvSpPr txBox="1"/>
          <p:nvPr/>
        </p:nvSpPr>
        <p:spPr>
          <a:xfrm>
            <a:off x="6514920" y="1643040"/>
            <a:ext cx="3228120" cy="253440"/>
          </a:xfrm>
          <a:prstGeom prst="rect">
            <a:avLst/>
          </a:prstGeom>
          <a:noFill/>
          <a:ln w="0">
            <a:noFill/>
          </a:ln>
        </p:spPr>
        <p:txBody>
          <a:bodyPr wrap="none" lIns="0" tIns="0" rIns="0" bIns="0" anchor="t">
            <a:spAutoFit/>
          </a:bodyPr>
          <a:lstStyle/>
          <a:p>
            <a:r>
              <a:rPr lang="en-US" sz="1800" b="0" u="none" strike="noStrike">
                <a:solidFill>
                  <a:srgbClr val="5B9BD5"/>
                </a:solidFill>
                <a:effectLst/>
                <a:uFillTx/>
                <a:latin typeface="CrimsonPro"/>
                <a:ea typeface="CrimsonPro"/>
              </a:rPr>
              <a:t>Estás en lo correcto si piensas que...</a:t>
            </a:r>
            <a:endParaRPr lang="en-US" sz="1800" b="0" u="none" strike="noStrike">
              <a:solidFill>
                <a:srgbClr val="000000"/>
              </a:solidFill>
              <a:effectLst/>
              <a:uFillTx/>
              <a:latin typeface="Times New Roman"/>
            </a:endParaRPr>
          </a:p>
        </p:txBody>
      </p:sp>
      <p:sp>
        <p:nvSpPr>
          <p:cNvPr id="294" name="CuadroTexto 293"/>
          <p:cNvSpPr txBox="1"/>
          <p:nvPr/>
        </p:nvSpPr>
        <p:spPr>
          <a:xfrm>
            <a:off x="6705720" y="2151360"/>
            <a:ext cx="466848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Deberías usarlos cuando la situación lo requiere y la implementación</a:t>
            </a:r>
            <a:endParaRPr lang="en-US" sz="1350" b="0" u="none" strike="noStrike">
              <a:solidFill>
                <a:srgbClr val="000000"/>
              </a:solidFill>
              <a:effectLst/>
              <a:uFillTx/>
              <a:latin typeface="Times New Roman"/>
            </a:endParaRPr>
          </a:p>
        </p:txBody>
      </p:sp>
      <p:sp>
        <p:nvSpPr>
          <p:cNvPr id="295" name="Forma libre: forma 294"/>
          <p:cNvSpPr/>
          <p:nvPr/>
        </p:nvSpPr>
        <p:spPr>
          <a:xfrm>
            <a:off x="6514920" y="2904840"/>
            <a:ext cx="76680" cy="76680"/>
          </a:xfrm>
          <a:custGeom>
            <a:avLst/>
            <a:gdLst/>
            <a:ahLst/>
            <a:cxnLst/>
            <a:rect l="0" t="0" r="r" b="b"/>
            <a:pathLst>
              <a:path w="213" h="213">
                <a:moveTo>
                  <a:pt x="213" y="107"/>
                </a:moveTo>
                <a:cubicBezTo>
                  <a:pt x="213" y="121"/>
                  <a:pt x="210" y="135"/>
                  <a:pt x="205" y="148"/>
                </a:cubicBezTo>
                <a:cubicBezTo>
                  <a:pt x="199" y="161"/>
                  <a:pt x="192" y="172"/>
                  <a:pt x="182" y="182"/>
                </a:cubicBezTo>
                <a:cubicBezTo>
                  <a:pt x="172" y="192"/>
                  <a:pt x="160"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7"/>
                </a:cubicBezTo>
                <a:cubicBezTo>
                  <a:pt x="13" y="53"/>
                  <a:pt x="21" y="41"/>
                  <a:pt x="31" y="31"/>
                </a:cubicBezTo>
                <a:cubicBezTo>
                  <a:pt x="41" y="21"/>
                  <a:pt x="52" y="14"/>
                  <a:pt x="65" y="8"/>
                </a:cubicBezTo>
                <a:cubicBezTo>
                  <a:pt x="78" y="3"/>
                  <a:pt x="92" y="0"/>
                  <a:pt x="106" y="0"/>
                </a:cubicBezTo>
                <a:cubicBezTo>
                  <a:pt x="120" y="0"/>
                  <a:pt x="133" y="3"/>
                  <a:pt x="146" y="8"/>
                </a:cubicBezTo>
                <a:cubicBezTo>
                  <a:pt x="160" y="14"/>
                  <a:pt x="172" y="21"/>
                  <a:pt x="182" y="31"/>
                </a:cubicBezTo>
                <a:cubicBezTo>
                  <a:pt x="192" y="41"/>
                  <a:pt x="199" y="53"/>
                  <a:pt x="205" y="67"/>
                </a:cubicBezTo>
                <a:cubicBezTo>
                  <a:pt x="210" y="80"/>
                  <a:pt x="213" y="93"/>
                  <a:pt x="213" y="107"/>
                </a:cubicBez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96" name="CuadroTexto 295"/>
          <p:cNvSpPr txBox="1"/>
          <p:nvPr/>
        </p:nvSpPr>
        <p:spPr>
          <a:xfrm>
            <a:off x="6705720" y="2427480"/>
            <a:ext cx="212508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mantiene tu código más simple</a:t>
            </a:r>
            <a:endParaRPr lang="en-US" sz="1350" b="0" u="none" strike="noStrike">
              <a:solidFill>
                <a:srgbClr val="000000"/>
              </a:solidFill>
              <a:effectLst/>
              <a:uFillTx/>
              <a:latin typeface="Times New Roman"/>
            </a:endParaRPr>
          </a:p>
        </p:txBody>
      </p:sp>
      <p:sp>
        <p:nvSpPr>
          <p:cNvPr id="297" name="CuadroTexto 296"/>
          <p:cNvSpPr txBox="1"/>
          <p:nvPr/>
        </p:nvSpPr>
        <p:spPr>
          <a:xfrm>
            <a:off x="6705720" y="2865960"/>
            <a:ext cx="436968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Los Patrones de diseño son una solución general para problemas</a:t>
            </a:r>
            <a:endParaRPr lang="en-US" sz="1350" b="0" u="none" strike="noStrike">
              <a:solidFill>
                <a:srgbClr val="000000"/>
              </a:solidFill>
              <a:effectLst/>
              <a:uFillTx/>
              <a:latin typeface="Times New Roman"/>
            </a:endParaRPr>
          </a:p>
        </p:txBody>
      </p:sp>
      <p:sp>
        <p:nvSpPr>
          <p:cNvPr id="298" name="Forma libre: forma 297"/>
          <p:cNvSpPr/>
          <p:nvPr/>
        </p:nvSpPr>
        <p:spPr>
          <a:xfrm>
            <a:off x="6514920" y="3609720"/>
            <a:ext cx="76680" cy="76680"/>
          </a:xfrm>
          <a:custGeom>
            <a:avLst/>
            <a:gdLst/>
            <a:ahLst/>
            <a:cxnLst/>
            <a:rect l="0" t="0" r="r" b="b"/>
            <a:pathLst>
              <a:path w="213" h="213">
                <a:moveTo>
                  <a:pt x="213" y="106"/>
                </a:moveTo>
                <a:cubicBezTo>
                  <a:pt x="213" y="120"/>
                  <a:pt x="210" y="134"/>
                  <a:pt x="205" y="147"/>
                </a:cubicBezTo>
                <a:cubicBezTo>
                  <a:pt x="199" y="160"/>
                  <a:pt x="192" y="171"/>
                  <a:pt x="182" y="181"/>
                </a:cubicBezTo>
                <a:cubicBezTo>
                  <a:pt x="172" y="191"/>
                  <a:pt x="160" y="198"/>
                  <a:pt x="146" y="204"/>
                </a:cubicBezTo>
                <a:cubicBezTo>
                  <a:pt x="133" y="210"/>
                  <a:pt x="120" y="213"/>
                  <a:pt x="106" y="213"/>
                </a:cubicBezTo>
                <a:cubicBezTo>
                  <a:pt x="92" y="213"/>
                  <a:pt x="78" y="210"/>
                  <a:pt x="65" y="204"/>
                </a:cubicBezTo>
                <a:cubicBezTo>
                  <a:pt x="52" y="198"/>
                  <a:pt x="41" y="191"/>
                  <a:pt x="31" y="181"/>
                </a:cubicBezTo>
                <a:cubicBezTo>
                  <a:pt x="21" y="171"/>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60" y="14"/>
                  <a:pt x="172" y="21"/>
                  <a:pt x="182" y="31"/>
                </a:cubicBezTo>
                <a:cubicBezTo>
                  <a:pt x="192" y="41"/>
                  <a:pt x="199" y="53"/>
                  <a:pt x="205" y="66"/>
                </a:cubicBezTo>
                <a:cubicBezTo>
                  <a:pt x="210" y="79"/>
                  <a:pt x="213" y="92"/>
                  <a:pt x="213" y="106"/>
                </a:cubicBez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299" name="CuadroTexto 298"/>
          <p:cNvSpPr txBox="1"/>
          <p:nvPr/>
        </p:nvSpPr>
        <p:spPr>
          <a:xfrm>
            <a:off x="6705720" y="3142080"/>
            <a:ext cx="41983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conocidos, pero se adaptan de acuerdo a contextos específicos</a:t>
            </a:r>
            <a:endParaRPr lang="en-US" sz="1350" b="0" u="none" strike="noStrike">
              <a:solidFill>
                <a:srgbClr val="000000"/>
              </a:solidFill>
              <a:effectLst/>
              <a:uFillTx/>
              <a:latin typeface="Times New Roman"/>
            </a:endParaRPr>
          </a:p>
        </p:txBody>
      </p:sp>
      <p:sp>
        <p:nvSpPr>
          <p:cNvPr id="300" name="CuadroTexto 299"/>
          <p:cNvSpPr txBox="1"/>
          <p:nvPr/>
        </p:nvSpPr>
        <p:spPr>
          <a:xfrm>
            <a:off x="6705720" y="3570480"/>
            <a:ext cx="440460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Conoces de patrones de diseño y eres capaz de identificar cuando</a:t>
            </a:r>
            <a:endParaRPr lang="en-US" sz="1350" b="0" u="none" strike="noStrike">
              <a:solidFill>
                <a:srgbClr val="000000"/>
              </a:solidFill>
              <a:effectLst/>
              <a:uFillTx/>
              <a:latin typeface="Times New Roman"/>
            </a:endParaRPr>
          </a:p>
        </p:txBody>
      </p:sp>
      <p:sp>
        <p:nvSpPr>
          <p:cNvPr id="301" name="Forma libre: forma 300"/>
          <p:cNvSpPr/>
          <p:nvPr/>
        </p:nvSpPr>
        <p:spPr>
          <a:xfrm>
            <a:off x="6514920" y="4324320"/>
            <a:ext cx="76680" cy="76320"/>
          </a:xfrm>
          <a:custGeom>
            <a:avLst/>
            <a:gdLst/>
            <a:ahLst/>
            <a:cxnLst/>
            <a:rect l="0" t="0" r="r" b="b"/>
            <a:pathLst>
              <a:path w="213" h="212">
                <a:moveTo>
                  <a:pt x="213" y="105"/>
                </a:moveTo>
                <a:cubicBezTo>
                  <a:pt x="213" y="119"/>
                  <a:pt x="210" y="134"/>
                  <a:pt x="205" y="147"/>
                </a:cubicBezTo>
                <a:cubicBezTo>
                  <a:pt x="199" y="160"/>
                  <a:pt x="192" y="171"/>
                  <a:pt x="182" y="181"/>
                </a:cubicBezTo>
                <a:cubicBezTo>
                  <a:pt x="172" y="191"/>
                  <a:pt x="160"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19"/>
                  <a:pt x="0" y="105"/>
                </a:cubicBezTo>
                <a:cubicBezTo>
                  <a:pt x="0" y="91"/>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60" y="13"/>
                  <a:pt x="172" y="21"/>
                  <a:pt x="182" y="31"/>
                </a:cubicBezTo>
                <a:cubicBezTo>
                  <a:pt x="192" y="41"/>
                  <a:pt x="199" y="52"/>
                  <a:pt x="205" y="65"/>
                </a:cubicBezTo>
                <a:cubicBezTo>
                  <a:pt x="210" y="78"/>
                  <a:pt x="213" y="91"/>
                  <a:pt x="213" y="105"/>
                </a:cubicBez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02" name="CuadroTexto 301"/>
          <p:cNvSpPr txBox="1"/>
          <p:nvPr/>
        </p:nvSpPr>
        <p:spPr>
          <a:xfrm>
            <a:off x="6705720" y="3846960"/>
            <a:ext cx="49428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usarlos</a:t>
            </a:r>
            <a:endParaRPr lang="en-US" sz="1350" b="0" u="none" strike="noStrike">
              <a:solidFill>
                <a:srgbClr val="000000"/>
              </a:solidFill>
              <a:effectLst/>
              <a:uFillTx/>
              <a:latin typeface="Times New Roman"/>
            </a:endParaRPr>
          </a:p>
        </p:txBody>
      </p:sp>
      <p:sp>
        <p:nvSpPr>
          <p:cNvPr id="303" name="CuadroTexto 302"/>
          <p:cNvSpPr txBox="1"/>
          <p:nvPr/>
        </p:nvSpPr>
        <p:spPr>
          <a:xfrm>
            <a:off x="6705720" y="4285080"/>
            <a:ext cx="43909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Los Patrones de Diseño ayudan a hacer el código más expresivo y</a:t>
            </a:r>
            <a:endParaRPr lang="en-US" sz="1350" b="0" u="none" strike="noStrike">
              <a:solidFill>
                <a:srgbClr val="000000"/>
              </a:solidFill>
              <a:effectLst/>
              <a:uFillTx/>
              <a:latin typeface="Times New Roman"/>
            </a:endParaRPr>
          </a:p>
        </p:txBody>
      </p:sp>
      <p:sp>
        <p:nvSpPr>
          <p:cNvPr id="304" name="Forma libre: forma 303"/>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05" name="CuadroTexto 304"/>
          <p:cNvSpPr txBox="1"/>
          <p:nvPr/>
        </p:nvSpPr>
        <p:spPr>
          <a:xfrm>
            <a:off x="6705720" y="4561200"/>
            <a:ext cx="111708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menos complejo</a:t>
            </a:r>
            <a:endParaRPr lang="en-US" sz="1350" b="0" u="none" strike="noStrike">
              <a:solidFill>
                <a:srgbClr val="000000"/>
              </a:solidFill>
              <a:effectLst/>
              <a:uFillTx/>
              <a:latin typeface="Times New Roman"/>
            </a:endParaRPr>
          </a:p>
        </p:txBody>
      </p:sp>
      <p:sp>
        <p:nvSpPr>
          <p:cNvPr id="306" name="CuadroTexto 305"/>
          <p:cNvSpPr txBox="1"/>
          <p:nvPr/>
        </p:nvSpPr>
        <p:spPr>
          <a:xfrm>
            <a:off x="571320" y="6083280"/>
            <a:ext cx="176436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Tomado de nearsoftjobs.com</a:t>
            </a:r>
            <a:endParaRPr lang="en-US" sz="1200" b="0" u="none" strike="noStrike">
              <a:solidFill>
                <a:srgbClr val="000000"/>
              </a:solidFill>
              <a:effectLst/>
              <a:uFillTx/>
              <a:latin typeface="Times New Roman"/>
            </a:endParaRPr>
          </a:p>
        </p:txBody>
      </p:sp>
      <p:sp>
        <p:nvSpPr>
          <p:cNvPr id="307" name="CuadroTexto 306"/>
          <p:cNvSpPr txBox="1"/>
          <p:nvPr/>
        </p:nvSpPr>
        <p:spPr>
          <a:xfrm>
            <a:off x="11497680" y="60832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13</a:t>
            </a:r>
            <a:endParaRPr lang="en-US" sz="12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0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 grpId="0" animBg="1"/>
      <p:bldP spid="281" grpId="0" animBg="1"/>
      <p:bldP spid="283" grpId="0" animBg="1"/>
      <p:bldP spid="284" grpId="0"/>
      <p:bldP spid="285" grpId="0" animBg="1"/>
      <p:bldP spid="286" grpId="0"/>
      <p:bldP spid="287" grpId="0" animBg="1"/>
      <p:bldP spid="288" grpId="0"/>
      <p:bldP spid="289" grpId="0" animBg="1"/>
      <p:bldP spid="290" grpId="0" animBg="1"/>
      <p:bldP spid="291" grpId="0"/>
      <p:bldP spid="292" grpId="0" animBg="1"/>
      <p:bldP spid="293" grpId="0"/>
      <p:bldP spid="294" grpId="0"/>
      <p:bldP spid="295" grpId="0" animBg="1"/>
      <p:bldP spid="296" grpId="0"/>
      <p:bldP spid="297" grpId="0"/>
      <p:bldP spid="298" grpId="0" animBg="1"/>
      <p:bldP spid="299" grpId="0"/>
      <p:bldP spid="300" grpId="0"/>
      <p:bldP spid="301" grpId="0" animBg="1"/>
      <p:bldP spid="302" grpId="0"/>
      <p:bldP spid="303" grpId="0"/>
      <p:bldP spid="305" grpId="0"/>
      <p:bldP spid="30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Forma libre: forma 309"/>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11" name="Forma libre: forma 310"/>
          <p:cNvSpPr/>
          <p:nvPr/>
        </p:nvSpPr>
        <p:spPr>
          <a:xfrm>
            <a:off x="590400" y="2124000"/>
            <a:ext cx="3515040" cy="2362320"/>
          </a:xfrm>
          <a:custGeom>
            <a:avLst/>
            <a:gdLst/>
            <a:ahLst/>
            <a:cxnLst/>
            <a:rect l="0" t="0" r="r" b="b"/>
            <a:pathLst>
              <a:path w="9764" h="6562">
                <a:moveTo>
                  <a:pt x="0" y="6351"/>
                </a:moveTo>
                <a:lnTo>
                  <a:pt x="0" y="211"/>
                </a:lnTo>
                <a:cubicBezTo>
                  <a:pt x="0" y="197"/>
                  <a:pt x="1" y="184"/>
                  <a:pt x="3" y="170"/>
                </a:cubicBezTo>
                <a:cubicBezTo>
                  <a:pt x="5" y="156"/>
                  <a:pt x="8" y="143"/>
                  <a:pt x="12" y="130"/>
                </a:cubicBezTo>
                <a:cubicBezTo>
                  <a:pt x="16" y="118"/>
                  <a:pt x="21" y="105"/>
                  <a:pt x="27" y="94"/>
                </a:cubicBezTo>
                <a:cubicBezTo>
                  <a:pt x="32" y="82"/>
                  <a:pt x="39" y="72"/>
                  <a:pt x="46" y="62"/>
                </a:cubicBezTo>
                <a:cubicBezTo>
                  <a:pt x="54" y="52"/>
                  <a:pt x="62" y="43"/>
                  <a:pt x="70" y="35"/>
                </a:cubicBezTo>
                <a:cubicBezTo>
                  <a:pt x="79" y="28"/>
                  <a:pt x="88" y="21"/>
                  <a:pt x="98" y="16"/>
                </a:cubicBezTo>
                <a:cubicBezTo>
                  <a:pt x="108" y="11"/>
                  <a:pt x="117" y="6"/>
                  <a:pt x="128" y="4"/>
                </a:cubicBezTo>
                <a:cubicBezTo>
                  <a:pt x="138" y="1"/>
                  <a:pt x="148" y="0"/>
                  <a:pt x="159" y="0"/>
                </a:cubicBezTo>
                <a:lnTo>
                  <a:pt x="9552" y="0"/>
                </a:lnTo>
                <a:cubicBezTo>
                  <a:pt x="9566" y="0"/>
                  <a:pt x="9580" y="1"/>
                  <a:pt x="9594" y="4"/>
                </a:cubicBezTo>
                <a:cubicBezTo>
                  <a:pt x="9607" y="6"/>
                  <a:pt x="9621" y="11"/>
                  <a:pt x="9633" y="16"/>
                </a:cubicBezTo>
                <a:cubicBezTo>
                  <a:pt x="9646" y="21"/>
                  <a:pt x="9658" y="28"/>
                  <a:pt x="9670" y="35"/>
                </a:cubicBezTo>
                <a:cubicBezTo>
                  <a:pt x="9682" y="43"/>
                  <a:pt x="9692" y="52"/>
                  <a:pt x="9702" y="62"/>
                </a:cubicBezTo>
                <a:cubicBezTo>
                  <a:pt x="9712" y="72"/>
                  <a:pt x="9721" y="82"/>
                  <a:pt x="9728" y="94"/>
                </a:cubicBezTo>
                <a:cubicBezTo>
                  <a:pt x="9736" y="105"/>
                  <a:pt x="9743" y="118"/>
                  <a:pt x="9748" y="130"/>
                </a:cubicBezTo>
                <a:cubicBezTo>
                  <a:pt x="9753" y="143"/>
                  <a:pt x="9757" y="156"/>
                  <a:pt x="9760" y="170"/>
                </a:cubicBezTo>
                <a:cubicBezTo>
                  <a:pt x="9763" y="184"/>
                  <a:pt x="9764" y="197"/>
                  <a:pt x="9764" y="211"/>
                </a:cubicBezTo>
                <a:lnTo>
                  <a:pt x="9764" y="6351"/>
                </a:lnTo>
                <a:cubicBezTo>
                  <a:pt x="9764" y="6365"/>
                  <a:pt x="9763" y="6378"/>
                  <a:pt x="9760" y="6392"/>
                </a:cubicBezTo>
                <a:cubicBezTo>
                  <a:pt x="9757" y="6406"/>
                  <a:pt x="9753" y="6419"/>
                  <a:pt x="9748" y="6432"/>
                </a:cubicBezTo>
                <a:cubicBezTo>
                  <a:pt x="9743" y="6445"/>
                  <a:pt x="9736" y="6457"/>
                  <a:pt x="9728" y="6468"/>
                </a:cubicBezTo>
                <a:cubicBezTo>
                  <a:pt x="9721" y="6480"/>
                  <a:pt x="9712" y="6491"/>
                  <a:pt x="9702" y="6500"/>
                </a:cubicBezTo>
                <a:cubicBezTo>
                  <a:pt x="9692" y="6510"/>
                  <a:pt x="9682" y="6519"/>
                  <a:pt x="9670" y="6527"/>
                </a:cubicBezTo>
                <a:cubicBezTo>
                  <a:pt x="9658" y="6534"/>
                  <a:pt x="9646" y="6541"/>
                  <a:pt x="9633" y="6546"/>
                </a:cubicBezTo>
                <a:cubicBezTo>
                  <a:pt x="9621" y="6552"/>
                  <a:pt x="9607" y="6556"/>
                  <a:pt x="9594" y="6558"/>
                </a:cubicBezTo>
                <a:cubicBezTo>
                  <a:pt x="9580" y="6561"/>
                  <a:pt x="9566" y="6562"/>
                  <a:pt x="9552" y="6562"/>
                </a:cubicBezTo>
                <a:lnTo>
                  <a:pt x="159" y="6562"/>
                </a:lnTo>
                <a:cubicBezTo>
                  <a:pt x="148" y="6562"/>
                  <a:pt x="138" y="6561"/>
                  <a:pt x="128" y="6558"/>
                </a:cubicBezTo>
                <a:cubicBezTo>
                  <a:pt x="117" y="6556"/>
                  <a:pt x="108" y="6552"/>
                  <a:pt x="98" y="6546"/>
                </a:cubicBezTo>
                <a:cubicBezTo>
                  <a:pt x="88" y="6541"/>
                  <a:pt x="79" y="6534"/>
                  <a:pt x="70" y="6527"/>
                </a:cubicBezTo>
                <a:cubicBezTo>
                  <a:pt x="62" y="6519"/>
                  <a:pt x="54" y="6510"/>
                  <a:pt x="46" y="6500"/>
                </a:cubicBezTo>
                <a:cubicBezTo>
                  <a:pt x="39" y="6491"/>
                  <a:pt x="32" y="6480"/>
                  <a:pt x="27" y="6468"/>
                </a:cubicBezTo>
                <a:cubicBezTo>
                  <a:pt x="21" y="6457"/>
                  <a:pt x="16" y="6445"/>
                  <a:pt x="12" y="6432"/>
                </a:cubicBezTo>
                <a:cubicBezTo>
                  <a:pt x="8" y="6419"/>
                  <a:pt x="5" y="6406"/>
                  <a:pt x="3" y="6392"/>
                </a:cubicBezTo>
                <a:cubicBezTo>
                  <a:pt x="1" y="6378"/>
                  <a:pt x="0" y="6365"/>
                  <a:pt x="0" y="6351"/>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12" name="Forma libre: forma 311"/>
          <p:cNvSpPr/>
          <p:nvPr/>
        </p:nvSpPr>
        <p:spPr>
          <a:xfrm>
            <a:off x="571320" y="2124000"/>
            <a:ext cx="76680" cy="2362320"/>
          </a:xfrm>
          <a:custGeom>
            <a:avLst/>
            <a:gdLst/>
            <a:ahLst/>
            <a:cxnLst/>
            <a:rect l="0" t="0" r="r" b="b"/>
            <a:pathLst>
              <a:path w="213" h="6562">
                <a:moveTo>
                  <a:pt x="0" y="0"/>
                </a:moveTo>
                <a:lnTo>
                  <a:pt x="213" y="0"/>
                </a:lnTo>
                <a:lnTo>
                  <a:pt x="213" y="6562"/>
                </a:lnTo>
                <a:lnTo>
                  <a:pt x="0" y="6562"/>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13" name="CuadroTexto 312"/>
          <p:cNvSpPr txBox="1"/>
          <p:nvPr/>
        </p:nvSpPr>
        <p:spPr>
          <a:xfrm>
            <a:off x="571320" y="569160"/>
            <a:ext cx="524880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Clasificación de los patrones de diseño</a:t>
            </a:r>
            <a:endParaRPr lang="en-US" sz="2700" b="0" u="none" strike="noStrike">
              <a:solidFill>
                <a:srgbClr val="000000"/>
              </a:solidFill>
              <a:effectLst/>
              <a:uFillTx/>
              <a:latin typeface="Times New Roman"/>
            </a:endParaRPr>
          </a:p>
        </p:txBody>
      </p:sp>
      <p:sp>
        <p:nvSpPr>
          <p:cNvPr id="314" name="CuadroTexto 313"/>
          <p:cNvSpPr txBox="1"/>
          <p:nvPr/>
        </p:nvSpPr>
        <p:spPr>
          <a:xfrm>
            <a:off x="838080" y="2382120"/>
            <a:ext cx="1680840" cy="212040"/>
          </a:xfrm>
          <a:prstGeom prst="rect">
            <a:avLst/>
          </a:prstGeom>
          <a:noFill/>
          <a:ln w="0">
            <a:noFill/>
          </a:ln>
        </p:spPr>
        <p:txBody>
          <a:bodyPr wrap="none" lIns="0" tIns="0" rIns="0" bIns="0" anchor="t">
            <a:spAutoFit/>
          </a:bodyPr>
          <a:lstStyle/>
          <a:p>
            <a:r>
              <a:rPr lang="en-US" sz="1500" b="0" u="none" strike="noStrike">
                <a:solidFill>
                  <a:srgbClr val="DA7756"/>
                </a:solidFill>
                <a:effectLst/>
                <a:uFillTx/>
                <a:latin typeface="CrimsonPro"/>
                <a:ea typeface="CrimsonPro"/>
              </a:rPr>
              <a:t>Patrones Creacionales</a:t>
            </a:r>
            <a:endParaRPr lang="en-US" sz="1500" b="0" u="none" strike="noStrike">
              <a:solidFill>
                <a:srgbClr val="000000"/>
              </a:solidFill>
              <a:effectLst/>
              <a:uFillTx/>
              <a:latin typeface="Times New Roman"/>
            </a:endParaRPr>
          </a:p>
        </p:txBody>
      </p:sp>
      <p:sp>
        <p:nvSpPr>
          <p:cNvPr id="315" name="CuadroTexto 314"/>
          <p:cNvSpPr txBox="1"/>
          <p:nvPr/>
        </p:nvSpPr>
        <p:spPr>
          <a:xfrm>
            <a:off x="838080" y="2806560"/>
            <a:ext cx="28929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Proveen las técnicas para crear objetos. Algunos</a:t>
            </a:r>
            <a:endParaRPr lang="en-US" sz="1200" b="0" u="none" strike="noStrike">
              <a:solidFill>
                <a:srgbClr val="000000"/>
              </a:solidFill>
              <a:effectLst/>
              <a:uFillTx/>
              <a:latin typeface="Times New Roman"/>
            </a:endParaRPr>
          </a:p>
        </p:txBody>
      </p:sp>
      <p:sp>
        <p:nvSpPr>
          <p:cNvPr id="316" name="Forma libre: forma 315"/>
          <p:cNvSpPr/>
          <p:nvPr/>
        </p:nvSpPr>
        <p:spPr>
          <a:xfrm>
            <a:off x="838080" y="3495600"/>
            <a:ext cx="57600" cy="57240"/>
          </a:xfrm>
          <a:custGeom>
            <a:avLst/>
            <a:gdLst/>
            <a:ahLst/>
            <a:cxnLst/>
            <a:rect l="0" t="0" r="r" b="b"/>
            <a:pathLst>
              <a:path w="160" h="159">
                <a:moveTo>
                  <a:pt x="160" y="80"/>
                </a:moveTo>
                <a:cubicBezTo>
                  <a:pt x="160" y="91"/>
                  <a:pt x="158" y="101"/>
                  <a:pt x="154" y="110"/>
                </a:cubicBezTo>
                <a:cubicBezTo>
                  <a:pt x="150" y="120"/>
                  <a:pt x="144" y="129"/>
                  <a:pt x="136" y="136"/>
                </a:cubicBezTo>
                <a:cubicBezTo>
                  <a:pt x="129" y="144"/>
                  <a:pt x="119" y="149"/>
                  <a:pt x="110" y="153"/>
                </a:cubicBezTo>
                <a:cubicBezTo>
                  <a:pt x="100" y="157"/>
                  <a:pt x="90" y="159"/>
                  <a:pt x="79" y="159"/>
                </a:cubicBezTo>
                <a:cubicBezTo>
                  <a:pt x="69" y="159"/>
                  <a:pt x="59" y="157"/>
                  <a:pt x="49" y="153"/>
                </a:cubicBezTo>
                <a:cubicBezTo>
                  <a:pt x="39" y="149"/>
                  <a:pt x="31" y="144"/>
                  <a:pt x="23" y="136"/>
                </a:cubicBezTo>
                <a:cubicBezTo>
                  <a:pt x="16" y="129"/>
                  <a:pt x="10" y="120"/>
                  <a:pt x="6" y="110"/>
                </a:cubicBezTo>
                <a:cubicBezTo>
                  <a:pt x="2" y="101"/>
                  <a:pt x="0" y="91"/>
                  <a:pt x="0" y="80"/>
                </a:cubicBezTo>
                <a:cubicBezTo>
                  <a:pt x="0" y="70"/>
                  <a:pt x="2" y="59"/>
                  <a:pt x="6" y="50"/>
                </a:cubicBezTo>
                <a:cubicBezTo>
                  <a:pt x="10" y="40"/>
                  <a:pt x="16" y="31"/>
                  <a:pt x="23" y="24"/>
                </a:cubicBezTo>
                <a:cubicBezTo>
                  <a:pt x="31" y="17"/>
                  <a:pt x="39" y="11"/>
                  <a:pt x="49" y="6"/>
                </a:cubicBezTo>
                <a:cubicBezTo>
                  <a:pt x="59" y="2"/>
                  <a:pt x="69" y="0"/>
                  <a:pt x="79" y="0"/>
                </a:cubicBezTo>
                <a:cubicBezTo>
                  <a:pt x="90" y="0"/>
                  <a:pt x="100" y="2"/>
                  <a:pt x="110" y="6"/>
                </a:cubicBezTo>
                <a:cubicBezTo>
                  <a:pt x="119" y="11"/>
                  <a:pt x="129" y="17"/>
                  <a:pt x="136" y="24"/>
                </a:cubicBezTo>
                <a:cubicBezTo>
                  <a:pt x="144" y="31"/>
                  <a:pt x="150" y="40"/>
                  <a:pt x="154" y="50"/>
                </a:cubicBezTo>
                <a:cubicBezTo>
                  <a:pt x="158" y="59"/>
                  <a:pt x="160" y="70"/>
                  <a:pt x="160" y="80"/>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17" name="CuadroTexto 316"/>
          <p:cNvSpPr txBox="1"/>
          <p:nvPr/>
        </p:nvSpPr>
        <p:spPr>
          <a:xfrm>
            <a:off x="838080" y="3054240"/>
            <a:ext cx="83088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ejemplos son:</a:t>
            </a:r>
            <a:endParaRPr lang="en-US" sz="1200" b="0" u="none" strike="noStrike">
              <a:solidFill>
                <a:srgbClr val="000000"/>
              </a:solidFill>
              <a:effectLst/>
              <a:uFillTx/>
              <a:latin typeface="Times New Roman"/>
            </a:endParaRPr>
          </a:p>
        </p:txBody>
      </p:sp>
      <p:sp>
        <p:nvSpPr>
          <p:cNvPr id="318" name="Forma libre: forma 317"/>
          <p:cNvSpPr/>
          <p:nvPr/>
        </p:nvSpPr>
        <p:spPr>
          <a:xfrm>
            <a:off x="838080" y="3800160"/>
            <a:ext cx="57600" cy="57600"/>
          </a:xfrm>
          <a:custGeom>
            <a:avLst/>
            <a:gdLst/>
            <a:ahLst/>
            <a:cxnLst/>
            <a:rect l="0" t="0" r="r" b="b"/>
            <a:pathLst>
              <a:path w="160" h="160">
                <a:moveTo>
                  <a:pt x="160" y="80"/>
                </a:moveTo>
                <a:cubicBezTo>
                  <a:pt x="160" y="90"/>
                  <a:pt x="158" y="100"/>
                  <a:pt x="154" y="111"/>
                </a:cubicBezTo>
                <a:cubicBezTo>
                  <a:pt x="150" y="121"/>
                  <a:pt x="144" y="129"/>
                  <a:pt x="136" y="137"/>
                </a:cubicBezTo>
                <a:cubicBezTo>
                  <a:pt x="129" y="144"/>
                  <a:pt x="119" y="150"/>
                  <a:pt x="110" y="154"/>
                </a:cubicBezTo>
                <a:cubicBezTo>
                  <a:pt x="100" y="158"/>
                  <a:pt x="90" y="160"/>
                  <a:pt x="79" y="160"/>
                </a:cubicBezTo>
                <a:cubicBezTo>
                  <a:pt x="69" y="160"/>
                  <a:pt x="59" y="158"/>
                  <a:pt x="49" y="154"/>
                </a:cubicBezTo>
                <a:cubicBezTo>
                  <a:pt x="39" y="150"/>
                  <a:pt x="31" y="144"/>
                  <a:pt x="23" y="137"/>
                </a:cubicBezTo>
                <a:cubicBezTo>
                  <a:pt x="16" y="129"/>
                  <a:pt x="10" y="121"/>
                  <a:pt x="6" y="111"/>
                </a:cubicBezTo>
                <a:cubicBezTo>
                  <a:pt x="2" y="100"/>
                  <a:pt x="0" y="90"/>
                  <a:pt x="0" y="80"/>
                </a:cubicBezTo>
                <a:cubicBezTo>
                  <a:pt x="0" y="69"/>
                  <a:pt x="2" y="59"/>
                  <a:pt x="6" y="49"/>
                </a:cubicBezTo>
                <a:cubicBezTo>
                  <a:pt x="10" y="40"/>
                  <a:pt x="16" y="31"/>
                  <a:pt x="23" y="24"/>
                </a:cubicBezTo>
                <a:cubicBezTo>
                  <a:pt x="31" y="16"/>
                  <a:pt x="39" y="10"/>
                  <a:pt x="49" y="6"/>
                </a:cubicBezTo>
                <a:cubicBezTo>
                  <a:pt x="59" y="2"/>
                  <a:pt x="69" y="0"/>
                  <a:pt x="79" y="0"/>
                </a:cubicBezTo>
                <a:cubicBezTo>
                  <a:pt x="90" y="0"/>
                  <a:pt x="100" y="2"/>
                  <a:pt x="110" y="6"/>
                </a:cubicBezTo>
                <a:cubicBezTo>
                  <a:pt x="119" y="10"/>
                  <a:pt x="129" y="16"/>
                  <a:pt x="136" y="24"/>
                </a:cubicBezTo>
                <a:cubicBezTo>
                  <a:pt x="144" y="31"/>
                  <a:pt x="150" y="40"/>
                  <a:pt x="154" y="49"/>
                </a:cubicBezTo>
                <a:cubicBezTo>
                  <a:pt x="158" y="59"/>
                  <a:pt x="160" y="69"/>
                  <a:pt x="160" y="80"/>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19" name="CuadroTexto 318"/>
          <p:cNvSpPr txBox="1"/>
          <p:nvPr/>
        </p:nvSpPr>
        <p:spPr>
          <a:xfrm>
            <a:off x="971640" y="3444840"/>
            <a:ext cx="166536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Singleton (Instancia Única)</a:t>
            </a:r>
            <a:endParaRPr lang="en-US" sz="1200" b="0" u="none" strike="noStrike">
              <a:solidFill>
                <a:srgbClr val="000000"/>
              </a:solidFill>
              <a:effectLst/>
              <a:uFillTx/>
              <a:latin typeface="Times New Roman"/>
            </a:endParaRPr>
          </a:p>
        </p:txBody>
      </p:sp>
      <p:sp>
        <p:nvSpPr>
          <p:cNvPr id="320" name="Forma libre: forma 319"/>
          <p:cNvSpPr/>
          <p:nvPr/>
        </p:nvSpPr>
        <p:spPr>
          <a:xfrm>
            <a:off x="838080" y="4105080"/>
            <a:ext cx="57600" cy="57600"/>
          </a:xfrm>
          <a:custGeom>
            <a:avLst/>
            <a:gdLst/>
            <a:ahLst/>
            <a:cxnLst/>
            <a:rect l="0" t="0" r="r" b="b"/>
            <a:pathLst>
              <a:path w="160" h="160">
                <a:moveTo>
                  <a:pt x="160" y="80"/>
                </a:moveTo>
                <a:cubicBezTo>
                  <a:pt x="160" y="91"/>
                  <a:pt x="158" y="101"/>
                  <a:pt x="154" y="111"/>
                </a:cubicBezTo>
                <a:cubicBezTo>
                  <a:pt x="150" y="121"/>
                  <a:pt x="144" y="129"/>
                  <a:pt x="136" y="137"/>
                </a:cubicBezTo>
                <a:cubicBezTo>
                  <a:pt x="129" y="144"/>
                  <a:pt x="119" y="150"/>
                  <a:pt x="110" y="154"/>
                </a:cubicBezTo>
                <a:cubicBezTo>
                  <a:pt x="100" y="158"/>
                  <a:pt x="90" y="160"/>
                  <a:pt x="79" y="160"/>
                </a:cubicBezTo>
                <a:cubicBezTo>
                  <a:pt x="69" y="160"/>
                  <a:pt x="59" y="158"/>
                  <a:pt x="49" y="154"/>
                </a:cubicBezTo>
                <a:cubicBezTo>
                  <a:pt x="39" y="150"/>
                  <a:pt x="31" y="144"/>
                  <a:pt x="23" y="137"/>
                </a:cubicBezTo>
                <a:cubicBezTo>
                  <a:pt x="16" y="129"/>
                  <a:pt x="10" y="121"/>
                  <a:pt x="6" y="111"/>
                </a:cubicBezTo>
                <a:cubicBezTo>
                  <a:pt x="2" y="101"/>
                  <a:pt x="0" y="91"/>
                  <a:pt x="0" y="80"/>
                </a:cubicBezTo>
                <a:cubicBezTo>
                  <a:pt x="0" y="70"/>
                  <a:pt x="2" y="60"/>
                  <a:pt x="6" y="49"/>
                </a:cubicBezTo>
                <a:cubicBezTo>
                  <a:pt x="10" y="39"/>
                  <a:pt x="16" y="31"/>
                  <a:pt x="23" y="23"/>
                </a:cubicBezTo>
                <a:cubicBezTo>
                  <a:pt x="31" y="16"/>
                  <a:pt x="39" y="10"/>
                  <a:pt x="49" y="6"/>
                </a:cubicBezTo>
                <a:cubicBezTo>
                  <a:pt x="59" y="2"/>
                  <a:pt x="69" y="0"/>
                  <a:pt x="79" y="0"/>
                </a:cubicBezTo>
                <a:cubicBezTo>
                  <a:pt x="90" y="0"/>
                  <a:pt x="100" y="2"/>
                  <a:pt x="110" y="6"/>
                </a:cubicBezTo>
                <a:cubicBezTo>
                  <a:pt x="119" y="10"/>
                  <a:pt x="129" y="16"/>
                  <a:pt x="136" y="23"/>
                </a:cubicBezTo>
                <a:cubicBezTo>
                  <a:pt x="144" y="31"/>
                  <a:pt x="150" y="39"/>
                  <a:pt x="154" y="49"/>
                </a:cubicBezTo>
                <a:cubicBezTo>
                  <a:pt x="158" y="60"/>
                  <a:pt x="160" y="70"/>
                  <a:pt x="160" y="80"/>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21" name="CuadroTexto 320"/>
          <p:cNvSpPr txBox="1"/>
          <p:nvPr/>
        </p:nvSpPr>
        <p:spPr>
          <a:xfrm>
            <a:off x="971640" y="3749760"/>
            <a:ext cx="220284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Abstract Factory (Fábrica Abstracta)</a:t>
            </a:r>
            <a:endParaRPr lang="en-US" sz="1200" b="0" u="none" strike="noStrike">
              <a:solidFill>
                <a:srgbClr val="000000"/>
              </a:solidFill>
              <a:effectLst/>
              <a:uFillTx/>
              <a:latin typeface="Times New Roman"/>
            </a:endParaRPr>
          </a:p>
        </p:txBody>
      </p:sp>
      <p:sp>
        <p:nvSpPr>
          <p:cNvPr id="322" name="Forma libre: forma 321"/>
          <p:cNvSpPr/>
          <p:nvPr/>
        </p:nvSpPr>
        <p:spPr>
          <a:xfrm>
            <a:off x="4352760" y="2124000"/>
            <a:ext cx="3505680" cy="2362320"/>
          </a:xfrm>
          <a:custGeom>
            <a:avLst/>
            <a:gdLst/>
            <a:ahLst/>
            <a:cxnLst/>
            <a:rect l="0" t="0" r="r" b="b"/>
            <a:pathLst>
              <a:path w="9738" h="6562">
                <a:moveTo>
                  <a:pt x="0" y="6351"/>
                </a:moveTo>
                <a:lnTo>
                  <a:pt x="0" y="211"/>
                </a:lnTo>
                <a:cubicBezTo>
                  <a:pt x="0" y="197"/>
                  <a:pt x="1" y="184"/>
                  <a:pt x="3" y="170"/>
                </a:cubicBezTo>
                <a:cubicBezTo>
                  <a:pt x="5" y="156"/>
                  <a:pt x="8" y="143"/>
                  <a:pt x="12" y="130"/>
                </a:cubicBezTo>
                <a:cubicBezTo>
                  <a:pt x="16" y="118"/>
                  <a:pt x="21" y="105"/>
                  <a:pt x="27" y="94"/>
                </a:cubicBezTo>
                <a:cubicBezTo>
                  <a:pt x="33" y="82"/>
                  <a:pt x="39" y="72"/>
                  <a:pt x="46" y="62"/>
                </a:cubicBezTo>
                <a:cubicBezTo>
                  <a:pt x="54" y="52"/>
                  <a:pt x="62" y="43"/>
                  <a:pt x="71" y="35"/>
                </a:cubicBezTo>
                <a:cubicBezTo>
                  <a:pt x="79" y="28"/>
                  <a:pt x="88" y="21"/>
                  <a:pt x="98" y="16"/>
                </a:cubicBezTo>
                <a:cubicBezTo>
                  <a:pt x="108" y="11"/>
                  <a:pt x="118" y="6"/>
                  <a:pt x="128" y="4"/>
                </a:cubicBezTo>
                <a:cubicBezTo>
                  <a:pt x="138" y="1"/>
                  <a:pt x="148" y="0"/>
                  <a:pt x="159" y="0"/>
                </a:cubicBezTo>
                <a:lnTo>
                  <a:pt x="9526" y="0"/>
                </a:lnTo>
                <a:cubicBezTo>
                  <a:pt x="9540" y="0"/>
                  <a:pt x="9554" y="1"/>
                  <a:pt x="9567" y="4"/>
                </a:cubicBezTo>
                <a:cubicBezTo>
                  <a:pt x="9581" y="6"/>
                  <a:pt x="9594" y="11"/>
                  <a:pt x="9607" y="16"/>
                </a:cubicBezTo>
                <a:cubicBezTo>
                  <a:pt x="9620" y="21"/>
                  <a:pt x="9632" y="28"/>
                  <a:pt x="9644" y="35"/>
                </a:cubicBezTo>
                <a:cubicBezTo>
                  <a:pt x="9655" y="43"/>
                  <a:pt x="9666" y="52"/>
                  <a:pt x="9676" y="62"/>
                </a:cubicBezTo>
                <a:cubicBezTo>
                  <a:pt x="9685" y="72"/>
                  <a:pt x="9694" y="82"/>
                  <a:pt x="9702" y="94"/>
                </a:cubicBezTo>
                <a:cubicBezTo>
                  <a:pt x="9710" y="105"/>
                  <a:pt x="9716" y="118"/>
                  <a:pt x="9722" y="130"/>
                </a:cubicBezTo>
                <a:cubicBezTo>
                  <a:pt x="9727" y="143"/>
                  <a:pt x="9731" y="156"/>
                  <a:pt x="9734" y="170"/>
                </a:cubicBezTo>
                <a:cubicBezTo>
                  <a:pt x="9736" y="184"/>
                  <a:pt x="9738" y="197"/>
                  <a:pt x="9738" y="211"/>
                </a:cubicBezTo>
                <a:lnTo>
                  <a:pt x="9738" y="6351"/>
                </a:lnTo>
                <a:cubicBezTo>
                  <a:pt x="9738" y="6365"/>
                  <a:pt x="9736" y="6378"/>
                  <a:pt x="9734" y="6392"/>
                </a:cubicBezTo>
                <a:cubicBezTo>
                  <a:pt x="9731" y="6406"/>
                  <a:pt x="9727" y="6419"/>
                  <a:pt x="9722" y="6432"/>
                </a:cubicBezTo>
                <a:cubicBezTo>
                  <a:pt x="9716" y="6445"/>
                  <a:pt x="9710" y="6457"/>
                  <a:pt x="9702" y="6468"/>
                </a:cubicBezTo>
                <a:cubicBezTo>
                  <a:pt x="9694" y="6480"/>
                  <a:pt x="9685" y="6491"/>
                  <a:pt x="9676" y="6500"/>
                </a:cubicBezTo>
                <a:cubicBezTo>
                  <a:pt x="9666" y="6510"/>
                  <a:pt x="9655" y="6519"/>
                  <a:pt x="9644" y="6527"/>
                </a:cubicBezTo>
                <a:cubicBezTo>
                  <a:pt x="9632" y="6534"/>
                  <a:pt x="9620" y="6541"/>
                  <a:pt x="9607" y="6546"/>
                </a:cubicBezTo>
                <a:cubicBezTo>
                  <a:pt x="9594" y="6552"/>
                  <a:pt x="9581" y="6556"/>
                  <a:pt x="9567" y="6558"/>
                </a:cubicBezTo>
                <a:cubicBezTo>
                  <a:pt x="9554" y="6561"/>
                  <a:pt x="9540" y="6562"/>
                  <a:pt x="9526" y="6562"/>
                </a:cubicBezTo>
                <a:lnTo>
                  <a:pt x="159" y="6562"/>
                </a:lnTo>
                <a:cubicBezTo>
                  <a:pt x="148" y="6562"/>
                  <a:pt x="138" y="6561"/>
                  <a:pt x="128" y="6558"/>
                </a:cubicBezTo>
                <a:cubicBezTo>
                  <a:pt x="118" y="6556"/>
                  <a:pt x="108" y="6552"/>
                  <a:pt x="98" y="6546"/>
                </a:cubicBezTo>
                <a:cubicBezTo>
                  <a:pt x="88" y="6541"/>
                  <a:pt x="79" y="6534"/>
                  <a:pt x="71" y="6527"/>
                </a:cubicBezTo>
                <a:cubicBezTo>
                  <a:pt x="62" y="6519"/>
                  <a:pt x="54" y="6510"/>
                  <a:pt x="46" y="6500"/>
                </a:cubicBezTo>
                <a:cubicBezTo>
                  <a:pt x="39" y="6491"/>
                  <a:pt x="33" y="6480"/>
                  <a:pt x="27" y="6468"/>
                </a:cubicBezTo>
                <a:cubicBezTo>
                  <a:pt x="21" y="6457"/>
                  <a:pt x="16" y="6445"/>
                  <a:pt x="12" y="6432"/>
                </a:cubicBezTo>
                <a:cubicBezTo>
                  <a:pt x="8" y="6419"/>
                  <a:pt x="5" y="6406"/>
                  <a:pt x="3" y="6392"/>
                </a:cubicBezTo>
                <a:cubicBezTo>
                  <a:pt x="1" y="6378"/>
                  <a:pt x="0" y="6365"/>
                  <a:pt x="0" y="6351"/>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23" name="Forma libre: forma 322"/>
          <p:cNvSpPr/>
          <p:nvPr/>
        </p:nvSpPr>
        <p:spPr>
          <a:xfrm>
            <a:off x="4333680" y="2124000"/>
            <a:ext cx="76680" cy="2362320"/>
          </a:xfrm>
          <a:custGeom>
            <a:avLst/>
            <a:gdLst/>
            <a:ahLst/>
            <a:cxnLst/>
            <a:rect l="0" t="0" r="r" b="b"/>
            <a:pathLst>
              <a:path w="213" h="6562">
                <a:moveTo>
                  <a:pt x="0" y="0"/>
                </a:moveTo>
                <a:lnTo>
                  <a:pt x="213" y="0"/>
                </a:lnTo>
                <a:lnTo>
                  <a:pt x="213" y="6562"/>
                </a:lnTo>
                <a:lnTo>
                  <a:pt x="0" y="6562"/>
                </a:lnTo>
                <a:lnTo>
                  <a:pt x="0" y="0"/>
                </a:ln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24" name="CuadroTexto 323"/>
          <p:cNvSpPr txBox="1"/>
          <p:nvPr/>
        </p:nvSpPr>
        <p:spPr>
          <a:xfrm>
            <a:off x="971640" y="4054320"/>
            <a:ext cx="224892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Builder Pattern (Constructor Virtual)</a:t>
            </a:r>
            <a:endParaRPr lang="en-US" sz="1200" b="0" u="none" strike="noStrike">
              <a:solidFill>
                <a:srgbClr val="000000"/>
              </a:solidFill>
              <a:effectLst/>
              <a:uFillTx/>
              <a:latin typeface="Times New Roman"/>
            </a:endParaRPr>
          </a:p>
        </p:txBody>
      </p:sp>
      <p:sp>
        <p:nvSpPr>
          <p:cNvPr id="325" name="CuadroTexto 324"/>
          <p:cNvSpPr txBox="1"/>
          <p:nvPr/>
        </p:nvSpPr>
        <p:spPr>
          <a:xfrm>
            <a:off x="4597200" y="2382120"/>
            <a:ext cx="1724040" cy="212040"/>
          </a:xfrm>
          <a:prstGeom prst="rect">
            <a:avLst/>
          </a:prstGeom>
          <a:noFill/>
          <a:ln w="0">
            <a:noFill/>
          </a:ln>
        </p:spPr>
        <p:txBody>
          <a:bodyPr wrap="none" lIns="0" tIns="0" rIns="0" bIns="0" anchor="t">
            <a:spAutoFit/>
          </a:bodyPr>
          <a:lstStyle/>
          <a:p>
            <a:r>
              <a:rPr lang="en-US" sz="1500" b="0" u="none" strike="noStrike">
                <a:solidFill>
                  <a:srgbClr val="5B9BD5"/>
                </a:solidFill>
                <a:effectLst/>
                <a:uFillTx/>
                <a:latin typeface="CrimsonPro"/>
                <a:ea typeface="CrimsonPro"/>
              </a:rPr>
              <a:t>Patrones Estructurales</a:t>
            </a:r>
            <a:endParaRPr lang="en-US" sz="1500" b="0" u="none" strike="noStrike">
              <a:solidFill>
                <a:srgbClr val="000000"/>
              </a:solidFill>
              <a:effectLst/>
              <a:uFillTx/>
              <a:latin typeface="Times New Roman"/>
            </a:endParaRPr>
          </a:p>
        </p:txBody>
      </p:sp>
      <p:sp>
        <p:nvSpPr>
          <p:cNvPr id="326" name="CuadroTexto 325"/>
          <p:cNvSpPr txBox="1"/>
          <p:nvPr/>
        </p:nvSpPr>
        <p:spPr>
          <a:xfrm>
            <a:off x="4597200" y="2806560"/>
            <a:ext cx="2679120" cy="169560"/>
          </a:xfrm>
          <a:prstGeom prst="rect">
            <a:avLst/>
          </a:prstGeom>
          <a:noFill/>
          <a:ln w="0">
            <a:noFill/>
          </a:ln>
        </p:spPr>
        <p:txBody>
          <a:bodyPr wrap="none" lIns="0" tIns="0" rIns="0" bIns="0" anchor="t">
            <a:spAutoFit/>
          </a:bodyPr>
          <a:lstStyle/>
          <a:p>
            <a:r>
              <a:rPr lang="en-US" sz="1200" b="0" u="none" strike="noStrike" dirty="0" err="1">
                <a:solidFill>
                  <a:srgbClr val="666666"/>
                </a:solidFill>
                <a:effectLst/>
                <a:uFillTx/>
                <a:latin typeface="CrimsonPro"/>
                <a:ea typeface="CrimsonPro"/>
              </a:rPr>
              <a:t>Describen</a:t>
            </a:r>
            <a:r>
              <a:rPr lang="en-US" sz="1200" b="0" u="none" strike="noStrike" dirty="0">
                <a:solidFill>
                  <a:srgbClr val="666666"/>
                </a:solidFill>
                <a:effectLst/>
                <a:uFillTx/>
                <a:latin typeface="CrimsonPro"/>
                <a:ea typeface="CrimsonPro"/>
              </a:rPr>
              <a:t> la </a:t>
            </a:r>
            <a:r>
              <a:rPr lang="en-US" sz="1200" b="0" u="none" strike="noStrike" dirty="0" err="1">
                <a:solidFill>
                  <a:srgbClr val="666666"/>
                </a:solidFill>
                <a:effectLst/>
                <a:uFillTx/>
                <a:latin typeface="CrimsonPro"/>
                <a:ea typeface="CrimsonPro"/>
              </a:rPr>
              <a:t>composición</a:t>
            </a:r>
            <a:r>
              <a:rPr lang="en-US" sz="1200" b="0" u="none" strike="noStrike" dirty="0">
                <a:solidFill>
                  <a:srgbClr val="666666"/>
                </a:solidFill>
                <a:effectLst/>
                <a:uFillTx/>
                <a:latin typeface="CrimsonPro"/>
                <a:ea typeface="CrimsonPro"/>
              </a:rPr>
              <a:t> de los </a:t>
            </a:r>
            <a:r>
              <a:rPr lang="en-US" sz="1200" b="0" u="none" strike="noStrike" dirty="0" err="1">
                <a:solidFill>
                  <a:srgbClr val="666666"/>
                </a:solidFill>
                <a:effectLst/>
                <a:uFillTx/>
                <a:latin typeface="CrimsonPro"/>
                <a:ea typeface="CrimsonPro"/>
              </a:rPr>
              <a:t>objetos</a:t>
            </a:r>
            <a:r>
              <a:rPr lang="en-US" sz="1200" b="0" u="none" strike="noStrike" dirty="0">
                <a:solidFill>
                  <a:srgbClr val="666666"/>
                </a:solidFill>
                <a:effectLst/>
                <a:uFillTx/>
                <a:latin typeface="CrimsonPro"/>
                <a:ea typeface="CrimsonPro"/>
              </a:rPr>
              <a:t> y </a:t>
            </a:r>
            <a:r>
              <a:rPr lang="en-US" sz="1200" b="0" u="none" strike="noStrike" dirty="0" err="1">
                <a:solidFill>
                  <a:srgbClr val="666666"/>
                </a:solidFill>
                <a:effectLst/>
                <a:uFillTx/>
                <a:latin typeface="CrimsonPro"/>
                <a:ea typeface="CrimsonPro"/>
              </a:rPr>
              <a:t>su</a:t>
            </a:r>
            <a:endParaRPr lang="en-US" sz="1200" b="0" u="none" strike="noStrike" dirty="0">
              <a:solidFill>
                <a:srgbClr val="000000"/>
              </a:solidFill>
              <a:effectLst/>
              <a:uFillTx/>
              <a:latin typeface="Times New Roman"/>
            </a:endParaRPr>
          </a:p>
        </p:txBody>
      </p:sp>
      <p:sp>
        <p:nvSpPr>
          <p:cNvPr id="327" name="Forma libre: forma 326"/>
          <p:cNvSpPr/>
          <p:nvPr/>
        </p:nvSpPr>
        <p:spPr>
          <a:xfrm>
            <a:off x="4600440" y="3495600"/>
            <a:ext cx="57600" cy="57240"/>
          </a:xfrm>
          <a:custGeom>
            <a:avLst/>
            <a:gdLst/>
            <a:ahLst/>
            <a:cxnLst/>
            <a:rect l="0" t="0" r="r" b="b"/>
            <a:pathLst>
              <a:path w="160" h="159">
                <a:moveTo>
                  <a:pt x="160" y="80"/>
                </a:moveTo>
                <a:cubicBezTo>
                  <a:pt x="160" y="91"/>
                  <a:pt x="158" y="101"/>
                  <a:pt x="154" y="110"/>
                </a:cubicBezTo>
                <a:cubicBezTo>
                  <a:pt x="150" y="120"/>
                  <a:pt x="144" y="129"/>
                  <a:pt x="136" y="136"/>
                </a:cubicBezTo>
                <a:cubicBezTo>
                  <a:pt x="129" y="144"/>
                  <a:pt x="120" y="149"/>
                  <a:pt x="111" y="153"/>
                </a:cubicBezTo>
                <a:cubicBezTo>
                  <a:pt x="101" y="157"/>
                  <a:pt x="90" y="159"/>
                  <a:pt x="79" y="159"/>
                </a:cubicBezTo>
                <a:cubicBezTo>
                  <a:pt x="69" y="159"/>
                  <a:pt x="59" y="157"/>
                  <a:pt x="49" y="153"/>
                </a:cubicBezTo>
                <a:cubicBezTo>
                  <a:pt x="39" y="149"/>
                  <a:pt x="31" y="144"/>
                  <a:pt x="23" y="136"/>
                </a:cubicBezTo>
                <a:cubicBezTo>
                  <a:pt x="16" y="129"/>
                  <a:pt x="10" y="120"/>
                  <a:pt x="6" y="110"/>
                </a:cubicBezTo>
                <a:cubicBezTo>
                  <a:pt x="2" y="101"/>
                  <a:pt x="0" y="91"/>
                  <a:pt x="0" y="80"/>
                </a:cubicBezTo>
                <a:cubicBezTo>
                  <a:pt x="0" y="70"/>
                  <a:pt x="2" y="59"/>
                  <a:pt x="6" y="50"/>
                </a:cubicBezTo>
                <a:cubicBezTo>
                  <a:pt x="10" y="40"/>
                  <a:pt x="16" y="31"/>
                  <a:pt x="23" y="24"/>
                </a:cubicBezTo>
                <a:cubicBezTo>
                  <a:pt x="31" y="17"/>
                  <a:pt x="39" y="11"/>
                  <a:pt x="49" y="6"/>
                </a:cubicBezTo>
                <a:cubicBezTo>
                  <a:pt x="59" y="2"/>
                  <a:pt x="69" y="0"/>
                  <a:pt x="79" y="0"/>
                </a:cubicBezTo>
                <a:cubicBezTo>
                  <a:pt x="90" y="0"/>
                  <a:pt x="101" y="2"/>
                  <a:pt x="111" y="6"/>
                </a:cubicBezTo>
                <a:cubicBezTo>
                  <a:pt x="120" y="11"/>
                  <a:pt x="129" y="17"/>
                  <a:pt x="136" y="24"/>
                </a:cubicBezTo>
                <a:cubicBezTo>
                  <a:pt x="144" y="31"/>
                  <a:pt x="150" y="40"/>
                  <a:pt x="154" y="50"/>
                </a:cubicBezTo>
                <a:cubicBezTo>
                  <a:pt x="158" y="59"/>
                  <a:pt x="160" y="70"/>
                  <a:pt x="160" y="80"/>
                </a:cubicBez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28" name="CuadroTexto 327"/>
          <p:cNvSpPr txBox="1"/>
          <p:nvPr/>
        </p:nvSpPr>
        <p:spPr>
          <a:xfrm>
            <a:off x="4597200" y="3054240"/>
            <a:ext cx="14558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organización. Ejemplos:</a:t>
            </a:r>
            <a:endParaRPr lang="en-US" sz="1200" b="0" u="none" strike="noStrike">
              <a:solidFill>
                <a:srgbClr val="000000"/>
              </a:solidFill>
              <a:effectLst/>
              <a:uFillTx/>
              <a:latin typeface="Times New Roman"/>
            </a:endParaRPr>
          </a:p>
        </p:txBody>
      </p:sp>
      <p:sp>
        <p:nvSpPr>
          <p:cNvPr id="329" name="Forma libre: forma 328"/>
          <p:cNvSpPr/>
          <p:nvPr/>
        </p:nvSpPr>
        <p:spPr>
          <a:xfrm>
            <a:off x="4600440" y="3800160"/>
            <a:ext cx="57600" cy="57600"/>
          </a:xfrm>
          <a:custGeom>
            <a:avLst/>
            <a:gdLst/>
            <a:ahLst/>
            <a:cxnLst/>
            <a:rect l="0" t="0" r="r" b="b"/>
            <a:pathLst>
              <a:path w="160" h="160">
                <a:moveTo>
                  <a:pt x="160" y="80"/>
                </a:moveTo>
                <a:cubicBezTo>
                  <a:pt x="160" y="90"/>
                  <a:pt x="158" y="100"/>
                  <a:pt x="154" y="111"/>
                </a:cubicBezTo>
                <a:cubicBezTo>
                  <a:pt x="150" y="121"/>
                  <a:pt x="144" y="129"/>
                  <a:pt x="136" y="137"/>
                </a:cubicBezTo>
                <a:cubicBezTo>
                  <a:pt x="129" y="144"/>
                  <a:pt x="120" y="150"/>
                  <a:pt x="111" y="154"/>
                </a:cubicBezTo>
                <a:cubicBezTo>
                  <a:pt x="101" y="158"/>
                  <a:pt x="90" y="160"/>
                  <a:pt x="79" y="160"/>
                </a:cubicBezTo>
                <a:cubicBezTo>
                  <a:pt x="69" y="160"/>
                  <a:pt x="59" y="158"/>
                  <a:pt x="49" y="154"/>
                </a:cubicBezTo>
                <a:cubicBezTo>
                  <a:pt x="39" y="150"/>
                  <a:pt x="31" y="144"/>
                  <a:pt x="23" y="137"/>
                </a:cubicBezTo>
                <a:cubicBezTo>
                  <a:pt x="16" y="129"/>
                  <a:pt x="10" y="121"/>
                  <a:pt x="6" y="111"/>
                </a:cubicBezTo>
                <a:cubicBezTo>
                  <a:pt x="2" y="100"/>
                  <a:pt x="0" y="90"/>
                  <a:pt x="0" y="80"/>
                </a:cubicBezTo>
                <a:cubicBezTo>
                  <a:pt x="0" y="69"/>
                  <a:pt x="2" y="59"/>
                  <a:pt x="6" y="49"/>
                </a:cubicBezTo>
                <a:cubicBezTo>
                  <a:pt x="10" y="40"/>
                  <a:pt x="16" y="31"/>
                  <a:pt x="23" y="24"/>
                </a:cubicBezTo>
                <a:cubicBezTo>
                  <a:pt x="31" y="16"/>
                  <a:pt x="39" y="10"/>
                  <a:pt x="49" y="6"/>
                </a:cubicBezTo>
                <a:cubicBezTo>
                  <a:pt x="59" y="2"/>
                  <a:pt x="69" y="0"/>
                  <a:pt x="79" y="0"/>
                </a:cubicBezTo>
                <a:cubicBezTo>
                  <a:pt x="90" y="0"/>
                  <a:pt x="101" y="2"/>
                  <a:pt x="111" y="6"/>
                </a:cubicBezTo>
                <a:cubicBezTo>
                  <a:pt x="120" y="10"/>
                  <a:pt x="129" y="16"/>
                  <a:pt x="136" y="24"/>
                </a:cubicBezTo>
                <a:cubicBezTo>
                  <a:pt x="144" y="31"/>
                  <a:pt x="150" y="40"/>
                  <a:pt x="154" y="49"/>
                </a:cubicBezTo>
                <a:cubicBezTo>
                  <a:pt x="158" y="59"/>
                  <a:pt x="160" y="69"/>
                  <a:pt x="160" y="80"/>
                </a:cubicBez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30" name="CuadroTexto 329"/>
          <p:cNvSpPr txBox="1"/>
          <p:nvPr/>
        </p:nvSpPr>
        <p:spPr>
          <a:xfrm>
            <a:off x="4730760" y="3444840"/>
            <a:ext cx="175320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Adapter Pattern (Adaptador)</a:t>
            </a:r>
            <a:endParaRPr lang="en-US" sz="1200" b="0" u="none" strike="noStrike">
              <a:solidFill>
                <a:srgbClr val="000000"/>
              </a:solidFill>
              <a:effectLst/>
              <a:uFillTx/>
              <a:latin typeface="Times New Roman"/>
            </a:endParaRPr>
          </a:p>
        </p:txBody>
      </p:sp>
      <p:sp>
        <p:nvSpPr>
          <p:cNvPr id="331" name="Forma libre: forma 330"/>
          <p:cNvSpPr/>
          <p:nvPr/>
        </p:nvSpPr>
        <p:spPr>
          <a:xfrm>
            <a:off x="8105760" y="2124000"/>
            <a:ext cx="3515040" cy="2362320"/>
          </a:xfrm>
          <a:custGeom>
            <a:avLst/>
            <a:gdLst/>
            <a:ahLst/>
            <a:cxnLst/>
            <a:rect l="0" t="0" r="r" b="b"/>
            <a:pathLst>
              <a:path w="9764" h="6562">
                <a:moveTo>
                  <a:pt x="0" y="6351"/>
                </a:moveTo>
                <a:lnTo>
                  <a:pt x="0" y="211"/>
                </a:lnTo>
                <a:cubicBezTo>
                  <a:pt x="0" y="197"/>
                  <a:pt x="1" y="184"/>
                  <a:pt x="3" y="170"/>
                </a:cubicBezTo>
                <a:cubicBezTo>
                  <a:pt x="5" y="156"/>
                  <a:pt x="8" y="143"/>
                  <a:pt x="12" y="130"/>
                </a:cubicBezTo>
                <a:cubicBezTo>
                  <a:pt x="16" y="118"/>
                  <a:pt x="21" y="105"/>
                  <a:pt x="26" y="94"/>
                </a:cubicBezTo>
                <a:cubicBezTo>
                  <a:pt x="32" y="82"/>
                  <a:pt x="39" y="72"/>
                  <a:pt x="46" y="62"/>
                </a:cubicBezTo>
                <a:cubicBezTo>
                  <a:pt x="53" y="52"/>
                  <a:pt x="61" y="43"/>
                  <a:pt x="70" y="35"/>
                </a:cubicBezTo>
                <a:cubicBezTo>
                  <a:pt x="79" y="28"/>
                  <a:pt x="88" y="21"/>
                  <a:pt x="98" y="16"/>
                </a:cubicBezTo>
                <a:cubicBezTo>
                  <a:pt x="107" y="11"/>
                  <a:pt x="117" y="6"/>
                  <a:pt x="127" y="4"/>
                </a:cubicBezTo>
                <a:cubicBezTo>
                  <a:pt x="138" y="1"/>
                  <a:pt x="148" y="0"/>
                  <a:pt x="158" y="0"/>
                </a:cubicBezTo>
                <a:lnTo>
                  <a:pt x="9552" y="0"/>
                </a:lnTo>
                <a:cubicBezTo>
                  <a:pt x="9566" y="0"/>
                  <a:pt x="9580" y="1"/>
                  <a:pt x="9593" y="4"/>
                </a:cubicBezTo>
                <a:cubicBezTo>
                  <a:pt x="9607" y="6"/>
                  <a:pt x="9620" y="11"/>
                  <a:pt x="9633" y="16"/>
                </a:cubicBezTo>
                <a:cubicBezTo>
                  <a:pt x="9646" y="21"/>
                  <a:pt x="9658" y="28"/>
                  <a:pt x="9670" y="35"/>
                </a:cubicBezTo>
                <a:cubicBezTo>
                  <a:pt x="9681" y="43"/>
                  <a:pt x="9692" y="52"/>
                  <a:pt x="9702" y="62"/>
                </a:cubicBezTo>
                <a:cubicBezTo>
                  <a:pt x="9711" y="72"/>
                  <a:pt x="9720" y="82"/>
                  <a:pt x="9728" y="94"/>
                </a:cubicBezTo>
                <a:cubicBezTo>
                  <a:pt x="9736" y="105"/>
                  <a:pt x="9742" y="118"/>
                  <a:pt x="9748" y="130"/>
                </a:cubicBezTo>
                <a:cubicBezTo>
                  <a:pt x="9753" y="143"/>
                  <a:pt x="9757" y="156"/>
                  <a:pt x="9760" y="170"/>
                </a:cubicBezTo>
                <a:cubicBezTo>
                  <a:pt x="9762" y="184"/>
                  <a:pt x="9764" y="197"/>
                  <a:pt x="9764" y="211"/>
                </a:cubicBezTo>
                <a:lnTo>
                  <a:pt x="9764" y="6351"/>
                </a:lnTo>
                <a:cubicBezTo>
                  <a:pt x="9764" y="6365"/>
                  <a:pt x="9762" y="6378"/>
                  <a:pt x="9760" y="6392"/>
                </a:cubicBezTo>
                <a:cubicBezTo>
                  <a:pt x="9757" y="6406"/>
                  <a:pt x="9753" y="6419"/>
                  <a:pt x="9748" y="6432"/>
                </a:cubicBezTo>
                <a:cubicBezTo>
                  <a:pt x="9742" y="6445"/>
                  <a:pt x="9736" y="6457"/>
                  <a:pt x="9728" y="6468"/>
                </a:cubicBezTo>
                <a:cubicBezTo>
                  <a:pt x="9720" y="6480"/>
                  <a:pt x="9711" y="6491"/>
                  <a:pt x="9702" y="6500"/>
                </a:cubicBezTo>
                <a:cubicBezTo>
                  <a:pt x="9692" y="6510"/>
                  <a:pt x="9681" y="6519"/>
                  <a:pt x="9670" y="6527"/>
                </a:cubicBezTo>
                <a:cubicBezTo>
                  <a:pt x="9658" y="6534"/>
                  <a:pt x="9646" y="6541"/>
                  <a:pt x="9633" y="6546"/>
                </a:cubicBezTo>
                <a:cubicBezTo>
                  <a:pt x="9620" y="6552"/>
                  <a:pt x="9607" y="6556"/>
                  <a:pt x="9593" y="6558"/>
                </a:cubicBezTo>
                <a:cubicBezTo>
                  <a:pt x="9580" y="6561"/>
                  <a:pt x="9566" y="6562"/>
                  <a:pt x="9552" y="6562"/>
                </a:cubicBezTo>
                <a:lnTo>
                  <a:pt x="158" y="6562"/>
                </a:lnTo>
                <a:cubicBezTo>
                  <a:pt x="148" y="6562"/>
                  <a:pt x="138" y="6561"/>
                  <a:pt x="127" y="6558"/>
                </a:cubicBezTo>
                <a:cubicBezTo>
                  <a:pt x="117" y="6556"/>
                  <a:pt x="107" y="6552"/>
                  <a:pt x="98" y="6546"/>
                </a:cubicBezTo>
                <a:cubicBezTo>
                  <a:pt x="88" y="6541"/>
                  <a:pt x="79" y="6534"/>
                  <a:pt x="70" y="6527"/>
                </a:cubicBezTo>
                <a:cubicBezTo>
                  <a:pt x="61" y="6519"/>
                  <a:pt x="53" y="6510"/>
                  <a:pt x="46" y="6500"/>
                </a:cubicBezTo>
                <a:cubicBezTo>
                  <a:pt x="39" y="6491"/>
                  <a:pt x="32" y="6480"/>
                  <a:pt x="26" y="6468"/>
                </a:cubicBezTo>
                <a:cubicBezTo>
                  <a:pt x="21" y="6457"/>
                  <a:pt x="16" y="6445"/>
                  <a:pt x="12" y="6432"/>
                </a:cubicBezTo>
                <a:cubicBezTo>
                  <a:pt x="8" y="6419"/>
                  <a:pt x="5" y="6406"/>
                  <a:pt x="3" y="6392"/>
                </a:cubicBezTo>
                <a:cubicBezTo>
                  <a:pt x="1" y="6378"/>
                  <a:pt x="0" y="6365"/>
                  <a:pt x="0" y="6351"/>
                </a:cubicBezTo>
                <a:close/>
              </a:path>
            </a:pathLst>
          </a:custGeom>
          <a:solidFill>
            <a:srgbClr val="FFFFFF"/>
          </a:solidFill>
          <a:ln w="0">
            <a:solidFill>
              <a:schemeClr val="tx2"/>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32" name="Forma libre: forma 331"/>
          <p:cNvSpPr/>
          <p:nvPr/>
        </p:nvSpPr>
        <p:spPr>
          <a:xfrm>
            <a:off x="8086680" y="2124000"/>
            <a:ext cx="76320" cy="2362320"/>
          </a:xfrm>
          <a:custGeom>
            <a:avLst/>
            <a:gdLst/>
            <a:ahLst/>
            <a:cxnLst/>
            <a:rect l="0" t="0" r="r" b="b"/>
            <a:pathLst>
              <a:path w="212" h="6562">
                <a:moveTo>
                  <a:pt x="0" y="0"/>
                </a:moveTo>
                <a:lnTo>
                  <a:pt x="212" y="0"/>
                </a:lnTo>
                <a:lnTo>
                  <a:pt x="212" y="6562"/>
                </a:lnTo>
                <a:lnTo>
                  <a:pt x="0" y="6562"/>
                </a:lnTo>
                <a:lnTo>
                  <a:pt x="0" y="0"/>
                </a:lnTo>
                <a:close/>
              </a:path>
            </a:pathLst>
          </a:custGeom>
          <a:solidFill>
            <a:srgbClr val="B8C5B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33" name="CuadroTexto 332"/>
          <p:cNvSpPr txBox="1"/>
          <p:nvPr/>
        </p:nvSpPr>
        <p:spPr>
          <a:xfrm>
            <a:off x="4730760" y="3749760"/>
            <a:ext cx="187020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Decorator Pattern (Decorador)</a:t>
            </a:r>
            <a:endParaRPr lang="en-US" sz="1200" b="0" u="none" strike="noStrike">
              <a:solidFill>
                <a:srgbClr val="000000"/>
              </a:solidFill>
              <a:effectLst/>
              <a:uFillTx/>
              <a:latin typeface="Times New Roman"/>
            </a:endParaRPr>
          </a:p>
        </p:txBody>
      </p:sp>
      <p:sp>
        <p:nvSpPr>
          <p:cNvPr id="334" name="CuadroTexto 333"/>
          <p:cNvSpPr txBox="1"/>
          <p:nvPr/>
        </p:nvSpPr>
        <p:spPr>
          <a:xfrm>
            <a:off x="8356680" y="2382120"/>
            <a:ext cx="2307748" cy="230832"/>
          </a:xfrm>
          <a:prstGeom prst="rect">
            <a:avLst/>
          </a:prstGeom>
          <a:noFill/>
          <a:ln w="0">
            <a:noFill/>
          </a:ln>
        </p:spPr>
        <p:txBody>
          <a:bodyPr wrap="none" lIns="0" tIns="0" rIns="0" bIns="0" anchor="t">
            <a:spAutoFit/>
          </a:bodyPr>
          <a:lstStyle/>
          <a:p>
            <a:r>
              <a:rPr lang="en-US" sz="1500" b="0" u="none" strike="noStrike" dirty="0" err="1">
                <a:effectLst/>
                <a:uFillTx/>
                <a:latin typeface="CrimsonPro"/>
                <a:ea typeface="CrimsonPro"/>
              </a:rPr>
              <a:t>Patrones</a:t>
            </a:r>
            <a:r>
              <a:rPr lang="en-US" sz="1500" b="0" u="none" strike="noStrike" dirty="0">
                <a:effectLst/>
                <a:uFillTx/>
                <a:latin typeface="CrimsonPro"/>
                <a:ea typeface="CrimsonPro"/>
              </a:rPr>
              <a:t> de </a:t>
            </a:r>
            <a:r>
              <a:rPr lang="en-US" sz="1500" b="0" u="none" strike="noStrike" dirty="0" err="1">
                <a:effectLst/>
                <a:uFillTx/>
                <a:latin typeface="CrimsonPro"/>
                <a:ea typeface="CrimsonPro"/>
              </a:rPr>
              <a:t>Comportamiento</a:t>
            </a:r>
            <a:endParaRPr lang="en-US" sz="1500" b="0" u="none" strike="noStrike" dirty="0">
              <a:effectLst/>
              <a:uFillTx/>
              <a:latin typeface="Times New Roman"/>
            </a:endParaRPr>
          </a:p>
        </p:txBody>
      </p:sp>
      <p:sp>
        <p:nvSpPr>
          <p:cNvPr id="335" name="CuadroTexto 334"/>
          <p:cNvSpPr txBox="1"/>
          <p:nvPr/>
        </p:nvSpPr>
        <p:spPr>
          <a:xfrm>
            <a:off x="8356680" y="2806560"/>
            <a:ext cx="29192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Se enfocan en mejorar la comunicación entre los</a:t>
            </a:r>
            <a:endParaRPr lang="en-US" sz="1200" b="0" u="none" strike="noStrike">
              <a:solidFill>
                <a:srgbClr val="000000"/>
              </a:solidFill>
              <a:effectLst/>
              <a:uFillTx/>
              <a:latin typeface="Times New Roman"/>
            </a:endParaRPr>
          </a:p>
        </p:txBody>
      </p:sp>
      <p:sp>
        <p:nvSpPr>
          <p:cNvPr id="336" name="Forma libre: forma 335"/>
          <p:cNvSpPr/>
          <p:nvPr/>
        </p:nvSpPr>
        <p:spPr>
          <a:xfrm>
            <a:off x="8353080" y="3495600"/>
            <a:ext cx="57600" cy="57240"/>
          </a:xfrm>
          <a:custGeom>
            <a:avLst/>
            <a:gdLst/>
            <a:ahLst/>
            <a:cxnLst/>
            <a:rect l="0" t="0" r="r" b="b"/>
            <a:pathLst>
              <a:path w="160" h="159">
                <a:moveTo>
                  <a:pt x="160" y="80"/>
                </a:moveTo>
                <a:cubicBezTo>
                  <a:pt x="160" y="91"/>
                  <a:pt x="158" y="101"/>
                  <a:pt x="154" y="110"/>
                </a:cubicBezTo>
                <a:cubicBezTo>
                  <a:pt x="150" y="120"/>
                  <a:pt x="144" y="129"/>
                  <a:pt x="137" y="136"/>
                </a:cubicBezTo>
                <a:cubicBezTo>
                  <a:pt x="130" y="144"/>
                  <a:pt x="121" y="149"/>
                  <a:pt x="111" y="153"/>
                </a:cubicBezTo>
                <a:cubicBezTo>
                  <a:pt x="100" y="157"/>
                  <a:pt x="90" y="159"/>
                  <a:pt x="80" y="159"/>
                </a:cubicBezTo>
                <a:cubicBezTo>
                  <a:pt x="69" y="159"/>
                  <a:pt x="59" y="157"/>
                  <a:pt x="49" y="153"/>
                </a:cubicBezTo>
                <a:cubicBezTo>
                  <a:pt x="40" y="149"/>
                  <a:pt x="31" y="144"/>
                  <a:pt x="24" y="136"/>
                </a:cubicBezTo>
                <a:cubicBezTo>
                  <a:pt x="16" y="129"/>
                  <a:pt x="11" y="120"/>
                  <a:pt x="6" y="110"/>
                </a:cubicBezTo>
                <a:cubicBezTo>
                  <a:pt x="2" y="101"/>
                  <a:pt x="0" y="91"/>
                  <a:pt x="0" y="80"/>
                </a:cubicBezTo>
                <a:cubicBezTo>
                  <a:pt x="0" y="70"/>
                  <a:pt x="2" y="59"/>
                  <a:pt x="6" y="50"/>
                </a:cubicBezTo>
                <a:cubicBezTo>
                  <a:pt x="11" y="40"/>
                  <a:pt x="16" y="31"/>
                  <a:pt x="24" y="24"/>
                </a:cubicBezTo>
                <a:cubicBezTo>
                  <a:pt x="31" y="17"/>
                  <a:pt x="40" y="11"/>
                  <a:pt x="49" y="6"/>
                </a:cubicBezTo>
                <a:cubicBezTo>
                  <a:pt x="59" y="2"/>
                  <a:pt x="69" y="0"/>
                  <a:pt x="80" y="0"/>
                </a:cubicBezTo>
                <a:cubicBezTo>
                  <a:pt x="90" y="0"/>
                  <a:pt x="100" y="2"/>
                  <a:pt x="111" y="6"/>
                </a:cubicBezTo>
                <a:cubicBezTo>
                  <a:pt x="121" y="11"/>
                  <a:pt x="130" y="17"/>
                  <a:pt x="137" y="24"/>
                </a:cubicBezTo>
                <a:cubicBezTo>
                  <a:pt x="144" y="31"/>
                  <a:pt x="150" y="40"/>
                  <a:pt x="154" y="50"/>
                </a:cubicBezTo>
                <a:cubicBezTo>
                  <a:pt x="158" y="59"/>
                  <a:pt x="160" y="70"/>
                  <a:pt x="160" y="80"/>
                </a:cubicBezTo>
                <a:close/>
              </a:path>
            </a:pathLst>
          </a:custGeom>
          <a:solidFill>
            <a:srgbClr val="B8C5B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37" name="CuadroTexto 336"/>
          <p:cNvSpPr txBox="1"/>
          <p:nvPr/>
        </p:nvSpPr>
        <p:spPr>
          <a:xfrm>
            <a:off x="8356680" y="3054240"/>
            <a:ext cx="134712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objetos en un sistema.</a:t>
            </a:r>
            <a:endParaRPr lang="en-US" sz="1200" b="0" u="none" strike="noStrike">
              <a:solidFill>
                <a:srgbClr val="000000"/>
              </a:solidFill>
              <a:effectLst/>
              <a:uFillTx/>
              <a:latin typeface="Times New Roman"/>
            </a:endParaRPr>
          </a:p>
        </p:txBody>
      </p:sp>
      <p:sp>
        <p:nvSpPr>
          <p:cNvPr id="338" name="Forma libre: forma 337"/>
          <p:cNvSpPr/>
          <p:nvPr/>
        </p:nvSpPr>
        <p:spPr>
          <a:xfrm>
            <a:off x="8353080" y="3800160"/>
            <a:ext cx="57600" cy="57600"/>
          </a:xfrm>
          <a:custGeom>
            <a:avLst/>
            <a:gdLst/>
            <a:ahLst/>
            <a:cxnLst/>
            <a:rect l="0" t="0" r="r" b="b"/>
            <a:pathLst>
              <a:path w="160" h="160">
                <a:moveTo>
                  <a:pt x="160" y="80"/>
                </a:moveTo>
                <a:cubicBezTo>
                  <a:pt x="160" y="90"/>
                  <a:pt x="158" y="100"/>
                  <a:pt x="154" y="111"/>
                </a:cubicBezTo>
                <a:cubicBezTo>
                  <a:pt x="150" y="121"/>
                  <a:pt x="144" y="129"/>
                  <a:pt x="137" y="137"/>
                </a:cubicBezTo>
                <a:cubicBezTo>
                  <a:pt x="130" y="144"/>
                  <a:pt x="121" y="150"/>
                  <a:pt x="111" y="154"/>
                </a:cubicBezTo>
                <a:cubicBezTo>
                  <a:pt x="100" y="158"/>
                  <a:pt x="90" y="160"/>
                  <a:pt x="80" y="160"/>
                </a:cubicBezTo>
                <a:cubicBezTo>
                  <a:pt x="69" y="160"/>
                  <a:pt x="59" y="158"/>
                  <a:pt x="49" y="154"/>
                </a:cubicBezTo>
                <a:cubicBezTo>
                  <a:pt x="40" y="150"/>
                  <a:pt x="31" y="144"/>
                  <a:pt x="24" y="137"/>
                </a:cubicBezTo>
                <a:cubicBezTo>
                  <a:pt x="16" y="129"/>
                  <a:pt x="11" y="121"/>
                  <a:pt x="6" y="111"/>
                </a:cubicBezTo>
                <a:cubicBezTo>
                  <a:pt x="2" y="100"/>
                  <a:pt x="0" y="90"/>
                  <a:pt x="0" y="80"/>
                </a:cubicBezTo>
                <a:cubicBezTo>
                  <a:pt x="0" y="69"/>
                  <a:pt x="2" y="59"/>
                  <a:pt x="6" y="49"/>
                </a:cubicBezTo>
                <a:cubicBezTo>
                  <a:pt x="11" y="40"/>
                  <a:pt x="16" y="31"/>
                  <a:pt x="24" y="24"/>
                </a:cubicBezTo>
                <a:cubicBezTo>
                  <a:pt x="31" y="16"/>
                  <a:pt x="40" y="10"/>
                  <a:pt x="49" y="6"/>
                </a:cubicBezTo>
                <a:cubicBezTo>
                  <a:pt x="59" y="2"/>
                  <a:pt x="69" y="0"/>
                  <a:pt x="80" y="0"/>
                </a:cubicBezTo>
                <a:cubicBezTo>
                  <a:pt x="90" y="0"/>
                  <a:pt x="100" y="2"/>
                  <a:pt x="111" y="6"/>
                </a:cubicBezTo>
                <a:cubicBezTo>
                  <a:pt x="121" y="10"/>
                  <a:pt x="130" y="16"/>
                  <a:pt x="137" y="24"/>
                </a:cubicBezTo>
                <a:cubicBezTo>
                  <a:pt x="144" y="31"/>
                  <a:pt x="150" y="40"/>
                  <a:pt x="154" y="49"/>
                </a:cubicBezTo>
                <a:cubicBezTo>
                  <a:pt x="158" y="59"/>
                  <a:pt x="160" y="69"/>
                  <a:pt x="160" y="80"/>
                </a:cubicBezTo>
                <a:close/>
              </a:path>
            </a:pathLst>
          </a:custGeom>
          <a:solidFill>
            <a:srgbClr val="B8C5B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39" name="CuadroTexto 338"/>
          <p:cNvSpPr txBox="1"/>
          <p:nvPr/>
        </p:nvSpPr>
        <p:spPr>
          <a:xfrm>
            <a:off x="8489880" y="3444840"/>
            <a:ext cx="158292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Iterator Pattern (Iterador)</a:t>
            </a:r>
            <a:endParaRPr lang="en-US" sz="1200" b="0" u="none" strike="noStrike">
              <a:solidFill>
                <a:srgbClr val="000000"/>
              </a:solidFill>
              <a:effectLst/>
              <a:uFillTx/>
              <a:latin typeface="Times New Roman"/>
            </a:endParaRPr>
          </a:p>
        </p:txBody>
      </p:sp>
      <p:sp>
        <p:nvSpPr>
          <p:cNvPr id="340" name="Forma libre: forma 339"/>
          <p:cNvSpPr/>
          <p:nvPr/>
        </p:nvSpPr>
        <p:spPr>
          <a:xfrm>
            <a:off x="8353080" y="4105080"/>
            <a:ext cx="57600" cy="57600"/>
          </a:xfrm>
          <a:custGeom>
            <a:avLst/>
            <a:gdLst/>
            <a:ahLst/>
            <a:cxnLst/>
            <a:rect l="0" t="0" r="r" b="b"/>
            <a:pathLst>
              <a:path w="160" h="160">
                <a:moveTo>
                  <a:pt x="160" y="80"/>
                </a:moveTo>
                <a:cubicBezTo>
                  <a:pt x="160" y="91"/>
                  <a:pt x="158" y="101"/>
                  <a:pt x="154" y="111"/>
                </a:cubicBezTo>
                <a:cubicBezTo>
                  <a:pt x="150" y="121"/>
                  <a:pt x="144" y="129"/>
                  <a:pt x="137" y="137"/>
                </a:cubicBezTo>
                <a:cubicBezTo>
                  <a:pt x="130" y="144"/>
                  <a:pt x="121" y="150"/>
                  <a:pt x="111" y="154"/>
                </a:cubicBezTo>
                <a:cubicBezTo>
                  <a:pt x="100" y="158"/>
                  <a:pt x="90" y="160"/>
                  <a:pt x="80" y="160"/>
                </a:cubicBezTo>
                <a:cubicBezTo>
                  <a:pt x="69" y="160"/>
                  <a:pt x="59" y="158"/>
                  <a:pt x="49" y="154"/>
                </a:cubicBezTo>
                <a:cubicBezTo>
                  <a:pt x="40" y="150"/>
                  <a:pt x="31" y="144"/>
                  <a:pt x="24" y="137"/>
                </a:cubicBezTo>
                <a:cubicBezTo>
                  <a:pt x="16" y="129"/>
                  <a:pt x="11" y="121"/>
                  <a:pt x="6" y="111"/>
                </a:cubicBezTo>
                <a:cubicBezTo>
                  <a:pt x="2" y="101"/>
                  <a:pt x="0" y="91"/>
                  <a:pt x="0" y="80"/>
                </a:cubicBezTo>
                <a:cubicBezTo>
                  <a:pt x="0" y="70"/>
                  <a:pt x="2" y="60"/>
                  <a:pt x="6" y="49"/>
                </a:cubicBezTo>
                <a:cubicBezTo>
                  <a:pt x="11" y="39"/>
                  <a:pt x="16" y="31"/>
                  <a:pt x="24" y="23"/>
                </a:cubicBezTo>
                <a:cubicBezTo>
                  <a:pt x="31" y="16"/>
                  <a:pt x="40" y="10"/>
                  <a:pt x="49" y="6"/>
                </a:cubicBezTo>
                <a:cubicBezTo>
                  <a:pt x="59" y="2"/>
                  <a:pt x="69" y="0"/>
                  <a:pt x="80" y="0"/>
                </a:cubicBezTo>
                <a:cubicBezTo>
                  <a:pt x="90" y="0"/>
                  <a:pt x="100" y="2"/>
                  <a:pt x="111" y="6"/>
                </a:cubicBezTo>
                <a:cubicBezTo>
                  <a:pt x="121" y="10"/>
                  <a:pt x="130" y="16"/>
                  <a:pt x="137" y="23"/>
                </a:cubicBezTo>
                <a:cubicBezTo>
                  <a:pt x="144" y="31"/>
                  <a:pt x="150" y="39"/>
                  <a:pt x="154" y="49"/>
                </a:cubicBezTo>
                <a:cubicBezTo>
                  <a:pt x="158" y="60"/>
                  <a:pt x="160" y="70"/>
                  <a:pt x="160" y="80"/>
                </a:cubicBezTo>
                <a:close/>
              </a:path>
            </a:pathLst>
          </a:custGeom>
          <a:solidFill>
            <a:srgbClr val="B8C5B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41" name="CuadroTexto 340"/>
          <p:cNvSpPr txBox="1"/>
          <p:nvPr/>
        </p:nvSpPr>
        <p:spPr>
          <a:xfrm>
            <a:off x="8489880" y="3749760"/>
            <a:ext cx="188100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Observer Pattern (Observador)</a:t>
            </a:r>
            <a:endParaRPr lang="en-US" sz="1200" b="0" u="none" strike="noStrike">
              <a:solidFill>
                <a:srgbClr val="000000"/>
              </a:solidFill>
              <a:effectLst/>
              <a:uFillTx/>
              <a:latin typeface="Times New Roman"/>
            </a:endParaRPr>
          </a:p>
        </p:txBody>
      </p:sp>
      <p:sp>
        <p:nvSpPr>
          <p:cNvPr id="342" name="CuadroTexto 341"/>
          <p:cNvSpPr txBox="1"/>
          <p:nvPr/>
        </p:nvSpPr>
        <p:spPr>
          <a:xfrm>
            <a:off x="8489880" y="4054320"/>
            <a:ext cx="174312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Strategy Pattern (Estrategia)</a:t>
            </a:r>
            <a:endParaRPr lang="en-US" sz="1200" b="0" u="none" strike="noStrike">
              <a:solidFill>
                <a:srgbClr val="000000"/>
              </a:solidFill>
              <a:effectLst/>
              <a:uFillTx/>
              <a:latin typeface="Times New Roman"/>
            </a:endParaRPr>
          </a:p>
        </p:txBody>
      </p:sp>
      <p:sp>
        <p:nvSpPr>
          <p:cNvPr id="343" name="Forma libre: forma 342"/>
          <p:cNvSpPr/>
          <p:nvPr/>
        </p:nvSpPr>
        <p:spPr>
          <a:xfrm>
            <a:off x="6032880" y="4886280"/>
            <a:ext cx="2926080" cy="9720"/>
          </a:xfrm>
          <a:custGeom>
            <a:avLst/>
            <a:gdLst/>
            <a:ahLst/>
            <a:cxnLst/>
            <a:rect l="0" t="0" r="r" b="b"/>
            <a:pathLst>
              <a:path w="8128" h="27">
                <a:moveTo>
                  <a:pt x="7433" y="27"/>
                </a:moveTo>
                <a:lnTo>
                  <a:pt x="5988" y="27"/>
                </a:lnTo>
                <a:lnTo>
                  <a:pt x="5988" y="0"/>
                </a:lnTo>
                <a:lnTo>
                  <a:pt x="7433" y="0"/>
                </a:lnTo>
                <a:lnTo>
                  <a:pt x="7433" y="27"/>
                </a:lnTo>
                <a:moveTo>
                  <a:pt x="7553" y="0"/>
                </a:moveTo>
                <a:lnTo>
                  <a:pt x="8128" y="0"/>
                </a:lnTo>
                <a:lnTo>
                  <a:pt x="8128" y="27"/>
                </a:lnTo>
                <a:lnTo>
                  <a:pt x="7553" y="27"/>
                </a:lnTo>
                <a:lnTo>
                  <a:pt x="7553" y="0"/>
                </a:lnTo>
                <a:moveTo>
                  <a:pt x="5871" y="27"/>
                </a:moveTo>
                <a:lnTo>
                  <a:pt x="5521" y="27"/>
                </a:lnTo>
                <a:lnTo>
                  <a:pt x="5521" y="0"/>
                </a:lnTo>
                <a:lnTo>
                  <a:pt x="5871" y="0"/>
                </a:lnTo>
                <a:lnTo>
                  <a:pt x="5871" y="27"/>
                </a:lnTo>
                <a:moveTo>
                  <a:pt x="5260" y="27"/>
                </a:moveTo>
                <a:lnTo>
                  <a:pt x="3419" y="27"/>
                </a:lnTo>
                <a:lnTo>
                  <a:pt x="3419" y="0"/>
                </a:lnTo>
                <a:lnTo>
                  <a:pt x="5260" y="0"/>
                </a:lnTo>
                <a:lnTo>
                  <a:pt x="5260" y="27"/>
                </a:lnTo>
                <a:moveTo>
                  <a:pt x="3158" y="27"/>
                </a:moveTo>
                <a:lnTo>
                  <a:pt x="3123" y="27"/>
                </a:lnTo>
                <a:lnTo>
                  <a:pt x="3123" y="0"/>
                </a:lnTo>
                <a:lnTo>
                  <a:pt x="3158" y="0"/>
                </a:lnTo>
                <a:lnTo>
                  <a:pt x="3158" y="27"/>
                </a:lnTo>
                <a:moveTo>
                  <a:pt x="2863" y="27"/>
                </a:moveTo>
                <a:lnTo>
                  <a:pt x="620" y="27"/>
                </a:lnTo>
                <a:lnTo>
                  <a:pt x="620" y="0"/>
                </a:lnTo>
                <a:lnTo>
                  <a:pt x="2863" y="0"/>
                </a:lnTo>
                <a:lnTo>
                  <a:pt x="2863" y="27"/>
                </a:lnTo>
                <a:moveTo>
                  <a:pt x="503" y="27"/>
                </a:moveTo>
                <a:lnTo>
                  <a:pt x="0" y="27"/>
                </a:lnTo>
                <a:lnTo>
                  <a:pt x="0" y="0"/>
                </a:lnTo>
                <a:lnTo>
                  <a:pt x="503" y="0"/>
                </a:lnTo>
                <a:lnTo>
                  <a:pt x="503" y="27"/>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44" name="Forma libre: forma 343"/>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45" name="CuadroTexto 344"/>
          <p:cNvSpPr txBox="1"/>
          <p:nvPr/>
        </p:nvSpPr>
        <p:spPr>
          <a:xfrm>
            <a:off x="3233160" y="4740120"/>
            <a:ext cx="579492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Más detalle sobre patrones de diseño en JAVA: </a:t>
            </a:r>
            <a:r>
              <a:rPr lang="en-US" sz="1200" b="0" u="none" strike="noStrike">
                <a:solidFill>
                  <a:srgbClr val="DA7756"/>
                </a:solidFill>
                <a:effectLst/>
                <a:uFillTx/>
                <a:latin typeface="CrimsonPro"/>
                <a:ea typeface="CrimsonPro"/>
              </a:rPr>
              <a:t>https://refactoring.guru/es/design-patterns/java</a:t>
            </a:r>
            <a:endParaRPr lang="en-US" sz="1200" b="0" u="none" strike="noStrike">
              <a:solidFill>
                <a:srgbClr val="000000"/>
              </a:solidFill>
              <a:effectLst/>
              <a:uFillTx/>
              <a:latin typeface="Times New Roman"/>
            </a:endParaRPr>
          </a:p>
        </p:txBody>
      </p:sp>
      <p:sp>
        <p:nvSpPr>
          <p:cNvPr id="346" name="CuadroTexto 345"/>
          <p:cNvSpPr txBox="1"/>
          <p:nvPr/>
        </p:nvSpPr>
        <p:spPr>
          <a:xfrm>
            <a:off x="571320" y="60832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347" name="CuadroTexto 346"/>
          <p:cNvSpPr txBox="1"/>
          <p:nvPr/>
        </p:nvSpPr>
        <p:spPr>
          <a:xfrm>
            <a:off x="11491920" y="60832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14</a:t>
            </a:r>
            <a:endParaRPr lang="en-US" sz="1200" b="0" u="none" strike="noStrike">
              <a:solidFill>
                <a:srgbClr val="000000"/>
              </a:solidFill>
              <a:effectLst/>
              <a:uFillTx/>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Forma libre: forma 349"/>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51" name="Forma libre: forma 350"/>
          <p:cNvSpPr/>
          <p:nvPr/>
        </p:nvSpPr>
        <p:spPr>
          <a:xfrm>
            <a:off x="590400" y="1238040"/>
            <a:ext cx="11030400" cy="1371960"/>
          </a:xfrm>
          <a:custGeom>
            <a:avLst/>
            <a:gdLst/>
            <a:ahLst/>
            <a:cxnLst/>
            <a:rect l="0" t="0" r="r" b="b"/>
            <a:pathLst>
              <a:path w="30640" h="3811">
                <a:moveTo>
                  <a:pt x="0" y="3599"/>
                </a:moveTo>
                <a:lnTo>
                  <a:pt x="0" y="212"/>
                </a:lnTo>
                <a:cubicBezTo>
                  <a:pt x="0" y="198"/>
                  <a:pt x="1" y="184"/>
                  <a:pt x="3" y="170"/>
                </a:cubicBezTo>
                <a:cubicBezTo>
                  <a:pt x="5" y="157"/>
                  <a:pt x="8" y="144"/>
                  <a:pt x="12" y="131"/>
                </a:cubicBezTo>
                <a:cubicBezTo>
                  <a:pt x="16" y="118"/>
                  <a:pt x="21" y="106"/>
                  <a:pt x="27" y="94"/>
                </a:cubicBezTo>
                <a:cubicBezTo>
                  <a:pt x="32" y="83"/>
                  <a:pt x="39" y="72"/>
                  <a:pt x="46" y="62"/>
                </a:cubicBezTo>
                <a:cubicBezTo>
                  <a:pt x="54" y="52"/>
                  <a:pt x="62" y="43"/>
                  <a:pt x="70" y="36"/>
                </a:cubicBezTo>
                <a:cubicBezTo>
                  <a:pt x="79" y="28"/>
                  <a:pt x="88" y="22"/>
                  <a:pt x="98" y="16"/>
                </a:cubicBezTo>
                <a:cubicBezTo>
                  <a:pt x="108" y="11"/>
                  <a:pt x="117" y="7"/>
                  <a:pt x="128" y="4"/>
                </a:cubicBezTo>
                <a:cubicBezTo>
                  <a:pt x="138" y="1"/>
                  <a:pt x="148" y="0"/>
                  <a:pt x="159" y="0"/>
                </a:cubicBezTo>
                <a:lnTo>
                  <a:pt x="30428" y="0"/>
                </a:lnTo>
                <a:cubicBezTo>
                  <a:pt x="30442" y="0"/>
                  <a:pt x="30456" y="1"/>
                  <a:pt x="30469" y="4"/>
                </a:cubicBezTo>
                <a:cubicBezTo>
                  <a:pt x="30483" y="7"/>
                  <a:pt x="30496" y="11"/>
                  <a:pt x="30509" y="16"/>
                </a:cubicBezTo>
                <a:cubicBezTo>
                  <a:pt x="30522" y="22"/>
                  <a:pt x="30534" y="28"/>
                  <a:pt x="30546" y="36"/>
                </a:cubicBezTo>
                <a:cubicBezTo>
                  <a:pt x="30557" y="43"/>
                  <a:pt x="30568" y="52"/>
                  <a:pt x="30578" y="62"/>
                </a:cubicBezTo>
                <a:cubicBezTo>
                  <a:pt x="30587" y="72"/>
                  <a:pt x="30596" y="83"/>
                  <a:pt x="30604" y="94"/>
                </a:cubicBezTo>
                <a:cubicBezTo>
                  <a:pt x="30612" y="106"/>
                  <a:pt x="30618" y="118"/>
                  <a:pt x="30624" y="131"/>
                </a:cubicBezTo>
                <a:cubicBezTo>
                  <a:pt x="30629" y="144"/>
                  <a:pt x="30633" y="157"/>
                  <a:pt x="30636" y="170"/>
                </a:cubicBezTo>
                <a:cubicBezTo>
                  <a:pt x="30638" y="184"/>
                  <a:pt x="30640" y="198"/>
                  <a:pt x="30640" y="212"/>
                </a:cubicBezTo>
                <a:lnTo>
                  <a:pt x="30640" y="3599"/>
                </a:lnTo>
                <a:cubicBezTo>
                  <a:pt x="30640" y="3613"/>
                  <a:pt x="30638" y="3627"/>
                  <a:pt x="30636" y="3641"/>
                </a:cubicBezTo>
                <a:cubicBezTo>
                  <a:pt x="30633" y="3654"/>
                  <a:pt x="30629" y="3668"/>
                  <a:pt x="30624" y="3680"/>
                </a:cubicBezTo>
                <a:cubicBezTo>
                  <a:pt x="30618" y="3693"/>
                  <a:pt x="30612" y="3705"/>
                  <a:pt x="30604" y="3717"/>
                </a:cubicBezTo>
                <a:cubicBezTo>
                  <a:pt x="30596" y="3729"/>
                  <a:pt x="30587" y="3739"/>
                  <a:pt x="30578" y="3749"/>
                </a:cubicBezTo>
                <a:cubicBezTo>
                  <a:pt x="30568" y="3759"/>
                  <a:pt x="30557" y="3768"/>
                  <a:pt x="30546" y="3775"/>
                </a:cubicBezTo>
                <a:cubicBezTo>
                  <a:pt x="30534" y="3783"/>
                  <a:pt x="30522" y="3790"/>
                  <a:pt x="30509" y="3795"/>
                </a:cubicBezTo>
                <a:cubicBezTo>
                  <a:pt x="30496" y="3800"/>
                  <a:pt x="30483" y="3804"/>
                  <a:pt x="30469" y="3807"/>
                </a:cubicBezTo>
                <a:cubicBezTo>
                  <a:pt x="30456" y="3810"/>
                  <a:pt x="30442" y="3811"/>
                  <a:pt x="30428" y="3811"/>
                </a:cubicBezTo>
                <a:lnTo>
                  <a:pt x="159" y="3811"/>
                </a:lnTo>
                <a:cubicBezTo>
                  <a:pt x="148" y="3811"/>
                  <a:pt x="138" y="3810"/>
                  <a:pt x="128" y="3807"/>
                </a:cubicBezTo>
                <a:cubicBezTo>
                  <a:pt x="117" y="3804"/>
                  <a:pt x="108" y="3800"/>
                  <a:pt x="98" y="3795"/>
                </a:cubicBezTo>
                <a:cubicBezTo>
                  <a:pt x="88" y="3790"/>
                  <a:pt x="79" y="3783"/>
                  <a:pt x="70" y="3775"/>
                </a:cubicBezTo>
                <a:cubicBezTo>
                  <a:pt x="62" y="3768"/>
                  <a:pt x="54" y="3759"/>
                  <a:pt x="46" y="3749"/>
                </a:cubicBezTo>
                <a:cubicBezTo>
                  <a:pt x="39" y="3739"/>
                  <a:pt x="32" y="3729"/>
                  <a:pt x="27" y="3717"/>
                </a:cubicBezTo>
                <a:cubicBezTo>
                  <a:pt x="21" y="3705"/>
                  <a:pt x="16" y="3693"/>
                  <a:pt x="12" y="3680"/>
                </a:cubicBezTo>
                <a:cubicBezTo>
                  <a:pt x="8" y="3668"/>
                  <a:pt x="5" y="3654"/>
                  <a:pt x="3" y="3641"/>
                </a:cubicBezTo>
                <a:cubicBezTo>
                  <a:pt x="1" y="3627"/>
                  <a:pt x="0" y="3613"/>
                  <a:pt x="0" y="3599"/>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52" name="Forma libre: forma 351"/>
          <p:cNvSpPr/>
          <p:nvPr/>
        </p:nvSpPr>
        <p:spPr>
          <a:xfrm>
            <a:off x="571320" y="1238040"/>
            <a:ext cx="76680" cy="1371960"/>
          </a:xfrm>
          <a:custGeom>
            <a:avLst/>
            <a:gdLst/>
            <a:ahLst/>
            <a:cxnLst/>
            <a:rect l="0" t="0" r="r" b="b"/>
            <a:pathLst>
              <a:path w="213" h="3811">
                <a:moveTo>
                  <a:pt x="0" y="0"/>
                </a:moveTo>
                <a:lnTo>
                  <a:pt x="213" y="0"/>
                </a:lnTo>
                <a:lnTo>
                  <a:pt x="213" y="3811"/>
                </a:lnTo>
                <a:lnTo>
                  <a:pt x="0" y="3811"/>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53" name="CuadroTexto 352"/>
          <p:cNvSpPr txBox="1"/>
          <p:nvPr/>
        </p:nvSpPr>
        <p:spPr>
          <a:xfrm>
            <a:off x="571320" y="569160"/>
            <a:ext cx="30297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Modelos de desarrollo</a:t>
            </a:r>
            <a:endParaRPr lang="en-US" sz="2700" b="0" u="none" strike="noStrike">
              <a:solidFill>
                <a:srgbClr val="000000"/>
              </a:solidFill>
              <a:effectLst/>
              <a:uFillTx/>
              <a:latin typeface="Times New Roman"/>
            </a:endParaRPr>
          </a:p>
        </p:txBody>
      </p:sp>
      <p:sp>
        <p:nvSpPr>
          <p:cNvPr id="354" name="CuadroTexto 353"/>
          <p:cNvSpPr txBox="1"/>
          <p:nvPr/>
        </p:nvSpPr>
        <p:spPr>
          <a:xfrm>
            <a:off x="838080" y="1490760"/>
            <a:ext cx="296568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TDD (Test Driven Development)</a:t>
            </a:r>
            <a:endParaRPr lang="en-US" sz="1800" b="0" u="none" strike="noStrike">
              <a:solidFill>
                <a:srgbClr val="000000"/>
              </a:solidFill>
              <a:effectLst/>
              <a:uFillTx/>
              <a:latin typeface="Times New Roman"/>
            </a:endParaRPr>
          </a:p>
        </p:txBody>
      </p:sp>
      <p:sp>
        <p:nvSpPr>
          <p:cNvPr id="355" name="CuadroTexto 354"/>
          <p:cNvSpPr txBox="1"/>
          <p:nvPr/>
        </p:nvSpPr>
        <p:spPr>
          <a:xfrm>
            <a:off x="838080" y="1920960"/>
            <a:ext cx="105300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Esto significa escribir una prueba que falla porque la funcionalidad especificada no existe, entonces prosigo con escribir el código más simple que puede hacer pasar la prueba,</a:t>
            </a:r>
            <a:endParaRPr lang="en-US" sz="1200" b="0" u="none" strike="noStrike">
              <a:solidFill>
                <a:srgbClr val="000000"/>
              </a:solidFill>
              <a:effectLst/>
              <a:uFillTx/>
              <a:latin typeface="Times New Roman"/>
            </a:endParaRPr>
          </a:p>
        </p:txBody>
      </p:sp>
      <p:sp>
        <p:nvSpPr>
          <p:cNvPr id="356" name="Forma libre: forma 355"/>
          <p:cNvSpPr/>
          <p:nvPr/>
        </p:nvSpPr>
        <p:spPr>
          <a:xfrm>
            <a:off x="590400" y="2800080"/>
            <a:ext cx="11030400" cy="1371960"/>
          </a:xfrm>
          <a:custGeom>
            <a:avLst/>
            <a:gdLst/>
            <a:ahLst/>
            <a:cxnLst/>
            <a:rect l="0" t="0" r="r" b="b"/>
            <a:pathLst>
              <a:path w="30640" h="3811">
                <a:moveTo>
                  <a:pt x="0" y="3600"/>
                </a:moveTo>
                <a:lnTo>
                  <a:pt x="0" y="212"/>
                </a:lnTo>
                <a:cubicBezTo>
                  <a:pt x="0" y="198"/>
                  <a:pt x="1" y="184"/>
                  <a:pt x="3" y="171"/>
                </a:cubicBezTo>
                <a:cubicBezTo>
                  <a:pt x="5" y="157"/>
                  <a:pt x="8" y="144"/>
                  <a:pt x="12" y="131"/>
                </a:cubicBezTo>
                <a:cubicBezTo>
                  <a:pt x="16" y="118"/>
                  <a:pt x="21" y="106"/>
                  <a:pt x="27" y="94"/>
                </a:cubicBezTo>
                <a:cubicBezTo>
                  <a:pt x="32" y="83"/>
                  <a:pt x="39" y="72"/>
                  <a:pt x="46" y="62"/>
                </a:cubicBezTo>
                <a:cubicBezTo>
                  <a:pt x="54" y="52"/>
                  <a:pt x="62" y="44"/>
                  <a:pt x="70" y="36"/>
                </a:cubicBezTo>
                <a:cubicBezTo>
                  <a:pt x="79" y="28"/>
                  <a:pt x="88" y="22"/>
                  <a:pt x="98" y="16"/>
                </a:cubicBezTo>
                <a:cubicBezTo>
                  <a:pt x="108" y="11"/>
                  <a:pt x="117" y="7"/>
                  <a:pt x="128" y="4"/>
                </a:cubicBezTo>
                <a:cubicBezTo>
                  <a:pt x="138" y="2"/>
                  <a:pt x="148" y="0"/>
                  <a:pt x="159" y="0"/>
                </a:cubicBezTo>
                <a:lnTo>
                  <a:pt x="30428" y="0"/>
                </a:lnTo>
                <a:cubicBezTo>
                  <a:pt x="30442" y="0"/>
                  <a:pt x="30456" y="2"/>
                  <a:pt x="30469" y="4"/>
                </a:cubicBezTo>
                <a:cubicBezTo>
                  <a:pt x="30483" y="7"/>
                  <a:pt x="30496" y="11"/>
                  <a:pt x="30509" y="16"/>
                </a:cubicBezTo>
                <a:cubicBezTo>
                  <a:pt x="30522" y="22"/>
                  <a:pt x="30534" y="28"/>
                  <a:pt x="30546" y="36"/>
                </a:cubicBezTo>
                <a:cubicBezTo>
                  <a:pt x="30557" y="44"/>
                  <a:pt x="30568" y="52"/>
                  <a:pt x="30578" y="62"/>
                </a:cubicBezTo>
                <a:cubicBezTo>
                  <a:pt x="30587" y="72"/>
                  <a:pt x="30596" y="83"/>
                  <a:pt x="30604" y="94"/>
                </a:cubicBezTo>
                <a:cubicBezTo>
                  <a:pt x="30612" y="106"/>
                  <a:pt x="30618" y="118"/>
                  <a:pt x="30624" y="131"/>
                </a:cubicBezTo>
                <a:cubicBezTo>
                  <a:pt x="30629" y="144"/>
                  <a:pt x="30633" y="157"/>
                  <a:pt x="30636" y="171"/>
                </a:cubicBezTo>
                <a:cubicBezTo>
                  <a:pt x="30638" y="184"/>
                  <a:pt x="30640" y="198"/>
                  <a:pt x="30640" y="212"/>
                </a:cubicBezTo>
                <a:lnTo>
                  <a:pt x="30640" y="3600"/>
                </a:lnTo>
                <a:cubicBezTo>
                  <a:pt x="30640" y="3613"/>
                  <a:pt x="30638" y="3627"/>
                  <a:pt x="30636" y="3641"/>
                </a:cubicBezTo>
                <a:cubicBezTo>
                  <a:pt x="30633" y="3655"/>
                  <a:pt x="30629" y="3668"/>
                  <a:pt x="30624" y="3681"/>
                </a:cubicBezTo>
                <a:cubicBezTo>
                  <a:pt x="30618" y="3693"/>
                  <a:pt x="30612" y="3706"/>
                  <a:pt x="30604" y="3717"/>
                </a:cubicBezTo>
                <a:cubicBezTo>
                  <a:pt x="30596" y="3729"/>
                  <a:pt x="30587" y="3739"/>
                  <a:pt x="30578" y="3749"/>
                </a:cubicBezTo>
                <a:cubicBezTo>
                  <a:pt x="30568" y="3759"/>
                  <a:pt x="30557" y="3768"/>
                  <a:pt x="30546" y="3776"/>
                </a:cubicBezTo>
                <a:cubicBezTo>
                  <a:pt x="30534" y="3783"/>
                  <a:pt x="30522" y="3790"/>
                  <a:pt x="30509" y="3795"/>
                </a:cubicBezTo>
                <a:cubicBezTo>
                  <a:pt x="30496" y="3800"/>
                  <a:pt x="30483" y="3804"/>
                  <a:pt x="30469" y="3807"/>
                </a:cubicBezTo>
                <a:cubicBezTo>
                  <a:pt x="30456" y="3810"/>
                  <a:pt x="30442" y="3811"/>
                  <a:pt x="30428" y="3811"/>
                </a:cubicBezTo>
                <a:lnTo>
                  <a:pt x="159" y="3811"/>
                </a:lnTo>
                <a:cubicBezTo>
                  <a:pt x="148" y="3811"/>
                  <a:pt x="138" y="3810"/>
                  <a:pt x="128" y="3807"/>
                </a:cubicBezTo>
                <a:cubicBezTo>
                  <a:pt x="117" y="3804"/>
                  <a:pt x="108" y="3800"/>
                  <a:pt x="98" y="3795"/>
                </a:cubicBezTo>
                <a:cubicBezTo>
                  <a:pt x="88" y="3790"/>
                  <a:pt x="79" y="3783"/>
                  <a:pt x="70" y="3776"/>
                </a:cubicBezTo>
                <a:cubicBezTo>
                  <a:pt x="62" y="3768"/>
                  <a:pt x="54" y="3759"/>
                  <a:pt x="46" y="3749"/>
                </a:cubicBezTo>
                <a:cubicBezTo>
                  <a:pt x="39" y="3739"/>
                  <a:pt x="32" y="3729"/>
                  <a:pt x="27" y="3717"/>
                </a:cubicBezTo>
                <a:cubicBezTo>
                  <a:pt x="21" y="3706"/>
                  <a:pt x="16" y="3693"/>
                  <a:pt x="12" y="3681"/>
                </a:cubicBezTo>
                <a:cubicBezTo>
                  <a:pt x="8" y="3668"/>
                  <a:pt x="5" y="3655"/>
                  <a:pt x="3" y="3641"/>
                </a:cubicBezTo>
                <a:cubicBezTo>
                  <a:pt x="1" y="3627"/>
                  <a:pt x="0" y="3613"/>
                  <a:pt x="0" y="3600"/>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57" name="Forma libre: forma 356"/>
          <p:cNvSpPr/>
          <p:nvPr/>
        </p:nvSpPr>
        <p:spPr>
          <a:xfrm>
            <a:off x="571320" y="2800080"/>
            <a:ext cx="76680" cy="1371960"/>
          </a:xfrm>
          <a:custGeom>
            <a:avLst/>
            <a:gdLst/>
            <a:ahLst/>
            <a:cxnLst/>
            <a:rect l="0" t="0" r="r" b="b"/>
            <a:pathLst>
              <a:path w="213" h="3811">
                <a:moveTo>
                  <a:pt x="0" y="0"/>
                </a:moveTo>
                <a:lnTo>
                  <a:pt x="213" y="0"/>
                </a:lnTo>
                <a:lnTo>
                  <a:pt x="213" y="3811"/>
                </a:lnTo>
                <a:lnTo>
                  <a:pt x="0" y="3811"/>
                </a:lnTo>
                <a:lnTo>
                  <a:pt x="0" y="0"/>
                </a:ln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58" name="CuadroTexto 357"/>
          <p:cNvSpPr txBox="1"/>
          <p:nvPr/>
        </p:nvSpPr>
        <p:spPr>
          <a:xfrm>
            <a:off x="838080" y="2168640"/>
            <a:ext cx="76665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a continuación, se realiza la refactorización para eliminar la duplicación y el ciclo se repite hasta que la funcionalidad esta lista.</a:t>
            </a:r>
            <a:endParaRPr lang="en-US" sz="1200" b="0" u="none" strike="noStrike">
              <a:solidFill>
                <a:srgbClr val="000000"/>
              </a:solidFill>
              <a:effectLst/>
              <a:uFillTx/>
              <a:latin typeface="Times New Roman"/>
            </a:endParaRPr>
          </a:p>
        </p:txBody>
      </p:sp>
      <p:sp>
        <p:nvSpPr>
          <p:cNvPr id="359" name="CuadroTexto 358"/>
          <p:cNvSpPr txBox="1"/>
          <p:nvPr/>
        </p:nvSpPr>
        <p:spPr>
          <a:xfrm>
            <a:off x="838080" y="3052800"/>
            <a:ext cx="3511080" cy="253440"/>
          </a:xfrm>
          <a:prstGeom prst="rect">
            <a:avLst/>
          </a:prstGeom>
          <a:noFill/>
          <a:ln w="0">
            <a:noFill/>
          </a:ln>
        </p:spPr>
        <p:txBody>
          <a:bodyPr wrap="none" lIns="0" tIns="0" rIns="0" bIns="0" anchor="t">
            <a:spAutoFit/>
          </a:bodyPr>
          <a:lstStyle/>
          <a:p>
            <a:r>
              <a:rPr lang="en-US" sz="1800" b="0" u="none" strike="noStrike">
                <a:solidFill>
                  <a:srgbClr val="5B9BD5"/>
                </a:solidFill>
                <a:effectLst/>
                <a:uFillTx/>
                <a:latin typeface="CrimsonPro"/>
                <a:ea typeface="CrimsonPro"/>
              </a:rPr>
              <a:t>BDD (Behaviour Driven Development)</a:t>
            </a:r>
            <a:endParaRPr lang="en-US" sz="1800" b="0" u="none" strike="noStrike">
              <a:solidFill>
                <a:srgbClr val="000000"/>
              </a:solidFill>
              <a:effectLst/>
              <a:uFillTx/>
              <a:latin typeface="Times New Roman"/>
            </a:endParaRPr>
          </a:p>
        </p:txBody>
      </p:sp>
      <p:sp>
        <p:nvSpPr>
          <p:cNvPr id="360" name="CuadroTexto 359"/>
          <p:cNvSpPr txBox="1"/>
          <p:nvPr/>
        </p:nvSpPr>
        <p:spPr>
          <a:xfrm>
            <a:off x="838080" y="3483000"/>
            <a:ext cx="105872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Esto significa crear una especificación/requerimiento ejecutable que falla porque la característica no existe, entonces prosigo con escribir el código más simple que puede hacer</a:t>
            </a:r>
            <a:endParaRPr lang="en-US" sz="1200" b="0" u="none" strike="noStrike">
              <a:solidFill>
                <a:srgbClr val="000000"/>
              </a:solidFill>
              <a:effectLst/>
              <a:uFillTx/>
              <a:latin typeface="Times New Roman"/>
            </a:endParaRPr>
          </a:p>
        </p:txBody>
      </p:sp>
      <p:sp>
        <p:nvSpPr>
          <p:cNvPr id="361" name="Forma libre: forma 360"/>
          <p:cNvSpPr/>
          <p:nvPr/>
        </p:nvSpPr>
        <p:spPr>
          <a:xfrm>
            <a:off x="590400" y="4362120"/>
            <a:ext cx="11030400" cy="1371960"/>
          </a:xfrm>
          <a:custGeom>
            <a:avLst/>
            <a:gdLst/>
            <a:ahLst/>
            <a:cxnLst/>
            <a:rect l="0" t="0" r="r" b="b"/>
            <a:pathLst>
              <a:path w="30640" h="3811">
                <a:moveTo>
                  <a:pt x="0" y="3600"/>
                </a:moveTo>
                <a:lnTo>
                  <a:pt x="0" y="212"/>
                </a:lnTo>
                <a:cubicBezTo>
                  <a:pt x="0" y="198"/>
                  <a:pt x="1" y="184"/>
                  <a:pt x="3" y="171"/>
                </a:cubicBezTo>
                <a:cubicBezTo>
                  <a:pt x="5" y="157"/>
                  <a:pt x="8" y="144"/>
                  <a:pt x="12" y="131"/>
                </a:cubicBezTo>
                <a:cubicBezTo>
                  <a:pt x="16" y="118"/>
                  <a:pt x="21" y="106"/>
                  <a:pt x="27" y="94"/>
                </a:cubicBezTo>
                <a:cubicBezTo>
                  <a:pt x="32" y="83"/>
                  <a:pt x="39" y="72"/>
                  <a:pt x="46" y="62"/>
                </a:cubicBezTo>
                <a:cubicBezTo>
                  <a:pt x="54" y="53"/>
                  <a:pt x="62" y="44"/>
                  <a:pt x="70" y="36"/>
                </a:cubicBezTo>
                <a:cubicBezTo>
                  <a:pt x="79" y="28"/>
                  <a:pt x="88" y="22"/>
                  <a:pt x="98" y="17"/>
                </a:cubicBezTo>
                <a:cubicBezTo>
                  <a:pt x="108" y="11"/>
                  <a:pt x="117" y="7"/>
                  <a:pt x="128" y="4"/>
                </a:cubicBezTo>
                <a:cubicBezTo>
                  <a:pt x="138" y="2"/>
                  <a:pt x="148" y="0"/>
                  <a:pt x="159" y="0"/>
                </a:cubicBezTo>
                <a:lnTo>
                  <a:pt x="30428" y="0"/>
                </a:lnTo>
                <a:cubicBezTo>
                  <a:pt x="30442" y="0"/>
                  <a:pt x="30456" y="2"/>
                  <a:pt x="30469" y="4"/>
                </a:cubicBezTo>
                <a:cubicBezTo>
                  <a:pt x="30483" y="7"/>
                  <a:pt x="30496" y="11"/>
                  <a:pt x="30509" y="17"/>
                </a:cubicBezTo>
                <a:cubicBezTo>
                  <a:pt x="30522" y="22"/>
                  <a:pt x="30534" y="28"/>
                  <a:pt x="30546" y="36"/>
                </a:cubicBezTo>
                <a:cubicBezTo>
                  <a:pt x="30557" y="44"/>
                  <a:pt x="30568" y="53"/>
                  <a:pt x="30578" y="62"/>
                </a:cubicBezTo>
                <a:cubicBezTo>
                  <a:pt x="30587" y="72"/>
                  <a:pt x="30596" y="83"/>
                  <a:pt x="30604" y="94"/>
                </a:cubicBezTo>
                <a:cubicBezTo>
                  <a:pt x="30612" y="106"/>
                  <a:pt x="30618" y="118"/>
                  <a:pt x="30624" y="131"/>
                </a:cubicBezTo>
                <a:cubicBezTo>
                  <a:pt x="30629" y="144"/>
                  <a:pt x="30633" y="157"/>
                  <a:pt x="30636" y="171"/>
                </a:cubicBezTo>
                <a:cubicBezTo>
                  <a:pt x="30638" y="184"/>
                  <a:pt x="30640" y="198"/>
                  <a:pt x="30640" y="212"/>
                </a:cubicBezTo>
                <a:lnTo>
                  <a:pt x="30640" y="3600"/>
                </a:lnTo>
                <a:cubicBezTo>
                  <a:pt x="30640" y="3614"/>
                  <a:pt x="30638" y="3627"/>
                  <a:pt x="30636" y="3641"/>
                </a:cubicBezTo>
                <a:cubicBezTo>
                  <a:pt x="30633" y="3655"/>
                  <a:pt x="30629" y="3668"/>
                  <a:pt x="30624" y="3681"/>
                </a:cubicBezTo>
                <a:cubicBezTo>
                  <a:pt x="30618" y="3694"/>
                  <a:pt x="30612" y="3706"/>
                  <a:pt x="30604" y="3717"/>
                </a:cubicBezTo>
                <a:cubicBezTo>
                  <a:pt x="30596" y="3729"/>
                  <a:pt x="30587" y="3740"/>
                  <a:pt x="30578" y="3749"/>
                </a:cubicBezTo>
                <a:cubicBezTo>
                  <a:pt x="30568" y="3759"/>
                  <a:pt x="30557" y="3768"/>
                  <a:pt x="30546" y="3776"/>
                </a:cubicBezTo>
                <a:cubicBezTo>
                  <a:pt x="30534" y="3783"/>
                  <a:pt x="30522" y="3790"/>
                  <a:pt x="30509" y="3795"/>
                </a:cubicBezTo>
                <a:cubicBezTo>
                  <a:pt x="30496" y="3801"/>
                  <a:pt x="30483" y="3805"/>
                  <a:pt x="30469" y="3807"/>
                </a:cubicBezTo>
                <a:cubicBezTo>
                  <a:pt x="30456" y="3810"/>
                  <a:pt x="30442" y="3811"/>
                  <a:pt x="30428" y="3811"/>
                </a:cubicBezTo>
                <a:lnTo>
                  <a:pt x="159" y="3811"/>
                </a:lnTo>
                <a:cubicBezTo>
                  <a:pt x="148" y="3811"/>
                  <a:pt x="138" y="3810"/>
                  <a:pt x="128" y="3807"/>
                </a:cubicBezTo>
                <a:cubicBezTo>
                  <a:pt x="117" y="3805"/>
                  <a:pt x="108" y="3801"/>
                  <a:pt x="98" y="3795"/>
                </a:cubicBezTo>
                <a:cubicBezTo>
                  <a:pt x="88" y="3790"/>
                  <a:pt x="79" y="3783"/>
                  <a:pt x="70" y="3776"/>
                </a:cubicBezTo>
                <a:cubicBezTo>
                  <a:pt x="62" y="3768"/>
                  <a:pt x="54" y="3759"/>
                  <a:pt x="46" y="3749"/>
                </a:cubicBezTo>
                <a:cubicBezTo>
                  <a:pt x="39" y="3740"/>
                  <a:pt x="32" y="3729"/>
                  <a:pt x="27" y="3717"/>
                </a:cubicBezTo>
                <a:cubicBezTo>
                  <a:pt x="21" y="3706"/>
                  <a:pt x="16" y="3694"/>
                  <a:pt x="12" y="3681"/>
                </a:cubicBezTo>
                <a:cubicBezTo>
                  <a:pt x="8" y="3668"/>
                  <a:pt x="5" y="3655"/>
                  <a:pt x="3" y="3641"/>
                </a:cubicBezTo>
                <a:cubicBezTo>
                  <a:pt x="1" y="3627"/>
                  <a:pt x="0" y="3614"/>
                  <a:pt x="0" y="3600"/>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62" name="Forma libre: forma 361"/>
          <p:cNvSpPr/>
          <p:nvPr/>
        </p:nvSpPr>
        <p:spPr>
          <a:xfrm>
            <a:off x="571320" y="4362120"/>
            <a:ext cx="76680" cy="1371960"/>
          </a:xfrm>
          <a:custGeom>
            <a:avLst/>
            <a:gdLst/>
            <a:ahLst/>
            <a:cxnLst/>
            <a:rect l="0" t="0" r="r" b="b"/>
            <a:pathLst>
              <a:path w="213" h="3811">
                <a:moveTo>
                  <a:pt x="0" y="0"/>
                </a:moveTo>
                <a:lnTo>
                  <a:pt x="213" y="0"/>
                </a:lnTo>
                <a:lnTo>
                  <a:pt x="213" y="3811"/>
                </a:lnTo>
                <a:lnTo>
                  <a:pt x="0" y="3811"/>
                </a:lnTo>
                <a:lnTo>
                  <a:pt x="0" y="0"/>
                </a:lnTo>
                <a:close/>
              </a:path>
            </a:pathLst>
          </a:custGeom>
          <a:solidFill>
            <a:srgbClr val="B8C5B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63" name="CuadroTexto 362"/>
          <p:cNvSpPr txBox="1"/>
          <p:nvPr/>
        </p:nvSpPr>
        <p:spPr>
          <a:xfrm>
            <a:off x="838080" y="3730680"/>
            <a:ext cx="90882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pasar la especificación, a continuación, se realiza la refactorización para eliminar la duplicación y el ciclo se repite hasta que la especificación esta lista.</a:t>
            </a:r>
            <a:endParaRPr lang="en-US" sz="1200" b="0" u="none" strike="noStrike">
              <a:solidFill>
                <a:srgbClr val="000000"/>
              </a:solidFill>
              <a:effectLst/>
              <a:uFillTx/>
              <a:latin typeface="Times New Roman"/>
            </a:endParaRPr>
          </a:p>
        </p:txBody>
      </p:sp>
      <p:sp>
        <p:nvSpPr>
          <p:cNvPr id="364" name="CuadroTexto 363"/>
          <p:cNvSpPr txBox="1"/>
          <p:nvPr/>
        </p:nvSpPr>
        <p:spPr>
          <a:xfrm>
            <a:off x="838080" y="4614840"/>
            <a:ext cx="4203267" cy="276999"/>
          </a:xfrm>
          <a:prstGeom prst="rect">
            <a:avLst/>
          </a:prstGeom>
          <a:noFill/>
          <a:ln w="0">
            <a:noFill/>
          </a:ln>
        </p:spPr>
        <p:txBody>
          <a:bodyPr wrap="none" lIns="0" tIns="0" rIns="0" bIns="0" anchor="t">
            <a:spAutoFit/>
          </a:bodyPr>
          <a:lstStyle/>
          <a:p>
            <a:r>
              <a:rPr lang="en-US" sz="1800" b="0" u="none" strike="noStrike" dirty="0">
                <a:effectLst/>
                <a:uFillTx/>
                <a:latin typeface="CrimsonPro"/>
                <a:ea typeface="CrimsonPro"/>
              </a:rPr>
              <a:t>ATDD (Acceptance Test Driven Development)</a:t>
            </a:r>
            <a:endParaRPr lang="en-US" sz="1800" b="0" u="none" strike="noStrike" dirty="0">
              <a:effectLst/>
              <a:uFillTx/>
              <a:latin typeface="Times New Roman"/>
            </a:endParaRPr>
          </a:p>
        </p:txBody>
      </p:sp>
      <p:sp>
        <p:nvSpPr>
          <p:cNvPr id="365" name="CuadroTexto 364"/>
          <p:cNvSpPr txBox="1"/>
          <p:nvPr/>
        </p:nvSpPr>
        <p:spPr>
          <a:xfrm>
            <a:off x="838080" y="5045040"/>
            <a:ext cx="105710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Esto significa que todo el equipo discute en colaboración criterios de aceptación, con ejemplos, y luego los divide en un conjunto de pruebas de aceptación en concreto antes de</a:t>
            </a:r>
            <a:endParaRPr lang="en-US" sz="1200" b="0" u="none" strike="noStrike">
              <a:solidFill>
                <a:srgbClr val="000000"/>
              </a:solidFill>
              <a:effectLst/>
              <a:uFillTx/>
              <a:latin typeface="Times New Roman"/>
            </a:endParaRPr>
          </a:p>
        </p:txBody>
      </p:sp>
      <p:sp>
        <p:nvSpPr>
          <p:cNvPr id="366" name="CuadroTexto 365"/>
          <p:cNvSpPr txBox="1"/>
          <p:nvPr/>
        </p:nvSpPr>
        <p:spPr>
          <a:xfrm>
            <a:off x="838080" y="5292720"/>
            <a:ext cx="52142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que comience el desarrollo. ATDD es mas cercano a un proceso mas que una actividad.</a:t>
            </a:r>
            <a:endParaRPr lang="en-US" sz="1200" b="0" u="none" strike="noStrike">
              <a:solidFill>
                <a:srgbClr val="000000"/>
              </a:solidFill>
              <a:effectLst/>
              <a:uFillTx/>
              <a:latin typeface="Times New Roman"/>
            </a:endParaRPr>
          </a:p>
        </p:txBody>
      </p:sp>
      <p:sp>
        <p:nvSpPr>
          <p:cNvPr id="367" name="Forma libre: forma 366"/>
          <p:cNvSpPr/>
          <p:nvPr/>
        </p:nvSpPr>
        <p:spPr>
          <a:xfrm>
            <a:off x="571320" y="626724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68" name="CuadroTexto 367"/>
          <p:cNvSpPr txBox="1"/>
          <p:nvPr/>
        </p:nvSpPr>
        <p:spPr>
          <a:xfrm>
            <a:off x="9600480" y="6024240"/>
            <a:ext cx="201888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nearsoftjobs.com</a:t>
            </a:r>
            <a:endParaRPr lang="en-US" sz="1050" b="0" u="none" strike="noStrike">
              <a:solidFill>
                <a:srgbClr val="000000"/>
              </a:solidFill>
              <a:effectLst/>
              <a:uFillTx/>
              <a:latin typeface="Times New Roman"/>
            </a:endParaRPr>
          </a:p>
        </p:txBody>
      </p:sp>
      <p:sp>
        <p:nvSpPr>
          <p:cNvPr id="369" name="CuadroTexto 368"/>
          <p:cNvSpPr txBox="1"/>
          <p:nvPr/>
        </p:nvSpPr>
        <p:spPr>
          <a:xfrm>
            <a:off x="571320" y="645480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370" name="CuadroTexto 369"/>
          <p:cNvSpPr txBox="1"/>
          <p:nvPr/>
        </p:nvSpPr>
        <p:spPr>
          <a:xfrm>
            <a:off x="11498040" y="645480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15</a:t>
            </a:r>
            <a:endParaRPr lang="en-US" sz="1200" b="0" u="none" strike="noStrike">
              <a:solidFill>
                <a:srgbClr val="000000"/>
              </a:solidFill>
              <a:effectLst/>
              <a:uFillTx/>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Forma libre: forma 372"/>
          <p:cNvSpPr/>
          <p:nvPr/>
        </p:nvSpPr>
        <p:spPr>
          <a:xfrm>
            <a:off x="571320" y="102852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374" name="Forma libre: forma 373"/>
          <p:cNvSpPr/>
          <p:nvPr/>
        </p:nvSpPr>
        <p:spPr>
          <a:xfrm>
            <a:off x="861840" y="1728720"/>
            <a:ext cx="10468440" cy="3257640"/>
          </a:xfrm>
          <a:custGeom>
            <a:avLst/>
            <a:gdLst/>
            <a:ahLst/>
            <a:cxnLst/>
            <a:rect l="0" t="0" r="r" b="b"/>
            <a:pathLst>
              <a:path w="29079" h="9049">
                <a:moveTo>
                  <a:pt x="0" y="8851"/>
                </a:moveTo>
                <a:lnTo>
                  <a:pt x="0" y="198"/>
                </a:lnTo>
                <a:cubicBezTo>
                  <a:pt x="0" y="185"/>
                  <a:pt x="1" y="172"/>
                  <a:pt x="4" y="159"/>
                </a:cubicBezTo>
                <a:cubicBezTo>
                  <a:pt x="6" y="147"/>
                  <a:pt x="10" y="134"/>
                  <a:pt x="15" y="122"/>
                </a:cubicBezTo>
                <a:cubicBezTo>
                  <a:pt x="20" y="110"/>
                  <a:pt x="26" y="99"/>
                  <a:pt x="33" y="88"/>
                </a:cubicBezTo>
                <a:cubicBezTo>
                  <a:pt x="41" y="77"/>
                  <a:pt x="49" y="67"/>
                  <a:pt x="58" y="58"/>
                </a:cubicBezTo>
                <a:cubicBezTo>
                  <a:pt x="67" y="49"/>
                  <a:pt x="77" y="40"/>
                  <a:pt x="88" y="33"/>
                </a:cubicBezTo>
                <a:cubicBezTo>
                  <a:pt x="99" y="26"/>
                  <a:pt x="110" y="20"/>
                  <a:pt x="122" y="15"/>
                </a:cubicBezTo>
                <a:cubicBezTo>
                  <a:pt x="135" y="10"/>
                  <a:pt x="147" y="6"/>
                  <a:pt x="160" y="3"/>
                </a:cubicBezTo>
                <a:cubicBezTo>
                  <a:pt x="172" y="1"/>
                  <a:pt x="185" y="0"/>
                  <a:pt x="198" y="0"/>
                </a:cubicBezTo>
                <a:lnTo>
                  <a:pt x="28880" y="0"/>
                </a:lnTo>
                <a:cubicBezTo>
                  <a:pt x="28893" y="0"/>
                  <a:pt x="28906" y="1"/>
                  <a:pt x="28919" y="3"/>
                </a:cubicBezTo>
                <a:cubicBezTo>
                  <a:pt x="28932" y="6"/>
                  <a:pt x="28944" y="10"/>
                  <a:pt x="28956" y="15"/>
                </a:cubicBezTo>
                <a:cubicBezTo>
                  <a:pt x="28968" y="20"/>
                  <a:pt x="28980" y="26"/>
                  <a:pt x="28990" y="33"/>
                </a:cubicBezTo>
                <a:cubicBezTo>
                  <a:pt x="29001" y="40"/>
                  <a:pt x="29011" y="49"/>
                  <a:pt x="29021" y="58"/>
                </a:cubicBezTo>
                <a:cubicBezTo>
                  <a:pt x="29030" y="67"/>
                  <a:pt x="29038" y="77"/>
                  <a:pt x="29045" y="88"/>
                </a:cubicBezTo>
                <a:cubicBezTo>
                  <a:pt x="29052" y="99"/>
                  <a:pt x="29059" y="110"/>
                  <a:pt x="29064" y="122"/>
                </a:cubicBezTo>
                <a:cubicBezTo>
                  <a:pt x="29069" y="134"/>
                  <a:pt x="29072" y="147"/>
                  <a:pt x="29075" y="159"/>
                </a:cubicBezTo>
                <a:cubicBezTo>
                  <a:pt x="29077" y="172"/>
                  <a:pt x="29079" y="185"/>
                  <a:pt x="29079" y="198"/>
                </a:cubicBezTo>
                <a:lnTo>
                  <a:pt x="29079" y="8851"/>
                </a:lnTo>
                <a:cubicBezTo>
                  <a:pt x="29079" y="8864"/>
                  <a:pt x="29077" y="8877"/>
                  <a:pt x="29075" y="8890"/>
                </a:cubicBezTo>
                <a:cubicBezTo>
                  <a:pt x="29072" y="8902"/>
                  <a:pt x="29069" y="8915"/>
                  <a:pt x="29064" y="8927"/>
                </a:cubicBezTo>
                <a:cubicBezTo>
                  <a:pt x="29059" y="8939"/>
                  <a:pt x="29052" y="8950"/>
                  <a:pt x="29045" y="8961"/>
                </a:cubicBezTo>
                <a:cubicBezTo>
                  <a:pt x="29038" y="8972"/>
                  <a:pt x="29030" y="8982"/>
                  <a:pt x="29021" y="8991"/>
                </a:cubicBezTo>
                <a:cubicBezTo>
                  <a:pt x="29011" y="9001"/>
                  <a:pt x="29001" y="9009"/>
                  <a:pt x="28990" y="9016"/>
                </a:cubicBezTo>
                <a:cubicBezTo>
                  <a:pt x="28980" y="9023"/>
                  <a:pt x="28968" y="9029"/>
                  <a:pt x="28956" y="9034"/>
                </a:cubicBezTo>
                <a:cubicBezTo>
                  <a:pt x="28944" y="9039"/>
                  <a:pt x="28932" y="9043"/>
                  <a:pt x="28919" y="9046"/>
                </a:cubicBezTo>
                <a:cubicBezTo>
                  <a:pt x="28906" y="9048"/>
                  <a:pt x="28893" y="9049"/>
                  <a:pt x="28880" y="9049"/>
                </a:cubicBezTo>
                <a:lnTo>
                  <a:pt x="198" y="9049"/>
                </a:lnTo>
                <a:cubicBezTo>
                  <a:pt x="185" y="9049"/>
                  <a:pt x="172" y="9048"/>
                  <a:pt x="160" y="9046"/>
                </a:cubicBezTo>
                <a:cubicBezTo>
                  <a:pt x="147" y="9043"/>
                  <a:pt x="135" y="9039"/>
                  <a:pt x="122" y="9034"/>
                </a:cubicBezTo>
                <a:cubicBezTo>
                  <a:pt x="110" y="9029"/>
                  <a:pt x="99" y="9023"/>
                  <a:pt x="88" y="9016"/>
                </a:cubicBezTo>
                <a:cubicBezTo>
                  <a:pt x="77" y="9009"/>
                  <a:pt x="67" y="9001"/>
                  <a:pt x="58" y="8991"/>
                </a:cubicBezTo>
                <a:cubicBezTo>
                  <a:pt x="49" y="8982"/>
                  <a:pt x="41" y="8972"/>
                  <a:pt x="33" y="8961"/>
                </a:cubicBezTo>
                <a:cubicBezTo>
                  <a:pt x="26" y="8950"/>
                  <a:pt x="20" y="8939"/>
                  <a:pt x="15" y="8927"/>
                </a:cubicBezTo>
                <a:cubicBezTo>
                  <a:pt x="10" y="8915"/>
                  <a:pt x="6" y="8902"/>
                  <a:pt x="4" y="8890"/>
                </a:cubicBezTo>
                <a:cubicBezTo>
                  <a:pt x="1" y="8877"/>
                  <a:pt x="0" y="8864"/>
                  <a:pt x="0" y="8851"/>
                </a:cubicBezTo>
                <a:close/>
              </a:path>
            </a:pathLst>
          </a:custGeom>
          <a:solidFill>
            <a:srgbClr val="FFFFFF"/>
          </a:solidFill>
          <a:ln w="0">
            <a:no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75" name="Forma libre: forma 374"/>
          <p:cNvSpPr/>
          <p:nvPr/>
        </p:nvSpPr>
        <p:spPr>
          <a:xfrm>
            <a:off x="861840" y="1728720"/>
            <a:ext cx="10468440" cy="3257640"/>
          </a:xfrm>
          <a:custGeom>
            <a:avLst/>
            <a:gdLst/>
            <a:ahLst/>
            <a:cxnLst/>
            <a:rect l="0" t="0" r="r" b="b"/>
            <a:pathLst>
              <a:path w="29079" h="9049" fill="none">
                <a:moveTo>
                  <a:pt x="0" y="8851"/>
                </a:moveTo>
                <a:lnTo>
                  <a:pt x="0" y="198"/>
                </a:lnTo>
                <a:cubicBezTo>
                  <a:pt x="0" y="185"/>
                  <a:pt x="1" y="172"/>
                  <a:pt x="4" y="159"/>
                </a:cubicBezTo>
                <a:cubicBezTo>
                  <a:pt x="6" y="147"/>
                  <a:pt x="10" y="134"/>
                  <a:pt x="15" y="122"/>
                </a:cubicBezTo>
                <a:cubicBezTo>
                  <a:pt x="20" y="110"/>
                  <a:pt x="26" y="99"/>
                  <a:pt x="33" y="88"/>
                </a:cubicBezTo>
                <a:cubicBezTo>
                  <a:pt x="41" y="77"/>
                  <a:pt x="49" y="67"/>
                  <a:pt x="58" y="58"/>
                </a:cubicBezTo>
                <a:cubicBezTo>
                  <a:pt x="67" y="49"/>
                  <a:pt x="77" y="40"/>
                  <a:pt x="88" y="33"/>
                </a:cubicBezTo>
                <a:cubicBezTo>
                  <a:pt x="99" y="26"/>
                  <a:pt x="110" y="20"/>
                  <a:pt x="122" y="15"/>
                </a:cubicBezTo>
                <a:cubicBezTo>
                  <a:pt x="135" y="10"/>
                  <a:pt x="147" y="6"/>
                  <a:pt x="160" y="3"/>
                </a:cubicBezTo>
                <a:cubicBezTo>
                  <a:pt x="172" y="1"/>
                  <a:pt x="185" y="0"/>
                  <a:pt x="198" y="0"/>
                </a:cubicBezTo>
                <a:lnTo>
                  <a:pt x="28880" y="0"/>
                </a:lnTo>
                <a:cubicBezTo>
                  <a:pt x="28893" y="0"/>
                  <a:pt x="28906" y="1"/>
                  <a:pt x="28919" y="3"/>
                </a:cubicBezTo>
                <a:cubicBezTo>
                  <a:pt x="28932" y="6"/>
                  <a:pt x="28944" y="10"/>
                  <a:pt x="28956" y="15"/>
                </a:cubicBezTo>
                <a:cubicBezTo>
                  <a:pt x="28968" y="20"/>
                  <a:pt x="28980" y="26"/>
                  <a:pt x="28990" y="33"/>
                </a:cubicBezTo>
                <a:cubicBezTo>
                  <a:pt x="29001" y="40"/>
                  <a:pt x="29011" y="49"/>
                  <a:pt x="29021" y="58"/>
                </a:cubicBezTo>
                <a:cubicBezTo>
                  <a:pt x="29030" y="67"/>
                  <a:pt x="29038" y="77"/>
                  <a:pt x="29045" y="88"/>
                </a:cubicBezTo>
                <a:cubicBezTo>
                  <a:pt x="29052" y="99"/>
                  <a:pt x="29059" y="110"/>
                  <a:pt x="29064" y="122"/>
                </a:cubicBezTo>
                <a:cubicBezTo>
                  <a:pt x="29069" y="134"/>
                  <a:pt x="29072" y="147"/>
                  <a:pt x="29075" y="159"/>
                </a:cubicBezTo>
                <a:cubicBezTo>
                  <a:pt x="29077" y="172"/>
                  <a:pt x="29079" y="185"/>
                  <a:pt x="29079" y="198"/>
                </a:cubicBezTo>
                <a:lnTo>
                  <a:pt x="29079" y="8851"/>
                </a:lnTo>
                <a:cubicBezTo>
                  <a:pt x="29079" y="8864"/>
                  <a:pt x="29077" y="8877"/>
                  <a:pt x="29075" y="8890"/>
                </a:cubicBezTo>
                <a:cubicBezTo>
                  <a:pt x="29072" y="8902"/>
                  <a:pt x="29069" y="8915"/>
                  <a:pt x="29064" y="8927"/>
                </a:cubicBezTo>
                <a:cubicBezTo>
                  <a:pt x="29059" y="8939"/>
                  <a:pt x="29052" y="8950"/>
                  <a:pt x="29045" y="8961"/>
                </a:cubicBezTo>
                <a:cubicBezTo>
                  <a:pt x="29038" y="8972"/>
                  <a:pt x="29030" y="8982"/>
                  <a:pt x="29021" y="8991"/>
                </a:cubicBezTo>
                <a:cubicBezTo>
                  <a:pt x="29011" y="9001"/>
                  <a:pt x="29001" y="9009"/>
                  <a:pt x="28990" y="9016"/>
                </a:cubicBezTo>
                <a:cubicBezTo>
                  <a:pt x="28980" y="9023"/>
                  <a:pt x="28968" y="9029"/>
                  <a:pt x="28956" y="9034"/>
                </a:cubicBezTo>
                <a:cubicBezTo>
                  <a:pt x="28944" y="9039"/>
                  <a:pt x="28932" y="9043"/>
                  <a:pt x="28919" y="9046"/>
                </a:cubicBezTo>
                <a:cubicBezTo>
                  <a:pt x="28906" y="9048"/>
                  <a:pt x="28893" y="9049"/>
                  <a:pt x="28880" y="9049"/>
                </a:cubicBezTo>
                <a:lnTo>
                  <a:pt x="198" y="9049"/>
                </a:lnTo>
                <a:cubicBezTo>
                  <a:pt x="185" y="9049"/>
                  <a:pt x="172" y="9048"/>
                  <a:pt x="160" y="9046"/>
                </a:cubicBezTo>
                <a:cubicBezTo>
                  <a:pt x="147" y="9043"/>
                  <a:pt x="135" y="9039"/>
                  <a:pt x="122" y="9034"/>
                </a:cubicBezTo>
                <a:cubicBezTo>
                  <a:pt x="110" y="9029"/>
                  <a:pt x="99" y="9023"/>
                  <a:pt x="88" y="9016"/>
                </a:cubicBezTo>
                <a:cubicBezTo>
                  <a:pt x="77" y="9009"/>
                  <a:pt x="67" y="9001"/>
                  <a:pt x="58" y="8991"/>
                </a:cubicBezTo>
                <a:cubicBezTo>
                  <a:pt x="49" y="8982"/>
                  <a:pt x="41" y="8972"/>
                  <a:pt x="33" y="8961"/>
                </a:cubicBezTo>
                <a:cubicBezTo>
                  <a:pt x="26" y="8950"/>
                  <a:pt x="20" y="8939"/>
                  <a:pt x="15" y="8927"/>
                </a:cubicBezTo>
                <a:cubicBezTo>
                  <a:pt x="10" y="8915"/>
                  <a:pt x="6" y="8902"/>
                  <a:pt x="4" y="8890"/>
                </a:cubicBezTo>
                <a:cubicBezTo>
                  <a:pt x="1" y="8877"/>
                  <a:pt x="0" y="8864"/>
                  <a:pt x="0" y="8851"/>
                </a:cubicBezTo>
              </a:path>
            </a:pathLst>
          </a:custGeom>
          <a:ln w="9360">
            <a:solidFill>
              <a:schemeClr val="tx1"/>
            </a:solidFill>
            <a:miter/>
          </a:ln>
        </p:spPr>
        <p:txBody>
          <a:bodyPr lIns="4680" tIns="4680" rIns="4680" bIns="4680" anchor="t">
            <a:noAutofit/>
          </a:bodyPr>
          <a:lstStyle/>
          <a:p>
            <a:endParaRPr lang="en-US" sz="3200" b="0" u="none" strike="noStrike">
              <a:solidFill>
                <a:srgbClr val="000000"/>
              </a:solidFill>
              <a:effectLst/>
              <a:uFillTx/>
              <a:latin typeface="Times New Roman"/>
            </a:endParaRPr>
          </a:p>
        </p:txBody>
      </p:sp>
      <p:sp>
        <p:nvSpPr>
          <p:cNvPr id="376" name="Forma libre: forma 375"/>
          <p:cNvSpPr/>
          <p:nvPr/>
        </p:nvSpPr>
        <p:spPr>
          <a:xfrm>
            <a:off x="866520" y="1733400"/>
            <a:ext cx="1753200" cy="543240"/>
          </a:xfrm>
          <a:custGeom>
            <a:avLst/>
            <a:gdLst/>
            <a:ahLst/>
            <a:cxnLst/>
            <a:rect l="0" t="0" r="r" b="b"/>
            <a:pathLst>
              <a:path w="4870" h="1509">
                <a:moveTo>
                  <a:pt x="14" y="114"/>
                </a:moveTo>
                <a:cubicBezTo>
                  <a:pt x="24" y="92"/>
                  <a:pt x="38" y="72"/>
                  <a:pt x="55" y="54"/>
                </a:cubicBezTo>
                <a:cubicBezTo>
                  <a:pt x="73" y="37"/>
                  <a:pt x="93" y="23"/>
                  <a:pt x="116" y="14"/>
                </a:cubicBezTo>
                <a:cubicBezTo>
                  <a:pt x="138" y="5"/>
                  <a:pt x="162" y="0"/>
                  <a:pt x="186" y="0"/>
                </a:cubicBezTo>
                <a:lnTo>
                  <a:pt x="4870" y="0"/>
                </a:lnTo>
                <a:lnTo>
                  <a:pt x="4870" y="1509"/>
                </a:lnTo>
                <a:lnTo>
                  <a:pt x="0" y="1509"/>
                </a:lnTo>
                <a:lnTo>
                  <a:pt x="0" y="185"/>
                </a:lnTo>
                <a:cubicBezTo>
                  <a:pt x="0" y="161"/>
                  <a:pt x="5" y="137"/>
                  <a:pt x="14" y="114"/>
                </a:cubicBezTo>
                <a:close/>
              </a:path>
            </a:pathLst>
          </a:custGeom>
          <a:solidFill>
            <a:srgbClr val="F5E6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77" name="Forma libre: forma 376"/>
          <p:cNvSpPr/>
          <p:nvPr/>
        </p:nvSpPr>
        <p:spPr>
          <a:xfrm>
            <a:off x="2619360" y="1733400"/>
            <a:ext cx="3152880" cy="543240"/>
          </a:xfrm>
          <a:custGeom>
            <a:avLst/>
            <a:gdLst/>
            <a:ahLst/>
            <a:cxnLst/>
            <a:rect l="0" t="0" r="r" b="b"/>
            <a:pathLst>
              <a:path w="8758" h="1509">
                <a:moveTo>
                  <a:pt x="0" y="0"/>
                </a:moveTo>
                <a:lnTo>
                  <a:pt x="8758" y="0"/>
                </a:lnTo>
                <a:lnTo>
                  <a:pt x="8758" y="1509"/>
                </a:lnTo>
                <a:lnTo>
                  <a:pt x="0" y="1509"/>
                </a:lnTo>
                <a:lnTo>
                  <a:pt x="0" y="0"/>
                </a:lnTo>
                <a:close/>
              </a:path>
            </a:pathLst>
          </a:custGeom>
          <a:solidFill>
            <a:srgbClr val="F5E6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78" name="Forma libre: forma 377"/>
          <p:cNvSpPr/>
          <p:nvPr/>
        </p:nvSpPr>
        <p:spPr>
          <a:xfrm>
            <a:off x="5771880" y="1733400"/>
            <a:ext cx="2200680" cy="543240"/>
          </a:xfrm>
          <a:custGeom>
            <a:avLst/>
            <a:gdLst/>
            <a:ahLst/>
            <a:cxnLst/>
            <a:rect l="0" t="0" r="r" b="b"/>
            <a:pathLst>
              <a:path w="6113" h="1509">
                <a:moveTo>
                  <a:pt x="0" y="0"/>
                </a:moveTo>
                <a:lnTo>
                  <a:pt x="6113" y="0"/>
                </a:lnTo>
                <a:lnTo>
                  <a:pt x="6113" y="1509"/>
                </a:lnTo>
                <a:lnTo>
                  <a:pt x="0" y="1509"/>
                </a:lnTo>
                <a:lnTo>
                  <a:pt x="0" y="0"/>
                </a:lnTo>
                <a:close/>
              </a:path>
            </a:pathLst>
          </a:custGeom>
          <a:solidFill>
            <a:srgbClr val="F5E6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79" name="Forma libre: forma 378"/>
          <p:cNvSpPr/>
          <p:nvPr/>
        </p:nvSpPr>
        <p:spPr>
          <a:xfrm>
            <a:off x="7972200" y="1733400"/>
            <a:ext cx="3353040" cy="543240"/>
          </a:xfrm>
          <a:custGeom>
            <a:avLst/>
            <a:gdLst/>
            <a:ahLst/>
            <a:cxnLst/>
            <a:rect l="0" t="0" r="r" b="b"/>
            <a:pathLst>
              <a:path w="9314" h="1509">
                <a:moveTo>
                  <a:pt x="9200" y="14"/>
                </a:moveTo>
                <a:cubicBezTo>
                  <a:pt x="9223" y="23"/>
                  <a:pt x="9243" y="37"/>
                  <a:pt x="9260" y="54"/>
                </a:cubicBezTo>
                <a:cubicBezTo>
                  <a:pt x="9278" y="72"/>
                  <a:pt x="9291" y="92"/>
                  <a:pt x="9300" y="114"/>
                </a:cubicBezTo>
                <a:cubicBezTo>
                  <a:pt x="9310" y="137"/>
                  <a:pt x="9314" y="161"/>
                  <a:pt x="9314" y="185"/>
                </a:cubicBezTo>
                <a:lnTo>
                  <a:pt x="9314" y="1509"/>
                </a:lnTo>
                <a:lnTo>
                  <a:pt x="0" y="1509"/>
                </a:lnTo>
                <a:lnTo>
                  <a:pt x="0" y="0"/>
                </a:lnTo>
                <a:lnTo>
                  <a:pt x="9129" y="0"/>
                </a:lnTo>
                <a:cubicBezTo>
                  <a:pt x="9154" y="0"/>
                  <a:pt x="9177" y="5"/>
                  <a:pt x="9200" y="14"/>
                </a:cubicBezTo>
                <a:close/>
              </a:path>
            </a:pathLst>
          </a:custGeom>
          <a:solidFill>
            <a:srgbClr val="F5E6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80" name="Forma libre: forma 379"/>
          <p:cNvSpPr/>
          <p:nvPr/>
        </p:nvSpPr>
        <p:spPr>
          <a:xfrm>
            <a:off x="866520" y="2276280"/>
            <a:ext cx="1753200" cy="543240"/>
          </a:xfrm>
          <a:custGeom>
            <a:avLst/>
            <a:gdLst/>
            <a:ahLst/>
            <a:cxnLst/>
            <a:rect l="0" t="0" r="r" b="b"/>
            <a:pathLst>
              <a:path w="4870" h="1509">
                <a:moveTo>
                  <a:pt x="0" y="0"/>
                </a:moveTo>
                <a:lnTo>
                  <a:pt x="4870" y="0"/>
                </a:lnTo>
                <a:lnTo>
                  <a:pt x="4870" y="1509"/>
                </a:lnTo>
                <a:lnTo>
                  <a:pt x="0" y="1509"/>
                </a:lnTo>
                <a:lnTo>
                  <a:pt x="0" y="0"/>
                </a:lnTo>
                <a:close/>
              </a:path>
            </a:pathLst>
          </a:custGeom>
          <a:solidFill>
            <a:srgbClr val="FAF9F6"/>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81" name="Forma libre: forma 380"/>
          <p:cNvSpPr/>
          <p:nvPr/>
        </p:nvSpPr>
        <p:spPr>
          <a:xfrm>
            <a:off x="866520" y="2819160"/>
            <a:ext cx="1753200" cy="543240"/>
          </a:xfrm>
          <a:custGeom>
            <a:avLst/>
            <a:gdLst/>
            <a:ahLst/>
            <a:cxnLst/>
            <a:rect l="0" t="0" r="r" b="b"/>
            <a:pathLst>
              <a:path w="4870" h="1509">
                <a:moveTo>
                  <a:pt x="0" y="0"/>
                </a:moveTo>
                <a:lnTo>
                  <a:pt x="4870" y="0"/>
                </a:lnTo>
                <a:lnTo>
                  <a:pt x="4870" y="1509"/>
                </a:lnTo>
                <a:lnTo>
                  <a:pt x="0" y="1509"/>
                </a:lnTo>
                <a:lnTo>
                  <a:pt x="0" y="0"/>
                </a:lnTo>
                <a:close/>
              </a:path>
            </a:pathLst>
          </a:custGeom>
          <a:solidFill>
            <a:srgbClr val="FAF9F6"/>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82" name="Forma libre: forma 381"/>
          <p:cNvSpPr/>
          <p:nvPr/>
        </p:nvSpPr>
        <p:spPr>
          <a:xfrm>
            <a:off x="866520" y="3362040"/>
            <a:ext cx="1753200" cy="543240"/>
          </a:xfrm>
          <a:custGeom>
            <a:avLst/>
            <a:gdLst/>
            <a:ahLst/>
            <a:cxnLst/>
            <a:rect l="0" t="0" r="r" b="b"/>
            <a:pathLst>
              <a:path w="4870" h="1509">
                <a:moveTo>
                  <a:pt x="0" y="0"/>
                </a:moveTo>
                <a:lnTo>
                  <a:pt x="4870" y="0"/>
                </a:lnTo>
                <a:lnTo>
                  <a:pt x="4870" y="1509"/>
                </a:lnTo>
                <a:lnTo>
                  <a:pt x="0" y="1509"/>
                </a:lnTo>
                <a:lnTo>
                  <a:pt x="0" y="0"/>
                </a:lnTo>
                <a:close/>
              </a:path>
            </a:pathLst>
          </a:custGeom>
          <a:solidFill>
            <a:srgbClr val="FAF9F6"/>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83" name="Forma libre: forma 382"/>
          <p:cNvSpPr/>
          <p:nvPr/>
        </p:nvSpPr>
        <p:spPr>
          <a:xfrm>
            <a:off x="866520" y="3904920"/>
            <a:ext cx="1753200" cy="543600"/>
          </a:xfrm>
          <a:custGeom>
            <a:avLst/>
            <a:gdLst/>
            <a:ahLst/>
            <a:cxnLst/>
            <a:rect l="0" t="0" r="r" b="b"/>
            <a:pathLst>
              <a:path w="4870" h="1510">
                <a:moveTo>
                  <a:pt x="0" y="0"/>
                </a:moveTo>
                <a:lnTo>
                  <a:pt x="4870" y="0"/>
                </a:lnTo>
                <a:lnTo>
                  <a:pt x="4870" y="1510"/>
                </a:lnTo>
                <a:lnTo>
                  <a:pt x="0" y="1510"/>
                </a:lnTo>
                <a:lnTo>
                  <a:pt x="0" y="0"/>
                </a:lnTo>
                <a:close/>
              </a:path>
            </a:pathLst>
          </a:custGeom>
          <a:solidFill>
            <a:srgbClr val="FAF9F6"/>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84" name="Forma libre: forma 383"/>
          <p:cNvSpPr/>
          <p:nvPr/>
        </p:nvSpPr>
        <p:spPr>
          <a:xfrm>
            <a:off x="866520" y="4448160"/>
            <a:ext cx="1753200" cy="533520"/>
          </a:xfrm>
          <a:custGeom>
            <a:avLst/>
            <a:gdLst/>
            <a:ahLst/>
            <a:cxnLst/>
            <a:rect l="0" t="0" r="r" b="b"/>
            <a:pathLst>
              <a:path w="4870" h="1482">
                <a:moveTo>
                  <a:pt x="186" y="1482"/>
                </a:moveTo>
                <a:cubicBezTo>
                  <a:pt x="162" y="1482"/>
                  <a:pt x="138" y="1478"/>
                  <a:pt x="116" y="1468"/>
                </a:cubicBezTo>
                <a:cubicBezTo>
                  <a:pt x="93" y="1459"/>
                  <a:pt x="73" y="1445"/>
                  <a:pt x="55" y="1428"/>
                </a:cubicBezTo>
                <a:cubicBezTo>
                  <a:pt x="38" y="1411"/>
                  <a:pt x="24" y="1391"/>
                  <a:pt x="14" y="1368"/>
                </a:cubicBezTo>
                <a:cubicBezTo>
                  <a:pt x="5" y="1345"/>
                  <a:pt x="0" y="1322"/>
                  <a:pt x="0" y="1297"/>
                </a:cubicBezTo>
                <a:lnTo>
                  <a:pt x="0" y="0"/>
                </a:lnTo>
                <a:lnTo>
                  <a:pt x="4870" y="0"/>
                </a:lnTo>
                <a:lnTo>
                  <a:pt x="4870" y="1482"/>
                </a:lnTo>
                <a:lnTo>
                  <a:pt x="186" y="1482"/>
                </a:lnTo>
                <a:close/>
              </a:path>
            </a:pathLst>
          </a:custGeom>
          <a:solidFill>
            <a:srgbClr val="FAF9F6"/>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85" name="Forma libre: forma 384"/>
          <p:cNvSpPr/>
          <p:nvPr/>
        </p:nvSpPr>
        <p:spPr>
          <a:xfrm>
            <a:off x="2609640" y="1733400"/>
            <a:ext cx="10080" cy="543240"/>
          </a:xfrm>
          <a:custGeom>
            <a:avLst/>
            <a:gdLst/>
            <a:ahLst/>
            <a:cxnLst/>
            <a:rect l="0" t="0" r="r" b="b"/>
            <a:pathLst>
              <a:path w="28" h="1509">
                <a:moveTo>
                  <a:pt x="0" y="0"/>
                </a:moveTo>
                <a:lnTo>
                  <a:pt x="28" y="0"/>
                </a:lnTo>
                <a:lnTo>
                  <a:pt x="28" y="1509"/>
                </a:lnTo>
                <a:lnTo>
                  <a:pt x="0" y="1509"/>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86" name="Forma libre: forma 385"/>
          <p:cNvSpPr/>
          <p:nvPr/>
        </p:nvSpPr>
        <p:spPr>
          <a:xfrm>
            <a:off x="5762520" y="1733400"/>
            <a:ext cx="9720" cy="543240"/>
          </a:xfrm>
          <a:custGeom>
            <a:avLst/>
            <a:gdLst/>
            <a:ahLst/>
            <a:cxnLst/>
            <a:rect l="0" t="0" r="r" b="b"/>
            <a:pathLst>
              <a:path w="27" h="1509">
                <a:moveTo>
                  <a:pt x="0" y="0"/>
                </a:moveTo>
                <a:lnTo>
                  <a:pt x="27" y="0"/>
                </a:lnTo>
                <a:lnTo>
                  <a:pt x="27" y="1509"/>
                </a:lnTo>
                <a:lnTo>
                  <a:pt x="0" y="1509"/>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87" name="Forma libre: forma 386"/>
          <p:cNvSpPr/>
          <p:nvPr/>
        </p:nvSpPr>
        <p:spPr>
          <a:xfrm>
            <a:off x="7972200" y="1733400"/>
            <a:ext cx="10080" cy="543240"/>
          </a:xfrm>
          <a:custGeom>
            <a:avLst/>
            <a:gdLst/>
            <a:ahLst/>
            <a:cxnLst/>
            <a:rect l="0" t="0" r="r" b="b"/>
            <a:pathLst>
              <a:path w="28" h="1509">
                <a:moveTo>
                  <a:pt x="0" y="0"/>
                </a:moveTo>
                <a:lnTo>
                  <a:pt x="28" y="0"/>
                </a:lnTo>
                <a:lnTo>
                  <a:pt x="28" y="1509"/>
                </a:lnTo>
                <a:lnTo>
                  <a:pt x="0" y="1509"/>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88" name="Forma libre: forma 387"/>
          <p:cNvSpPr/>
          <p:nvPr/>
        </p:nvSpPr>
        <p:spPr>
          <a:xfrm>
            <a:off x="866520" y="2266920"/>
            <a:ext cx="1743480" cy="9720"/>
          </a:xfrm>
          <a:custGeom>
            <a:avLst/>
            <a:gdLst/>
            <a:ahLst/>
            <a:cxnLst/>
            <a:rect l="0" t="0" r="r" b="b"/>
            <a:pathLst>
              <a:path w="4843" h="27">
                <a:moveTo>
                  <a:pt x="0" y="0"/>
                </a:moveTo>
                <a:lnTo>
                  <a:pt x="4843" y="0"/>
                </a:lnTo>
                <a:lnTo>
                  <a:pt x="4843" y="27"/>
                </a:lnTo>
                <a:lnTo>
                  <a:pt x="0" y="27"/>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89" name="Forma libre: forma 388"/>
          <p:cNvSpPr/>
          <p:nvPr/>
        </p:nvSpPr>
        <p:spPr>
          <a:xfrm>
            <a:off x="2619360" y="2266920"/>
            <a:ext cx="3143520" cy="9720"/>
          </a:xfrm>
          <a:custGeom>
            <a:avLst/>
            <a:gdLst/>
            <a:ahLst/>
            <a:cxnLst/>
            <a:rect l="0" t="0" r="r" b="b"/>
            <a:pathLst>
              <a:path w="8732" h="27">
                <a:moveTo>
                  <a:pt x="0" y="0"/>
                </a:moveTo>
                <a:lnTo>
                  <a:pt x="8732" y="0"/>
                </a:lnTo>
                <a:lnTo>
                  <a:pt x="8732" y="27"/>
                </a:lnTo>
                <a:lnTo>
                  <a:pt x="0" y="27"/>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90" name="Forma libre: forma 389"/>
          <p:cNvSpPr/>
          <p:nvPr/>
        </p:nvSpPr>
        <p:spPr>
          <a:xfrm>
            <a:off x="5771880" y="2266920"/>
            <a:ext cx="2200680" cy="9720"/>
          </a:xfrm>
          <a:custGeom>
            <a:avLst/>
            <a:gdLst/>
            <a:ahLst/>
            <a:cxnLst/>
            <a:rect l="0" t="0" r="r" b="b"/>
            <a:pathLst>
              <a:path w="6113" h="27">
                <a:moveTo>
                  <a:pt x="0" y="0"/>
                </a:moveTo>
                <a:lnTo>
                  <a:pt x="6113" y="0"/>
                </a:lnTo>
                <a:lnTo>
                  <a:pt x="6113" y="27"/>
                </a:lnTo>
                <a:lnTo>
                  <a:pt x="0" y="27"/>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91" name="Forma libre: forma 390"/>
          <p:cNvSpPr/>
          <p:nvPr/>
        </p:nvSpPr>
        <p:spPr>
          <a:xfrm>
            <a:off x="7981920" y="2266920"/>
            <a:ext cx="3343320" cy="9720"/>
          </a:xfrm>
          <a:custGeom>
            <a:avLst/>
            <a:gdLst/>
            <a:ahLst/>
            <a:cxnLst/>
            <a:rect l="0" t="0" r="r" b="b"/>
            <a:pathLst>
              <a:path w="9287" h="27">
                <a:moveTo>
                  <a:pt x="9287" y="27"/>
                </a:moveTo>
                <a:lnTo>
                  <a:pt x="0" y="27"/>
                </a:lnTo>
                <a:lnTo>
                  <a:pt x="0" y="0"/>
                </a:lnTo>
                <a:lnTo>
                  <a:pt x="9287" y="0"/>
                </a:lnTo>
                <a:lnTo>
                  <a:pt x="9287" y="27"/>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92" name="Forma libre: forma 391"/>
          <p:cNvSpPr/>
          <p:nvPr/>
        </p:nvSpPr>
        <p:spPr>
          <a:xfrm>
            <a:off x="2609640" y="2276280"/>
            <a:ext cx="10080" cy="543240"/>
          </a:xfrm>
          <a:custGeom>
            <a:avLst/>
            <a:gdLst/>
            <a:ahLst/>
            <a:cxnLst/>
            <a:rect l="0" t="0" r="r" b="b"/>
            <a:pathLst>
              <a:path w="28" h="1509">
                <a:moveTo>
                  <a:pt x="0" y="0"/>
                </a:moveTo>
                <a:lnTo>
                  <a:pt x="28" y="0"/>
                </a:lnTo>
                <a:lnTo>
                  <a:pt x="28" y="1509"/>
                </a:lnTo>
                <a:lnTo>
                  <a:pt x="0" y="1509"/>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93" name="Forma libre: forma 392"/>
          <p:cNvSpPr/>
          <p:nvPr/>
        </p:nvSpPr>
        <p:spPr>
          <a:xfrm>
            <a:off x="5762520" y="2276280"/>
            <a:ext cx="9720" cy="543240"/>
          </a:xfrm>
          <a:custGeom>
            <a:avLst/>
            <a:gdLst/>
            <a:ahLst/>
            <a:cxnLst/>
            <a:rect l="0" t="0" r="r" b="b"/>
            <a:pathLst>
              <a:path w="27" h="1509">
                <a:moveTo>
                  <a:pt x="0" y="0"/>
                </a:moveTo>
                <a:lnTo>
                  <a:pt x="27" y="0"/>
                </a:lnTo>
                <a:lnTo>
                  <a:pt x="27" y="1509"/>
                </a:lnTo>
                <a:lnTo>
                  <a:pt x="0" y="1509"/>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94" name="Forma libre: forma 393"/>
          <p:cNvSpPr/>
          <p:nvPr/>
        </p:nvSpPr>
        <p:spPr>
          <a:xfrm>
            <a:off x="7972200" y="2276280"/>
            <a:ext cx="10080" cy="543240"/>
          </a:xfrm>
          <a:custGeom>
            <a:avLst/>
            <a:gdLst/>
            <a:ahLst/>
            <a:cxnLst/>
            <a:rect l="0" t="0" r="r" b="b"/>
            <a:pathLst>
              <a:path w="28" h="1509">
                <a:moveTo>
                  <a:pt x="0" y="0"/>
                </a:moveTo>
                <a:lnTo>
                  <a:pt x="28" y="0"/>
                </a:lnTo>
                <a:lnTo>
                  <a:pt x="28" y="1509"/>
                </a:lnTo>
                <a:lnTo>
                  <a:pt x="0" y="1509"/>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95" name="Forma libre: forma 394"/>
          <p:cNvSpPr/>
          <p:nvPr/>
        </p:nvSpPr>
        <p:spPr>
          <a:xfrm>
            <a:off x="866520" y="2809800"/>
            <a:ext cx="1743480" cy="9720"/>
          </a:xfrm>
          <a:custGeom>
            <a:avLst/>
            <a:gdLst/>
            <a:ahLst/>
            <a:cxnLst/>
            <a:rect l="0" t="0" r="r" b="b"/>
            <a:pathLst>
              <a:path w="4843" h="27">
                <a:moveTo>
                  <a:pt x="0" y="0"/>
                </a:moveTo>
                <a:lnTo>
                  <a:pt x="4843" y="0"/>
                </a:lnTo>
                <a:lnTo>
                  <a:pt x="4843" y="27"/>
                </a:lnTo>
                <a:lnTo>
                  <a:pt x="0" y="27"/>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96" name="Forma libre: forma 395"/>
          <p:cNvSpPr/>
          <p:nvPr/>
        </p:nvSpPr>
        <p:spPr>
          <a:xfrm>
            <a:off x="2609640" y="2819160"/>
            <a:ext cx="10080" cy="543240"/>
          </a:xfrm>
          <a:custGeom>
            <a:avLst/>
            <a:gdLst/>
            <a:ahLst/>
            <a:cxnLst/>
            <a:rect l="0" t="0" r="r" b="b"/>
            <a:pathLst>
              <a:path w="28" h="1509">
                <a:moveTo>
                  <a:pt x="0" y="0"/>
                </a:moveTo>
                <a:lnTo>
                  <a:pt x="28" y="0"/>
                </a:lnTo>
                <a:lnTo>
                  <a:pt x="28" y="1509"/>
                </a:lnTo>
                <a:lnTo>
                  <a:pt x="0" y="1509"/>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97" name="Forma libre: forma 396"/>
          <p:cNvSpPr/>
          <p:nvPr/>
        </p:nvSpPr>
        <p:spPr>
          <a:xfrm>
            <a:off x="2619360" y="2809800"/>
            <a:ext cx="3143520" cy="9720"/>
          </a:xfrm>
          <a:custGeom>
            <a:avLst/>
            <a:gdLst/>
            <a:ahLst/>
            <a:cxnLst/>
            <a:rect l="0" t="0" r="r" b="b"/>
            <a:pathLst>
              <a:path w="8732" h="27">
                <a:moveTo>
                  <a:pt x="0" y="0"/>
                </a:moveTo>
                <a:lnTo>
                  <a:pt x="8732" y="0"/>
                </a:lnTo>
                <a:lnTo>
                  <a:pt x="8732" y="27"/>
                </a:lnTo>
                <a:lnTo>
                  <a:pt x="0" y="27"/>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98" name="Forma libre: forma 397"/>
          <p:cNvSpPr/>
          <p:nvPr/>
        </p:nvSpPr>
        <p:spPr>
          <a:xfrm>
            <a:off x="5762520" y="2819160"/>
            <a:ext cx="9720" cy="543240"/>
          </a:xfrm>
          <a:custGeom>
            <a:avLst/>
            <a:gdLst/>
            <a:ahLst/>
            <a:cxnLst/>
            <a:rect l="0" t="0" r="r" b="b"/>
            <a:pathLst>
              <a:path w="27" h="1509">
                <a:moveTo>
                  <a:pt x="0" y="0"/>
                </a:moveTo>
                <a:lnTo>
                  <a:pt x="27" y="0"/>
                </a:lnTo>
                <a:lnTo>
                  <a:pt x="27" y="1509"/>
                </a:lnTo>
                <a:lnTo>
                  <a:pt x="0" y="1509"/>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399" name="Forma libre: forma 398"/>
          <p:cNvSpPr/>
          <p:nvPr/>
        </p:nvSpPr>
        <p:spPr>
          <a:xfrm>
            <a:off x="5771880" y="2809800"/>
            <a:ext cx="2200680" cy="9720"/>
          </a:xfrm>
          <a:custGeom>
            <a:avLst/>
            <a:gdLst/>
            <a:ahLst/>
            <a:cxnLst/>
            <a:rect l="0" t="0" r="r" b="b"/>
            <a:pathLst>
              <a:path w="6113" h="27">
                <a:moveTo>
                  <a:pt x="0" y="0"/>
                </a:moveTo>
                <a:lnTo>
                  <a:pt x="6113" y="0"/>
                </a:lnTo>
                <a:lnTo>
                  <a:pt x="6113" y="27"/>
                </a:lnTo>
                <a:lnTo>
                  <a:pt x="0" y="27"/>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00" name="Forma libre: forma 399"/>
          <p:cNvSpPr/>
          <p:nvPr/>
        </p:nvSpPr>
        <p:spPr>
          <a:xfrm>
            <a:off x="7972200" y="2819160"/>
            <a:ext cx="10080" cy="543240"/>
          </a:xfrm>
          <a:custGeom>
            <a:avLst/>
            <a:gdLst/>
            <a:ahLst/>
            <a:cxnLst/>
            <a:rect l="0" t="0" r="r" b="b"/>
            <a:pathLst>
              <a:path w="28" h="1509">
                <a:moveTo>
                  <a:pt x="0" y="0"/>
                </a:moveTo>
                <a:lnTo>
                  <a:pt x="28" y="0"/>
                </a:lnTo>
                <a:lnTo>
                  <a:pt x="28" y="1509"/>
                </a:lnTo>
                <a:lnTo>
                  <a:pt x="0" y="1509"/>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01" name="Forma libre: forma 400"/>
          <p:cNvSpPr/>
          <p:nvPr/>
        </p:nvSpPr>
        <p:spPr>
          <a:xfrm>
            <a:off x="7981920" y="2809800"/>
            <a:ext cx="3343320" cy="9720"/>
          </a:xfrm>
          <a:custGeom>
            <a:avLst/>
            <a:gdLst/>
            <a:ahLst/>
            <a:cxnLst/>
            <a:rect l="0" t="0" r="r" b="b"/>
            <a:pathLst>
              <a:path w="9287" h="27">
                <a:moveTo>
                  <a:pt x="9287" y="27"/>
                </a:moveTo>
                <a:lnTo>
                  <a:pt x="0" y="27"/>
                </a:lnTo>
                <a:lnTo>
                  <a:pt x="0" y="0"/>
                </a:lnTo>
                <a:lnTo>
                  <a:pt x="9287" y="0"/>
                </a:lnTo>
                <a:lnTo>
                  <a:pt x="9287" y="27"/>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02" name="Forma libre: forma 401"/>
          <p:cNvSpPr/>
          <p:nvPr/>
        </p:nvSpPr>
        <p:spPr>
          <a:xfrm>
            <a:off x="866520" y="3352680"/>
            <a:ext cx="1743480" cy="9720"/>
          </a:xfrm>
          <a:custGeom>
            <a:avLst/>
            <a:gdLst/>
            <a:ahLst/>
            <a:cxnLst/>
            <a:rect l="0" t="0" r="r" b="b"/>
            <a:pathLst>
              <a:path w="4843" h="27">
                <a:moveTo>
                  <a:pt x="0" y="0"/>
                </a:moveTo>
                <a:lnTo>
                  <a:pt x="4843" y="0"/>
                </a:lnTo>
                <a:lnTo>
                  <a:pt x="4843" y="27"/>
                </a:lnTo>
                <a:lnTo>
                  <a:pt x="0" y="27"/>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03" name="Forma libre: forma 402"/>
          <p:cNvSpPr/>
          <p:nvPr/>
        </p:nvSpPr>
        <p:spPr>
          <a:xfrm>
            <a:off x="2609640" y="3362040"/>
            <a:ext cx="10080" cy="543240"/>
          </a:xfrm>
          <a:custGeom>
            <a:avLst/>
            <a:gdLst/>
            <a:ahLst/>
            <a:cxnLst/>
            <a:rect l="0" t="0" r="r" b="b"/>
            <a:pathLst>
              <a:path w="28" h="1509">
                <a:moveTo>
                  <a:pt x="0" y="0"/>
                </a:moveTo>
                <a:lnTo>
                  <a:pt x="28" y="0"/>
                </a:lnTo>
                <a:lnTo>
                  <a:pt x="28" y="1509"/>
                </a:lnTo>
                <a:lnTo>
                  <a:pt x="0" y="1509"/>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04" name="Forma libre: forma 403"/>
          <p:cNvSpPr/>
          <p:nvPr/>
        </p:nvSpPr>
        <p:spPr>
          <a:xfrm>
            <a:off x="2619360" y="3352680"/>
            <a:ext cx="3143520" cy="9720"/>
          </a:xfrm>
          <a:custGeom>
            <a:avLst/>
            <a:gdLst/>
            <a:ahLst/>
            <a:cxnLst/>
            <a:rect l="0" t="0" r="r" b="b"/>
            <a:pathLst>
              <a:path w="8732" h="27">
                <a:moveTo>
                  <a:pt x="0" y="0"/>
                </a:moveTo>
                <a:lnTo>
                  <a:pt x="8732" y="0"/>
                </a:lnTo>
                <a:lnTo>
                  <a:pt x="8732" y="27"/>
                </a:lnTo>
                <a:lnTo>
                  <a:pt x="0" y="27"/>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05" name="Forma libre: forma 404"/>
          <p:cNvSpPr/>
          <p:nvPr/>
        </p:nvSpPr>
        <p:spPr>
          <a:xfrm>
            <a:off x="5762520" y="3362040"/>
            <a:ext cx="9720" cy="543240"/>
          </a:xfrm>
          <a:custGeom>
            <a:avLst/>
            <a:gdLst/>
            <a:ahLst/>
            <a:cxnLst/>
            <a:rect l="0" t="0" r="r" b="b"/>
            <a:pathLst>
              <a:path w="27" h="1509">
                <a:moveTo>
                  <a:pt x="0" y="0"/>
                </a:moveTo>
                <a:lnTo>
                  <a:pt x="27" y="0"/>
                </a:lnTo>
                <a:lnTo>
                  <a:pt x="27" y="1509"/>
                </a:lnTo>
                <a:lnTo>
                  <a:pt x="0" y="1509"/>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06" name="Forma libre: forma 405"/>
          <p:cNvSpPr/>
          <p:nvPr/>
        </p:nvSpPr>
        <p:spPr>
          <a:xfrm>
            <a:off x="5771880" y="3352680"/>
            <a:ext cx="2200680" cy="9720"/>
          </a:xfrm>
          <a:custGeom>
            <a:avLst/>
            <a:gdLst/>
            <a:ahLst/>
            <a:cxnLst/>
            <a:rect l="0" t="0" r="r" b="b"/>
            <a:pathLst>
              <a:path w="6113" h="27">
                <a:moveTo>
                  <a:pt x="0" y="0"/>
                </a:moveTo>
                <a:lnTo>
                  <a:pt x="6113" y="0"/>
                </a:lnTo>
                <a:lnTo>
                  <a:pt x="6113" y="27"/>
                </a:lnTo>
                <a:lnTo>
                  <a:pt x="0" y="27"/>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07" name="Forma libre: forma 406"/>
          <p:cNvSpPr/>
          <p:nvPr/>
        </p:nvSpPr>
        <p:spPr>
          <a:xfrm>
            <a:off x="7972200" y="3362040"/>
            <a:ext cx="10080" cy="543240"/>
          </a:xfrm>
          <a:custGeom>
            <a:avLst/>
            <a:gdLst/>
            <a:ahLst/>
            <a:cxnLst/>
            <a:rect l="0" t="0" r="r" b="b"/>
            <a:pathLst>
              <a:path w="28" h="1509">
                <a:moveTo>
                  <a:pt x="0" y="0"/>
                </a:moveTo>
                <a:lnTo>
                  <a:pt x="28" y="0"/>
                </a:lnTo>
                <a:lnTo>
                  <a:pt x="28" y="1509"/>
                </a:lnTo>
                <a:lnTo>
                  <a:pt x="0" y="1509"/>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08" name="Forma libre: forma 407"/>
          <p:cNvSpPr/>
          <p:nvPr/>
        </p:nvSpPr>
        <p:spPr>
          <a:xfrm>
            <a:off x="7981920" y="3352680"/>
            <a:ext cx="3343320" cy="9720"/>
          </a:xfrm>
          <a:custGeom>
            <a:avLst/>
            <a:gdLst/>
            <a:ahLst/>
            <a:cxnLst/>
            <a:rect l="0" t="0" r="r" b="b"/>
            <a:pathLst>
              <a:path w="9287" h="27">
                <a:moveTo>
                  <a:pt x="9287" y="27"/>
                </a:moveTo>
                <a:lnTo>
                  <a:pt x="0" y="27"/>
                </a:lnTo>
                <a:lnTo>
                  <a:pt x="0" y="0"/>
                </a:lnTo>
                <a:lnTo>
                  <a:pt x="9287" y="0"/>
                </a:lnTo>
                <a:lnTo>
                  <a:pt x="9287" y="27"/>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09" name="Forma libre: forma 408"/>
          <p:cNvSpPr/>
          <p:nvPr/>
        </p:nvSpPr>
        <p:spPr>
          <a:xfrm>
            <a:off x="866520" y="3895560"/>
            <a:ext cx="1743480" cy="9720"/>
          </a:xfrm>
          <a:custGeom>
            <a:avLst/>
            <a:gdLst/>
            <a:ahLst/>
            <a:cxnLst/>
            <a:rect l="0" t="0" r="r" b="b"/>
            <a:pathLst>
              <a:path w="4843" h="27">
                <a:moveTo>
                  <a:pt x="0" y="0"/>
                </a:moveTo>
                <a:lnTo>
                  <a:pt x="4843" y="0"/>
                </a:lnTo>
                <a:lnTo>
                  <a:pt x="4843" y="27"/>
                </a:lnTo>
                <a:lnTo>
                  <a:pt x="0" y="27"/>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10" name="Forma libre: forma 409"/>
          <p:cNvSpPr/>
          <p:nvPr/>
        </p:nvSpPr>
        <p:spPr>
          <a:xfrm>
            <a:off x="2609640" y="3904920"/>
            <a:ext cx="10080" cy="543600"/>
          </a:xfrm>
          <a:custGeom>
            <a:avLst/>
            <a:gdLst/>
            <a:ahLst/>
            <a:cxnLst/>
            <a:rect l="0" t="0" r="r" b="b"/>
            <a:pathLst>
              <a:path w="28" h="1510">
                <a:moveTo>
                  <a:pt x="0" y="0"/>
                </a:moveTo>
                <a:lnTo>
                  <a:pt x="28" y="0"/>
                </a:lnTo>
                <a:lnTo>
                  <a:pt x="28" y="1510"/>
                </a:lnTo>
                <a:lnTo>
                  <a:pt x="0" y="1510"/>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11" name="Forma libre: forma 410"/>
          <p:cNvSpPr/>
          <p:nvPr/>
        </p:nvSpPr>
        <p:spPr>
          <a:xfrm>
            <a:off x="2619360" y="3895560"/>
            <a:ext cx="3143520" cy="9720"/>
          </a:xfrm>
          <a:custGeom>
            <a:avLst/>
            <a:gdLst/>
            <a:ahLst/>
            <a:cxnLst/>
            <a:rect l="0" t="0" r="r" b="b"/>
            <a:pathLst>
              <a:path w="8732" h="27">
                <a:moveTo>
                  <a:pt x="0" y="0"/>
                </a:moveTo>
                <a:lnTo>
                  <a:pt x="8732" y="0"/>
                </a:lnTo>
                <a:lnTo>
                  <a:pt x="8732" y="27"/>
                </a:lnTo>
                <a:lnTo>
                  <a:pt x="0" y="27"/>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12" name="Forma libre: forma 411"/>
          <p:cNvSpPr/>
          <p:nvPr/>
        </p:nvSpPr>
        <p:spPr>
          <a:xfrm>
            <a:off x="5762520" y="3904920"/>
            <a:ext cx="9720" cy="543600"/>
          </a:xfrm>
          <a:custGeom>
            <a:avLst/>
            <a:gdLst/>
            <a:ahLst/>
            <a:cxnLst/>
            <a:rect l="0" t="0" r="r" b="b"/>
            <a:pathLst>
              <a:path w="27" h="1510">
                <a:moveTo>
                  <a:pt x="0" y="0"/>
                </a:moveTo>
                <a:lnTo>
                  <a:pt x="27" y="0"/>
                </a:lnTo>
                <a:lnTo>
                  <a:pt x="27" y="1510"/>
                </a:lnTo>
                <a:lnTo>
                  <a:pt x="0" y="1510"/>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13" name="Forma libre: forma 412"/>
          <p:cNvSpPr/>
          <p:nvPr/>
        </p:nvSpPr>
        <p:spPr>
          <a:xfrm>
            <a:off x="5771880" y="3895560"/>
            <a:ext cx="2200680" cy="9720"/>
          </a:xfrm>
          <a:custGeom>
            <a:avLst/>
            <a:gdLst/>
            <a:ahLst/>
            <a:cxnLst/>
            <a:rect l="0" t="0" r="r" b="b"/>
            <a:pathLst>
              <a:path w="6113" h="27">
                <a:moveTo>
                  <a:pt x="0" y="0"/>
                </a:moveTo>
                <a:lnTo>
                  <a:pt x="6113" y="0"/>
                </a:lnTo>
                <a:lnTo>
                  <a:pt x="6113" y="27"/>
                </a:lnTo>
                <a:lnTo>
                  <a:pt x="0" y="27"/>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14" name="Forma libre: forma 413"/>
          <p:cNvSpPr/>
          <p:nvPr/>
        </p:nvSpPr>
        <p:spPr>
          <a:xfrm>
            <a:off x="7972200" y="3904920"/>
            <a:ext cx="10080" cy="543600"/>
          </a:xfrm>
          <a:custGeom>
            <a:avLst/>
            <a:gdLst/>
            <a:ahLst/>
            <a:cxnLst/>
            <a:rect l="0" t="0" r="r" b="b"/>
            <a:pathLst>
              <a:path w="28" h="1510">
                <a:moveTo>
                  <a:pt x="0" y="0"/>
                </a:moveTo>
                <a:lnTo>
                  <a:pt x="28" y="0"/>
                </a:lnTo>
                <a:lnTo>
                  <a:pt x="28" y="1510"/>
                </a:lnTo>
                <a:lnTo>
                  <a:pt x="0" y="1510"/>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15" name="Forma libre: forma 414"/>
          <p:cNvSpPr/>
          <p:nvPr/>
        </p:nvSpPr>
        <p:spPr>
          <a:xfrm>
            <a:off x="7981920" y="3895560"/>
            <a:ext cx="3343320" cy="9720"/>
          </a:xfrm>
          <a:custGeom>
            <a:avLst/>
            <a:gdLst/>
            <a:ahLst/>
            <a:cxnLst/>
            <a:rect l="0" t="0" r="r" b="b"/>
            <a:pathLst>
              <a:path w="9287" h="27">
                <a:moveTo>
                  <a:pt x="9287" y="27"/>
                </a:moveTo>
                <a:lnTo>
                  <a:pt x="0" y="27"/>
                </a:lnTo>
                <a:lnTo>
                  <a:pt x="0" y="0"/>
                </a:lnTo>
                <a:lnTo>
                  <a:pt x="9287" y="0"/>
                </a:lnTo>
                <a:lnTo>
                  <a:pt x="9287" y="27"/>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16" name="Forma libre: forma 415"/>
          <p:cNvSpPr/>
          <p:nvPr/>
        </p:nvSpPr>
        <p:spPr>
          <a:xfrm>
            <a:off x="866520" y="4438440"/>
            <a:ext cx="1743480" cy="10080"/>
          </a:xfrm>
          <a:custGeom>
            <a:avLst/>
            <a:gdLst/>
            <a:ahLst/>
            <a:cxnLst/>
            <a:rect l="0" t="0" r="r" b="b"/>
            <a:pathLst>
              <a:path w="4843" h="28">
                <a:moveTo>
                  <a:pt x="0" y="0"/>
                </a:moveTo>
                <a:lnTo>
                  <a:pt x="4843" y="0"/>
                </a:lnTo>
                <a:lnTo>
                  <a:pt x="4843" y="28"/>
                </a:lnTo>
                <a:lnTo>
                  <a:pt x="0" y="28"/>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17" name="Forma libre: forma 416"/>
          <p:cNvSpPr/>
          <p:nvPr/>
        </p:nvSpPr>
        <p:spPr>
          <a:xfrm>
            <a:off x="2609640" y="4448160"/>
            <a:ext cx="10080" cy="533520"/>
          </a:xfrm>
          <a:custGeom>
            <a:avLst/>
            <a:gdLst/>
            <a:ahLst/>
            <a:cxnLst/>
            <a:rect l="0" t="0" r="r" b="b"/>
            <a:pathLst>
              <a:path w="28" h="1482">
                <a:moveTo>
                  <a:pt x="0" y="1482"/>
                </a:moveTo>
                <a:lnTo>
                  <a:pt x="0" y="0"/>
                </a:lnTo>
                <a:lnTo>
                  <a:pt x="28" y="0"/>
                </a:lnTo>
                <a:lnTo>
                  <a:pt x="28" y="1482"/>
                </a:lnTo>
                <a:lnTo>
                  <a:pt x="0" y="1482"/>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18" name="Forma libre: forma 417"/>
          <p:cNvSpPr/>
          <p:nvPr/>
        </p:nvSpPr>
        <p:spPr>
          <a:xfrm>
            <a:off x="2619360" y="4438440"/>
            <a:ext cx="3143520" cy="10080"/>
          </a:xfrm>
          <a:custGeom>
            <a:avLst/>
            <a:gdLst/>
            <a:ahLst/>
            <a:cxnLst/>
            <a:rect l="0" t="0" r="r" b="b"/>
            <a:pathLst>
              <a:path w="8732" h="28">
                <a:moveTo>
                  <a:pt x="0" y="0"/>
                </a:moveTo>
                <a:lnTo>
                  <a:pt x="8732" y="0"/>
                </a:lnTo>
                <a:lnTo>
                  <a:pt x="8732" y="28"/>
                </a:lnTo>
                <a:lnTo>
                  <a:pt x="0" y="28"/>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19" name="Forma libre: forma 418"/>
          <p:cNvSpPr/>
          <p:nvPr/>
        </p:nvSpPr>
        <p:spPr>
          <a:xfrm>
            <a:off x="5762520" y="4448160"/>
            <a:ext cx="9720" cy="533520"/>
          </a:xfrm>
          <a:custGeom>
            <a:avLst/>
            <a:gdLst/>
            <a:ahLst/>
            <a:cxnLst/>
            <a:rect l="0" t="0" r="r" b="b"/>
            <a:pathLst>
              <a:path w="27" h="1482">
                <a:moveTo>
                  <a:pt x="0" y="1482"/>
                </a:moveTo>
                <a:lnTo>
                  <a:pt x="0" y="0"/>
                </a:lnTo>
                <a:lnTo>
                  <a:pt x="27" y="0"/>
                </a:lnTo>
                <a:lnTo>
                  <a:pt x="27" y="1482"/>
                </a:lnTo>
                <a:lnTo>
                  <a:pt x="0" y="1482"/>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20" name="Forma libre: forma 419"/>
          <p:cNvSpPr/>
          <p:nvPr/>
        </p:nvSpPr>
        <p:spPr>
          <a:xfrm>
            <a:off x="5771880" y="4438440"/>
            <a:ext cx="2200680" cy="10080"/>
          </a:xfrm>
          <a:custGeom>
            <a:avLst/>
            <a:gdLst/>
            <a:ahLst/>
            <a:cxnLst/>
            <a:rect l="0" t="0" r="r" b="b"/>
            <a:pathLst>
              <a:path w="6113" h="28">
                <a:moveTo>
                  <a:pt x="0" y="0"/>
                </a:moveTo>
                <a:lnTo>
                  <a:pt x="6113" y="0"/>
                </a:lnTo>
                <a:lnTo>
                  <a:pt x="6113" y="28"/>
                </a:lnTo>
                <a:lnTo>
                  <a:pt x="0" y="28"/>
                </a:lnTo>
                <a:lnTo>
                  <a:pt x="0" y="0"/>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21" name="Forma libre: forma 420"/>
          <p:cNvSpPr/>
          <p:nvPr/>
        </p:nvSpPr>
        <p:spPr>
          <a:xfrm>
            <a:off x="7972200" y="4448160"/>
            <a:ext cx="10080" cy="533520"/>
          </a:xfrm>
          <a:custGeom>
            <a:avLst/>
            <a:gdLst/>
            <a:ahLst/>
            <a:cxnLst/>
            <a:rect l="0" t="0" r="r" b="b"/>
            <a:pathLst>
              <a:path w="28" h="1482">
                <a:moveTo>
                  <a:pt x="0" y="1482"/>
                </a:moveTo>
                <a:lnTo>
                  <a:pt x="0" y="0"/>
                </a:lnTo>
                <a:lnTo>
                  <a:pt x="28" y="0"/>
                </a:lnTo>
                <a:lnTo>
                  <a:pt x="28" y="1482"/>
                </a:lnTo>
                <a:lnTo>
                  <a:pt x="0" y="1482"/>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22" name="Forma libre: forma 421"/>
          <p:cNvSpPr/>
          <p:nvPr/>
        </p:nvSpPr>
        <p:spPr>
          <a:xfrm>
            <a:off x="7981920" y="4438440"/>
            <a:ext cx="3343320" cy="10080"/>
          </a:xfrm>
          <a:custGeom>
            <a:avLst/>
            <a:gdLst/>
            <a:ahLst/>
            <a:cxnLst/>
            <a:rect l="0" t="0" r="r" b="b"/>
            <a:pathLst>
              <a:path w="9287" h="28">
                <a:moveTo>
                  <a:pt x="9287" y="28"/>
                </a:moveTo>
                <a:lnTo>
                  <a:pt x="0" y="28"/>
                </a:lnTo>
                <a:lnTo>
                  <a:pt x="0" y="0"/>
                </a:lnTo>
                <a:lnTo>
                  <a:pt x="9287" y="0"/>
                </a:lnTo>
                <a:lnTo>
                  <a:pt x="9287" y="28"/>
                </a:lnTo>
                <a:close/>
              </a:path>
            </a:pathLst>
          </a:custGeom>
          <a:solidFill>
            <a:srgbClr val="E0E0E0"/>
          </a:solidFill>
          <a:ln w="0">
            <a:solidFill>
              <a:schemeClr val="tx1"/>
            </a:solidFill>
          </a:ln>
        </p:spPr>
        <p:txBody>
          <a:bodyPr lIns="0" tIns="0" rIns="0" bIns="0" anchor="t">
            <a:noAutofit/>
          </a:bodyPr>
          <a:lstStyle/>
          <a:p>
            <a:endParaRPr lang="en-US" sz="3200" b="0" u="none" strike="noStrike">
              <a:solidFill>
                <a:srgbClr val="000000"/>
              </a:solidFill>
              <a:effectLst/>
              <a:uFillTx/>
              <a:latin typeface="Times New Roman"/>
            </a:endParaRPr>
          </a:p>
        </p:txBody>
      </p:sp>
      <p:sp>
        <p:nvSpPr>
          <p:cNvPr id="423" name="CuadroTexto 422"/>
          <p:cNvSpPr txBox="1"/>
          <p:nvPr/>
        </p:nvSpPr>
        <p:spPr>
          <a:xfrm>
            <a:off x="571320" y="582120"/>
            <a:ext cx="4040640" cy="318960"/>
          </a:xfrm>
          <a:prstGeom prst="rect">
            <a:avLst/>
          </a:prstGeom>
          <a:noFill/>
          <a:ln w="0">
            <a:noFill/>
          </a:ln>
        </p:spPr>
        <p:txBody>
          <a:bodyPr wrap="none" lIns="0" tIns="0" rIns="0" bIns="0" anchor="t">
            <a:spAutoFit/>
          </a:bodyPr>
          <a:lstStyle/>
          <a:p>
            <a:r>
              <a:rPr lang="en-US" sz="2250" b="0" u="none" strike="noStrike">
                <a:solidFill>
                  <a:srgbClr val="000000"/>
                </a:solidFill>
                <a:effectLst/>
                <a:uFillTx/>
                <a:latin typeface="CrimsonPro"/>
                <a:ea typeface="CrimsonPro"/>
              </a:rPr>
              <a:t>Modelos de desarrollo - Diferencias</a:t>
            </a:r>
            <a:endParaRPr lang="en-US" sz="2250" b="0" u="none" strike="noStrike">
              <a:solidFill>
                <a:srgbClr val="000000"/>
              </a:solidFill>
              <a:effectLst/>
              <a:uFillTx/>
              <a:latin typeface="Times New Roman"/>
            </a:endParaRPr>
          </a:p>
        </p:txBody>
      </p:sp>
      <p:sp>
        <p:nvSpPr>
          <p:cNvPr id="424" name="CuadroTexto 423"/>
          <p:cNvSpPr txBox="1"/>
          <p:nvPr/>
        </p:nvSpPr>
        <p:spPr>
          <a:xfrm>
            <a:off x="1095480" y="1911240"/>
            <a:ext cx="843372" cy="246221"/>
          </a:xfrm>
          <a:prstGeom prst="rect">
            <a:avLst/>
          </a:prstGeom>
          <a:noFill/>
          <a:ln w="0">
            <a:noFill/>
          </a:ln>
        </p:spPr>
        <p:txBody>
          <a:bodyPr wrap="none" lIns="0" tIns="0" rIns="0" bIns="0" anchor="t">
            <a:spAutoFit/>
          </a:bodyPr>
          <a:lstStyle/>
          <a:p>
            <a:r>
              <a:rPr lang="en-US" sz="1600" b="0" u="none" strike="noStrike">
                <a:solidFill>
                  <a:srgbClr val="DA7756"/>
                </a:solidFill>
                <a:effectLst/>
                <a:uFillTx/>
                <a:latin typeface="CrimsonPro"/>
                <a:ea typeface="CrimsonPro"/>
              </a:rPr>
              <a:t>Diferencia</a:t>
            </a:r>
            <a:endParaRPr lang="en-US" sz="1600" b="0" u="none" strike="noStrike">
              <a:solidFill>
                <a:srgbClr val="000000"/>
              </a:solidFill>
              <a:effectLst/>
              <a:uFillTx/>
              <a:latin typeface="Times New Roman"/>
            </a:endParaRPr>
          </a:p>
        </p:txBody>
      </p:sp>
      <p:sp>
        <p:nvSpPr>
          <p:cNvPr id="425" name="CuadroTexto 424"/>
          <p:cNvSpPr txBox="1"/>
          <p:nvPr/>
        </p:nvSpPr>
        <p:spPr>
          <a:xfrm>
            <a:off x="4004640" y="1911240"/>
            <a:ext cx="455253" cy="246221"/>
          </a:xfrm>
          <a:prstGeom prst="rect">
            <a:avLst/>
          </a:prstGeom>
          <a:noFill/>
          <a:ln w="0">
            <a:noFill/>
          </a:ln>
        </p:spPr>
        <p:txBody>
          <a:bodyPr wrap="none" lIns="0" tIns="0" rIns="0" bIns="0" anchor="t">
            <a:spAutoFit/>
          </a:bodyPr>
          <a:lstStyle/>
          <a:p>
            <a:r>
              <a:rPr lang="en-US" sz="1600" b="0" u="none" strike="noStrike">
                <a:solidFill>
                  <a:srgbClr val="DA7756"/>
                </a:solidFill>
                <a:effectLst/>
                <a:uFillTx/>
                <a:latin typeface="CrimsonPro"/>
                <a:ea typeface="CrimsonPro"/>
              </a:rPr>
              <a:t>ATDD</a:t>
            </a:r>
            <a:endParaRPr lang="en-US" sz="1600" b="0" u="none" strike="noStrike">
              <a:solidFill>
                <a:srgbClr val="000000"/>
              </a:solidFill>
              <a:effectLst/>
              <a:uFillTx/>
              <a:latin typeface="Times New Roman"/>
            </a:endParaRPr>
          </a:p>
        </p:txBody>
      </p:sp>
      <p:sp>
        <p:nvSpPr>
          <p:cNvPr id="426" name="CuadroTexto 425"/>
          <p:cNvSpPr txBox="1"/>
          <p:nvPr/>
        </p:nvSpPr>
        <p:spPr>
          <a:xfrm>
            <a:off x="6725160" y="1911240"/>
            <a:ext cx="352661" cy="246221"/>
          </a:xfrm>
          <a:prstGeom prst="rect">
            <a:avLst/>
          </a:prstGeom>
          <a:noFill/>
          <a:ln w="0">
            <a:noFill/>
          </a:ln>
        </p:spPr>
        <p:txBody>
          <a:bodyPr wrap="none" lIns="0" tIns="0" rIns="0" bIns="0" anchor="t">
            <a:spAutoFit/>
          </a:bodyPr>
          <a:lstStyle/>
          <a:p>
            <a:r>
              <a:rPr lang="en-US" sz="1600" b="0" u="none" strike="noStrike">
                <a:solidFill>
                  <a:srgbClr val="DA7756"/>
                </a:solidFill>
                <a:effectLst/>
                <a:uFillTx/>
                <a:latin typeface="CrimsonPro"/>
                <a:ea typeface="CrimsonPro"/>
              </a:rPr>
              <a:t>TDD</a:t>
            </a:r>
            <a:endParaRPr lang="en-US" sz="1600" b="0" u="none" strike="noStrike">
              <a:solidFill>
                <a:srgbClr val="000000"/>
              </a:solidFill>
              <a:effectLst/>
              <a:uFillTx/>
              <a:latin typeface="Times New Roman"/>
            </a:endParaRPr>
          </a:p>
        </p:txBody>
      </p:sp>
      <p:sp>
        <p:nvSpPr>
          <p:cNvPr id="427" name="CuadroTexto 426"/>
          <p:cNvSpPr txBox="1"/>
          <p:nvPr/>
        </p:nvSpPr>
        <p:spPr>
          <a:xfrm>
            <a:off x="9506160" y="1911240"/>
            <a:ext cx="365485" cy="246221"/>
          </a:xfrm>
          <a:prstGeom prst="rect">
            <a:avLst/>
          </a:prstGeom>
          <a:noFill/>
          <a:ln w="0">
            <a:noFill/>
          </a:ln>
        </p:spPr>
        <p:txBody>
          <a:bodyPr wrap="none" lIns="0" tIns="0" rIns="0" bIns="0" anchor="t">
            <a:spAutoFit/>
          </a:bodyPr>
          <a:lstStyle/>
          <a:p>
            <a:r>
              <a:rPr lang="en-US" sz="1600" b="0" u="none" strike="noStrike">
                <a:solidFill>
                  <a:srgbClr val="DA7756"/>
                </a:solidFill>
                <a:effectLst/>
                <a:uFillTx/>
                <a:latin typeface="CrimsonPro"/>
                <a:ea typeface="CrimsonPro"/>
              </a:rPr>
              <a:t>BDD</a:t>
            </a:r>
            <a:endParaRPr lang="en-US" sz="1600" b="0" u="none" strike="noStrike">
              <a:solidFill>
                <a:srgbClr val="000000"/>
              </a:solidFill>
              <a:effectLst/>
              <a:uFillTx/>
              <a:latin typeface="Times New Roman"/>
            </a:endParaRPr>
          </a:p>
        </p:txBody>
      </p:sp>
      <p:sp>
        <p:nvSpPr>
          <p:cNvPr id="428" name="CuadroTexto 427"/>
          <p:cNvSpPr txBox="1"/>
          <p:nvPr/>
        </p:nvSpPr>
        <p:spPr>
          <a:xfrm>
            <a:off x="1095480" y="2454120"/>
            <a:ext cx="1212961" cy="246221"/>
          </a:xfrm>
          <a:prstGeom prst="rect">
            <a:avLst/>
          </a:prstGeom>
          <a:noFill/>
          <a:ln w="0">
            <a:noFill/>
          </a:ln>
        </p:spPr>
        <p:txBody>
          <a:bodyPr wrap="none" lIns="0" tIns="0" rIns="0" bIns="0" anchor="t">
            <a:spAutoFit/>
          </a:bodyPr>
          <a:lstStyle/>
          <a:p>
            <a:r>
              <a:rPr lang="en-US" sz="1600" b="0" u="none" strike="noStrike">
                <a:solidFill>
                  <a:srgbClr val="000000"/>
                </a:solidFill>
                <a:effectLst/>
                <a:uFillTx/>
                <a:latin typeface="CrimsonPro"/>
                <a:ea typeface="CrimsonPro"/>
              </a:rPr>
              <a:t>Colaboradores</a:t>
            </a:r>
            <a:endParaRPr lang="en-US" sz="1600" b="0" u="none" strike="noStrike">
              <a:solidFill>
                <a:srgbClr val="000000"/>
              </a:solidFill>
              <a:effectLst/>
              <a:uFillTx/>
              <a:latin typeface="Times New Roman"/>
            </a:endParaRPr>
          </a:p>
        </p:txBody>
      </p:sp>
      <p:sp>
        <p:nvSpPr>
          <p:cNvPr id="429" name="CuadroTexto 428"/>
          <p:cNvSpPr txBox="1"/>
          <p:nvPr/>
        </p:nvSpPr>
        <p:spPr>
          <a:xfrm>
            <a:off x="4003200" y="2471400"/>
            <a:ext cx="434543"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Cliente</a:t>
            </a:r>
            <a:endParaRPr lang="en-US" sz="1200" b="0" u="none" strike="noStrike">
              <a:solidFill>
                <a:srgbClr val="000000"/>
              </a:solidFill>
              <a:effectLst/>
              <a:uFillTx/>
              <a:latin typeface="Times New Roman"/>
            </a:endParaRPr>
          </a:p>
        </p:txBody>
      </p:sp>
      <p:sp>
        <p:nvSpPr>
          <p:cNvPr id="430" name="CuadroTexto 429"/>
          <p:cNvSpPr txBox="1"/>
          <p:nvPr/>
        </p:nvSpPr>
        <p:spPr>
          <a:xfrm>
            <a:off x="6285960" y="2471400"/>
            <a:ext cx="1367041"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Desarrollador y Tester</a:t>
            </a:r>
            <a:endParaRPr lang="en-US" sz="1200" b="0" u="none" strike="noStrike">
              <a:solidFill>
                <a:srgbClr val="000000"/>
              </a:solidFill>
              <a:effectLst/>
              <a:uFillTx/>
              <a:latin typeface="Times New Roman"/>
            </a:endParaRPr>
          </a:p>
        </p:txBody>
      </p:sp>
      <p:sp>
        <p:nvSpPr>
          <p:cNvPr id="431" name="CuadroTexto 430"/>
          <p:cNvSpPr txBox="1"/>
          <p:nvPr/>
        </p:nvSpPr>
        <p:spPr>
          <a:xfrm>
            <a:off x="9307440" y="2471400"/>
            <a:ext cx="754181"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ATDD + TDD</a:t>
            </a:r>
            <a:endParaRPr lang="en-US" sz="1200" b="0" u="none" strike="noStrike">
              <a:solidFill>
                <a:srgbClr val="000000"/>
              </a:solidFill>
              <a:effectLst/>
              <a:uFillTx/>
              <a:latin typeface="Times New Roman"/>
            </a:endParaRPr>
          </a:p>
        </p:txBody>
      </p:sp>
      <p:sp>
        <p:nvSpPr>
          <p:cNvPr id="432" name="CuadroTexto 431"/>
          <p:cNvSpPr txBox="1"/>
          <p:nvPr/>
        </p:nvSpPr>
        <p:spPr>
          <a:xfrm>
            <a:off x="1095480" y="2997000"/>
            <a:ext cx="710323" cy="246221"/>
          </a:xfrm>
          <a:prstGeom prst="rect">
            <a:avLst/>
          </a:prstGeom>
          <a:noFill/>
          <a:ln w="0">
            <a:noFill/>
          </a:ln>
        </p:spPr>
        <p:txBody>
          <a:bodyPr wrap="none" lIns="0" tIns="0" rIns="0" bIns="0" anchor="t">
            <a:spAutoFit/>
          </a:bodyPr>
          <a:lstStyle/>
          <a:p>
            <a:r>
              <a:rPr lang="en-US" sz="1600" b="0" u="none" strike="noStrike">
                <a:solidFill>
                  <a:srgbClr val="000000"/>
                </a:solidFill>
                <a:effectLst/>
                <a:uFillTx/>
                <a:latin typeface="CrimsonPro"/>
                <a:ea typeface="CrimsonPro"/>
              </a:rPr>
              <a:t>Objetivo</a:t>
            </a:r>
            <a:endParaRPr lang="en-US" sz="1600" b="0" u="none" strike="noStrike">
              <a:solidFill>
                <a:srgbClr val="000000"/>
              </a:solidFill>
              <a:effectLst/>
              <a:uFillTx/>
              <a:latin typeface="Times New Roman"/>
            </a:endParaRPr>
          </a:p>
        </p:txBody>
      </p:sp>
      <p:sp>
        <p:nvSpPr>
          <p:cNvPr id="433" name="CuadroTexto 432"/>
          <p:cNvSpPr txBox="1"/>
          <p:nvPr/>
        </p:nvSpPr>
        <p:spPr>
          <a:xfrm>
            <a:off x="3102840" y="3014280"/>
            <a:ext cx="2588914"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Participa los usuarios en la fase de diseño</a:t>
            </a:r>
            <a:endParaRPr lang="en-US" sz="1200" b="0" u="none" strike="noStrike">
              <a:solidFill>
                <a:srgbClr val="000000"/>
              </a:solidFill>
              <a:effectLst/>
              <a:uFillTx/>
              <a:latin typeface="Times New Roman"/>
            </a:endParaRPr>
          </a:p>
        </p:txBody>
      </p:sp>
      <p:sp>
        <p:nvSpPr>
          <p:cNvPr id="434" name="CuadroTexto 433"/>
          <p:cNvSpPr txBox="1"/>
          <p:nvPr/>
        </p:nvSpPr>
        <p:spPr>
          <a:xfrm>
            <a:off x="6178680" y="3014280"/>
            <a:ext cx="1639360"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Una práctica de desarrollo</a:t>
            </a:r>
            <a:endParaRPr lang="en-US" sz="1200" b="0" u="none" strike="noStrike">
              <a:solidFill>
                <a:srgbClr val="000000"/>
              </a:solidFill>
              <a:effectLst/>
              <a:uFillTx/>
              <a:latin typeface="Times New Roman"/>
            </a:endParaRPr>
          </a:p>
        </p:txBody>
      </p:sp>
      <p:sp>
        <p:nvSpPr>
          <p:cNvPr id="435" name="CuadroTexto 434"/>
          <p:cNvSpPr txBox="1"/>
          <p:nvPr/>
        </p:nvSpPr>
        <p:spPr>
          <a:xfrm>
            <a:off x="8477280" y="3014280"/>
            <a:ext cx="2788584"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Unit tester y negocio con un lenguaje común</a:t>
            </a:r>
            <a:endParaRPr lang="en-US" sz="1200" b="0" u="none" strike="noStrike">
              <a:solidFill>
                <a:srgbClr val="000000"/>
              </a:solidFill>
              <a:effectLst/>
              <a:uFillTx/>
              <a:latin typeface="Times New Roman"/>
            </a:endParaRPr>
          </a:p>
        </p:txBody>
      </p:sp>
      <p:sp>
        <p:nvSpPr>
          <p:cNvPr id="436" name="CuadroTexto 435"/>
          <p:cNvSpPr txBox="1"/>
          <p:nvPr/>
        </p:nvSpPr>
        <p:spPr>
          <a:xfrm>
            <a:off x="1095480" y="3540240"/>
            <a:ext cx="977127" cy="246221"/>
          </a:xfrm>
          <a:prstGeom prst="rect">
            <a:avLst/>
          </a:prstGeom>
          <a:noFill/>
          <a:ln w="0">
            <a:noFill/>
          </a:ln>
        </p:spPr>
        <p:txBody>
          <a:bodyPr wrap="none" lIns="0" tIns="0" rIns="0" bIns="0" anchor="t">
            <a:spAutoFit/>
          </a:bodyPr>
          <a:lstStyle/>
          <a:p>
            <a:r>
              <a:rPr lang="en-US" sz="1600" b="0" u="none" strike="noStrike">
                <a:solidFill>
                  <a:srgbClr val="000000"/>
                </a:solidFill>
                <a:effectLst/>
                <a:uFillTx/>
                <a:latin typeface="CrimsonPro"/>
                <a:ea typeface="CrimsonPro"/>
              </a:rPr>
              <a:t>Documento</a:t>
            </a:r>
            <a:endParaRPr lang="en-US" sz="1600" b="0" u="none" strike="noStrike">
              <a:solidFill>
                <a:srgbClr val="000000"/>
              </a:solidFill>
              <a:effectLst/>
              <a:uFillTx/>
              <a:latin typeface="Times New Roman"/>
            </a:endParaRPr>
          </a:p>
        </p:txBody>
      </p:sp>
      <p:sp>
        <p:nvSpPr>
          <p:cNvPr id="437" name="CuadroTexto 436"/>
          <p:cNvSpPr txBox="1"/>
          <p:nvPr/>
        </p:nvSpPr>
        <p:spPr>
          <a:xfrm>
            <a:off x="3175200" y="3557160"/>
            <a:ext cx="2391360"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Criterio de aceptación ejemplificativos</a:t>
            </a:r>
            <a:endParaRPr lang="en-US" sz="1200" b="0" u="none" strike="noStrike">
              <a:solidFill>
                <a:srgbClr val="000000"/>
              </a:solidFill>
              <a:effectLst/>
              <a:uFillTx/>
              <a:latin typeface="Times New Roman"/>
            </a:endParaRPr>
          </a:p>
        </p:txBody>
      </p:sp>
      <p:sp>
        <p:nvSpPr>
          <p:cNvPr id="438" name="CuadroTexto 437"/>
          <p:cNvSpPr txBox="1"/>
          <p:nvPr/>
        </p:nvSpPr>
        <p:spPr>
          <a:xfrm>
            <a:off x="6232680" y="3557160"/>
            <a:ext cx="1511632"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Documento de requisito</a:t>
            </a:r>
            <a:endParaRPr lang="en-US" sz="1200" b="0" u="none" strike="noStrike">
              <a:solidFill>
                <a:srgbClr val="000000"/>
              </a:solidFill>
              <a:effectLst/>
              <a:uFillTx/>
              <a:latin typeface="Times New Roman"/>
            </a:endParaRPr>
          </a:p>
        </p:txBody>
      </p:sp>
      <p:sp>
        <p:nvSpPr>
          <p:cNvPr id="439" name="CuadroTexto 438"/>
          <p:cNvSpPr txBox="1"/>
          <p:nvPr/>
        </p:nvSpPr>
        <p:spPr>
          <a:xfrm>
            <a:off x="8603280" y="3557160"/>
            <a:ext cx="2480294"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Documento escrito en lenguaje Gherkin</a:t>
            </a:r>
            <a:endParaRPr lang="en-US" sz="1200" b="0" u="none" strike="noStrike">
              <a:solidFill>
                <a:srgbClr val="000000"/>
              </a:solidFill>
              <a:effectLst/>
              <a:uFillTx/>
              <a:latin typeface="Times New Roman"/>
            </a:endParaRPr>
          </a:p>
        </p:txBody>
      </p:sp>
      <p:sp>
        <p:nvSpPr>
          <p:cNvPr id="440" name="CuadroTexto 439"/>
          <p:cNvSpPr txBox="1"/>
          <p:nvPr/>
        </p:nvSpPr>
        <p:spPr>
          <a:xfrm>
            <a:off x="1095480" y="4083120"/>
            <a:ext cx="1302344" cy="246221"/>
          </a:xfrm>
          <a:prstGeom prst="rect">
            <a:avLst/>
          </a:prstGeom>
          <a:noFill/>
          <a:ln w="0">
            <a:noFill/>
          </a:ln>
        </p:spPr>
        <p:txBody>
          <a:bodyPr wrap="none" lIns="0" tIns="0" rIns="0" bIns="0" anchor="t">
            <a:spAutoFit/>
          </a:bodyPr>
          <a:lstStyle/>
          <a:p>
            <a:r>
              <a:rPr lang="en-US" sz="1600" b="0" u="none" strike="noStrike">
                <a:solidFill>
                  <a:srgbClr val="000000"/>
                </a:solidFill>
                <a:effectLst/>
                <a:uFillTx/>
                <a:latin typeface="CrimsonPro"/>
                <a:ea typeface="CrimsonPro"/>
              </a:rPr>
              <a:t>Automatización</a:t>
            </a:r>
            <a:endParaRPr lang="en-US" sz="1600" b="0" u="none" strike="noStrike">
              <a:solidFill>
                <a:srgbClr val="000000"/>
              </a:solidFill>
              <a:effectLst/>
              <a:uFillTx/>
              <a:latin typeface="Times New Roman"/>
            </a:endParaRPr>
          </a:p>
        </p:txBody>
      </p:sp>
      <p:sp>
        <p:nvSpPr>
          <p:cNvPr id="441" name="CuadroTexto 440"/>
          <p:cNvSpPr txBox="1"/>
          <p:nvPr/>
        </p:nvSpPr>
        <p:spPr>
          <a:xfrm>
            <a:off x="3783600" y="4100040"/>
            <a:ext cx="993862"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No es necesario</a:t>
            </a:r>
            <a:endParaRPr lang="en-US" sz="1200" b="0" u="none" strike="noStrike">
              <a:solidFill>
                <a:srgbClr val="000000"/>
              </a:solidFill>
              <a:effectLst/>
              <a:uFillTx/>
              <a:latin typeface="Times New Roman"/>
            </a:endParaRPr>
          </a:p>
        </p:txBody>
      </p:sp>
      <p:sp>
        <p:nvSpPr>
          <p:cNvPr id="442" name="CuadroTexto 441"/>
          <p:cNvSpPr txBox="1"/>
          <p:nvPr/>
        </p:nvSpPr>
        <p:spPr>
          <a:xfrm>
            <a:off x="6612120" y="4100040"/>
            <a:ext cx="623569"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Necesario</a:t>
            </a:r>
            <a:endParaRPr lang="en-US" sz="1200" b="0" u="none" strike="noStrike">
              <a:solidFill>
                <a:srgbClr val="000000"/>
              </a:solidFill>
              <a:effectLst/>
              <a:uFillTx/>
              <a:latin typeface="Times New Roman"/>
            </a:endParaRPr>
          </a:p>
        </p:txBody>
      </p:sp>
      <p:sp>
        <p:nvSpPr>
          <p:cNvPr id="443" name="CuadroTexto 442"/>
          <p:cNvSpPr txBox="1"/>
          <p:nvPr/>
        </p:nvSpPr>
        <p:spPr>
          <a:xfrm>
            <a:off x="9392760" y="4100040"/>
            <a:ext cx="623569"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Necesario</a:t>
            </a:r>
            <a:endParaRPr lang="en-US" sz="1200" b="0" u="none" strike="noStrike">
              <a:solidFill>
                <a:srgbClr val="000000"/>
              </a:solidFill>
              <a:effectLst/>
              <a:uFillTx/>
              <a:latin typeface="Times New Roman"/>
            </a:endParaRPr>
          </a:p>
        </p:txBody>
      </p:sp>
      <p:sp>
        <p:nvSpPr>
          <p:cNvPr id="444" name="CuadroTexto 443"/>
          <p:cNvSpPr txBox="1"/>
          <p:nvPr/>
        </p:nvSpPr>
        <p:spPr>
          <a:xfrm>
            <a:off x="1095480" y="4626000"/>
            <a:ext cx="580608" cy="246221"/>
          </a:xfrm>
          <a:prstGeom prst="rect">
            <a:avLst/>
          </a:prstGeom>
          <a:noFill/>
          <a:ln w="0">
            <a:noFill/>
          </a:ln>
        </p:spPr>
        <p:txBody>
          <a:bodyPr wrap="none" lIns="0" tIns="0" rIns="0" bIns="0" anchor="t">
            <a:spAutoFit/>
          </a:bodyPr>
          <a:lstStyle/>
          <a:p>
            <a:r>
              <a:rPr lang="en-US" sz="1600" b="0" u="none" strike="noStrike">
                <a:solidFill>
                  <a:srgbClr val="000000"/>
                </a:solidFill>
                <a:effectLst/>
                <a:uFillTx/>
                <a:latin typeface="CrimsonPro"/>
                <a:ea typeface="CrimsonPro"/>
              </a:rPr>
              <a:t>Testing</a:t>
            </a:r>
            <a:endParaRPr lang="en-US" sz="1600" b="0" u="none" strike="noStrike">
              <a:solidFill>
                <a:srgbClr val="000000"/>
              </a:solidFill>
              <a:effectLst/>
              <a:uFillTx/>
              <a:latin typeface="Times New Roman"/>
            </a:endParaRPr>
          </a:p>
        </p:txBody>
      </p:sp>
      <p:sp>
        <p:nvSpPr>
          <p:cNvPr id="445" name="CuadroTexto 444"/>
          <p:cNvSpPr txBox="1"/>
          <p:nvPr/>
        </p:nvSpPr>
        <p:spPr>
          <a:xfrm>
            <a:off x="3547440" y="4642920"/>
            <a:ext cx="1505220"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Cada historia de usuario</a:t>
            </a:r>
            <a:endParaRPr lang="en-US" sz="1200" b="0" u="none" strike="noStrike">
              <a:solidFill>
                <a:srgbClr val="000000"/>
              </a:solidFill>
              <a:effectLst/>
              <a:uFillTx/>
              <a:latin typeface="Times New Roman"/>
            </a:endParaRPr>
          </a:p>
        </p:txBody>
      </p:sp>
      <p:sp>
        <p:nvSpPr>
          <p:cNvPr id="446" name="CuadroTexto 445"/>
          <p:cNvSpPr txBox="1"/>
          <p:nvPr/>
        </p:nvSpPr>
        <p:spPr>
          <a:xfrm>
            <a:off x="6352560" y="4642920"/>
            <a:ext cx="1192634" cy="184666"/>
          </a:xfrm>
          <a:prstGeom prst="rect">
            <a:avLst/>
          </a:prstGeom>
          <a:noFill/>
          <a:ln w="0">
            <a:noFill/>
          </a:ln>
        </p:spPr>
        <p:txBody>
          <a:bodyPr wrap="none" lIns="0" tIns="0" rIns="0" bIns="0" anchor="t">
            <a:spAutoFit/>
          </a:bodyPr>
          <a:lstStyle/>
          <a:p>
            <a:r>
              <a:rPr lang="en-US" sz="1200" b="0" u="none" strike="noStrike" dirty="0">
                <a:solidFill>
                  <a:srgbClr val="666666"/>
                </a:solidFill>
                <a:effectLst/>
                <a:uFillTx/>
                <a:latin typeface="CrimsonPro"/>
                <a:ea typeface="CrimsonPro"/>
              </a:rPr>
              <a:t>Cada </a:t>
            </a:r>
            <a:r>
              <a:rPr lang="en-US" sz="1200" b="0" u="none" strike="noStrike" dirty="0" err="1">
                <a:solidFill>
                  <a:srgbClr val="666666"/>
                </a:solidFill>
                <a:effectLst/>
                <a:uFillTx/>
                <a:latin typeface="CrimsonPro"/>
                <a:ea typeface="CrimsonPro"/>
              </a:rPr>
              <a:t>funcionalidad</a:t>
            </a:r>
            <a:endParaRPr lang="en-US" sz="1200" b="0" u="none" strike="noStrike" dirty="0">
              <a:solidFill>
                <a:srgbClr val="000000"/>
              </a:solidFill>
              <a:effectLst/>
              <a:uFillTx/>
              <a:latin typeface="Times New Roman"/>
            </a:endParaRPr>
          </a:p>
        </p:txBody>
      </p:sp>
      <p:sp>
        <p:nvSpPr>
          <p:cNvPr id="447" name="CuadroTexto 446"/>
          <p:cNvSpPr txBox="1"/>
          <p:nvPr/>
        </p:nvSpPr>
        <p:spPr>
          <a:xfrm>
            <a:off x="9007200" y="4642920"/>
            <a:ext cx="1505220" cy="184666"/>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Cada historia de usuario</a:t>
            </a:r>
            <a:endParaRPr lang="en-US" sz="1200" b="0" u="none" strike="noStrike">
              <a:solidFill>
                <a:srgbClr val="000000"/>
              </a:solidFill>
              <a:effectLst/>
              <a:uFillTx/>
              <a:latin typeface="Times New Roman"/>
            </a:endParaRPr>
          </a:p>
        </p:txBody>
      </p:sp>
      <p:sp>
        <p:nvSpPr>
          <p:cNvPr id="448" name="Forma libre: forma 447"/>
          <p:cNvSpPr/>
          <p:nvPr/>
        </p:nvSpPr>
        <p:spPr>
          <a:xfrm>
            <a:off x="571320" y="5933880"/>
            <a:ext cx="11049480" cy="9720"/>
          </a:xfrm>
          <a:custGeom>
            <a:avLst/>
            <a:gdLst/>
            <a:ahLst/>
            <a:cxnLst/>
            <a:rect l="0" t="0" r="r" b="b"/>
            <a:pathLst>
              <a:path w="30693" h="27">
                <a:moveTo>
                  <a:pt x="0" y="0"/>
                </a:moveTo>
                <a:lnTo>
                  <a:pt x="30693" y="0"/>
                </a:lnTo>
                <a:lnTo>
                  <a:pt x="30693"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49" name="CuadroTexto 448"/>
          <p:cNvSpPr txBox="1"/>
          <p:nvPr/>
        </p:nvSpPr>
        <p:spPr>
          <a:xfrm>
            <a:off x="4931280" y="5166720"/>
            <a:ext cx="2717667" cy="184666"/>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Tomado de la página de vitaminac.github.io</a:t>
            </a:r>
            <a:endParaRPr lang="en-US" sz="1200" b="0" u="none" strike="noStrike">
              <a:solidFill>
                <a:srgbClr val="000000"/>
              </a:solidFill>
              <a:effectLst/>
              <a:uFillTx/>
              <a:latin typeface="Times New Roman"/>
            </a:endParaRPr>
          </a:p>
        </p:txBody>
      </p:sp>
      <p:sp>
        <p:nvSpPr>
          <p:cNvPr id="450" name="CuadroTexto 449"/>
          <p:cNvSpPr txBox="1"/>
          <p:nvPr/>
        </p:nvSpPr>
        <p:spPr>
          <a:xfrm>
            <a:off x="571320" y="6119280"/>
            <a:ext cx="2845080" cy="148320"/>
          </a:xfrm>
          <a:prstGeom prst="rect">
            <a:avLst/>
          </a:prstGeom>
          <a:noFill/>
          <a:ln w="0">
            <a:noFill/>
          </a:ln>
        </p:spPr>
        <p:txBody>
          <a:bodyPr wrap="none" lIns="0" tIns="0" rIns="0" bIns="0" anchor="t">
            <a:spAutoFit/>
          </a:bodyPr>
          <a:lstStyle/>
          <a:p>
            <a:r>
              <a:rPr lang="en-US" sz="1050" b="0" u="none" strike="noStrike">
                <a:solidFill>
                  <a:srgbClr val="999999"/>
                </a:solidFill>
                <a:effectLst/>
                <a:uFillTx/>
                <a:latin typeface="CrimsonPro"/>
                <a:ea typeface="CrimsonPro"/>
              </a:rPr>
              <a:t>Workshop de Automatización de Pruebas - Nivelación</a:t>
            </a:r>
            <a:endParaRPr lang="en-US" sz="1050" b="0" u="none" strike="noStrike">
              <a:solidFill>
                <a:srgbClr val="000000"/>
              </a:solidFill>
              <a:effectLst/>
              <a:uFillTx/>
              <a:latin typeface="Times New Roman"/>
            </a:endParaRPr>
          </a:p>
        </p:txBody>
      </p:sp>
      <p:sp>
        <p:nvSpPr>
          <p:cNvPr id="451" name="CuadroTexto 450"/>
          <p:cNvSpPr txBox="1"/>
          <p:nvPr/>
        </p:nvSpPr>
        <p:spPr>
          <a:xfrm>
            <a:off x="11508480" y="6119280"/>
            <a:ext cx="132840" cy="148320"/>
          </a:xfrm>
          <a:prstGeom prst="rect">
            <a:avLst/>
          </a:prstGeom>
          <a:noFill/>
          <a:ln w="0">
            <a:noFill/>
          </a:ln>
        </p:spPr>
        <p:txBody>
          <a:bodyPr wrap="none" lIns="0" tIns="0" rIns="0" bIns="0" anchor="t">
            <a:spAutoFit/>
          </a:bodyPr>
          <a:lstStyle/>
          <a:p>
            <a:r>
              <a:rPr lang="en-US" sz="1050" b="0" u="none" strike="noStrike">
                <a:solidFill>
                  <a:srgbClr val="999999"/>
                </a:solidFill>
                <a:effectLst/>
                <a:uFillTx/>
                <a:latin typeface="CrimsonPro"/>
                <a:ea typeface="CrimsonPro"/>
              </a:rPr>
              <a:t>16</a:t>
            </a:r>
            <a:endParaRPr lang="en-US" sz="1050" b="0" u="none" strike="noStrike">
              <a:solidFill>
                <a:srgbClr val="000000"/>
              </a:solidFill>
              <a:effectLst/>
              <a:uFillTx/>
              <a:latin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Forma libre: forma 453"/>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455" name="Imagen 454"/>
          <p:cNvPicPr/>
          <p:nvPr/>
        </p:nvPicPr>
        <p:blipFill>
          <a:blip r:embed="rId3"/>
          <a:stretch/>
        </p:blipFill>
        <p:spPr>
          <a:xfrm>
            <a:off x="1952640" y="1390680"/>
            <a:ext cx="8286480" cy="4571640"/>
          </a:xfrm>
          <a:prstGeom prst="rect">
            <a:avLst/>
          </a:prstGeom>
          <a:noFill/>
          <a:ln w="0">
            <a:noFill/>
          </a:ln>
        </p:spPr>
      </p:pic>
      <p:sp>
        <p:nvSpPr>
          <p:cNvPr id="456" name="Forma libre: forma 455"/>
          <p:cNvSpPr/>
          <p:nvPr/>
        </p:nvSpPr>
        <p:spPr>
          <a:xfrm>
            <a:off x="571320" y="61909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57" name="CuadroTexto 456"/>
          <p:cNvSpPr txBox="1"/>
          <p:nvPr/>
        </p:nvSpPr>
        <p:spPr>
          <a:xfrm>
            <a:off x="571320" y="569160"/>
            <a:ext cx="10821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DevOps</a:t>
            </a:r>
            <a:endParaRPr lang="en-US" sz="2700" b="0" u="none" strike="noStrike">
              <a:solidFill>
                <a:srgbClr val="000000"/>
              </a:solidFill>
              <a:effectLst/>
              <a:uFillTx/>
              <a:latin typeface="Times New Roman"/>
            </a:endParaRPr>
          </a:p>
        </p:txBody>
      </p:sp>
      <p:sp>
        <p:nvSpPr>
          <p:cNvPr id="458" name="CuadroTexto 457"/>
          <p:cNvSpPr txBox="1"/>
          <p:nvPr/>
        </p:nvSpPr>
        <p:spPr>
          <a:xfrm>
            <a:off x="571320" y="6378480"/>
            <a:ext cx="193608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Tomado de secureservercdn.net</a:t>
            </a:r>
            <a:endParaRPr lang="en-US" sz="1200" b="0" u="none" strike="noStrike">
              <a:solidFill>
                <a:srgbClr val="000000"/>
              </a:solidFill>
              <a:effectLst/>
              <a:uFillTx/>
              <a:latin typeface="Times New Roman"/>
            </a:endParaRPr>
          </a:p>
        </p:txBody>
      </p:sp>
      <p:sp>
        <p:nvSpPr>
          <p:cNvPr id="459" name="CuadroTexto 458"/>
          <p:cNvSpPr txBox="1"/>
          <p:nvPr/>
        </p:nvSpPr>
        <p:spPr>
          <a:xfrm>
            <a:off x="11499480" y="63784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17</a:t>
            </a:r>
            <a:endParaRPr lang="en-US" sz="1200" b="0" u="none" strike="noStrike">
              <a:solidFill>
                <a:srgbClr val="000000"/>
              </a:solidFill>
              <a:effectLst/>
              <a:uFillTx/>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Forma libre: forma 461"/>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63" name="CuadroTexto 462"/>
          <p:cNvSpPr txBox="1"/>
          <p:nvPr/>
        </p:nvSpPr>
        <p:spPr>
          <a:xfrm>
            <a:off x="571320" y="569160"/>
            <a:ext cx="299484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Gestores de proyectos</a:t>
            </a:r>
            <a:endParaRPr lang="en-US" sz="2700" b="0" u="none" strike="noStrike">
              <a:solidFill>
                <a:srgbClr val="000000"/>
              </a:solidFill>
              <a:effectLst/>
              <a:uFillTx/>
              <a:latin typeface="Times New Roman"/>
            </a:endParaRPr>
          </a:p>
        </p:txBody>
      </p:sp>
      <p:sp>
        <p:nvSpPr>
          <p:cNvPr id="464" name="Forma libre: forma 463"/>
          <p:cNvSpPr/>
          <p:nvPr/>
        </p:nvSpPr>
        <p:spPr>
          <a:xfrm>
            <a:off x="590400" y="1885680"/>
            <a:ext cx="11030400" cy="1676880"/>
          </a:xfrm>
          <a:custGeom>
            <a:avLst/>
            <a:gdLst/>
            <a:ahLst/>
            <a:cxnLst/>
            <a:rect l="0" t="0" r="r" b="b"/>
            <a:pathLst>
              <a:path w="30640" h="4658">
                <a:moveTo>
                  <a:pt x="0" y="4340"/>
                </a:moveTo>
                <a:lnTo>
                  <a:pt x="0" y="318"/>
                </a:lnTo>
                <a:cubicBezTo>
                  <a:pt x="0" y="297"/>
                  <a:pt x="2" y="276"/>
                  <a:pt x="5" y="256"/>
                </a:cubicBezTo>
                <a:cubicBezTo>
                  <a:pt x="8" y="235"/>
                  <a:pt x="13" y="216"/>
                  <a:pt x="20" y="196"/>
                </a:cubicBezTo>
                <a:cubicBezTo>
                  <a:pt x="27" y="177"/>
                  <a:pt x="35" y="159"/>
                  <a:pt x="45" y="141"/>
                </a:cubicBezTo>
                <a:cubicBezTo>
                  <a:pt x="54" y="124"/>
                  <a:pt x="65" y="108"/>
                  <a:pt x="77" y="93"/>
                </a:cubicBezTo>
                <a:cubicBezTo>
                  <a:pt x="90" y="79"/>
                  <a:pt x="103" y="65"/>
                  <a:pt x="118" y="54"/>
                </a:cubicBezTo>
                <a:cubicBezTo>
                  <a:pt x="132" y="42"/>
                  <a:pt x="147" y="32"/>
                  <a:pt x="163" y="24"/>
                </a:cubicBezTo>
                <a:cubicBezTo>
                  <a:pt x="179" y="16"/>
                  <a:pt x="196" y="10"/>
                  <a:pt x="213" y="6"/>
                </a:cubicBezTo>
                <a:cubicBezTo>
                  <a:pt x="230" y="2"/>
                  <a:pt x="247" y="0"/>
                  <a:pt x="264" y="0"/>
                </a:cubicBezTo>
                <a:lnTo>
                  <a:pt x="30322" y="0"/>
                </a:lnTo>
                <a:cubicBezTo>
                  <a:pt x="30343" y="0"/>
                  <a:pt x="30364" y="2"/>
                  <a:pt x="30384" y="6"/>
                </a:cubicBezTo>
                <a:cubicBezTo>
                  <a:pt x="30405" y="10"/>
                  <a:pt x="30424" y="16"/>
                  <a:pt x="30444" y="24"/>
                </a:cubicBezTo>
                <a:cubicBezTo>
                  <a:pt x="30463" y="32"/>
                  <a:pt x="30481" y="42"/>
                  <a:pt x="30499" y="54"/>
                </a:cubicBezTo>
                <a:cubicBezTo>
                  <a:pt x="30516" y="65"/>
                  <a:pt x="30532" y="79"/>
                  <a:pt x="30547" y="93"/>
                </a:cubicBezTo>
                <a:cubicBezTo>
                  <a:pt x="30561" y="108"/>
                  <a:pt x="30575" y="124"/>
                  <a:pt x="30586" y="141"/>
                </a:cubicBezTo>
                <a:cubicBezTo>
                  <a:pt x="30598" y="159"/>
                  <a:pt x="30608" y="177"/>
                  <a:pt x="30615" y="196"/>
                </a:cubicBezTo>
                <a:cubicBezTo>
                  <a:pt x="30623" y="216"/>
                  <a:pt x="30629" y="235"/>
                  <a:pt x="30634" y="256"/>
                </a:cubicBezTo>
                <a:cubicBezTo>
                  <a:pt x="30638" y="276"/>
                  <a:pt x="30640" y="297"/>
                  <a:pt x="30640" y="318"/>
                </a:cubicBezTo>
                <a:lnTo>
                  <a:pt x="30640" y="4340"/>
                </a:lnTo>
                <a:cubicBezTo>
                  <a:pt x="30640" y="4361"/>
                  <a:pt x="30638" y="4382"/>
                  <a:pt x="30634" y="4402"/>
                </a:cubicBezTo>
                <a:cubicBezTo>
                  <a:pt x="30629" y="4423"/>
                  <a:pt x="30623" y="4443"/>
                  <a:pt x="30615" y="4462"/>
                </a:cubicBezTo>
                <a:cubicBezTo>
                  <a:pt x="30608" y="4481"/>
                  <a:pt x="30598" y="4499"/>
                  <a:pt x="30586" y="4517"/>
                </a:cubicBezTo>
                <a:cubicBezTo>
                  <a:pt x="30575" y="4534"/>
                  <a:pt x="30561" y="4550"/>
                  <a:pt x="30547" y="4565"/>
                </a:cubicBezTo>
                <a:cubicBezTo>
                  <a:pt x="30532" y="4580"/>
                  <a:pt x="30516" y="4593"/>
                  <a:pt x="30499" y="4604"/>
                </a:cubicBezTo>
                <a:cubicBezTo>
                  <a:pt x="30481" y="4616"/>
                  <a:pt x="30463" y="4626"/>
                  <a:pt x="30444" y="4634"/>
                </a:cubicBezTo>
                <a:cubicBezTo>
                  <a:pt x="30424" y="4642"/>
                  <a:pt x="30405" y="4648"/>
                  <a:pt x="30384" y="4652"/>
                </a:cubicBezTo>
                <a:cubicBezTo>
                  <a:pt x="30364" y="4656"/>
                  <a:pt x="30343" y="4658"/>
                  <a:pt x="30322" y="4658"/>
                </a:cubicBezTo>
                <a:lnTo>
                  <a:pt x="264" y="4658"/>
                </a:lnTo>
                <a:cubicBezTo>
                  <a:pt x="247" y="4658"/>
                  <a:pt x="230" y="4656"/>
                  <a:pt x="213" y="4652"/>
                </a:cubicBezTo>
                <a:cubicBezTo>
                  <a:pt x="196" y="4648"/>
                  <a:pt x="179" y="4642"/>
                  <a:pt x="163" y="4634"/>
                </a:cubicBezTo>
                <a:cubicBezTo>
                  <a:pt x="147" y="4626"/>
                  <a:pt x="132" y="4616"/>
                  <a:pt x="118" y="4604"/>
                </a:cubicBezTo>
                <a:cubicBezTo>
                  <a:pt x="103" y="4593"/>
                  <a:pt x="90" y="4580"/>
                  <a:pt x="77" y="4565"/>
                </a:cubicBezTo>
                <a:cubicBezTo>
                  <a:pt x="65" y="4550"/>
                  <a:pt x="54" y="4534"/>
                  <a:pt x="45" y="4517"/>
                </a:cubicBezTo>
                <a:cubicBezTo>
                  <a:pt x="35" y="4499"/>
                  <a:pt x="27" y="4481"/>
                  <a:pt x="20" y="4462"/>
                </a:cubicBezTo>
                <a:cubicBezTo>
                  <a:pt x="13" y="4443"/>
                  <a:pt x="8" y="4423"/>
                  <a:pt x="5" y="4402"/>
                </a:cubicBezTo>
                <a:cubicBezTo>
                  <a:pt x="2" y="4382"/>
                  <a:pt x="0" y="4361"/>
                  <a:pt x="0" y="4340"/>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65" name="Forma libre: forma 464"/>
          <p:cNvSpPr/>
          <p:nvPr/>
        </p:nvSpPr>
        <p:spPr>
          <a:xfrm>
            <a:off x="571320" y="1885680"/>
            <a:ext cx="114480" cy="1676880"/>
          </a:xfrm>
          <a:custGeom>
            <a:avLst/>
            <a:gdLst/>
            <a:ahLst/>
            <a:cxnLst/>
            <a:rect l="0" t="0" r="r" b="b"/>
            <a:pathLst>
              <a:path w="318" h="4658">
                <a:moveTo>
                  <a:pt x="0" y="0"/>
                </a:moveTo>
                <a:lnTo>
                  <a:pt x="318" y="0"/>
                </a:lnTo>
                <a:lnTo>
                  <a:pt x="318" y="4658"/>
                </a:lnTo>
                <a:lnTo>
                  <a:pt x="0" y="4658"/>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466" name="Imagen 465"/>
          <p:cNvPicPr/>
          <p:nvPr/>
        </p:nvPicPr>
        <p:blipFill>
          <a:blip r:embed="rId2"/>
          <a:stretch/>
        </p:blipFill>
        <p:spPr>
          <a:xfrm>
            <a:off x="838080" y="2562120"/>
            <a:ext cx="1218960" cy="323640"/>
          </a:xfrm>
          <a:prstGeom prst="rect">
            <a:avLst/>
          </a:prstGeom>
          <a:noFill/>
          <a:ln w="0">
            <a:noFill/>
          </a:ln>
        </p:spPr>
      </p:pic>
      <p:sp>
        <p:nvSpPr>
          <p:cNvPr id="467" name="CuadroTexto 466"/>
          <p:cNvSpPr txBox="1"/>
          <p:nvPr/>
        </p:nvSpPr>
        <p:spPr>
          <a:xfrm>
            <a:off x="571320" y="1275120"/>
            <a:ext cx="740628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Sirven para construir proyectos y descargar las distintas dependencias que sean requeridas para el desarrollo.</a:t>
            </a:r>
            <a:endParaRPr lang="en-US" sz="1350" b="0" u="none" strike="noStrike">
              <a:solidFill>
                <a:srgbClr val="000000"/>
              </a:solidFill>
              <a:effectLst/>
              <a:uFillTx/>
              <a:latin typeface="Times New Roman"/>
            </a:endParaRPr>
          </a:p>
        </p:txBody>
      </p:sp>
      <p:sp>
        <p:nvSpPr>
          <p:cNvPr id="468" name="CuadroTexto 467"/>
          <p:cNvSpPr txBox="1"/>
          <p:nvPr/>
        </p:nvSpPr>
        <p:spPr>
          <a:xfrm>
            <a:off x="2286000" y="2138400"/>
            <a:ext cx="62496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Maven</a:t>
            </a:r>
            <a:endParaRPr lang="en-US" sz="1800" b="0" u="none" strike="noStrike">
              <a:solidFill>
                <a:srgbClr val="000000"/>
              </a:solidFill>
              <a:effectLst/>
              <a:uFillTx/>
              <a:latin typeface="Times New Roman"/>
            </a:endParaRPr>
          </a:p>
        </p:txBody>
      </p:sp>
      <p:sp>
        <p:nvSpPr>
          <p:cNvPr id="469" name="CuadroTexto 468"/>
          <p:cNvSpPr txBox="1"/>
          <p:nvPr/>
        </p:nvSpPr>
        <p:spPr>
          <a:xfrm>
            <a:off x="2286000" y="2568600"/>
            <a:ext cx="856692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Se basa en ficheros xml y viene con objetivos definidos para realizar ciertas tareas como la compilación del código y la generación del proyecto</a:t>
            </a:r>
            <a:endParaRPr lang="en-US" sz="1200" b="0" u="none" strike="noStrike">
              <a:solidFill>
                <a:srgbClr val="000000"/>
              </a:solidFill>
              <a:effectLst/>
              <a:uFillTx/>
              <a:latin typeface="Times New Roman"/>
            </a:endParaRPr>
          </a:p>
        </p:txBody>
      </p:sp>
      <p:sp>
        <p:nvSpPr>
          <p:cNvPr id="470" name="CuadroTexto 469"/>
          <p:cNvSpPr txBox="1"/>
          <p:nvPr/>
        </p:nvSpPr>
        <p:spPr>
          <a:xfrm>
            <a:off x="2286000" y="2816280"/>
            <a:ext cx="87656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empaquetado, pero Maven también se encarga de obtener todas las dependencias del proyecto como de subirlo al repositorio final para que otros</a:t>
            </a:r>
            <a:endParaRPr lang="en-US" sz="1200" b="0" u="none" strike="noStrike">
              <a:solidFill>
                <a:srgbClr val="000000"/>
              </a:solidFill>
              <a:effectLst/>
              <a:uFillTx/>
              <a:latin typeface="Times New Roman"/>
            </a:endParaRPr>
          </a:p>
        </p:txBody>
      </p:sp>
      <p:sp>
        <p:nvSpPr>
          <p:cNvPr id="471" name="Forma libre: forma 470"/>
          <p:cNvSpPr/>
          <p:nvPr/>
        </p:nvSpPr>
        <p:spPr>
          <a:xfrm>
            <a:off x="590400" y="3867120"/>
            <a:ext cx="11030400" cy="1676520"/>
          </a:xfrm>
          <a:custGeom>
            <a:avLst/>
            <a:gdLst/>
            <a:ahLst/>
            <a:cxnLst/>
            <a:rect l="0" t="0" r="r" b="b"/>
            <a:pathLst>
              <a:path w="30640" h="4657">
                <a:moveTo>
                  <a:pt x="0" y="4340"/>
                </a:moveTo>
                <a:lnTo>
                  <a:pt x="0" y="317"/>
                </a:lnTo>
                <a:cubicBezTo>
                  <a:pt x="0" y="296"/>
                  <a:pt x="2" y="276"/>
                  <a:pt x="5" y="255"/>
                </a:cubicBezTo>
                <a:cubicBezTo>
                  <a:pt x="8" y="235"/>
                  <a:pt x="13" y="215"/>
                  <a:pt x="20" y="196"/>
                </a:cubicBezTo>
                <a:cubicBezTo>
                  <a:pt x="27" y="176"/>
                  <a:pt x="35" y="158"/>
                  <a:pt x="45" y="141"/>
                </a:cubicBezTo>
                <a:cubicBezTo>
                  <a:pt x="54" y="123"/>
                  <a:pt x="65" y="107"/>
                  <a:pt x="77" y="93"/>
                </a:cubicBezTo>
                <a:cubicBezTo>
                  <a:pt x="90" y="78"/>
                  <a:pt x="103" y="65"/>
                  <a:pt x="118" y="53"/>
                </a:cubicBezTo>
                <a:cubicBezTo>
                  <a:pt x="132" y="42"/>
                  <a:pt x="147" y="32"/>
                  <a:pt x="163" y="24"/>
                </a:cubicBezTo>
                <a:cubicBezTo>
                  <a:pt x="179" y="16"/>
                  <a:pt x="196" y="10"/>
                  <a:pt x="213" y="6"/>
                </a:cubicBezTo>
                <a:cubicBezTo>
                  <a:pt x="230" y="2"/>
                  <a:pt x="247" y="0"/>
                  <a:pt x="264" y="0"/>
                </a:cubicBezTo>
                <a:lnTo>
                  <a:pt x="30322" y="0"/>
                </a:lnTo>
                <a:cubicBezTo>
                  <a:pt x="30343" y="0"/>
                  <a:pt x="30364" y="2"/>
                  <a:pt x="30384" y="6"/>
                </a:cubicBezTo>
                <a:cubicBezTo>
                  <a:pt x="30405" y="10"/>
                  <a:pt x="30424" y="16"/>
                  <a:pt x="30444" y="24"/>
                </a:cubicBezTo>
                <a:cubicBezTo>
                  <a:pt x="30463" y="32"/>
                  <a:pt x="30481" y="42"/>
                  <a:pt x="30499" y="53"/>
                </a:cubicBezTo>
                <a:cubicBezTo>
                  <a:pt x="30516" y="65"/>
                  <a:pt x="30532" y="78"/>
                  <a:pt x="30547" y="93"/>
                </a:cubicBezTo>
                <a:cubicBezTo>
                  <a:pt x="30561" y="107"/>
                  <a:pt x="30575" y="123"/>
                  <a:pt x="30586" y="141"/>
                </a:cubicBezTo>
                <a:cubicBezTo>
                  <a:pt x="30598" y="158"/>
                  <a:pt x="30608" y="176"/>
                  <a:pt x="30615" y="196"/>
                </a:cubicBezTo>
                <a:cubicBezTo>
                  <a:pt x="30623" y="215"/>
                  <a:pt x="30629" y="235"/>
                  <a:pt x="30634" y="255"/>
                </a:cubicBezTo>
                <a:cubicBezTo>
                  <a:pt x="30638" y="276"/>
                  <a:pt x="30640" y="296"/>
                  <a:pt x="30640" y="317"/>
                </a:cubicBezTo>
                <a:lnTo>
                  <a:pt x="30640" y="4340"/>
                </a:lnTo>
                <a:cubicBezTo>
                  <a:pt x="30640" y="4361"/>
                  <a:pt x="30638" y="4381"/>
                  <a:pt x="30634" y="4402"/>
                </a:cubicBezTo>
                <a:cubicBezTo>
                  <a:pt x="30629" y="4422"/>
                  <a:pt x="30623" y="4442"/>
                  <a:pt x="30615" y="4461"/>
                </a:cubicBezTo>
                <a:cubicBezTo>
                  <a:pt x="30608" y="4481"/>
                  <a:pt x="30598" y="4499"/>
                  <a:pt x="30586" y="4516"/>
                </a:cubicBezTo>
                <a:cubicBezTo>
                  <a:pt x="30575" y="4533"/>
                  <a:pt x="30561" y="4550"/>
                  <a:pt x="30547" y="4564"/>
                </a:cubicBezTo>
                <a:cubicBezTo>
                  <a:pt x="30532" y="4579"/>
                  <a:pt x="30516" y="4592"/>
                  <a:pt x="30499" y="4604"/>
                </a:cubicBezTo>
                <a:cubicBezTo>
                  <a:pt x="30481" y="4615"/>
                  <a:pt x="30463" y="4625"/>
                  <a:pt x="30444" y="4633"/>
                </a:cubicBezTo>
                <a:cubicBezTo>
                  <a:pt x="30424" y="4641"/>
                  <a:pt x="30405" y="4647"/>
                  <a:pt x="30384" y="4651"/>
                </a:cubicBezTo>
                <a:cubicBezTo>
                  <a:pt x="30364" y="4655"/>
                  <a:pt x="30343" y="4657"/>
                  <a:pt x="30322" y="4657"/>
                </a:cubicBezTo>
                <a:lnTo>
                  <a:pt x="264" y="4657"/>
                </a:lnTo>
                <a:cubicBezTo>
                  <a:pt x="247" y="4657"/>
                  <a:pt x="230" y="4655"/>
                  <a:pt x="213" y="4651"/>
                </a:cubicBezTo>
                <a:cubicBezTo>
                  <a:pt x="196" y="4647"/>
                  <a:pt x="179" y="4641"/>
                  <a:pt x="163" y="4633"/>
                </a:cubicBezTo>
                <a:cubicBezTo>
                  <a:pt x="147" y="4625"/>
                  <a:pt x="132" y="4615"/>
                  <a:pt x="118" y="4604"/>
                </a:cubicBezTo>
                <a:cubicBezTo>
                  <a:pt x="103" y="4592"/>
                  <a:pt x="90" y="4579"/>
                  <a:pt x="77" y="4564"/>
                </a:cubicBezTo>
                <a:cubicBezTo>
                  <a:pt x="65" y="4550"/>
                  <a:pt x="54" y="4533"/>
                  <a:pt x="45" y="4516"/>
                </a:cubicBezTo>
                <a:cubicBezTo>
                  <a:pt x="35" y="4499"/>
                  <a:pt x="27" y="4481"/>
                  <a:pt x="20" y="4461"/>
                </a:cubicBezTo>
                <a:cubicBezTo>
                  <a:pt x="13" y="4442"/>
                  <a:pt x="8" y="4422"/>
                  <a:pt x="5" y="4402"/>
                </a:cubicBezTo>
                <a:cubicBezTo>
                  <a:pt x="2" y="4381"/>
                  <a:pt x="0" y="4361"/>
                  <a:pt x="0" y="4340"/>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72" name="Forma libre: forma 471"/>
          <p:cNvSpPr/>
          <p:nvPr/>
        </p:nvSpPr>
        <p:spPr>
          <a:xfrm>
            <a:off x="571320" y="3867120"/>
            <a:ext cx="114480" cy="1676520"/>
          </a:xfrm>
          <a:custGeom>
            <a:avLst/>
            <a:gdLst/>
            <a:ahLst/>
            <a:cxnLst/>
            <a:rect l="0" t="0" r="r" b="b"/>
            <a:pathLst>
              <a:path w="318" h="4657">
                <a:moveTo>
                  <a:pt x="0" y="0"/>
                </a:moveTo>
                <a:lnTo>
                  <a:pt x="318" y="0"/>
                </a:lnTo>
                <a:lnTo>
                  <a:pt x="318" y="4657"/>
                </a:lnTo>
                <a:lnTo>
                  <a:pt x="0" y="4657"/>
                </a:lnTo>
                <a:lnTo>
                  <a:pt x="0" y="0"/>
                </a:ln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473" name="Imagen 472"/>
          <p:cNvPicPr/>
          <p:nvPr/>
        </p:nvPicPr>
        <p:blipFill>
          <a:blip r:embed="rId3"/>
          <a:stretch/>
        </p:blipFill>
        <p:spPr>
          <a:xfrm>
            <a:off x="838080" y="4543560"/>
            <a:ext cx="1218960" cy="323640"/>
          </a:xfrm>
          <a:prstGeom prst="rect">
            <a:avLst/>
          </a:prstGeom>
          <a:noFill/>
          <a:ln w="0">
            <a:noFill/>
          </a:ln>
        </p:spPr>
      </p:pic>
      <p:sp>
        <p:nvSpPr>
          <p:cNvPr id="474" name="CuadroTexto 473"/>
          <p:cNvSpPr txBox="1"/>
          <p:nvPr/>
        </p:nvSpPr>
        <p:spPr>
          <a:xfrm>
            <a:off x="2286000" y="3063960"/>
            <a:ext cx="27327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proyectos que dependan de él puedan usarlo.</a:t>
            </a:r>
            <a:endParaRPr lang="en-US" sz="1200" b="0" u="none" strike="noStrike">
              <a:solidFill>
                <a:srgbClr val="000000"/>
              </a:solidFill>
              <a:effectLst/>
              <a:uFillTx/>
              <a:latin typeface="Times New Roman"/>
            </a:endParaRPr>
          </a:p>
        </p:txBody>
      </p:sp>
      <p:sp>
        <p:nvSpPr>
          <p:cNvPr id="475" name="CuadroTexto 474"/>
          <p:cNvSpPr txBox="1"/>
          <p:nvPr/>
        </p:nvSpPr>
        <p:spPr>
          <a:xfrm>
            <a:off x="2286000" y="4119480"/>
            <a:ext cx="613440" cy="253440"/>
          </a:xfrm>
          <a:prstGeom prst="rect">
            <a:avLst/>
          </a:prstGeom>
          <a:noFill/>
          <a:ln w="0">
            <a:noFill/>
          </a:ln>
        </p:spPr>
        <p:txBody>
          <a:bodyPr wrap="none" lIns="0" tIns="0" rIns="0" bIns="0" anchor="t">
            <a:spAutoFit/>
          </a:bodyPr>
          <a:lstStyle/>
          <a:p>
            <a:r>
              <a:rPr lang="en-US" sz="1800" b="0" u="none" strike="noStrike">
                <a:solidFill>
                  <a:srgbClr val="5B9BD5"/>
                </a:solidFill>
                <a:effectLst/>
                <a:uFillTx/>
                <a:latin typeface="CrimsonPro"/>
                <a:ea typeface="CrimsonPro"/>
              </a:rPr>
              <a:t>Gradle</a:t>
            </a:r>
            <a:endParaRPr lang="en-US" sz="1800" b="0" u="none" strike="noStrike">
              <a:solidFill>
                <a:srgbClr val="000000"/>
              </a:solidFill>
              <a:effectLst/>
              <a:uFillTx/>
              <a:latin typeface="Times New Roman"/>
            </a:endParaRPr>
          </a:p>
        </p:txBody>
      </p:sp>
      <p:sp>
        <p:nvSpPr>
          <p:cNvPr id="476" name="CuadroTexto 475"/>
          <p:cNvSpPr txBox="1"/>
          <p:nvPr/>
        </p:nvSpPr>
        <p:spPr>
          <a:xfrm>
            <a:off x="2286000" y="4549680"/>
            <a:ext cx="62355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Esta herramienta se configura con ficheros DSL basados en Groovy, en vez de los xml que usaba Maven.</a:t>
            </a:r>
            <a:endParaRPr lang="en-US" sz="1200" b="0" u="none" strike="noStrike">
              <a:solidFill>
                <a:srgbClr val="000000"/>
              </a:solidFill>
              <a:effectLst/>
              <a:uFillTx/>
              <a:latin typeface="Times New Roman"/>
            </a:endParaRPr>
          </a:p>
        </p:txBody>
      </p:sp>
      <p:sp>
        <p:nvSpPr>
          <p:cNvPr id="477" name="Forma libre: forma 476"/>
          <p:cNvSpPr/>
          <p:nvPr/>
        </p:nvSpPr>
        <p:spPr>
          <a:xfrm>
            <a:off x="571320" y="61909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78" name="CuadroTexto 477"/>
          <p:cNvSpPr txBox="1"/>
          <p:nvPr/>
        </p:nvSpPr>
        <p:spPr>
          <a:xfrm>
            <a:off x="9763200" y="5947920"/>
            <a:ext cx="185508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autentia.com</a:t>
            </a:r>
            <a:endParaRPr lang="en-US" sz="1050" b="0" u="none" strike="noStrike">
              <a:solidFill>
                <a:srgbClr val="000000"/>
              </a:solidFill>
              <a:effectLst/>
              <a:uFillTx/>
              <a:latin typeface="Times New Roman"/>
            </a:endParaRPr>
          </a:p>
        </p:txBody>
      </p:sp>
      <p:sp>
        <p:nvSpPr>
          <p:cNvPr id="479" name="CuadroTexto 478"/>
          <p:cNvSpPr txBox="1"/>
          <p:nvPr/>
        </p:nvSpPr>
        <p:spPr>
          <a:xfrm>
            <a:off x="571320" y="63784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480" name="CuadroTexto 479"/>
          <p:cNvSpPr txBox="1"/>
          <p:nvPr/>
        </p:nvSpPr>
        <p:spPr>
          <a:xfrm>
            <a:off x="11487960" y="63784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18</a:t>
            </a:r>
            <a:endParaRPr lang="en-US" sz="1200" b="0" u="none" strike="noStrike">
              <a:solidFill>
                <a:srgbClr val="000000"/>
              </a:solidFill>
              <a:effectLst/>
              <a:uFillTx/>
              <a:latin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Forma libre: forma 482"/>
          <p:cNvSpPr/>
          <p:nvPr/>
        </p:nvSpPr>
        <p:spPr>
          <a:xfrm>
            <a:off x="571320" y="102852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484" name="Forma libre: forma 483"/>
          <p:cNvSpPr/>
          <p:nvPr/>
        </p:nvSpPr>
        <p:spPr>
          <a:xfrm>
            <a:off x="571320" y="3238790"/>
            <a:ext cx="4420080" cy="1047960"/>
          </a:xfrm>
          <a:custGeom>
            <a:avLst/>
            <a:gdLst/>
            <a:ahLst/>
            <a:cxnLst/>
            <a:rect l="0" t="0" r="r" b="b"/>
            <a:pathLst>
              <a:path w="12278" h="2911">
                <a:moveTo>
                  <a:pt x="0" y="2700"/>
                </a:moveTo>
                <a:lnTo>
                  <a:pt x="0" y="212"/>
                </a:lnTo>
                <a:cubicBezTo>
                  <a:pt x="0" y="198"/>
                  <a:pt x="1" y="184"/>
                  <a:pt x="4" y="170"/>
                </a:cubicBezTo>
                <a:cubicBezTo>
                  <a:pt x="7" y="157"/>
                  <a:pt x="11" y="143"/>
                  <a:pt x="16" y="131"/>
                </a:cubicBezTo>
                <a:cubicBezTo>
                  <a:pt x="21" y="118"/>
                  <a:pt x="28" y="106"/>
                  <a:pt x="36" y="94"/>
                </a:cubicBezTo>
                <a:cubicBezTo>
                  <a:pt x="43" y="82"/>
                  <a:pt x="52" y="72"/>
                  <a:pt x="62" y="62"/>
                </a:cubicBezTo>
                <a:cubicBezTo>
                  <a:pt x="72" y="52"/>
                  <a:pt x="83" y="43"/>
                  <a:pt x="94" y="36"/>
                </a:cubicBezTo>
                <a:cubicBezTo>
                  <a:pt x="106" y="28"/>
                  <a:pt x="118" y="21"/>
                  <a:pt x="131" y="16"/>
                </a:cubicBezTo>
                <a:cubicBezTo>
                  <a:pt x="144" y="11"/>
                  <a:pt x="157" y="7"/>
                  <a:pt x="170" y="4"/>
                </a:cubicBezTo>
                <a:cubicBezTo>
                  <a:pt x="184" y="1"/>
                  <a:pt x="198" y="0"/>
                  <a:pt x="212" y="0"/>
                </a:cubicBezTo>
                <a:lnTo>
                  <a:pt x="12066" y="0"/>
                </a:lnTo>
                <a:cubicBezTo>
                  <a:pt x="12080" y="0"/>
                  <a:pt x="12094" y="1"/>
                  <a:pt x="12107" y="4"/>
                </a:cubicBezTo>
                <a:cubicBezTo>
                  <a:pt x="12121" y="7"/>
                  <a:pt x="12134" y="11"/>
                  <a:pt x="12147" y="16"/>
                </a:cubicBezTo>
                <a:cubicBezTo>
                  <a:pt x="12160" y="21"/>
                  <a:pt x="12172" y="28"/>
                  <a:pt x="12184" y="36"/>
                </a:cubicBezTo>
                <a:cubicBezTo>
                  <a:pt x="12195" y="43"/>
                  <a:pt x="12206" y="52"/>
                  <a:pt x="12216" y="62"/>
                </a:cubicBezTo>
                <a:cubicBezTo>
                  <a:pt x="12225" y="72"/>
                  <a:pt x="12234" y="82"/>
                  <a:pt x="12242" y="94"/>
                </a:cubicBezTo>
                <a:cubicBezTo>
                  <a:pt x="12250" y="106"/>
                  <a:pt x="12256" y="118"/>
                  <a:pt x="12262" y="131"/>
                </a:cubicBezTo>
                <a:cubicBezTo>
                  <a:pt x="12267" y="143"/>
                  <a:pt x="12271" y="157"/>
                  <a:pt x="12274" y="170"/>
                </a:cubicBezTo>
                <a:cubicBezTo>
                  <a:pt x="12276" y="184"/>
                  <a:pt x="12278" y="198"/>
                  <a:pt x="12278" y="212"/>
                </a:cubicBezTo>
                <a:lnTo>
                  <a:pt x="12278" y="2700"/>
                </a:lnTo>
                <a:cubicBezTo>
                  <a:pt x="12278" y="2714"/>
                  <a:pt x="12276" y="2727"/>
                  <a:pt x="12274" y="2741"/>
                </a:cubicBezTo>
                <a:cubicBezTo>
                  <a:pt x="12271" y="2755"/>
                  <a:pt x="12267" y="2768"/>
                  <a:pt x="12262" y="2781"/>
                </a:cubicBezTo>
                <a:cubicBezTo>
                  <a:pt x="12256" y="2794"/>
                  <a:pt x="12250" y="2806"/>
                  <a:pt x="12242" y="2817"/>
                </a:cubicBezTo>
                <a:cubicBezTo>
                  <a:pt x="12234" y="2829"/>
                  <a:pt x="12225" y="2840"/>
                  <a:pt x="12216" y="2849"/>
                </a:cubicBezTo>
                <a:cubicBezTo>
                  <a:pt x="12206" y="2859"/>
                  <a:pt x="12195" y="2868"/>
                  <a:pt x="12184" y="2876"/>
                </a:cubicBezTo>
                <a:cubicBezTo>
                  <a:pt x="12172" y="2883"/>
                  <a:pt x="12160" y="2890"/>
                  <a:pt x="12147" y="2895"/>
                </a:cubicBezTo>
                <a:cubicBezTo>
                  <a:pt x="12134" y="2901"/>
                  <a:pt x="12121" y="2905"/>
                  <a:pt x="12107" y="2907"/>
                </a:cubicBezTo>
                <a:cubicBezTo>
                  <a:pt x="12094" y="2910"/>
                  <a:pt x="12080" y="2911"/>
                  <a:pt x="12066" y="2911"/>
                </a:cubicBezTo>
                <a:lnTo>
                  <a:pt x="212" y="2911"/>
                </a:lnTo>
                <a:cubicBezTo>
                  <a:pt x="198" y="2911"/>
                  <a:pt x="184" y="2910"/>
                  <a:pt x="170" y="2907"/>
                </a:cubicBezTo>
                <a:cubicBezTo>
                  <a:pt x="157" y="2905"/>
                  <a:pt x="144" y="2901"/>
                  <a:pt x="131" y="2895"/>
                </a:cubicBezTo>
                <a:cubicBezTo>
                  <a:pt x="118" y="2890"/>
                  <a:pt x="106" y="2883"/>
                  <a:pt x="94" y="2876"/>
                </a:cubicBezTo>
                <a:cubicBezTo>
                  <a:pt x="83" y="2868"/>
                  <a:pt x="72" y="2859"/>
                  <a:pt x="62" y="2849"/>
                </a:cubicBezTo>
                <a:cubicBezTo>
                  <a:pt x="52" y="2840"/>
                  <a:pt x="43" y="2829"/>
                  <a:pt x="36" y="2817"/>
                </a:cubicBezTo>
                <a:cubicBezTo>
                  <a:pt x="28" y="2806"/>
                  <a:pt x="21" y="2794"/>
                  <a:pt x="16" y="2781"/>
                </a:cubicBezTo>
                <a:cubicBezTo>
                  <a:pt x="11" y="2768"/>
                  <a:pt x="7" y="2755"/>
                  <a:pt x="4" y="2741"/>
                </a:cubicBezTo>
                <a:cubicBezTo>
                  <a:pt x="1" y="2727"/>
                  <a:pt x="0" y="2714"/>
                  <a:pt x="0" y="270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85" name="CuadroTexto 484"/>
          <p:cNvSpPr txBox="1"/>
          <p:nvPr/>
        </p:nvSpPr>
        <p:spPr>
          <a:xfrm>
            <a:off x="571320" y="582120"/>
            <a:ext cx="4609440" cy="318960"/>
          </a:xfrm>
          <a:prstGeom prst="rect">
            <a:avLst/>
          </a:prstGeom>
          <a:noFill/>
          <a:ln w="0">
            <a:noFill/>
          </a:ln>
        </p:spPr>
        <p:txBody>
          <a:bodyPr wrap="none" lIns="0" tIns="0" rIns="0" bIns="0" anchor="t">
            <a:spAutoFit/>
          </a:bodyPr>
          <a:lstStyle/>
          <a:p>
            <a:r>
              <a:rPr lang="en-US" sz="2250" b="0" u="none" strike="noStrike">
                <a:solidFill>
                  <a:srgbClr val="000000"/>
                </a:solidFill>
                <a:effectLst/>
                <a:uFillTx/>
                <a:latin typeface="CrimsonPro"/>
                <a:ea typeface="CrimsonPro"/>
              </a:rPr>
              <a:t>Entendamos qué es una máquina virtual</a:t>
            </a:r>
            <a:endParaRPr lang="en-US" sz="2250" b="0" u="none" strike="noStrike">
              <a:solidFill>
                <a:srgbClr val="000000"/>
              </a:solidFill>
              <a:effectLst/>
              <a:uFillTx/>
              <a:latin typeface="Times New Roman"/>
            </a:endParaRPr>
          </a:p>
        </p:txBody>
      </p:sp>
      <p:sp>
        <p:nvSpPr>
          <p:cNvPr id="486" name="CuadroTexto 485"/>
          <p:cNvSpPr txBox="1"/>
          <p:nvPr/>
        </p:nvSpPr>
        <p:spPr>
          <a:xfrm>
            <a:off x="571320" y="1999310"/>
            <a:ext cx="2002680" cy="189360"/>
          </a:xfrm>
          <a:prstGeom prst="rect">
            <a:avLst/>
          </a:prstGeom>
          <a:noFill/>
          <a:ln w="0">
            <a:noFill/>
          </a:ln>
        </p:spPr>
        <p:txBody>
          <a:bodyPr wrap="none" lIns="0" tIns="0" rIns="0" bIns="0" anchor="t">
            <a:spAutoFit/>
          </a:bodyPr>
          <a:lstStyle/>
          <a:p>
            <a:r>
              <a:rPr lang="en-US" sz="1350" b="0" u="none" strike="noStrike">
                <a:solidFill>
                  <a:srgbClr val="DA7756"/>
                </a:solidFill>
                <a:effectLst/>
                <a:uFillTx/>
                <a:latin typeface="CrimsonPro"/>
                <a:ea typeface="CrimsonPro"/>
              </a:rPr>
              <a:t>Concepto de Máquina Virtual</a:t>
            </a:r>
            <a:endParaRPr lang="en-US" sz="1350" b="0" u="none" strike="noStrike">
              <a:solidFill>
                <a:srgbClr val="000000"/>
              </a:solidFill>
              <a:effectLst/>
              <a:uFillTx/>
              <a:latin typeface="Times New Roman"/>
            </a:endParaRPr>
          </a:p>
        </p:txBody>
      </p:sp>
      <p:sp>
        <p:nvSpPr>
          <p:cNvPr id="487" name="CuadroTexto 486"/>
          <p:cNvSpPr txBox="1"/>
          <p:nvPr/>
        </p:nvSpPr>
        <p:spPr>
          <a:xfrm>
            <a:off x="571320" y="2340230"/>
            <a:ext cx="442512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Entre el Byte Code (o el MSIL en el caso de .NET) y el sistema operativo se</a:t>
            </a:r>
            <a:endParaRPr lang="en-US" sz="1200" b="0" u="none" strike="noStrike">
              <a:solidFill>
                <a:srgbClr val="000000"/>
              </a:solidFill>
              <a:effectLst/>
              <a:uFillTx/>
              <a:latin typeface="Times New Roman"/>
            </a:endParaRPr>
          </a:p>
        </p:txBody>
      </p:sp>
      <p:sp>
        <p:nvSpPr>
          <p:cNvPr id="488" name="CuadroTexto 487"/>
          <p:cNvSpPr txBox="1"/>
          <p:nvPr/>
        </p:nvSpPr>
        <p:spPr>
          <a:xfrm>
            <a:off x="571320" y="2587910"/>
            <a:ext cx="42458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coloca un componente especial llamado Máquina Virtual que es el que</a:t>
            </a:r>
            <a:endParaRPr lang="en-US" sz="1200" b="0" u="none" strike="noStrike">
              <a:solidFill>
                <a:srgbClr val="000000"/>
              </a:solidFill>
              <a:effectLst/>
              <a:uFillTx/>
              <a:latin typeface="Times New Roman"/>
            </a:endParaRPr>
          </a:p>
        </p:txBody>
      </p:sp>
      <p:sp>
        <p:nvSpPr>
          <p:cNvPr id="489" name="CuadroTexto 488"/>
          <p:cNvSpPr txBox="1"/>
          <p:nvPr/>
        </p:nvSpPr>
        <p:spPr>
          <a:xfrm>
            <a:off x="571320" y="2835590"/>
            <a:ext cx="20163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realmente va a ejecutar el código.</a:t>
            </a:r>
            <a:endParaRPr lang="en-US" sz="1200" b="0" u="none" strike="noStrike">
              <a:solidFill>
                <a:srgbClr val="000000"/>
              </a:solidFill>
              <a:effectLst/>
              <a:uFillTx/>
              <a:latin typeface="Times New Roman"/>
            </a:endParaRPr>
          </a:p>
        </p:txBody>
      </p:sp>
      <p:sp>
        <p:nvSpPr>
          <p:cNvPr id="490" name="CuadroTexto 489"/>
          <p:cNvSpPr txBox="1"/>
          <p:nvPr/>
        </p:nvSpPr>
        <p:spPr>
          <a:xfrm>
            <a:off x="723960" y="3426350"/>
            <a:ext cx="40719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Esta idea no tiene nada que ver con las máquinas virtuales a las que</a:t>
            </a:r>
            <a:endParaRPr lang="en-US" sz="1200" b="0" u="none" strike="noStrike">
              <a:solidFill>
                <a:srgbClr val="000000"/>
              </a:solidFill>
              <a:effectLst/>
              <a:uFillTx/>
              <a:latin typeface="Times New Roman"/>
            </a:endParaRPr>
          </a:p>
        </p:txBody>
      </p:sp>
      <p:sp>
        <p:nvSpPr>
          <p:cNvPr id="491" name="CuadroTexto 490"/>
          <p:cNvSpPr txBox="1"/>
          <p:nvPr/>
        </p:nvSpPr>
        <p:spPr>
          <a:xfrm>
            <a:off x="723960" y="3674030"/>
            <a:ext cx="348948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estamos acostumbrados hoy en día que ejecutan sistemas</a:t>
            </a:r>
            <a:endParaRPr lang="en-US" sz="1200" b="0" u="none" strike="noStrike">
              <a:solidFill>
                <a:srgbClr val="000000"/>
              </a:solidFill>
              <a:effectLst/>
              <a:uFillTx/>
              <a:latin typeface="Times New Roman"/>
            </a:endParaRPr>
          </a:p>
        </p:txBody>
      </p:sp>
      <p:sp>
        <p:nvSpPr>
          <p:cNvPr id="492" name="CuadroTexto 491"/>
          <p:cNvSpPr txBox="1"/>
          <p:nvPr/>
        </p:nvSpPr>
        <p:spPr>
          <a:xfrm>
            <a:off x="723960" y="3921710"/>
            <a:ext cx="40838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operativos completos, sino que es un concepto mucho más antiguo.</a:t>
            </a:r>
            <a:endParaRPr lang="en-US" sz="1200" b="0" u="none" strike="noStrike">
              <a:solidFill>
                <a:srgbClr val="000000"/>
              </a:solidFill>
              <a:effectLst/>
              <a:uFillTx/>
              <a:latin typeface="Times New Roman"/>
            </a:endParaRPr>
          </a:p>
        </p:txBody>
      </p:sp>
      <p:sp>
        <p:nvSpPr>
          <p:cNvPr id="495" name="CuadroTexto 494"/>
          <p:cNvSpPr txBox="1"/>
          <p:nvPr/>
        </p:nvSpPr>
        <p:spPr>
          <a:xfrm>
            <a:off x="571320" y="4500590"/>
            <a:ext cx="191520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campusmvp.es</a:t>
            </a:r>
            <a:endParaRPr lang="en-US" sz="1050" b="0" u="none" strike="noStrike">
              <a:solidFill>
                <a:srgbClr val="000000"/>
              </a:solidFill>
              <a:effectLst/>
              <a:uFillTx/>
              <a:latin typeface="Times New Roman"/>
            </a:endParaRPr>
          </a:p>
        </p:txBody>
      </p:sp>
      <p:sp>
        <p:nvSpPr>
          <p:cNvPr id="496" name="Forma libre: forma 495"/>
          <p:cNvSpPr/>
          <p:nvPr/>
        </p:nvSpPr>
        <p:spPr>
          <a:xfrm>
            <a:off x="5686200" y="1360128"/>
            <a:ext cx="5620320" cy="724320"/>
          </a:xfrm>
          <a:custGeom>
            <a:avLst/>
            <a:gdLst/>
            <a:ahLst/>
            <a:cxnLst/>
            <a:rect l="0" t="0" r="r" b="b"/>
            <a:pathLst>
              <a:path w="15612" h="2012">
                <a:moveTo>
                  <a:pt x="0" y="1800"/>
                </a:moveTo>
                <a:lnTo>
                  <a:pt x="0" y="212"/>
                </a:lnTo>
                <a:cubicBezTo>
                  <a:pt x="0" y="198"/>
                  <a:pt x="1" y="184"/>
                  <a:pt x="4" y="170"/>
                </a:cubicBezTo>
                <a:cubicBezTo>
                  <a:pt x="7" y="157"/>
                  <a:pt x="11" y="143"/>
                  <a:pt x="16" y="131"/>
                </a:cubicBezTo>
                <a:cubicBezTo>
                  <a:pt x="22" y="118"/>
                  <a:pt x="28" y="106"/>
                  <a:pt x="36" y="94"/>
                </a:cubicBezTo>
                <a:cubicBezTo>
                  <a:pt x="44" y="82"/>
                  <a:pt x="52" y="72"/>
                  <a:pt x="62" y="62"/>
                </a:cubicBezTo>
                <a:cubicBezTo>
                  <a:pt x="72" y="52"/>
                  <a:pt x="83" y="43"/>
                  <a:pt x="94" y="36"/>
                </a:cubicBezTo>
                <a:cubicBezTo>
                  <a:pt x="106" y="28"/>
                  <a:pt x="118" y="21"/>
                  <a:pt x="131" y="16"/>
                </a:cubicBezTo>
                <a:cubicBezTo>
                  <a:pt x="144" y="11"/>
                  <a:pt x="157" y="7"/>
                  <a:pt x="170" y="4"/>
                </a:cubicBezTo>
                <a:cubicBezTo>
                  <a:pt x="184" y="1"/>
                  <a:pt x="198" y="0"/>
                  <a:pt x="212" y="0"/>
                </a:cubicBezTo>
                <a:lnTo>
                  <a:pt x="15400" y="0"/>
                </a:lnTo>
                <a:cubicBezTo>
                  <a:pt x="15414" y="0"/>
                  <a:pt x="15428" y="1"/>
                  <a:pt x="15441" y="4"/>
                </a:cubicBezTo>
                <a:cubicBezTo>
                  <a:pt x="15455" y="7"/>
                  <a:pt x="15468" y="11"/>
                  <a:pt x="15481" y="16"/>
                </a:cubicBezTo>
                <a:cubicBezTo>
                  <a:pt x="15494" y="21"/>
                  <a:pt x="15506" y="28"/>
                  <a:pt x="15517" y="36"/>
                </a:cubicBezTo>
                <a:cubicBezTo>
                  <a:pt x="15529" y="43"/>
                  <a:pt x="15540" y="52"/>
                  <a:pt x="15550" y="62"/>
                </a:cubicBezTo>
                <a:cubicBezTo>
                  <a:pt x="15559" y="72"/>
                  <a:pt x="15568" y="82"/>
                  <a:pt x="15576" y="94"/>
                </a:cubicBezTo>
                <a:cubicBezTo>
                  <a:pt x="15584" y="106"/>
                  <a:pt x="15590" y="118"/>
                  <a:pt x="15595" y="131"/>
                </a:cubicBezTo>
                <a:cubicBezTo>
                  <a:pt x="15601" y="143"/>
                  <a:pt x="15605" y="157"/>
                  <a:pt x="15607" y="170"/>
                </a:cubicBezTo>
                <a:cubicBezTo>
                  <a:pt x="15610" y="184"/>
                  <a:pt x="15612" y="198"/>
                  <a:pt x="15612" y="212"/>
                </a:cubicBezTo>
                <a:lnTo>
                  <a:pt x="15612" y="1800"/>
                </a:lnTo>
                <a:cubicBezTo>
                  <a:pt x="15612" y="1814"/>
                  <a:pt x="15610" y="1828"/>
                  <a:pt x="15607" y="1841"/>
                </a:cubicBezTo>
                <a:cubicBezTo>
                  <a:pt x="15605" y="1855"/>
                  <a:pt x="15601" y="1868"/>
                  <a:pt x="15595" y="1881"/>
                </a:cubicBezTo>
                <a:cubicBezTo>
                  <a:pt x="15590" y="1894"/>
                  <a:pt x="15584" y="1906"/>
                  <a:pt x="15576" y="1918"/>
                </a:cubicBezTo>
                <a:cubicBezTo>
                  <a:pt x="15568" y="1929"/>
                  <a:pt x="15559" y="1940"/>
                  <a:pt x="15550" y="1950"/>
                </a:cubicBezTo>
                <a:cubicBezTo>
                  <a:pt x="15540" y="1960"/>
                  <a:pt x="15529" y="1968"/>
                  <a:pt x="15517" y="1976"/>
                </a:cubicBezTo>
                <a:cubicBezTo>
                  <a:pt x="15506" y="1984"/>
                  <a:pt x="15494" y="1990"/>
                  <a:pt x="15481" y="1996"/>
                </a:cubicBezTo>
                <a:cubicBezTo>
                  <a:pt x="15468" y="2001"/>
                  <a:pt x="15455" y="2005"/>
                  <a:pt x="15441" y="2008"/>
                </a:cubicBezTo>
                <a:cubicBezTo>
                  <a:pt x="15428" y="2010"/>
                  <a:pt x="15414" y="2012"/>
                  <a:pt x="15400" y="2012"/>
                </a:cubicBezTo>
                <a:lnTo>
                  <a:pt x="212" y="2012"/>
                </a:lnTo>
                <a:cubicBezTo>
                  <a:pt x="198" y="2012"/>
                  <a:pt x="184" y="2010"/>
                  <a:pt x="170" y="2008"/>
                </a:cubicBezTo>
                <a:cubicBezTo>
                  <a:pt x="157" y="2005"/>
                  <a:pt x="144" y="2001"/>
                  <a:pt x="131" y="1996"/>
                </a:cubicBezTo>
                <a:cubicBezTo>
                  <a:pt x="118" y="1990"/>
                  <a:pt x="106" y="1984"/>
                  <a:pt x="94" y="1976"/>
                </a:cubicBezTo>
                <a:cubicBezTo>
                  <a:pt x="83" y="1968"/>
                  <a:pt x="72" y="1960"/>
                  <a:pt x="62" y="1950"/>
                </a:cubicBezTo>
                <a:cubicBezTo>
                  <a:pt x="52" y="1940"/>
                  <a:pt x="44" y="1929"/>
                  <a:pt x="36" y="1918"/>
                </a:cubicBezTo>
                <a:cubicBezTo>
                  <a:pt x="28" y="1906"/>
                  <a:pt x="22" y="1894"/>
                  <a:pt x="16" y="1881"/>
                </a:cubicBezTo>
                <a:cubicBezTo>
                  <a:pt x="11" y="1868"/>
                  <a:pt x="7" y="1855"/>
                  <a:pt x="4" y="1841"/>
                </a:cubicBezTo>
                <a:cubicBezTo>
                  <a:pt x="1" y="1828"/>
                  <a:pt x="0" y="1814"/>
                  <a:pt x="0" y="180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497" name="CuadroTexto 496"/>
          <p:cNvSpPr txBox="1"/>
          <p:nvPr/>
        </p:nvSpPr>
        <p:spPr>
          <a:xfrm>
            <a:off x="7228080" y="901848"/>
            <a:ext cx="243648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Proceso de Compilación y Ejecución</a:t>
            </a:r>
            <a:endParaRPr lang="en-US" sz="1350" b="0" u="none" strike="noStrike">
              <a:solidFill>
                <a:srgbClr val="000000"/>
              </a:solidFill>
              <a:effectLst/>
              <a:uFillTx/>
              <a:latin typeface="Times New Roman"/>
            </a:endParaRPr>
          </a:p>
        </p:txBody>
      </p:sp>
      <p:sp>
        <p:nvSpPr>
          <p:cNvPr id="498" name="CuadroTexto 497"/>
          <p:cNvSpPr txBox="1"/>
          <p:nvPr/>
        </p:nvSpPr>
        <p:spPr>
          <a:xfrm>
            <a:off x="8127360" y="1537968"/>
            <a:ext cx="72180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Código Java</a:t>
            </a:r>
            <a:endParaRPr lang="en-US" sz="1200" b="0" u="none" strike="noStrike">
              <a:solidFill>
                <a:srgbClr val="000000"/>
              </a:solidFill>
              <a:effectLst/>
              <a:uFillTx/>
              <a:latin typeface="Times New Roman"/>
            </a:endParaRPr>
          </a:p>
        </p:txBody>
      </p:sp>
      <p:sp>
        <p:nvSpPr>
          <p:cNvPr id="499" name="Forma libre: forma 498"/>
          <p:cNvSpPr/>
          <p:nvPr/>
        </p:nvSpPr>
        <p:spPr>
          <a:xfrm>
            <a:off x="8420040" y="2236368"/>
            <a:ext cx="152640" cy="114840"/>
          </a:xfrm>
          <a:custGeom>
            <a:avLst/>
            <a:gdLst/>
            <a:ahLst/>
            <a:cxnLst/>
            <a:rect l="0" t="0" r="r" b="b"/>
            <a:pathLst>
              <a:path w="424" h="319">
                <a:moveTo>
                  <a:pt x="0" y="0"/>
                </a:moveTo>
                <a:lnTo>
                  <a:pt x="212" y="319"/>
                </a:lnTo>
                <a:lnTo>
                  <a:pt x="424" y="0"/>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00" name="Forma libre: forma 499"/>
          <p:cNvSpPr/>
          <p:nvPr/>
        </p:nvSpPr>
        <p:spPr>
          <a:xfrm>
            <a:off x="5686200" y="2503128"/>
            <a:ext cx="5620320" cy="724320"/>
          </a:xfrm>
          <a:custGeom>
            <a:avLst/>
            <a:gdLst/>
            <a:ahLst/>
            <a:cxnLst/>
            <a:rect l="0" t="0" r="r" b="b"/>
            <a:pathLst>
              <a:path w="15612" h="2012">
                <a:moveTo>
                  <a:pt x="0" y="1800"/>
                </a:moveTo>
                <a:lnTo>
                  <a:pt x="0" y="213"/>
                </a:lnTo>
                <a:cubicBezTo>
                  <a:pt x="0" y="199"/>
                  <a:pt x="1" y="185"/>
                  <a:pt x="4" y="171"/>
                </a:cubicBezTo>
                <a:cubicBezTo>
                  <a:pt x="7" y="158"/>
                  <a:pt x="11" y="144"/>
                  <a:pt x="16" y="132"/>
                </a:cubicBezTo>
                <a:cubicBezTo>
                  <a:pt x="22" y="119"/>
                  <a:pt x="28" y="107"/>
                  <a:pt x="36" y="95"/>
                </a:cubicBezTo>
                <a:cubicBezTo>
                  <a:pt x="44" y="83"/>
                  <a:pt x="52" y="72"/>
                  <a:pt x="62" y="62"/>
                </a:cubicBezTo>
                <a:cubicBezTo>
                  <a:pt x="72" y="52"/>
                  <a:pt x="83" y="43"/>
                  <a:pt x="94" y="36"/>
                </a:cubicBezTo>
                <a:cubicBezTo>
                  <a:pt x="106" y="28"/>
                  <a:pt x="118" y="21"/>
                  <a:pt x="131" y="16"/>
                </a:cubicBezTo>
                <a:cubicBezTo>
                  <a:pt x="144" y="11"/>
                  <a:pt x="157" y="7"/>
                  <a:pt x="170" y="4"/>
                </a:cubicBezTo>
                <a:cubicBezTo>
                  <a:pt x="184" y="1"/>
                  <a:pt x="198" y="0"/>
                  <a:pt x="212" y="0"/>
                </a:cubicBezTo>
                <a:lnTo>
                  <a:pt x="15400" y="0"/>
                </a:lnTo>
                <a:cubicBezTo>
                  <a:pt x="15414" y="0"/>
                  <a:pt x="15428" y="1"/>
                  <a:pt x="15441" y="4"/>
                </a:cubicBezTo>
                <a:cubicBezTo>
                  <a:pt x="15455" y="7"/>
                  <a:pt x="15468" y="11"/>
                  <a:pt x="15481" y="16"/>
                </a:cubicBezTo>
                <a:cubicBezTo>
                  <a:pt x="15494" y="21"/>
                  <a:pt x="15506" y="28"/>
                  <a:pt x="15517" y="36"/>
                </a:cubicBezTo>
                <a:cubicBezTo>
                  <a:pt x="15529" y="43"/>
                  <a:pt x="15540" y="52"/>
                  <a:pt x="15550" y="62"/>
                </a:cubicBezTo>
                <a:cubicBezTo>
                  <a:pt x="15559" y="72"/>
                  <a:pt x="15568" y="83"/>
                  <a:pt x="15576" y="95"/>
                </a:cubicBezTo>
                <a:cubicBezTo>
                  <a:pt x="15584" y="107"/>
                  <a:pt x="15590" y="119"/>
                  <a:pt x="15595" y="132"/>
                </a:cubicBezTo>
                <a:cubicBezTo>
                  <a:pt x="15601" y="144"/>
                  <a:pt x="15605" y="158"/>
                  <a:pt x="15607" y="171"/>
                </a:cubicBezTo>
                <a:cubicBezTo>
                  <a:pt x="15610" y="185"/>
                  <a:pt x="15612" y="199"/>
                  <a:pt x="15612" y="213"/>
                </a:cubicBezTo>
                <a:lnTo>
                  <a:pt x="15612" y="1800"/>
                </a:lnTo>
                <a:cubicBezTo>
                  <a:pt x="15612" y="1814"/>
                  <a:pt x="15610" y="1828"/>
                  <a:pt x="15607" y="1841"/>
                </a:cubicBezTo>
                <a:cubicBezTo>
                  <a:pt x="15605" y="1855"/>
                  <a:pt x="15601" y="1868"/>
                  <a:pt x="15595" y="1881"/>
                </a:cubicBezTo>
                <a:cubicBezTo>
                  <a:pt x="15590" y="1894"/>
                  <a:pt x="15584" y="1906"/>
                  <a:pt x="15576" y="1918"/>
                </a:cubicBezTo>
                <a:cubicBezTo>
                  <a:pt x="15568" y="1929"/>
                  <a:pt x="15559" y="1940"/>
                  <a:pt x="15550" y="1950"/>
                </a:cubicBezTo>
                <a:cubicBezTo>
                  <a:pt x="15540" y="1960"/>
                  <a:pt x="15529" y="1968"/>
                  <a:pt x="15517" y="1976"/>
                </a:cubicBezTo>
                <a:cubicBezTo>
                  <a:pt x="15506" y="1984"/>
                  <a:pt x="15494" y="1990"/>
                  <a:pt x="15481" y="1996"/>
                </a:cubicBezTo>
                <a:cubicBezTo>
                  <a:pt x="15468" y="2001"/>
                  <a:pt x="15455" y="2005"/>
                  <a:pt x="15441" y="2008"/>
                </a:cubicBezTo>
                <a:cubicBezTo>
                  <a:pt x="15428" y="2010"/>
                  <a:pt x="15414" y="2012"/>
                  <a:pt x="15400" y="2012"/>
                </a:cubicBezTo>
                <a:lnTo>
                  <a:pt x="212" y="2012"/>
                </a:lnTo>
                <a:cubicBezTo>
                  <a:pt x="198" y="2012"/>
                  <a:pt x="184" y="2010"/>
                  <a:pt x="170" y="2008"/>
                </a:cubicBezTo>
                <a:cubicBezTo>
                  <a:pt x="157" y="2005"/>
                  <a:pt x="144" y="2001"/>
                  <a:pt x="131" y="1996"/>
                </a:cubicBezTo>
                <a:cubicBezTo>
                  <a:pt x="118" y="1990"/>
                  <a:pt x="106" y="1984"/>
                  <a:pt x="94" y="1976"/>
                </a:cubicBezTo>
                <a:cubicBezTo>
                  <a:pt x="83" y="1968"/>
                  <a:pt x="72" y="1960"/>
                  <a:pt x="62" y="1950"/>
                </a:cubicBezTo>
                <a:cubicBezTo>
                  <a:pt x="52" y="1940"/>
                  <a:pt x="44" y="1929"/>
                  <a:pt x="36" y="1918"/>
                </a:cubicBezTo>
                <a:cubicBezTo>
                  <a:pt x="28" y="1906"/>
                  <a:pt x="22" y="1894"/>
                  <a:pt x="16" y="1881"/>
                </a:cubicBezTo>
                <a:cubicBezTo>
                  <a:pt x="11" y="1868"/>
                  <a:pt x="7" y="1855"/>
                  <a:pt x="4" y="1841"/>
                </a:cubicBezTo>
                <a:cubicBezTo>
                  <a:pt x="1" y="1828"/>
                  <a:pt x="0" y="1814"/>
                  <a:pt x="0" y="1800"/>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01" name="CuadroTexto 500"/>
          <p:cNvSpPr txBox="1"/>
          <p:nvPr/>
        </p:nvSpPr>
        <p:spPr>
          <a:xfrm>
            <a:off x="8116560" y="1764768"/>
            <a:ext cx="76212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(archivo .java)</a:t>
            </a:r>
            <a:endParaRPr lang="en-US" sz="1050" b="0" u="none" strike="noStrike">
              <a:solidFill>
                <a:srgbClr val="000000"/>
              </a:solidFill>
              <a:effectLst/>
              <a:uFillTx/>
              <a:latin typeface="Times New Roman"/>
            </a:endParaRPr>
          </a:p>
        </p:txBody>
      </p:sp>
      <p:sp>
        <p:nvSpPr>
          <p:cNvPr id="502" name="CuadroTexto 501"/>
          <p:cNvSpPr txBox="1"/>
          <p:nvPr/>
        </p:nvSpPr>
        <p:spPr>
          <a:xfrm>
            <a:off x="8331480" y="2680968"/>
            <a:ext cx="321480" cy="169560"/>
          </a:xfrm>
          <a:prstGeom prst="rect">
            <a:avLst/>
          </a:prstGeom>
          <a:noFill/>
          <a:ln w="0">
            <a:noFill/>
          </a:ln>
        </p:spPr>
        <p:txBody>
          <a:bodyPr wrap="none" lIns="0" tIns="0" rIns="0" bIns="0" anchor="t">
            <a:spAutoFit/>
          </a:bodyPr>
          <a:lstStyle/>
          <a:p>
            <a:r>
              <a:rPr lang="en-US" sz="1200" b="0" u="none" strike="noStrike">
                <a:solidFill>
                  <a:srgbClr val="FFFFFF"/>
                </a:solidFill>
                <a:effectLst/>
                <a:uFillTx/>
                <a:latin typeface="CrimsonPro"/>
                <a:ea typeface="CrimsonPro"/>
              </a:rPr>
              <a:t>Javac</a:t>
            </a:r>
            <a:endParaRPr lang="en-US" sz="1200" b="0" u="none" strike="noStrike">
              <a:solidFill>
                <a:srgbClr val="000000"/>
              </a:solidFill>
              <a:effectLst/>
              <a:uFillTx/>
              <a:latin typeface="Times New Roman"/>
            </a:endParaRPr>
          </a:p>
        </p:txBody>
      </p:sp>
      <p:sp>
        <p:nvSpPr>
          <p:cNvPr id="503" name="Forma libre: forma 502"/>
          <p:cNvSpPr/>
          <p:nvPr/>
        </p:nvSpPr>
        <p:spPr>
          <a:xfrm>
            <a:off x="8420040" y="3379368"/>
            <a:ext cx="152640" cy="114840"/>
          </a:xfrm>
          <a:custGeom>
            <a:avLst/>
            <a:gdLst/>
            <a:ahLst/>
            <a:cxnLst/>
            <a:rect l="0" t="0" r="r" b="b"/>
            <a:pathLst>
              <a:path w="424" h="319">
                <a:moveTo>
                  <a:pt x="0" y="0"/>
                </a:moveTo>
                <a:lnTo>
                  <a:pt x="212" y="319"/>
                </a:lnTo>
                <a:lnTo>
                  <a:pt x="424" y="0"/>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04" name="Forma libre: forma 503"/>
          <p:cNvSpPr/>
          <p:nvPr/>
        </p:nvSpPr>
        <p:spPr>
          <a:xfrm>
            <a:off x="5686200" y="3646128"/>
            <a:ext cx="5620320" cy="724320"/>
          </a:xfrm>
          <a:custGeom>
            <a:avLst/>
            <a:gdLst/>
            <a:ahLst/>
            <a:cxnLst/>
            <a:rect l="0" t="0" r="r" b="b"/>
            <a:pathLst>
              <a:path w="15612" h="2012">
                <a:moveTo>
                  <a:pt x="0" y="1800"/>
                </a:moveTo>
                <a:lnTo>
                  <a:pt x="0" y="212"/>
                </a:lnTo>
                <a:cubicBezTo>
                  <a:pt x="0" y="198"/>
                  <a:pt x="1" y="184"/>
                  <a:pt x="4" y="170"/>
                </a:cubicBezTo>
                <a:cubicBezTo>
                  <a:pt x="7" y="157"/>
                  <a:pt x="11" y="143"/>
                  <a:pt x="16" y="131"/>
                </a:cubicBezTo>
                <a:cubicBezTo>
                  <a:pt x="22" y="118"/>
                  <a:pt x="28" y="106"/>
                  <a:pt x="36" y="94"/>
                </a:cubicBezTo>
                <a:cubicBezTo>
                  <a:pt x="44" y="82"/>
                  <a:pt x="52" y="72"/>
                  <a:pt x="62" y="62"/>
                </a:cubicBezTo>
                <a:cubicBezTo>
                  <a:pt x="72" y="52"/>
                  <a:pt x="83" y="43"/>
                  <a:pt x="94" y="36"/>
                </a:cubicBezTo>
                <a:cubicBezTo>
                  <a:pt x="106" y="28"/>
                  <a:pt x="118" y="21"/>
                  <a:pt x="131" y="16"/>
                </a:cubicBezTo>
                <a:cubicBezTo>
                  <a:pt x="144" y="11"/>
                  <a:pt x="157" y="7"/>
                  <a:pt x="170" y="4"/>
                </a:cubicBezTo>
                <a:cubicBezTo>
                  <a:pt x="184" y="1"/>
                  <a:pt x="198" y="0"/>
                  <a:pt x="212" y="0"/>
                </a:cubicBezTo>
                <a:lnTo>
                  <a:pt x="15400" y="0"/>
                </a:lnTo>
                <a:cubicBezTo>
                  <a:pt x="15414" y="0"/>
                  <a:pt x="15428" y="1"/>
                  <a:pt x="15441" y="4"/>
                </a:cubicBezTo>
                <a:cubicBezTo>
                  <a:pt x="15455" y="7"/>
                  <a:pt x="15468" y="11"/>
                  <a:pt x="15481" y="16"/>
                </a:cubicBezTo>
                <a:cubicBezTo>
                  <a:pt x="15494" y="21"/>
                  <a:pt x="15506" y="28"/>
                  <a:pt x="15517" y="36"/>
                </a:cubicBezTo>
                <a:cubicBezTo>
                  <a:pt x="15529" y="43"/>
                  <a:pt x="15540" y="52"/>
                  <a:pt x="15550" y="62"/>
                </a:cubicBezTo>
                <a:cubicBezTo>
                  <a:pt x="15559" y="72"/>
                  <a:pt x="15568" y="82"/>
                  <a:pt x="15576" y="94"/>
                </a:cubicBezTo>
                <a:cubicBezTo>
                  <a:pt x="15584" y="106"/>
                  <a:pt x="15590" y="118"/>
                  <a:pt x="15595" y="131"/>
                </a:cubicBezTo>
                <a:cubicBezTo>
                  <a:pt x="15601" y="143"/>
                  <a:pt x="15605" y="157"/>
                  <a:pt x="15607" y="170"/>
                </a:cubicBezTo>
                <a:cubicBezTo>
                  <a:pt x="15610" y="184"/>
                  <a:pt x="15612" y="198"/>
                  <a:pt x="15612" y="212"/>
                </a:cubicBezTo>
                <a:lnTo>
                  <a:pt x="15612" y="1800"/>
                </a:lnTo>
                <a:cubicBezTo>
                  <a:pt x="15612" y="1814"/>
                  <a:pt x="15610" y="1828"/>
                  <a:pt x="15607" y="1841"/>
                </a:cubicBezTo>
                <a:cubicBezTo>
                  <a:pt x="15605" y="1855"/>
                  <a:pt x="15601" y="1868"/>
                  <a:pt x="15595" y="1881"/>
                </a:cubicBezTo>
                <a:cubicBezTo>
                  <a:pt x="15590" y="1894"/>
                  <a:pt x="15584" y="1906"/>
                  <a:pt x="15576" y="1918"/>
                </a:cubicBezTo>
                <a:cubicBezTo>
                  <a:pt x="15568" y="1929"/>
                  <a:pt x="15559" y="1940"/>
                  <a:pt x="15550" y="1950"/>
                </a:cubicBezTo>
                <a:cubicBezTo>
                  <a:pt x="15540" y="1960"/>
                  <a:pt x="15529" y="1968"/>
                  <a:pt x="15517" y="1976"/>
                </a:cubicBezTo>
                <a:cubicBezTo>
                  <a:pt x="15506" y="1984"/>
                  <a:pt x="15494" y="1990"/>
                  <a:pt x="15481" y="1996"/>
                </a:cubicBezTo>
                <a:cubicBezTo>
                  <a:pt x="15468" y="2001"/>
                  <a:pt x="15455" y="2005"/>
                  <a:pt x="15441" y="2008"/>
                </a:cubicBezTo>
                <a:cubicBezTo>
                  <a:pt x="15428" y="2010"/>
                  <a:pt x="15414" y="2012"/>
                  <a:pt x="15400" y="2012"/>
                </a:cubicBezTo>
                <a:lnTo>
                  <a:pt x="212" y="2012"/>
                </a:lnTo>
                <a:cubicBezTo>
                  <a:pt x="198" y="2012"/>
                  <a:pt x="184" y="2010"/>
                  <a:pt x="170" y="2008"/>
                </a:cubicBezTo>
                <a:cubicBezTo>
                  <a:pt x="157" y="2005"/>
                  <a:pt x="144" y="2001"/>
                  <a:pt x="131" y="1996"/>
                </a:cubicBezTo>
                <a:cubicBezTo>
                  <a:pt x="118" y="1990"/>
                  <a:pt x="106" y="1984"/>
                  <a:pt x="94" y="1976"/>
                </a:cubicBezTo>
                <a:cubicBezTo>
                  <a:pt x="83" y="1968"/>
                  <a:pt x="72" y="1960"/>
                  <a:pt x="62" y="1950"/>
                </a:cubicBezTo>
                <a:cubicBezTo>
                  <a:pt x="52" y="1940"/>
                  <a:pt x="44" y="1929"/>
                  <a:pt x="36" y="1918"/>
                </a:cubicBezTo>
                <a:cubicBezTo>
                  <a:pt x="28" y="1906"/>
                  <a:pt x="22" y="1894"/>
                  <a:pt x="16" y="1881"/>
                </a:cubicBezTo>
                <a:cubicBezTo>
                  <a:pt x="11" y="1868"/>
                  <a:pt x="7" y="1855"/>
                  <a:pt x="4" y="1841"/>
                </a:cubicBezTo>
                <a:cubicBezTo>
                  <a:pt x="1" y="1828"/>
                  <a:pt x="0" y="1814"/>
                  <a:pt x="0" y="180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05" name="CuadroTexto 504"/>
          <p:cNvSpPr txBox="1"/>
          <p:nvPr/>
        </p:nvSpPr>
        <p:spPr>
          <a:xfrm>
            <a:off x="7930800" y="2907768"/>
            <a:ext cx="1129320" cy="148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CrimsonPro"/>
                <a:ea typeface="CrimsonPro"/>
              </a:rPr>
              <a:t>(Compilador de Java)</a:t>
            </a:r>
            <a:endParaRPr lang="en-US" sz="1050" b="0" u="none" strike="noStrike">
              <a:solidFill>
                <a:srgbClr val="000000"/>
              </a:solidFill>
              <a:effectLst/>
              <a:uFillTx/>
              <a:latin typeface="Times New Roman"/>
            </a:endParaRPr>
          </a:p>
        </p:txBody>
      </p:sp>
      <p:sp>
        <p:nvSpPr>
          <p:cNvPr id="506" name="CuadroTexto 505"/>
          <p:cNvSpPr txBox="1"/>
          <p:nvPr/>
        </p:nvSpPr>
        <p:spPr>
          <a:xfrm>
            <a:off x="8180640" y="3823968"/>
            <a:ext cx="61308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Byte Code</a:t>
            </a:r>
            <a:endParaRPr lang="en-US" sz="1200" b="0" u="none" strike="noStrike">
              <a:solidFill>
                <a:srgbClr val="000000"/>
              </a:solidFill>
              <a:effectLst/>
              <a:uFillTx/>
              <a:latin typeface="Times New Roman"/>
            </a:endParaRPr>
          </a:p>
        </p:txBody>
      </p:sp>
      <p:sp>
        <p:nvSpPr>
          <p:cNvPr id="507" name="Forma libre: forma 506"/>
          <p:cNvSpPr/>
          <p:nvPr/>
        </p:nvSpPr>
        <p:spPr>
          <a:xfrm>
            <a:off x="8420040" y="4522368"/>
            <a:ext cx="152640" cy="114840"/>
          </a:xfrm>
          <a:custGeom>
            <a:avLst/>
            <a:gdLst/>
            <a:ahLst/>
            <a:cxnLst/>
            <a:rect l="0" t="0" r="r" b="b"/>
            <a:pathLst>
              <a:path w="424" h="319">
                <a:moveTo>
                  <a:pt x="0" y="0"/>
                </a:moveTo>
                <a:lnTo>
                  <a:pt x="212" y="319"/>
                </a:lnTo>
                <a:lnTo>
                  <a:pt x="424" y="0"/>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08" name="Forma libre: forma 507"/>
          <p:cNvSpPr/>
          <p:nvPr/>
        </p:nvSpPr>
        <p:spPr>
          <a:xfrm>
            <a:off x="5686200" y="4789128"/>
            <a:ext cx="5620320" cy="457560"/>
          </a:xfrm>
          <a:custGeom>
            <a:avLst/>
            <a:gdLst/>
            <a:ahLst/>
            <a:cxnLst/>
            <a:rect l="0" t="0" r="r" b="b"/>
            <a:pathLst>
              <a:path w="15612" h="1271">
                <a:moveTo>
                  <a:pt x="0" y="1059"/>
                </a:moveTo>
                <a:lnTo>
                  <a:pt x="0" y="212"/>
                </a:lnTo>
                <a:cubicBezTo>
                  <a:pt x="0" y="198"/>
                  <a:pt x="1" y="184"/>
                  <a:pt x="4" y="170"/>
                </a:cubicBezTo>
                <a:cubicBezTo>
                  <a:pt x="7" y="157"/>
                  <a:pt x="11" y="143"/>
                  <a:pt x="16" y="131"/>
                </a:cubicBezTo>
                <a:cubicBezTo>
                  <a:pt x="22" y="118"/>
                  <a:pt x="28" y="105"/>
                  <a:pt x="36" y="94"/>
                </a:cubicBezTo>
                <a:cubicBezTo>
                  <a:pt x="44" y="82"/>
                  <a:pt x="52" y="72"/>
                  <a:pt x="62" y="62"/>
                </a:cubicBezTo>
                <a:cubicBezTo>
                  <a:pt x="72" y="52"/>
                  <a:pt x="83" y="43"/>
                  <a:pt x="94" y="36"/>
                </a:cubicBezTo>
                <a:cubicBezTo>
                  <a:pt x="106" y="28"/>
                  <a:pt x="118" y="21"/>
                  <a:pt x="131" y="16"/>
                </a:cubicBezTo>
                <a:cubicBezTo>
                  <a:pt x="144" y="11"/>
                  <a:pt x="157" y="7"/>
                  <a:pt x="170" y="4"/>
                </a:cubicBezTo>
                <a:cubicBezTo>
                  <a:pt x="184" y="1"/>
                  <a:pt x="198" y="0"/>
                  <a:pt x="212" y="0"/>
                </a:cubicBezTo>
                <a:lnTo>
                  <a:pt x="15400" y="0"/>
                </a:lnTo>
                <a:cubicBezTo>
                  <a:pt x="15414" y="0"/>
                  <a:pt x="15428" y="1"/>
                  <a:pt x="15441" y="4"/>
                </a:cubicBezTo>
                <a:cubicBezTo>
                  <a:pt x="15455" y="7"/>
                  <a:pt x="15468" y="11"/>
                  <a:pt x="15481" y="16"/>
                </a:cubicBezTo>
                <a:cubicBezTo>
                  <a:pt x="15494" y="21"/>
                  <a:pt x="15506" y="28"/>
                  <a:pt x="15517" y="36"/>
                </a:cubicBezTo>
                <a:cubicBezTo>
                  <a:pt x="15529" y="43"/>
                  <a:pt x="15540" y="52"/>
                  <a:pt x="15550" y="62"/>
                </a:cubicBezTo>
                <a:cubicBezTo>
                  <a:pt x="15559" y="72"/>
                  <a:pt x="15568" y="82"/>
                  <a:pt x="15576" y="94"/>
                </a:cubicBezTo>
                <a:cubicBezTo>
                  <a:pt x="15584" y="105"/>
                  <a:pt x="15590" y="118"/>
                  <a:pt x="15595" y="131"/>
                </a:cubicBezTo>
                <a:cubicBezTo>
                  <a:pt x="15601" y="143"/>
                  <a:pt x="15605" y="157"/>
                  <a:pt x="15607" y="170"/>
                </a:cubicBezTo>
                <a:cubicBezTo>
                  <a:pt x="15610" y="184"/>
                  <a:pt x="15612" y="198"/>
                  <a:pt x="15612" y="212"/>
                </a:cubicBezTo>
                <a:lnTo>
                  <a:pt x="15612" y="1059"/>
                </a:lnTo>
                <a:cubicBezTo>
                  <a:pt x="15612" y="1073"/>
                  <a:pt x="15610" y="1087"/>
                  <a:pt x="15607" y="1101"/>
                </a:cubicBezTo>
                <a:cubicBezTo>
                  <a:pt x="15605" y="1114"/>
                  <a:pt x="15601" y="1127"/>
                  <a:pt x="15595" y="1140"/>
                </a:cubicBezTo>
                <a:cubicBezTo>
                  <a:pt x="15590" y="1153"/>
                  <a:pt x="15584" y="1165"/>
                  <a:pt x="15576" y="1177"/>
                </a:cubicBezTo>
                <a:cubicBezTo>
                  <a:pt x="15568" y="1188"/>
                  <a:pt x="15559" y="1199"/>
                  <a:pt x="15550" y="1209"/>
                </a:cubicBezTo>
                <a:cubicBezTo>
                  <a:pt x="15540" y="1219"/>
                  <a:pt x="15529" y="1227"/>
                  <a:pt x="15517" y="1235"/>
                </a:cubicBezTo>
                <a:cubicBezTo>
                  <a:pt x="15506" y="1243"/>
                  <a:pt x="15494" y="1249"/>
                  <a:pt x="15481" y="1255"/>
                </a:cubicBezTo>
                <a:cubicBezTo>
                  <a:pt x="15468" y="1260"/>
                  <a:pt x="15455" y="1264"/>
                  <a:pt x="15441" y="1267"/>
                </a:cubicBezTo>
                <a:cubicBezTo>
                  <a:pt x="15428" y="1270"/>
                  <a:pt x="15414" y="1271"/>
                  <a:pt x="15400" y="1271"/>
                </a:cubicBezTo>
                <a:lnTo>
                  <a:pt x="212" y="1271"/>
                </a:lnTo>
                <a:cubicBezTo>
                  <a:pt x="198" y="1271"/>
                  <a:pt x="184" y="1270"/>
                  <a:pt x="170" y="1267"/>
                </a:cubicBezTo>
                <a:cubicBezTo>
                  <a:pt x="157" y="1264"/>
                  <a:pt x="144" y="1260"/>
                  <a:pt x="131" y="1255"/>
                </a:cubicBezTo>
                <a:cubicBezTo>
                  <a:pt x="118" y="1249"/>
                  <a:pt x="106" y="1243"/>
                  <a:pt x="94" y="1235"/>
                </a:cubicBezTo>
                <a:cubicBezTo>
                  <a:pt x="83" y="1227"/>
                  <a:pt x="72" y="1219"/>
                  <a:pt x="62" y="1209"/>
                </a:cubicBezTo>
                <a:cubicBezTo>
                  <a:pt x="52" y="1199"/>
                  <a:pt x="44" y="1188"/>
                  <a:pt x="36" y="1177"/>
                </a:cubicBezTo>
                <a:cubicBezTo>
                  <a:pt x="28" y="1165"/>
                  <a:pt x="22" y="1153"/>
                  <a:pt x="16" y="1140"/>
                </a:cubicBezTo>
                <a:cubicBezTo>
                  <a:pt x="11" y="1127"/>
                  <a:pt x="7" y="1114"/>
                  <a:pt x="4" y="1101"/>
                </a:cubicBezTo>
                <a:cubicBezTo>
                  <a:pt x="1" y="1087"/>
                  <a:pt x="0" y="1073"/>
                  <a:pt x="0" y="1059"/>
                </a:cubicBez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09" name="CuadroTexto 508"/>
          <p:cNvSpPr txBox="1"/>
          <p:nvPr/>
        </p:nvSpPr>
        <p:spPr>
          <a:xfrm>
            <a:off x="8071560" y="4050768"/>
            <a:ext cx="85284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(archivos .class)</a:t>
            </a:r>
            <a:endParaRPr lang="en-US" sz="1050" b="0" u="none" strike="noStrike">
              <a:solidFill>
                <a:srgbClr val="000000"/>
              </a:solidFill>
              <a:effectLst/>
              <a:uFillTx/>
              <a:latin typeface="Times New Roman"/>
            </a:endParaRPr>
          </a:p>
        </p:txBody>
      </p:sp>
      <p:sp>
        <p:nvSpPr>
          <p:cNvPr id="510" name="Forma libre: forma 509"/>
          <p:cNvSpPr/>
          <p:nvPr/>
        </p:nvSpPr>
        <p:spPr>
          <a:xfrm>
            <a:off x="8420040" y="5398608"/>
            <a:ext cx="152640" cy="114840"/>
          </a:xfrm>
          <a:custGeom>
            <a:avLst/>
            <a:gdLst/>
            <a:ahLst/>
            <a:cxnLst/>
            <a:rect l="0" t="0" r="r" b="b"/>
            <a:pathLst>
              <a:path w="424" h="319">
                <a:moveTo>
                  <a:pt x="0" y="0"/>
                </a:moveTo>
                <a:lnTo>
                  <a:pt x="212" y="319"/>
                </a:lnTo>
                <a:lnTo>
                  <a:pt x="424" y="0"/>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11" name="Forma libre: forma 510"/>
          <p:cNvSpPr/>
          <p:nvPr/>
        </p:nvSpPr>
        <p:spPr>
          <a:xfrm>
            <a:off x="5686200" y="5665368"/>
            <a:ext cx="1819800" cy="419400"/>
          </a:xfrm>
          <a:custGeom>
            <a:avLst/>
            <a:gdLst/>
            <a:ahLst/>
            <a:cxnLst/>
            <a:rect l="0" t="0" r="r" b="b"/>
            <a:pathLst>
              <a:path w="5055" h="1165">
                <a:moveTo>
                  <a:pt x="0" y="954"/>
                </a:moveTo>
                <a:lnTo>
                  <a:pt x="0" y="212"/>
                </a:lnTo>
                <a:cubicBezTo>
                  <a:pt x="0" y="198"/>
                  <a:pt x="1" y="184"/>
                  <a:pt x="4" y="170"/>
                </a:cubicBezTo>
                <a:cubicBezTo>
                  <a:pt x="7" y="157"/>
                  <a:pt x="11" y="144"/>
                  <a:pt x="16" y="131"/>
                </a:cubicBezTo>
                <a:cubicBezTo>
                  <a:pt x="22" y="118"/>
                  <a:pt x="28" y="106"/>
                  <a:pt x="36" y="94"/>
                </a:cubicBezTo>
                <a:cubicBezTo>
                  <a:pt x="44" y="83"/>
                  <a:pt x="52" y="72"/>
                  <a:pt x="62" y="62"/>
                </a:cubicBezTo>
                <a:cubicBezTo>
                  <a:pt x="72" y="52"/>
                  <a:pt x="83" y="43"/>
                  <a:pt x="94" y="36"/>
                </a:cubicBezTo>
                <a:cubicBezTo>
                  <a:pt x="106" y="28"/>
                  <a:pt x="118" y="21"/>
                  <a:pt x="131" y="16"/>
                </a:cubicBezTo>
                <a:cubicBezTo>
                  <a:pt x="144" y="11"/>
                  <a:pt x="157" y="7"/>
                  <a:pt x="170" y="4"/>
                </a:cubicBezTo>
                <a:cubicBezTo>
                  <a:pt x="184" y="1"/>
                  <a:pt x="198" y="0"/>
                  <a:pt x="212" y="0"/>
                </a:cubicBezTo>
                <a:lnTo>
                  <a:pt x="4843" y="0"/>
                </a:lnTo>
                <a:cubicBezTo>
                  <a:pt x="4857" y="0"/>
                  <a:pt x="4871" y="1"/>
                  <a:pt x="4884" y="4"/>
                </a:cubicBezTo>
                <a:cubicBezTo>
                  <a:pt x="4898" y="7"/>
                  <a:pt x="4911" y="11"/>
                  <a:pt x="4924" y="16"/>
                </a:cubicBezTo>
                <a:cubicBezTo>
                  <a:pt x="4937" y="21"/>
                  <a:pt x="4949" y="28"/>
                  <a:pt x="4961" y="36"/>
                </a:cubicBezTo>
                <a:cubicBezTo>
                  <a:pt x="4972" y="43"/>
                  <a:pt x="4983" y="52"/>
                  <a:pt x="4993" y="62"/>
                </a:cubicBezTo>
                <a:cubicBezTo>
                  <a:pt x="5002" y="72"/>
                  <a:pt x="5011" y="83"/>
                  <a:pt x="5019" y="94"/>
                </a:cubicBezTo>
                <a:cubicBezTo>
                  <a:pt x="5027" y="106"/>
                  <a:pt x="5033" y="118"/>
                  <a:pt x="5039" y="131"/>
                </a:cubicBezTo>
                <a:cubicBezTo>
                  <a:pt x="5044" y="144"/>
                  <a:pt x="5048" y="157"/>
                  <a:pt x="5051" y="170"/>
                </a:cubicBezTo>
                <a:cubicBezTo>
                  <a:pt x="5053" y="184"/>
                  <a:pt x="5055" y="198"/>
                  <a:pt x="5055" y="212"/>
                </a:cubicBezTo>
                <a:lnTo>
                  <a:pt x="5055" y="954"/>
                </a:lnTo>
                <a:cubicBezTo>
                  <a:pt x="5055" y="967"/>
                  <a:pt x="5053" y="981"/>
                  <a:pt x="5051" y="995"/>
                </a:cubicBezTo>
                <a:cubicBezTo>
                  <a:pt x="5048" y="1008"/>
                  <a:pt x="5044" y="1022"/>
                  <a:pt x="5039" y="1035"/>
                </a:cubicBezTo>
                <a:cubicBezTo>
                  <a:pt x="5033" y="1047"/>
                  <a:pt x="5027" y="1060"/>
                  <a:pt x="5019" y="1071"/>
                </a:cubicBezTo>
                <a:cubicBezTo>
                  <a:pt x="5011" y="1083"/>
                  <a:pt x="5002" y="1093"/>
                  <a:pt x="4993" y="1103"/>
                </a:cubicBezTo>
                <a:cubicBezTo>
                  <a:pt x="4983" y="1113"/>
                  <a:pt x="4972" y="1122"/>
                  <a:pt x="4961" y="1130"/>
                </a:cubicBezTo>
                <a:cubicBezTo>
                  <a:pt x="4949" y="1137"/>
                  <a:pt x="4937" y="1144"/>
                  <a:pt x="4924" y="1149"/>
                </a:cubicBezTo>
                <a:cubicBezTo>
                  <a:pt x="4911" y="1154"/>
                  <a:pt x="4898" y="1158"/>
                  <a:pt x="4884" y="1161"/>
                </a:cubicBezTo>
                <a:cubicBezTo>
                  <a:pt x="4871" y="1164"/>
                  <a:pt x="4857" y="1165"/>
                  <a:pt x="4843" y="1165"/>
                </a:cubicBezTo>
                <a:lnTo>
                  <a:pt x="212" y="1165"/>
                </a:lnTo>
                <a:cubicBezTo>
                  <a:pt x="198" y="1165"/>
                  <a:pt x="184" y="1164"/>
                  <a:pt x="170" y="1161"/>
                </a:cubicBezTo>
                <a:cubicBezTo>
                  <a:pt x="157" y="1158"/>
                  <a:pt x="144" y="1154"/>
                  <a:pt x="131" y="1149"/>
                </a:cubicBezTo>
                <a:cubicBezTo>
                  <a:pt x="118" y="1144"/>
                  <a:pt x="106" y="1137"/>
                  <a:pt x="94" y="1130"/>
                </a:cubicBezTo>
                <a:cubicBezTo>
                  <a:pt x="83" y="1122"/>
                  <a:pt x="72" y="1113"/>
                  <a:pt x="62" y="1103"/>
                </a:cubicBezTo>
                <a:cubicBezTo>
                  <a:pt x="52" y="1093"/>
                  <a:pt x="44" y="1083"/>
                  <a:pt x="36" y="1071"/>
                </a:cubicBezTo>
                <a:cubicBezTo>
                  <a:pt x="28" y="1060"/>
                  <a:pt x="22" y="1047"/>
                  <a:pt x="16" y="1035"/>
                </a:cubicBezTo>
                <a:cubicBezTo>
                  <a:pt x="11" y="1022"/>
                  <a:pt x="7" y="1008"/>
                  <a:pt x="4" y="995"/>
                </a:cubicBezTo>
                <a:cubicBezTo>
                  <a:pt x="1" y="981"/>
                  <a:pt x="0" y="967"/>
                  <a:pt x="0" y="954"/>
                </a:cubicBezTo>
                <a:close/>
              </a:path>
            </a:pathLst>
          </a:custGeom>
          <a:solidFill>
            <a:srgbClr val="B8C5B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12" name="CuadroTexto 511"/>
          <p:cNvSpPr txBox="1"/>
          <p:nvPr/>
        </p:nvSpPr>
        <p:spPr>
          <a:xfrm>
            <a:off x="8362440" y="4928808"/>
            <a:ext cx="260280" cy="169560"/>
          </a:xfrm>
          <a:prstGeom prst="rect">
            <a:avLst/>
          </a:prstGeom>
          <a:noFill/>
          <a:ln w="0">
            <a:noFill/>
          </a:ln>
        </p:spPr>
        <p:txBody>
          <a:bodyPr wrap="none" lIns="0" tIns="0" rIns="0" bIns="0" anchor="t">
            <a:spAutoFit/>
          </a:bodyPr>
          <a:lstStyle/>
          <a:p>
            <a:r>
              <a:rPr lang="en-US" sz="1200" b="0" u="none" strike="noStrike">
                <a:solidFill>
                  <a:srgbClr val="FFFFFF"/>
                </a:solidFill>
                <a:effectLst/>
                <a:uFillTx/>
                <a:latin typeface="CrimsonPro"/>
                <a:ea typeface="CrimsonPro"/>
              </a:rPr>
              <a:t>JVM</a:t>
            </a:r>
            <a:endParaRPr lang="en-US" sz="1200" b="0" u="none" strike="noStrike">
              <a:solidFill>
                <a:srgbClr val="000000"/>
              </a:solidFill>
              <a:effectLst/>
              <a:uFillTx/>
              <a:latin typeface="Times New Roman"/>
            </a:endParaRPr>
          </a:p>
        </p:txBody>
      </p:sp>
      <p:sp>
        <p:nvSpPr>
          <p:cNvPr id="513" name="Forma libre: forma 512"/>
          <p:cNvSpPr/>
          <p:nvPr/>
        </p:nvSpPr>
        <p:spPr>
          <a:xfrm>
            <a:off x="7581600" y="5665368"/>
            <a:ext cx="1829160" cy="419400"/>
          </a:xfrm>
          <a:custGeom>
            <a:avLst/>
            <a:gdLst/>
            <a:ahLst/>
            <a:cxnLst/>
            <a:rect l="0" t="0" r="r" b="b"/>
            <a:pathLst>
              <a:path w="5081" h="1165">
                <a:moveTo>
                  <a:pt x="0" y="954"/>
                </a:moveTo>
                <a:lnTo>
                  <a:pt x="0" y="212"/>
                </a:lnTo>
                <a:cubicBezTo>
                  <a:pt x="0" y="198"/>
                  <a:pt x="2" y="184"/>
                  <a:pt x="4" y="170"/>
                </a:cubicBezTo>
                <a:cubicBezTo>
                  <a:pt x="7" y="157"/>
                  <a:pt x="11" y="144"/>
                  <a:pt x="16" y="131"/>
                </a:cubicBezTo>
                <a:cubicBezTo>
                  <a:pt x="22" y="118"/>
                  <a:pt x="28" y="106"/>
                  <a:pt x="36" y="94"/>
                </a:cubicBezTo>
                <a:cubicBezTo>
                  <a:pt x="44" y="83"/>
                  <a:pt x="52" y="72"/>
                  <a:pt x="62" y="62"/>
                </a:cubicBezTo>
                <a:cubicBezTo>
                  <a:pt x="72" y="52"/>
                  <a:pt x="83" y="43"/>
                  <a:pt x="94" y="36"/>
                </a:cubicBezTo>
                <a:cubicBezTo>
                  <a:pt x="106" y="28"/>
                  <a:pt x="118" y="21"/>
                  <a:pt x="131" y="16"/>
                </a:cubicBezTo>
                <a:cubicBezTo>
                  <a:pt x="144" y="11"/>
                  <a:pt x="157" y="7"/>
                  <a:pt x="171" y="4"/>
                </a:cubicBezTo>
                <a:cubicBezTo>
                  <a:pt x="184" y="1"/>
                  <a:pt x="198" y="0"/>
                  <a:pt x="212" y="0"/>
                </a:cubicBezTo>
                <a:lnTo>
                  <a:pt x="4870" y="0"/>
                </a:lnTo>
                <a:cubicBezTo>
                  <a:pt x="4884" y="0"/>
                  <a:pt x="4897" y="1"/>
                  <a:pt x="4911" y="4"/>
                </a:cubicBezTo>
                <a:cubicBezTo>
                  <a:pt x="4925" y="7"/>
                  <a:pt x="4938" y="11"/>
                  <a:pt x="4951" y="16"/>
                </a:cubicBezTo>
                <a:cubicBezTo>
                  <a:pt x="4964" y="21"/>
                  <a:pt x="4976" y="28"/>
                  <a:pt x="4987" y="36"/>
                </a:cubicBezTo>
                <a:cubicBezTo>
                  <a:pt x="4999" y="43"/>
                  <a:pt x="5010" y="52"/>
                  <a:pt x="5019" y="62"/>
                </a:cubicBezTo>
                <a:cubicBezTo>
                  <a:pt x="5029" y="72"/>
                  <a:pt x="5038" y="83"/>
                  <a:pt x="5046" y="94"/>
                </a:cubicBezTo>
                <a:cubicBezTo>
                  <a:pt x="5053" y="106"/>
                  <a:pt x="5060" y="118"/>
                  <a:pt x="5065" y="131"/>
                </a:cubicBezTo>
                <a:cubicBezTo>
                  <a:pt x="5071" y="144"/>
                  <a:pt x="5075" y="157"/>
                  <a:pt x="5077" y="170"/>
                </a:cubicBezTo>
                <a:cubicBezTo>
                  <a:pt x="5080" y="184"/>
                  <a:pt x="5081" y="198"/>
                  <a:pt x="5081" y="212"/>
                </a:cubicBezTo>
                <a:lnTo>
                  <a:pt x="5081" y="954"/>
                </a:lnTo>
                <a:cubicBezTo>
                  <a:pt x="5081" y="967"/>
                  <a:pt x="5080" y="981"/>
                  <a:pt x="5077" y="995"/>
                </a:cubicBezTo>
                <a:cubicBezTo>
                  <a:pt x="5075" y="1008"/>
                  <a:pt x="5071" y="1022"/>
                  <a:pt x="5065" y="1035"/>
                </a:cubicBezTo>
                <a:cubicBezTo>
                  <a:pt x="5060" y="1047"/>
                  <a:pt x="5053" y="1060"/>
                  <a:pt x="5046" y="1071"/>
                </a:cubicBezTo>
                <a:cubicBezTo>
                  <a:pt x="5038" y="1083"/>
                  <a:pt x="5029" y="1093"/>
                  <a:pt x="5019" y="1103"/>
                </a:cubicBezTo>
                <a:cubicBezTo>
                  <a:pt x="5010" y="1113"/>
                  <a:pt x="4999" y="1122"/>
                  <a:pt x="4987" y="1130"/>
                </a:cubicBezTo>
                <a:cubicBezTo>
                  <a:pt x="4976" y="1137"/>
                  <a:pt x="4964" y="1144"/>
                  <a:pt x="4951" y="1149"/>
                </a:cubicBezTo>
                <a:cubicBezTo>
                  <a:pt x="4938" y="1154"/>
                  <a:pt x="4925" y="1158"/>
                  <a:pt x="4911" y="1161"/>
                </a:cubicBezTo>
                <a:cubicBezTo>
                  <a:pt x="4897" y="1164"/>
                  <a:pt x="4884" y="1165"/>
                  <a:pt x="4870" y="1165"/>
                </a:cubicBezTo>
                <a:lnTo>
                  <a:pt x="212" y="1165"/>
                </a:lnTo>
                <a:cubicBezTo>
                  <a:pt x="198" y="1165"/>
                  <a:pt x="184" y="1164"/>
                  <a:pt x="171" y="1161"/>
                </a:cubicBezTo>
                <a:cubicBezTo>
                  <a:pt x="157" y="1158"/>
                  <a:pt x="144" y="1154"/>
                  <a:pt x="131" y="1149"/>
                </a:cubicBezTo>
                <a:cubicBezTo>
                  <a:pt x="118" y="1144"/>
                  <a:pt x="106" y="1137"/>
                  <a:pt x="94" y="1130"/>
                </a:cubicBezTo>
                <a:cubicBezTo>
                  <a:pt x="83" y="1122"/>
                  <a:pt x="72" y="1113"/>
                  <a:pt x="62" y="1103"/>
                </a:cubicBezTo>
                <a:cubicBezTo>
                  <a:pt x="52" y="1093"/>
                  <a:pt x="44" y="1083"/>
                  <a:pt x="36" y="1071"/>
                </a:cubicBezTo>
                <a:cubicBezTo>
                  <a:pt x="28" y="1060"/>
                  <a:pt x="22" y="1047"/>
                  <a:pt x="16" y="1035"/>
                </a:cubicBezTo>
                <a:cubicBezTo>
                  <a:pt x="11" y="1022"/>
                  <a:pt x="7" y="1008"/>
                  <a:pt x="4" y="995"/>
                </a:cubicBezTo>
                <a:cubicBezTo>
                  <a:pt x="2" y="981"/>
                  <a:pt x="0" y="967"/>
                  <a:pt x="0" y="954"/>
                </a:cubicBezTo>
                <a:close/>
              </a:path>
            </a:pathLst>
          </a:custGeom>
          <a:solidFill>
            <a:srgbClr val="B8C5B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14" name="CuadroTexto 513"/>
          <p:cNvSpPr txBox="1"/>
          <p:nvPr/>
        </p:nvSpPr>
        <p:spPr>
          <a:xfrm>
            <a:off x="6332760" y="5803248"/>
            <a:ext cx="513720" cy="148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CrimsonPro"/>
                <a:ea typeface="CrimsonPro"/>
              </a:rPr>
              <a:t>Windows</a:t>
            </a:r>
            <a:endParaRPr lang="en-US" sz="1050" b="0" u="none" strike="noStrike">
              <a:solidFill>
                <a:srgbClr val="000000"/>
              </a:solidFill>
              <a:effectLst/>
              <a:uFillTx/>
              <a:latin typeface="Times New Roman"/>
            </a:endParaRPr>
          </a:p>
        </p:txBody>
      </p:sp>
      <p:sp>
        <p:nvSpPr>
          <p:cNvPr id="515" name="Forma libre: forma 514"/>
          <p:cNvSpPr/>
          <p:nvPr/>
        </p:nvSpPr>
        <p:spPr>
          <a:xfrm>
            <a:off x="9486720" y="5665368"/>
            <a:ext cx="1819800" cy="419400"/>
          </a:xfrm>
          <a:custGeom>
            <a:avLst/>
            <a:gdLst/>
            <a:ahLst/>
            <a:cxnLst/>
            <a:rect l="0" t="0" r="r" b="b"/>
            <a:pathLst>
              <a:path w="5055" h="1165">
                <a:moveTo>
                  <a:pt x="0" y="954"/>
                </a:moveTo>
                <a:lnTo>
                  <a:pt x="0" y="212"/>
                </a:lnTo>
                <a:cubicBezTo>
                  <a:pt x="0" y="198"/>
                  <a:pt x="1" y="184"/>
                  <a:pt x="4" y="170"/>
                </a:cubicBezTo>
                <a:cubicBezTo>
                  <a:pt x="7" y="157"/>
                  <a:pt x="11" y="144"/>
                  <a:pt x="16" y="131"/>
                </a:cubicBezTo>
                <a:cubicBezTo>
                  <a:pt x="21" y="118"/>
                  <a:pt x="28" y="106"/>
                  <a:pt x="36" y="94"/>
                </a:cubicBezTo>
                <a:cubicBezTo>
                  <a:pt x="43" y="83"/>
                  <a:pt x="52" y="72"/>
                  <a:pt x="62" y="62"/>
                </a:cubicBezTo>
                <a:cubicBezTo>
                  <a:pt x="72" y="52"/>
                  <a:pt x="83" y="43"/>
                  <a:pt x="94" y="36"/>
                </a:cubicBezTo>
                <a:cubicBezTo>
                  <a:pt x="106" y="28"/>
                  <a:pt x="118" y="21"/>
                  <a:pt x="131" y="16"/>
                </a:cubicBezTo>
                <a:cubicBezTo>
                  <a:pt x="144" y="11"/>
                  <a:pt x="157" y="7"/>
                  <a:pt x="170" y="4"/>
                </a:cubicBezTo>
                <a:cubicBezTo>
                  <a:pt x="184" y="1"/>
                  <a:pt x="198" y="0"/>
                  <a:pt x="212" y="0"/>
                </a:cubicBezTo>
                <a:lnTo>
                  <a:pt x="4843" y="0"/>
                </a:lnTo>
                <a:cubicBezTo>
                  <a:pt x="4857" y="0"/>
                  <a:pt x="4871" y="1"/>
                  <a:pt x="4884" y="4"/>
                </a:cubicBezTo>
                <a:cubicBezTo>
                  <a:pt x="4898" y="7"/>
                  <a:pt x="4911" y="11"/>
                  <a:pt x="4924" y="16"/>
                </a:cubicBezTo>
                <a:cubicBezTo>
                  <a:pt x="4937" y="21"/>
                  <a:pt x="4949" y="28"/>
                  <a:pt x="4960" y="36"/>
                </a:cubicBezTo>
                <a:cubicBezTo>
                  <a:pt x="4972" y="43"/>
                  <a:pt x="4983" y="52"/>
                  <a:pt x="4993" y="62"/>
                </a:cubicBezTo>
                <a:cubicBezTo>
                  <a:pt x="5002" y="72"/>
                  <a:pt x="5011" y="83"/>
                  <a:pt x="5019" y="94"/>
                </a:cubicBezTo>
                <a:cubicBezTo>
                  <a:pt x="5027" y="106"/>
                  <a:pt x="5033" y="118"/>
                  <a:pt x="5038" y="131"/>
                </a:cubicBezTo>
                <a:cubicBezTo>
                  <a:pt x="5044" y="144"/>
                  <a:pt x="5048" y="157"/>
                  <a:pt x="5050" y="170"/>
                </a:cubicBezTo>
                <a:cubicBezTo>
                  <a:pt x="5053" y="184"/>
                  <a:pt x="5055" y="198"/>
                  <a:pt x="5055" y="212"/>
                </a:cubicBezTo>
                <a:lnTo>
                  <a:pt x="5055" y="954"/>
                </a:lnTo>
                <a:cubicBezTo>
                  <a:pt x="5055" y="967"/>
                  <a:pt x="5053" y="981"/>
                  <a:pt x="5050" y="995"/>
                </a:cubicBezTo>
                <a:cubicBezTo>
                  <a:pt x="5048" y="1008"/>
                  <a:pt x="5044" y="1022"/>
                  <a:pt x="5038" y="1035"/>
                </a:cubicBezTo>
                <a:cubicBezTo>
                  <a:pt x="5033" y="1047"/>
                  <a:pt x="5027" y="1060"/>
                  <a:pt x="5019" y="1071"/>
                </a:cubicBezTo>
                <a:cubicBezTo>
                  <a:pt x="5011" y="1083"/>
                  <a:pt x="5002" y="1093"/>
                  <a:pt x="4993" y="1103"/>
                </a:cubicBezTo>
                <a:cubicBezTo>
                  <a:pt x="4983" y="1113"/>
                  <a:pt x="4972" y="1122"/>
                  <a:pt x="4960" y="1130"/>
                </a:cubicBezTo>
                <a:cubicBezTo>
                  <a:pt x="4949" y="1137"/>
                  <a:pt x="4937" y="1144"/>
                  <a:pt x="4924" y="1149"/>
                </a:cubicBezTo>
                <a:cubicBezTo>
                  <a:pt x="4911" y="1154"/>
                  <a:pt x="4898" y="1158"/>
                  <a:pt x="4884" y="1161"/>
                </a:cubicBezTo>
                <a:cubicBezTo>
                  <a:pt x="4871" y="1164"/>
                  <a:pt x="4857" y="1165"/>
                  <a:pt x="4843" y="1165"/>
                </a:cubicBezTo>
                <a:lnTo>
                  <a:pt x="212" y="1165"/>
                </a:lnTo>
                <a:cubicBezTo>
                  <a:pt x="198" y="1165"/>
                  <a:pt x="184" y="1164"/>
                  <a:pt x="170" y="1161"/>
                </a:cubicBezTo>
                <a:cubicBezTo>
                  <a:pt x="157" y="1158"/>
                  <a:pt x="144" y="1154"/>
                  <a:pt x="131" y="1149"/>
                </a:cubicBezTo>
                <a:cubicBezTo>
                  <a:pt x="118" y="1144"/>
                  <a:pt x="106" y="1137"/>
                  <a:pt x="94" y="1130"/>
                </a:cubicBezTo>
                <a:cubicBezTo>
                  <a:pt x="83" y="1122"/>
                  <a:pt x="72" y="1113"/>
                  <a:pt x="62" y="1103"/>
                </a:cubicBezTo>
                <a:cubicBezTo>
                  <a:pt x="52" y="1093"/>
                  <a:pt x="43" y="1083"/>
                  <a:pt x="36" y="1071"/>
                </a:cubicBezTo>
                <a:cubicBezTo>
                  <a:pt x="28" y="1060"/>
                  <a:pt x="21" y="1047"/>
                  <a:pt x="16" y="1035"/>
                </a:cubicBezTo>
                <a:cubicBezTo>
                  <a:pt x="11" y="1022"/>
                  <a:pt x="7" y="1008"/>
                  <a:pt x="4" y="995"/>
                </a:cubicBezTo>
                <a:cubicBezTo>
                  <a:pt x="1" y="981"/>
                  <a:pt x="0" y="967"/>
                  <a:pt x="0" y="954"/>
                </a:cubicBezTo>
                <a:close/>
              </a:path>
            </a:pathLst>
          </a:custGeom>
          <a:solidFill>
            <a:srgbClr val="B8C5B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16" name="CuadroTexto 515"/>
          <p:cNvSpPr txBox="1"/>
          <p:nvPr/>
        </p:nvSpPr>
        <p:spPr>
          <a:xfrm>
            <a:off x="8378280" y="5803248"/>
            <a:ext cx="227160" cy="148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CrimsonPro"/>
                <a:ea typeface="CrimsonPro"/>
              </a:rPr>
              <a:t>Mac</a:t>
            </a:r>
            <a:endParaRPr lang="en-US" sz="1050" b="0" u="none" strike="noStrike">
              <a:solidFill>
                <a:srgbClr val="000000"/>
              </a:solidFill>
              <a:effectLst/>
              <a:uFillTx/>
              <a:latin typeface="Times New Roman"/>
            </a:endParaRPr>
          </a:p>
        </p:txBody>
      </p:sp>
      <p:sp>
        <p:nvSpPr>
          <p:cNvPr id="517" name="CuadroTexto 516"/>
          <p:cNvSpPr txBox="1"/>
          <p:nvPr/>
        </p:nvSpPr>
        <p:spPr>
          <a:xfrm>
            <a:off x="10234440" y="5803248"/>
            <a:ext cx="305280" cy="148320"/>
          </a:xfrm>
          <a:prstGeom prst="rect">
            <a:avLst/>
          </a:prstGeom>
          <a:noFill/>
          <a:ln w="0">
            <a:noFill/>
          </a:ln>
        </p:spPr>
        <p:txBody>
          <a:bodyPr wrap="none" lIns="0" tIns="0" rIns="0" bIns="0" anchor="t">
            <a:spAutoFit/>
          </a:bodyPr>
          <a:lstStyle/>
          <a:p>
            <a:r>
              <a:rPr lang="en-US" sz="1050" b="0" u="none" strike="noStrike">
                <a:solidFill>
                  <a:srgbClr val="FFFFFF"/>
                </a:solidFill>
                <a:effectLst/>
                <a:uFillTx/>
                <a:latin typeface="CrimsonPro"/>
                <a:ea typeface="CrimsonPro"/>
              </a:rPr>
              <a:t>Linux</a:t>
            </a:r>
            <a:endParaRPr lang="en-US" sz="1050" b="0" u="none" strike="noStrike">
              <a:solidFill>
                <a:srgbClr val="000000"/>
              </a:solidFill>
              <a:effectLst/>
              <a:uFillTx/>
              <a:latin typeface="Times New Roman"/>
            </a:endParaRPr>
          </a:p>
        </p:txBody>
      </p:sp>
      <p:sp>
        <p:nvSpPr>
          <p:cNvPr id="2" name="Rectángulo 1">
            <a:extLst>
              <a:ext uri="{FF2B5EF4-FFF2-40B4-BE49-F238E27FC236}">
                <a16:creationId xmlns:a16="http://schemas.microsoft.com/office/drawing/2014/main" id="{14AA7042-26D8-1E8A-411E-5F4E3109395E}"/>
              </a:ext>
            </a:extLst>
          </p:cNvPr>
          <p:cNvSpPr/>
          <p:nvPr/>
        </p:nvSpPr>
        <p:spPr>
          <a:xfrm>
            <a:off x="5515429" y="711200"/>
            <a:ext cx="5952611" cy="559163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Forma libre: forma 519"/>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21" name="Forma libre: forma 520"/>
          <p:cNvSpPr/>
          <p:nvPr/>
        </p:nvSpPr>
        <p:spPr>
          <a:xfrm>
            <a:off x="590400" y="1599840"/>
            <a:ext cx="5353200" cy="3829680"/>
          </a:xfrm>
          <a:custGeom>
            <a:avLst/>
            <a:gdLst/>
            <a:ahLst/>
            <a:cxnLst/>
            <a:rect l="0" t="0" r="r" b="b"/>
            <a:pathLst>
              <a:path w="14870" h="10638">
                <a:moveTo>
                  <a:pt x="0" y="10426"/>
                </a:moveTo>
                <a:lnTo>
                  <a:pt x="0" y="212"/>
                </a:lnTo>
                <a:cubicBezTo>
                  <a:pt x="0" y="198"/>
                  <a:pt x="1" y="185"/>
                  <a:pt x="3" y="171"/>
                </a:cubicBezTo>
                <a:cubicBezTo>
                  <a:pt x="5" y="157"/>
                  <a:pt x="8" y="144"/>
                  <a:pt x="12" y="131"/>
                </a:cubicBezTo>
                <a:cubicBezTo>
                  <a:pt x="16" y="118"/>
                  <a:pt x="21" y="106"/>
                  <a:pt x="27" y="95"/>
                </a:cubicBezTo>
                <a:cubicBezTo>
                  <a:pt x="32" y="83"/>
                  <a:pt x="39" y="72"/>
                  <a:pt x="46" y="62"/>
                </a:cubicBezTo>
                <a:cubicBezTo>
                  <a:pt x="54" y="53"/>
                  <a:pt x="62" y="44"/>
                  <a:pt x="70" y="36"/>
                </a:cubicBezTo>
                <a:cubicBezTo>
                  <a:pt x="79" y="28"/>
                  <a:pt x="88" y="22"/>
                  <a:pt x="98" y="17"/>
                </a:cubicBezTo>
                <a:cubicBezTo>
                  <a:pt x="108" y="11"/>
                  <a:pt x="117" y="7"/>
                  <a:pt x="128" y="5"/>
                </a:cubicBezTo>
                <a:cubicBezTo>
                  <a:pt x="138" y="2"/>
                  <a:pt x="148" y="0"/>
                  <a:pt x="159" y="0"/>
                </a:cubicBezTo>
                <a:lnTo>
                  <a:pt x="14659" y="0"/>
                </a:lnTo>
                <a:cubicBezTo>
                  <a:pt x="14673" y="0"/>
                  <a:pt x="14686" y="2"/>
                  <a:pt x="14700" y="5"/>
                </a:cubicBezTo>
                <a:cubicBezTo>
                  <a:pt x="14714" y="7"/>
                  <a:pt x="14727" y="11"/>
                  <a:pt x="14740" y="17"/>
                </a:cubicBezTo>
                <a:cubicBezTo>
                  <a:pt x="14753" y="22"/>
                  <a:pt x="14765" y="28"/>
                  <a:pt x="14776" y="36"/>
                </a:cubicBezTo>
                <a:cubicBezTo>
                  <a:pt x="14788" y="44"/>
                  <a:pt x="14799" y="53"/>
                  <a:pt x="14809" y="62"/>
                </a:cubicBezTo>
                <a:cubicBezTo>
                  <a:pt x="14818" y="72"/>
                  <a:pt x="14827" y="83"/>
                  <a:pt x="14835" y="95"/>
                </a:cubicBezTo>
                <a:cubicBezTo>
                  <a:pt x="14843" y="106"/>
                  <a:pt x="14849" y="118"/>
                  <a:pt x="14854" y="131"/>
                </a:cubicBezTo>
                <a:cubicBezTo>
                  <a:pt x="14860" y="144"/>
                  <a:pt x="14864" y="157"/>
                  <a:pt x="14866" y="171"/>
                </a:cubicBezTo>
                <a:cubicBezTo>
                  <a:pt x="14869" y="185"/>
                  <a:pt x="14870" y="198"/>
                  <a:pt x="14870" y="212"/>
                </a:cubicBezTo>
                <a:lnTo>
                  <a:pt x="14870" y="10426"/>
                </a:lnTo>
                <a:cubicBezTo>
                  <a:pt x="14870" y="10440"/>
                  <a:pt x="14869" y="10454"/>
                  <a:pt x="14866" y="10467"/>
                </a:cubicBezTo>
                <a:cubicBezTo>
                  <a:pt x="14864" y="10481"/>
                  <a:pt x="14860" y="10494"/>
                  <a:pt x="14854" y="10507"/>
                </a:cubicBezTo>
                <a:cubicBezTo>
                  <a:pt x="14849" y="10520"/>
                  <a:pt x="14843" y="10532"/>
                  <a:pt x="14835" y="10544"/>
                </a:cubicBezTo>
                <a:cubicBezTo>
                  <a:pt x="14827" y="10555"/>
                  <a:pt x="14818" y="10566"/>
                  <a:pt x="14809" y="10576"/>
                </a:cubicBezTo>
                <a:cubicBezTo>
                  <a:pt x="14799" y="10586"/>
                  <a:pt x="14788" y="10594"/>
                  <a:pt x="14776" y="10602"/>
                </a:cubicBezTo>
                <a:cubicBezTo>
                  <a:pt x="14765" y="10610"/>
                  <a:pt x="14753" y="10616"/>
                  <a:pt x="14740" y="10622"/>
                </a:cubicBezTo>
                <a:cubicBezTo>
                  <a:pt x="14727" y="10627"/>
                  <a:pt x="14714" y="10631"/>
                  <a:pt x="14700" y="10634"/>
                </a:cubicBezTo>
                <a:cubicBezTo>
                  <a:pt x="14686" y="10636"/>
                  <a:pt x="14673" y="10638"/>
                  <a:pt x="14659" y="10638"/>
                </a:cubicBezTo>
                <a:lnTo>
                  <a:pt x="159" y="10638"/>
                </a:lnTo>
                <a:cubicBezTo>
                  <a:pt x="148" y="10638"/>
                  <a:pt x="138" y="10636"/>
                  <a:pt x="128" y="10634"/>
                </a:cubicBezTo>
                <a:cubicBezTo>
                  <a:pt x="117" y="10631"/>
                  <a:pt x="108" y="10627"/>
                  <a:pt x="98" y="10622"/>
                </a:cubicBezTo>
                <a:cubicBezTo>
                  <a:pt x="88" y="10616"/>
                  <a:pt x="79" y="10610"/>
                  <a:pt x="70" y="10602"/>
                </a:cubicBezTo>
                <a:cubicBezTo>
                  <a:pt x="62" y="10594"/>
                  <a:pt x="54" y="10586"/>
                  <a:pt x="46" y="10576"/>
                </a:cubicBezTo>
                <a:cubicBezTo>
                  <a:pt x="39" y="10566"/>
                  <a:pt x="32" y="10555"/>
                  <a:pt x="27" y="10544"/>
                </a:cubicBezTo>
                <a:cubicBezTo>
                  <a:pt x="21" y="10532"/>
                  <a:pt x="16" y="10520"/>
                  <a:pt x="12" y="10507"/>
                </a:cubicBezTo>
                <a:cubicBezTo>
                  <a:pt x="8" y="10494"/>
                  <a:pt x="5" y="10481"/>
                  <a:pt x="3" y="10467"/>
                </a:cubicBezTo>
                <a:cubicBezTo>
                  <a:pt x="1" y="10454"/>
                  <a:pt x="0" y="10440"/>
                  <a:pt x="0" y="10426"/>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22" name="Forma libre: forma 521"/>
          <p:cNvSpPr/>
          <p:nvPr/>
        </p:nvSpPr>
        <p:spPr>
          <a:xfrm>
            <a:off x="571320" y="1599840"/>
            <a:ext cx="76680" cy="3829680"/>
          </a:xfrm>
          <a:custGeom>
            <a:avLst/>
            <a:gdLst/>
            <a:ahLst/>
            <a:cxnLst/>
            <a:rect l="0" t="0" r="r" b="b"/>
            <a:pathLst>
              <a:path w="213" h="10638">
                <a:moveTo>
                  <a:pt x="0" y="0"/>
                </a:moveTo>
                <a:lnTo>
                  <a:pt x="213" y="0"/>
                </a:lnTo>
                <a:lnTo>
                  <a:pt x="213" y="10638"/>
                </a:lnTo>
                <a:lnTo>
                  <a:pt x="0" y="10638"/>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23" name="Forma libre: forma 522"/>
          <p:cNvSpPr/>
          <p:nvPr/>
        </p:nvSpPr>
        <p:spPr>
          <a:xfrm>
            <a:off x="914040" y="1904760"/>
            <a:ext cx="648360" cy="457560"/>
          </a:xfrm>
          <a:custGeom>
            <a:avLst/>
            <a:gdLst/>
            <a:ahLst/>
            <a:cxnLst/>
            <a:rect l="0" t="0" r="r" b="b"/>
            <a:pathLst>
              <a:path w="1801" h="1271">
                <a:moveTo>
                  <a:pt x="0" y="1059"/>
                </a:moveTo>
                <a:lnTo>
                  <a:pt x="0" y="212"/>
                </a:lnTo>
                <a:cubicBezTo>
                  <a:pt x="0" y="198"/>
                  <a:pt x="2" y="184"/>
                  <a:pt x="5" y="171"/>
                </a:cubicBezTo>
                <a:cubicBezTo>
                  <a:pt x="7" y="157"/>
                  <a:pt x="11" y="144"/>
                  <a:pt x="17" y="131"/>
                </a:cubicBezTo>
                <a:cubicBezTo>
                  <a:pt x="22" y="118"/>
                  <a:pt x="28" y="106"/>
                  <a:pt x="36" y="94"/>
                </a:cubicBezTo>
                <a:cubicBezTo>
                  <a:pt x="44" y="83"/>
                  <a:pt x="53" y="72"/>
                  <a:pt x="62" y="62"/>
                </a:cubicBezTo>
                <a:cubicBezTo>
                  <a:pt x="72" y="52"/>
                  <a:pt x="83" y="44"/>
                  <a:pt x="95" y="36"/>
                </a:cubicBezTo>
                <a:cubicBezTo>
                  <a:pt x="106" y="28"/>
                  <a:pt x="118" y="22"/>
                  <a:pt x="131" y="16"/>
                </a:cubicBezTo>
                <a:cubicBezTo>
                  <a:pt x="144" y="11"/>
                  <a:pt x="157" y="7"/>
                  <a:pt x="172" y="4"/>
                </a:cubicBezTo>
                <a:cubicBezTo>
                  <a:pt x="186" y="2"/>
                  <a:pt x="199" y="0"/>
                  <a:pt x="213" y="0"/>
                </a:cubicBezTo>
                <a:lnTo>
                  <a:pt x="1589" y="0"/>
                </a:lnTo>
                <a:cubicBezTo>
                  <a:pt x="1603" y="0"/>
                  <a:pt x="1617" y="2"/>
                  <a:pt x="1630" y="4"/>
                </a:cubicBezTo>
                <a:cubicBezTo>
                  <a:pt x="1644" y="7"/>
                  <a:pt x="1657" y="11"/>
                  <a:pt x="1670" y="16"/>
                </a:cubicBezTo>
                <a:cubicBezTo>
                  <a:pt x="1683" y="22"/>
                  <a:pt x="1695" y="28"/>
                  <a:pt x="1707" y="36"/>
                </a:cubicBezTo>
                <a:cubicBezTo>
                  <a:pt x="1718" y="44"/>
                  <a:pt x="1729" y="52"/>
                  <a:pt x="1739" y="62"/>
                </a:cubicBezTo>
                <a:cubicBezTo>
                  <a:pt x="1748" y="72"/>
                  <a:pt x="1757" y="83"/>
                  <a:pt x="1765" y="94"/>
                </a:cubicBezTo>
                <a:cubicBezTo>
                  <a:pt x="1773" y="106"/>
                  <a:pt x="1779" y="118"/>
                  <a:pt x="1785" y="131"/>
                </a:cubicBezTo>
                <a:cubicBezTo>
                  <a:pt x="1790" y="144"/>
                  <a:pt x="1794" y="157"/>
                  <a:pt x="1797" y="171"/>
                </a:cubicBezTo>
                <a:cubicBezTo>
                  <a:pt x="1799" y="184"/>
                  <a:pt x="1801" y="198"/>
                  <a:pt x="1801" y="212"/>
                </a:cubicBezTo>
                <a:lnTo>
                  <a:pt x="1801" y="1059"/>
                </a:lnTo>
                <a:cubicBezTo>
                  <a:pt x="1801" y="1073"/>
                  <a:pt x="1799" y="1087"/>
                  <a:pt x="1797" y="1101"/>
                </a:cubicBezTo>
                <a:cubicBezTo>
                  <a:pt x="1794" y="1114"/>
                  <a:pt x="1790" y="1128"/>
                  <a:pt x="1785" y="1141"/>
                </a:cubicBezTo>
                <a:cubicBezTo>
                  <a:pt x="1779" y="1153"/>
                  <a:pt x="1773" y="1166"/>
                  <a:pt x="1765" y="1177"/>
                </a:cubicBezTo>
                <a:cubicBezTo>
                  <a:pt x="1757" y="1189"/>
                  <a:pt x="1748" y="1199"/>
                  <a:pt x="1739" y="1209"/>
                </a:cubicBezTo>
                <a:cubicBezTo>
                  <a:pt x="1729" y="1219"/>
                  <a:pt x="1718" y="1228"/>
                  <a:pt x="1707" y="1235"/>
                </a:cubicBezTo>
                <a:cubicBezTo>
                  <a:pt x="1695" y="1243"/>
                  <a:pt x="1683" y="1250"/>
                  <a:pt x="1670" y="1255"/>
                </a:cubicBezTo>
                <a:cubicBezTo>
                  <a:pt x="1657" y="1260"/>
                  <a:pt x="1644" y="1264"/>
                  <a:pt x="1630" y="1267"/>
                </a:cubicBezTo>
                <a:cubicBezTo>
                  <a:pt x="1617" y="1270"/>
                  <a:pt x="1603" y="1271"/>
                  <a:pt x="1589" y="1271"/>
                </a:cubicBezTo>
                <a:lnTo>
                  <a:pt x="213" y="1271"/>
                </a:lnTo>
                <a:cubicBezTo>
                  <a:pt x="199" y="1271"/>
                  <a:pt x="186" y="1270"/>
                  <a:pt x="172" y="1267"/>
                </a:cubicBezTo>
                <a:cubicBezTo>
                  <a:pt x="157" y="1264"/>
                  <a:pt x="144" y="1260"/>
                  <a:pt x="131" y="1255"/>
                </a:cubicBezTo>
                <a:cubicBezTo>
                  <a:pt x="118" y="1250"/>
                  <a:pt x="106" y="1243"/>
                  <a:pt x="95" y="1235"/>
                </a:cubicBezTo>
                <a:cubicBezTo>
                  <a:pt x="83" y="1228"/>
                  <a:pt x="72" y="1219"/>
                  <a:pt x="62" y="1209"/>
                </a:cubicBezTo>
                <a:cubicBezTo>
                  <a:pt x="53" y="1199"/>
                  <a:pt x="44" y="1189"/>
                  <a:pt x="36" y="1177"/>
                </a:cubicBezTo>
                <a:cubicBezTo>
                  <a:pt x="28" y="1166"/>
                  <a:pt x="22" y="1153"/>
                  <a:pt x="17" y="1141"/>
                </a:cubicBezTo>
                <a:cubicBezTo>
                  <a:pt x="11" y="1128"/>
                  <a:pt x="7" y="1114"/>
                  <a:pt x="5" y="1101"/>
                </a:cubicBezTo>
                <a:cubicBezTo>
                  <a:pt x="2" y="1087"/>
                  <a:pt x="0" y="1073"/>
                  <a:pt x="0" y="1059"/>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24" name="CuadroTexto 523"/>
          <p:cNvSpPr txBox="1"/>
          <p:nvPr/>
        </p:nvSpPr>
        <p:spPr>
          <a:xfrm>
            <a:off x="571320" y="569160"/>
            <a:ext cx="251208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¿Qué es JDK y JRE?</a:t>
            </a:r>
            <a:endParaRPr lang="en-US" sz="2700" b="0" u="none" strike="noStrike">
              <a:solidFill>
                <a:srgbClr val="000000"/>
              </a:solidFill>
              <a:effectLst/>
              <a:uFillTx/>
              <a:latin typeface="Times New Roman"/>
            </a:endParaRPr>
          </a:p>
        </p:txBody>
      </p:sp>
      <p:sp>
        <p:nvSpPr>
          <p:cNvPr id="525" name="CuadroTexto 524"/>
          <p:cNvSpPr txBox="1"/>
          <p:nvPr/>
        </p:nvSpPr>
        <p:spPr>
          <a:xfrm>
            <a:off x="1066680" y="2004840"/>
            <a:ext cx="32076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JRE</a:t>
            </a:r>
            <a:endParaRPr lang="en-US" sz="1800" b="0" u="none" strike="noStrike">
              <a:solidFill>
                <a:srgbClr val="000000"/>
              </a:solidFill>
              <a:effectLst/>
              <a:uFillTx/>
              <a:latin typeface="Times New Roman"/>
            </a:endParaRPr>
          </a:p>
        </p:txBody>
      </p:sp>
      <p:sp>
        <p:nvSpPr>
          <p:cNvPr id="526" name="CuadroTexto 525"/>
          <p:cNvSpPr txBox="1"/>
          <p:nvPr/>
        </p:nvSpPr>
        <p:spPr>
          <a:xfrm>
            <a:off x="914400" y="2696400"/>
            <a:ext cx="206280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Java Runtime Environment</a:t>
            </a:r>
            <a:endParaRPr lang="en-US" sz="1500" b="0" u="none" strike="noStrike">
              <a:solidFill>
                <a:srgbClr val="000000"/>
              </a:solidFill>
              <a:effectLst/>
              <a:uFillTx/>
              <a:latin typeface="Times New Roman"/>
            </a:endParaRPr>
          </a:p>
        </p:txBody>
      </p:sp>
      <p:sp>
        <p:nvSpPr>
          <p:cNvPr id="527" name="CuadroTexto 526"/>
          <p:cNvSpPr txBox="1"/>
          <p:nvPr/>
        </p:nvSpPr>
        <p:spPr>
          <a:xfrm>
            <a:off x="914400" y="3120840"/>
            <a:ext cx="46742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Es la implementación de la Máquina virtual de Java que realmente ejecuta los</a:t>
            </a:r>
            <a:endParaRPr lang="en-US" sz="1200" b="0" u="none" strike="noStrike">
              <a:solidFill>
                <a:srgbClr val="000000"/>
              </a:solidFill>
              <a:effectLst/>
              <a:uFillTx/>
              <a:latin typeface="Times New Roman"/>
            </a:endParaRPr>
          </a:p>
        </p:txBody>
      </p:sp>
      <p:sp>
        <p:nvSpPr>
          <p:cNvPr id="528" name="CuadroTexto 527"/>
          <p:cNvSpPr txBox="1"/>
          <p:nvPr/>
        </p:nvSpPr>
        <p:spPr>
          <a:xfrm>
            <a:off x="914400" y="3368520"/>
            <a:ext cx="115848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programas de Java.</a:t>
            </a:r>
            <a:endParaRPr lang="en-US" sz="1200" b="0" u="none" strike="noStrike">
              <a:solidFill>
                <a:srgbClr val="000000"/>
              </a:solidFill>
              <a:effectLst/>
              <a:uFillTx/>
              <a:latin typeface="Times New Roman"/>
            </a:endParaRPr>
          </a:p>
        </p:txBody>
      </p:sp>
      <p:sp>
        <p:nvSpPr>
          <p:cNvPr id="529" name="CuadroTexto 528"/>
          <p:cNvSpPr txBox="1"/>
          <p:nvPr/>
        </p:nvSpPr>
        <p:spPr>
          <a:xfrm>
            <a:off x="914400" y="3768840"/>
            <a:ext cx="47120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Normalmente el JRE está destinado a usuarios finales que no requieren el JDK,</a:t>
            </a:r>
            <a:endParaRPr lang="en-US" sz="1200" b="0" u="none" strike="noStrike">
              <a:solidFill>
                <a:srgbClr val="000000"/>
              </a:solidFill>
              <a:effectLst/>
              <a:uFillTx/>
              <a:latin typeface="Times New Roman"/>
            </a:endParaRPr>
          </a:p>
        </p:txBody>
      </p:sp>
      <p:sp>
        <p:nvSpPr>
          <p:cNvPr id="530" name="CuadroTexto 529"/>
          <p:cNvSpPr txBox="1"/>
          <p:nvPr/>
        </p:nvSpPr>
        <p:spPr>
          <a:xfrm>
            <a:off x="914400" y="4016520"/>
            <a:ext cx="44172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pues a diferencia de este no contiene los programas necesarios para crear</a:t>
            </a:r>
            <a:endParaRPr lang="en-US" sz="1200" b="0" u="none" strike="noStrike">
              <a:solidFill>
                <a:srgbClr val="000000"/>
              </a:solidFill>
              <a:effectLst/>
              <a:uFillTx/>
              <a:latin typeface="Times New Roman"/>
            </a:endParaRPr>
          </a:p>
        </p:txBody>
      </p:sp>
      <p:sp>
        <p:nvSpPr>
          <p:cNvPr id="531" name="CuadroTexto 530"/>
          <p:cNvSpPr txBox="1"/>
          <p:nvPr/>
        </p:nvSpPr>
        <p:spPr>
          <a:xfrm>
            <a:off x="914400" y="4263840"/>
            <a:ext cx="19332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aplicaciones en el lenguaje Java.</a:t>
            </a:r>
            <a:endParaRPr lang="en-US" sz="1200" b="0" u="none" strike="noStrike">
              <a:solidFill>
                <a:srgbClr val="000000"/>
              </a:solidFill>
              <a:effectLst/>
              <a:uFillTx/>
              <a:latin typeface="Times New Roman"/>
            </a:endParaRPr>
          </a:p>
        </p:txBody>
      </p:sp>
      <p:sp>
        <p:nvSpPr>
          <p:cNvPr id="532" name="CuadroTexto 531"/>
          <p:cNvSpPr txBox="1"/>
          <p:nvPr/>
        </p:nvSpPr>
        <p:spPr>
          <a:xfrm>
            <a:off x="914400" y="4664160"/>
            <a:ext cx="445032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El JRE se puede instalar sin necesidad de instalar el JDK, pero al instalar el</a:t>
            </a:r>
            <a:endParaRPr lang="en-US" sz="1200" b="0" u="none" strike="noStrike">
              <a:solidFill>
                <a:srgbClr val="000000"/>
              </a:solidFill>
              <a:effectLst/>
              <a:uFillTx/>
              <a:latin typeface="Times New Roman"/>
            </a:endParaRPr>
          </a:p>
        </p:txBody>
      </p:sp>
      <p:sp>
        <p:nvSpPr>
          <p:cNvPr id="533" name="Forma libre: forma 532"/>
          <p:cNvSpPr/>
          <p:nvPr/>
        </p:nvSpPr>
        <p:spPr>
          <a:xfrm>
            <a:off x="6267240" y="1599840"/>
            <a:ext cx="5353560" cy="3829680"/>
          </a:xfrm>
          <a:custGeom>
            <a:avLst/>
            <a:gdLst/>
            <a:ahLst/>
            <a:cxnLst/>
            <a:rect l="0" t="0" r="r" b="b"/>
            <a:pathLst>
              <a:path w="14871" h="10638">
                <a:moveTo>
                  <a:pt x="0" y="10426"/>
                </a:moveTo>
                <a:lnTo>
                  <a:pt x="0" y="212"/>
                </a:lnTo>
                <a:cubicBezTo>
                  <a:pt x="0" y="198"/>
                  <a:pt x="1" y="185"/>
                  <a:pt x="3" y="171"/>
                </a:cubicBezTo>
                <a:cubicBezTo>
                  <a:pt x="5" y="157"/>
                  <a:pt x="8" y="144"/>
                  <a:pt x="12" y="131"/>
                </a:cubicBezTo>
                <a:cubicBezTo>
                  <a:pt x="16" y="118"/>
                  <a:pt x="21" y="106"/>
                  <a:pt x="27" y="95"/>
                </a:cubicBezTo>
                <a:cubicBezTo>
                  <a:pt x="33" y="83"/>
                  <a:pt x="39" y="72"/>
                  <a:pt x="47" y="62"/>
                </a:cubicBezTo>
                <a:cubicBezTo>
                  <a:pt x="54" y="53"/>
                  <a:pt x="62" y="44"/>
                  <a:pt x="71" y="36"/>
                </a:cubicBezTo>
                <a:cubicBezTo>
                  <a:pt x="79" y="28"/>
                  <a:pt x="88" y="22"/>
                  <a:pt x="98" y="17"/>
                </a:cubicBezTo>
                <a:cubicBezTo>
                  <a:pt x="108" y="11"/>
                  <a:pt x="118" y="7"/>
                  <a:pt x="128" y="5"/>
                </a:cubicBezTo>
                <a:cubicBezTo>
                  <a:pt x="138" y="2"/>
                  <a:pt x="148" y="0"/>
                  <a:pt x="159" y="0"/>
                </a:cubicBezTo>
                <a:lnTo>
                  <a:pt x="14659" y="0"/>
                </a:lnTo>
                <a:cubicBezTo>
                  <a:pt x="14673" y="0"/>
                  <a:pt x="14687" y="2"/>
                  <a:pt x="14700" y="5"/>
                </a:cubicBezTo>
                <a:cubicBezTo>
                  <a:pt x="14714" y="7"/>
                  <a:pt x="14727" y="11"/>
                  <a:pt x="14740" y="17"/>
                </a:cubicBezTo>
                <a:cubicBezTo>
                  <a:pt x="14753" y="22"/>
                  <a:pt x="14765" y="28"/>
                  <a:pt x="14777" y="36"/>
                </a:cubicBezTo>
                <a:cubicBezTo>
                  <a:pt x="14788" y="44"/>
                  <a:pt x="14799" y="53"/>
                  <a:pt x="14809" y="62"/>
                </a:cubicBezTo>
                <a:cubicBezTo>
                  <a:pt x="14818" y="72"/>
                  <a:pt x="14827" y="83"/>
                  <a:pt x="14835" y="95"/>
                </a:cubicBezTo>
                <a:cubicBezTo>
                  <a:pt x="14843" y="106"/>
                  <a:pt x="14849" y="118"/>
                  <a:pt x="14855" y="131"/>
                </a:cubicBezTo>
                <a:cubicBezTo>
                  <a:pt x="14860" y="144"/>
                  <a:pt x="14864" y="157"/>
                  <a:pt x="14867" y="171"/>
                </a:cubicBezTo>
                <a:cubicBezTo>
                  <a:pt x="14869" y="185"/>
                  <a:pt x="14871" y="198"/>
                  <a:pt x="14871" y="212"/>
                </a:cubicBezTo>
                <a:lnTo>
                  <a:pt x="14871" y="10426"/>
                </a:lnTo>
                <a:cubicBezTo>
                  <a:pt x="14871" y="10440"/>
                  <a:pt x="14869" y="10454"/>
                  <a:pt x="14867" y="10467"/>
                </a:cubicBezTo>
                <a:cubicBezTo>
                  <a:pt x="14864" y="10481"/>
                  <a:pt x="14860" y="10494"/>
                  <a:pt x="14855" y="10507"/>
                </a:cubicBezTo>
                <a:cubicBezTo>
                  <a:pt x="14849" y="10520"/>
                  <a:pt x="14843" y="10532"/>
                  <a:pt x="14835" y="10544"/>
                </a:cubicBezTo>
                <a:cubicBezTo>
                  <a:pt x="14827" y="10555"/>
                  <a:pt x="14818" y="10566"/>
                  <a:pt x="14809" y="10576"/>
                </a:cubicBezTo>
                <a:cubicBezTo>
                  <a:pt x="14799" y="10586"/>
                  <a:pt x="14788" y="10594"/>
                  <a:pt x="14777" y="10602"/>
                </a:cubicBezTo>
                <a:cubicBezTo>
                  <a:pt x="14765" y="10610"/>
                  <a:pt x="14753" y="10616"/>
                  <a:pt x="14740" y="10622"/>
                </a:cubicBezTo>
                <a:cubicBezTo>
                  <a:pt x="14727" y="10627"/>
                  <a:pt x="14714" y="10631"/>
                  <a:pt x="14700" y="10634"/>
                </a:cubicBezTo>
                <a:cubicBezTo>
                  <a:pt x="14687" y="10636"/>
                  <a:pt x="14673" y="10638"/>
                  <a:pt x="14659" y="10638"/>
                </a:cubicBezTo>
                <a:lnTo>
                  <a:pt x="159" y="10638"/>
                </a:lnTo>
                <a:cubicBezTo>
                  <a:pt x="148" y="10638"/>
                  <a:pt x="138" y="10636"/>
                  <a:pt x="128" y="10634"/>
                </a:cubicBezTo>
                <a:cubicBezTo>
                  <a:pt x="118" y="10631"/>
                  <a:pt x="108" y="10627"/>
                  <a:pt x="98" y="10622"/>
                </a:cubicBezTo>
                <a:cubicBezTo>
                  <a:pt x="88" y="10616"/>
                  <a:pt x="79" y="10610"/>
                  <a:pt x="71" y="10602"/>
                </a:cubicBezTo>
                <a:cubicBezTo>
                  <a:pt x="62" y="10594"/>
                  <a:pt x="54" y="10586"/>
                  <a:pt x="47" y="10576"/>
                </a:cubicBezTo>
                <a:cubicBezTo>
                  <a:pt x="39" y="10566"/>
                  <a:pt x="33" y="10555"/>
                  <a:pt x="27" y="10544"/>
                </a:cubicBezTo>
                <a:cubicBezTo>
                  <a:pt x="21" y="10532"/>
                  <a:pt x="16" y="10520"/>
                  <a:pt x="12" y="10507"/>
                </a:cubicBezTo>
                <a:cubicBezTo>
                  <a:pt x="8" y="10494"/>
                  <a:pt x="5" y="10481"/>
                  <a:pt x="3" y="10467"/>
                </a:cubicBezTo>
                <a:cubicBezTo>
                  <a:pt x="1" y="10454"/>
                  <a:pt x="0" y="10440"/>
                  <a:pt x="0" y="10426"/>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34" name="Forma libre: forma 533"/>
          <p:cNvSpPr/>
          <p:nvPr/>
        </p:nvSpPr>
        <p:spPr>
          <a:xfrm>
            <a:off x="6248160" y="1599840"/>
            <a:ext cx="76680" cy="3829680"/>
          </a:xfrm>
          <a:custGeom>
            <a:avLst/>
            <a:gdLst/>
            <a:ahLst/>
            <a:cxnLst/>
            <a:rect l="0" t="0" r="r" b="b"/>
            <a:pathLst>
              <a:path w="213" h="10638">
                <a:moveTo>
                  <a:pt x="0" y="0"/>
                </a:moveTo>
                <a:lnTo>
                  <a:pt x="213" y="0"/>
                </a:lnTo>
                <a:lnTo>
                  <a:pt x="213" y="10638"/>
                </a:lnTo>
                <a:lnTo>
                  <a:pt x="0" y="10638"/>
                </a:lnTo>
                <a:lnTo>
                  <a:pt x="0" y="0"/>
                </a:ln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35" name="Forma libre: forma 534"/>
          <p:cNvSpPr/>
          <p:nvPr/>
        </p:nvSpPr>
        <p:spPr>
          <a:xfrm>
            <a:off x="6591240" y="1904760"/>
            <a:ext cx="686160" cy="457560"/>
          </a:xfrm>
          <a:custGeom>
            <a:avLst/>
            <a:gdLst/>
            <a:ahLst/>
            <a:cxnLst/>
            <a:rect l="0" t="0" r="r" b="b"/>
            <a:pathLst>
              <a:path w="1906" h="1271">
                <a:moveTo>
                  <a:pt x="0" y="1059"/>
                </a:moveTo>
                <a:lnTo>
                  <a:pt x="0" y="212"/>
                </a:lnTo>
                <a:cubicBezTo>
                  <a:pt x="0" y="198"/>
                  <a:pt x="1" y="184"/>
                  <a:pt x="4" y="171"/>
                </a:cubicBezTo>
                <a:cubicBezTo>
                  <a:pt x="6" y="157"/>
                  <a:pt x="10" y="144"/>
                  <a:pt x="16" y="131"/>
                </a:cubicBezTo>
                <a:cubicBezTo>
                  <a:pt x="21" y="118"/>
                  <a:pt x="28" y="106"/>
                  <a:pt x="35" y="94"/>
                </a:cubicBezTo>
                <a:cubicBezTo>
                  <a:pt x="43" y="83"/>
                  <a:pt x="52" y="72"/>
                  <a:pt x="62" y="62"/>
                </a:cubicBezTo>
                <a:cubicBezTo>
                  <a:pt x="71" y="52"/>
                  <a:pt x="82" y="44"/>
                  <a:pt x="94" y="36"/>
                </a:cubicBezTo>
                <a:cubicBezTo>
                  <a:pt x="105" y="28"/>
                  <a:pt x="117" y="22"/>
                  <a:pt x="130" y="16"/>
                </a:cubicBezTo>
                <a:cubicBezTo>
                  <a:pt x="143" y="11"/>
                  <a:pt x="156" y="7"/>
                  <a:pt x="170" y="4"/>
                </a:cubicBezTo>
                <a:cubicBezTo>
                  <a:pt x="184" y="2"/>
                  <a:pt x="197" y="0"/>
                  <a:pt x="211" y="0"/>
                </a:cubicBezTo>
                <a:lnTo>
                  <a:pt x="1694" y="0"/>
                </a:lnTo>
                <a:cubicBezTo>
                  <a:pt x="1708" y="0"/>
                  <a:pt x="1722" y="2"/>
                  <a:pt x="1735" y="4"/>
                </a:cubicBezTo>
                <a:cubicBezTo>
                  <a:pt x="1749" y="7"/>
                  <a:pt x="1762" y="11"/>
                  <a:pt x="1775" y="16"/>
                </a:cubicBezTo>
                <a:cubicBezTo>
                  <a:pt x="1788" y="22"/>
                  <a:pt x="1800" y="28"/>
                  <a:pt x="1812" y="36"/>
                </a:cubicBezTo>
                <a:cubicBezTo>
                  <a:pt x="1823" y="44"/>
                  <a:pt x="1834" y="52"/>
                  <a:pt x="1844" y="62"/>
                </a:cubicBezTo>
                <a:cubicBezTo>
                  <a:pt x="1853" y="72"/>
                  <a:pt x="1862" y="83"/>
                  <a:pt x="1870" y="94"/>
                </a:cubicBezTo>
                <a:cubicBezTo>
                  <a:pt x="1878" y="106"/>
                  <a:pt x="1884" y="118"/>
                  <a:pt x="1890" y="131"/>
                </a:cubicBezTo>
                <a:cubicBezTo>
                  <a:pt x="1895" y="144"/>
                  <a:pt x="1899" y="157"/>
                  <a:pt x="1902" y="171"/>
                </a:cubicBezTo>
                <a:cubicBezTo>
                  <a:pt x="1904" y="184"/>
                  <a:pt x="1906" y="198"/>
                  <a:pt x="1906" y="212"/>
                </a:cubicBezTo>
                <a:lnTo>
                  <a:pt x="1906" y="1059"/>
                </a:lnTo>
                <a:cubicBezTo>
                  <a:pt x="1906" y="1073"/>
                  <a:pt x="1904" y="1087"/>
                  <a:pt x="1902" y="1101"/>
                </a:cubicBezTo>
                <a:cubicBezTo>
                  <a:pt x="1899" y="1114"/>
                  <a:pt x="1895" y="1128"/>
                  <a:pt x="1890" y="1141"/>
                </a:cubicBezTo>
                <a:cubicBezTo>
                  <a:pt x="1884" y="1153"/>
                  <a:pt x="1878" y="1166"/>
                  <a:pt x="1870" y="1177"/>
                </a:cubicBezTo>
                <a:cubicBezTo>
                  <a:pt x="1862" y="1189"/>
                  <a:pt x="1853" y="1199"/>
                  <a:pt x="1844" y="1209"/>
                </a:cubicBezTo>
                <a:cubicBezTo>
                  <a:pt x="1834" y="1219"/>
                  <a:pt x="1823" y="1228"/>
                  <a:pt x="1812" y="1235"/>
                </a:cubicBezTo>
                <a:cubicBezTo>
                  <a:pt x="1800" y="1243"/>
                  <a:pt x="1788" y="1250"/>
                  <a:pt x="1775" y="1255"/>
                </a:cubicBezTo>
                <a:cubicBezTo>
                  <a:pt x="1762" y="1260"/>
                  <a:pt x="1749" y="1264"/>
                  <a:pt x="1735" y="1267"/>
                </a:cubicBezTo>
                <a:cubicBezTo>
                  <a:pt x="1722" y="1270"/>
                  <a:pt x="1708" y="1271"/>
                  <a:pt x="1694" y="1271"/>
                </a:cubicBezTo>
                <a:lnTo>
                  <a:pt x="211" y="1271"/>
                </a:lnTo>
                <a:cubicBezTo>
                  <a:pt x="197" y="1271"/>
                  <a:pt x="184" y="1270"/>
                  <a:pt x="170" y="1267"/>
                </a:cubicBezTo>
                <a:cubicBezTo>
                  <a:pt x="156" y="1264"/>
                  <a:pt x="143" y="1260"/>
                  <a:pt x="130" y="1255"/>
                </a:cubicBezTo>
                <a:cubicBezTo>
                  <a:pt x="117" y="1250"/>
                  <a:pt x="105" y="1243"/>
                  <a:pt x="94" y="1235"/>
                </a:cubicBezTo>
                <a:cubicBezTo>
                  <a:pt x="82" y="1228"/>
                  <a:pt x="71" y="1219"/>
                  <a:pt x="62" y="1209"/>
                </a:cubicBezTo>
                <a:cubicBezTo>
                  <a:pt x="52" y="1199"/>
                  <a:pt x="43" y="1189"/>
                  <a:pt x="35" y="1177"/>
                </a:cubicBezTo>
                <a:cubicBezTo>
                  <a:pt x="28" y="1166"/>
                  <a:pt x="21" y="1153"/>
                  <a:pt x="16" y="1141"/>
                </a:cubicBezTo>
                <a:cubicBezTo>
                  <a:pt x="10" y="1128"/>
                  <a:pt x="6" y="1114"/>
                  <a:pt x="4" y="1101"/>
                </a:cubicBezTo>
                <a:cubicBezTo>
                  <a:pt x="1" y="1087"/>
                  <a:pt x="0" y="1073"/>
                  <a:pt x="0" y="1059"/>
                </a:cubicBezTo>
                <a:close/>
              </a:path>
            </a:pathLst>
          </a:custGeom>
          <a:solidFill>
            <a:srgbClr val="E8F2FA"/>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36" name="CuadroTexto 535"/>
          <p:cNvSpPr txBox="1"/>
          <p:nvPr/>
        </p:nvSpPr>
        <p:spPr>
          <a:xfrm>
            <a:off x="914400" y="4911840"/>
            <a:ext cx="30045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JDK, este siempre cuenta en su interior con el JRE.</a:t>
            </a:r>
            <a:endParaRPr lang="en-US" sz="1200" b="0" u="none" strike="noStrike">
              <a:solidFill>
                <a:srgbClr val="000000"/>
              </a:solidFill>
              <a:effectLst/>
              <a:uFillTx/>
              <a:latin typeface="Times New Roman"/>
            </a:endParaRPr>
          </a:p>
        </p:txBody>
      </p:sp>
      <p:sp>
        <p:nvSpPr>
          <p:cNvPr id="537" name="CuadroTexto 536"/>
          <p:cNvSpPr txBox="1"/>
          <p:nvPr/>
        </p:nvSpPr>
        <p:spPr>
          <a:xfrm>
            <a:off x="6743520" y="2004840"/>
            <a:ext cx="353520" cy="253440"/>
          </a:xfrm>
          <a:prstGeom prst="rect">
            <a:avLst/>
          </a:prstGeom>
          <a:noFill/>
          <a:ln w="0">
            <a:noFill/>
          </a:ln>
        </p:spPr>
        <p:txBody>
          <a:bodyPr wrap="none" lIns="0" tIns="0" rIns="0" bIns="0" anchor="t">
            <a:spAutoFit/>
          </a:bodyPr>
          <a:lstStyle/>
          <a:p>
            <a:r>
              <a:rPr lang="en-US" sz="1800" b="0" u="none" strike="noStrike">
                <a:solidFill>
                  <a:srgbClr val="5B9BD5"/>
                </a:solidFill>
                <a:effectLst/>
                <a:uFillTx/>
                <a:latin typeface="CrimsonPro"/>
                <a:ea typeface="CrimsonPro"/>
              </a:rPr>
              <a:t>JDK</a:t>
            </a:r>
            <a:endParaRPr lang="en-US" sz="1800" b="0" u="none" strike="noStrike">
              <a:solidFill>
                <a:srgbClr val="000000"/>
              </a:solidFill>
              <a:effectLst/>
              <a:uFillTx/>
              <a:latin typeface="Times New Roman"/>
            </a:endParaRPr>
          </a:p>
        </p:txBody>
      </p:sp>
      <p:sp>
        <p:nvSpPr>
          <p:cNvPr id="538" name="CuadroTexto 537"/>
          <p:cNvSpPr txBox="1"/>
          <p:nvPr/>
        </p:nvSpPr>
        <p:spPr>
          <a:xfrm>
            <a:off x="6591240" y="2696400"/>
            <a:ext cx="164520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Java Development Kit</a:t>
            </a:r>
            <a:endParaRPr lang="en-US" sz="1500" b="0" u="none" strike="noStrike">
              <a:solidFill>
                <a:srgbClr val="000000"/>
              </a:solidFill>
              <a:effectLst/>
              <a:uFillTx/>
              <a:latin typeface="Times New Roman"/>
            </a:endParaRPr>
          </a:p>
        </p:txBody>
      </p:sp>
      <p:sp>
        <p:nvSpPr>
          <p:cNvPr id="539" name="CuadroTexto 538"/>
          <p:cNvSpPr txBox="1"/>
          <p:nvPr/>
        </p:nvSpPr>
        <p:spPr>
          <a:xfrm>
            <a:off x="6591240" y="3120840"/>
            <a:ext cx="45518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Es el compilador </a:t>
            </a:r>
            <a:r>
              <a:rPr lang="en-US" sz="1200" b="0" u="none" strike="noStrike">
                <a:solidFill>
                  <a:srgbClr val="000000"/>
                </a:solidFill>
                <a:effectLst/>
                <a:uFillTx/>
                <a:latin typeface="CrimsonPro"/>
                <a:ea typeface="CrimsonPro"/>
              </a:rPr>
              <a:t>javac</a:t>
            </a:r>
            <a:r>
              <a:rPr lang="en-US" sz="1200" b="0" u="none" strike="noStrike">
                <a:solidFill>
                  <a:srgbClr val="666666"/>
                </a:solidFill>
                <a:effectLst/>
                <a:uFillTx/>
                <a:latin typeface="CrimsonPro"/>
                <a:ea typeface="CrimsonPro"/>
              </a:rPr>
              <a:t> encargado de convertir nuestro código fuente (.java)</a:t>
            </a:r>
            <a:endParaRPr lang="en-US" sz="1200" b="0" u="none" strike="noStrike">
              <a:solidFill>
                <a:srgbClr val="000000"/>
              </a:solidFill>
              <a:effectLst/>
              <a:uFillTx/>
              <a:latin typeface="Times New Roman"/>
            </a:endParaRPr>
          </a:p>
        </p:txBody>
      </p:sp>
      <p:sp>
        <p:nvSpPr>
          <p:cNvPr id="540" name="CuadroTexto 539"/>
          <p:cNvSpPr txBox="1"/>
          <p:nvPr/>
        </p:nvSpPr>
        <p:spPr>
          <a:xfrm>
            <a:off x="6591240" y="3368520"/>
            <a:ext cx="12290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en bytecode (.class).</a:t>
            </a:r>
            <a:endParaRPr lang="en-US" sz="1200" b="0" u="none" strike="noStrike">
              <a:solidFill>
                <a:srgbClr val="000000"/>
              </a:solidFill>
              <a:effectLst/>
              <a:uFillTx/>
              <a:latin typeface="Times New Roman"/>
            </a:endParaRPr>
          </a:p>
        </p:txBody>
      </p:sp>
      <p:sp>
        <p:nvSpPr>
          <p:cNvPr id="541" name="CuadroTexto 540"/>
          <p:cNvSpPr txBox="1"/>
          <p:nvPr/>
        </p:nvSpPr>
        <p:spPr>
          <a:xfrm>
            <a:off x="6591240" y="3768840"/>
            <a:ext cx="44582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El bytecode posteriormente será interpretado y ejecutado con la JVM para</a:t>
            </a:r>
            <a:endParaRPr lang="en-US" sz="1200" b="0" u="none" strike="noStrike">
              <a:solidFill>
                <a:srgbClr val="000000"/>
              </a:solidFill>
              <a:effectLst/>
              <a:uFillTx/>
              <a:latin typeface="Times New Roman"/>
            </a:endParaRPr>
          </a:p>
        </p:txBody>
      </p:sp>
      <p:sp>
        <p:nvSpPr>
          <p:cNvPr id="542" name="Forma libre: forma 541"/>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43" name="CuadroTexto 542"/>
          <p:cNvSpPr txBox="1"/>
          <p:nvPr/>
        </p:nvSpPr>
        <p:spPr>
          <a:xfrm>
            <a:off x="6591240" y="4016520"/>
            <a:ext cx="457992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después ver los resultados de ejecución en los distintos sistemas operativos.</a:t>
            </a:r>
            <a:endParaRPr lang="en-US" sz="1200" b="0" u="none" strike="noStrike">
              <a:solidFill>
                <a:srgbClr val="000000"/>
              </a:solidFill>
              <a:effectLst/>
              <a:uFillTx/>
              <a:latin typeface="Times New Roman"/>
            </a:endParaRPr>
          </a:p>
        </p:txBody>
      </p:sp>
      <p:sp>
        <p:nvSpPr>
          <p:cNvPr id="544" name="CuadroTexto 543"/>
          <p:cNvSpPr txBox="1"/>
          <p:nvPr/>
        </p:nvSpPr>
        <p:spPr>
          <a:xfrm>
            <a:off x="571320" y="6083280"/>
            <a:ext cx="162360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Tomado de campusmvp.es</a:t>
            </a:r>
            <a:endParaRPr lang="en-US" sz="1200" b="0" u="none" strike="noStrike">
              <a:solidFill>
                <a:srgbClr val="000000"/>
              </a:solidFill>
              <a:effectLst/>
              <a:uFillTx/>
              <a:latin typeface="Times New Roman"/>
            </a:endParaRPr>
          </a:p>
        </p:txBody>
      </p:sp>
      <p:sp>
        <p:nvSpPr>
          <p:cNvPr id="545" name="CuadroTexto 544"/>
          <p:cNvSpPr txBox="1"/>
          <p:nvPr/>
        </p:nvSpPr>
        <p:spPr>
          <a:xfrm>
            <a:off x="11461680" y="6083280"/>
            <a:ext cx="15948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20</a:t>
            </a:r>
            <a:endParaRPr lang="en-US" sz="12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3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3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 grpId="0" animBg="1"/>
      <p:bldP spid="522" grpId="0" animBg="1"/>
      <p:bldP spid="523" grpId="0" animBg="1"/>
      <p:bldP spid="525" grpId="0"/>
      <p:bldP spid="526" grpId="0"/>
      <p:bldP spid="527" grpId="0"/>
      <p:bldP spid="528" grpId="0"/>
      <p:bldP spid="529" grpId="0"/>
      <p:bldP spid="530" grpId="0"/>
      <p:bldP spid="531" grpId="0"/>
      <p:bldP spid="532" grpId="0"/>
      <p:bldP spid="533" grpId="0" animBg="1"/>
      <p:bldP spid="534" grpId="0" animBg="1"/>
      <p:bldP spid="535" grpId="0" animBg="1"/>
      <p:bldP spid="536" grpId="0"/>
      <p:bldP spid="537" grpId="0"/>
      <p:bldP spid="538" grpId="0"/>
      <p:bldP spid="539" grpId="0"/>
      <p:bldP spid="540" grpId="0"/>
      <p:bldP spid="541" grpId="0"/>
      <p:bldP spid="54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 name="Forma libre: forma 545"/>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AF9F6"/>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47" name="Forma libre: forma 546"/>
          <p:cNvSpPr/>
          <p:nvPr/>
        </p:nvSpPr>
        <p:spPr>
          <a:xfrm>
            <a:off x="0" y="0"/>
            <a:ext cx="12192120" cy="6858000"/>
          </a:xfrm>
          <a:custGeom>
            <a:avLst/>
            <a:gdLst/>
            <a:ahLst/>
            <a:cxnLst/>
            <a:rect l="0" t="0" r="r" b="b"/>
            <a:pathLst>
              <a:path w="33867" h="19050">
                <a:moveTo>
                  <a:pt x="0" y="0"/>
                </a:moveTo>
                <a:lnTo>
                  <a:pt x="33867" y="0"/>
                </a:lnTo>
                <a:lnTo>
                  <a:pt x="33867" y="19050"/>
                </a:lnTo>
                <a:lnTo>
                  <a:pt x="0" y="19050"/>
                </a:lnTo>
                <a:lnTo>
                  <a:pt x="0" y="0"/>
                </a:lnTo>
                <a:close/>
              </a:path>
            </a:pathLst>
          </a:custGeom>
          <a:solidFill>
            <a:srgbClr val="FAF9F6"/>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48" name="Forma libre: forma 547"/>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549" name="Imagen 548"/>
          <p:cNvPicPr/>
          <p:nvPr/>
        </p:nvPicPr>
        <p:blipFill>
          <a:blip r:embed="rId3"/>
          <a:stretch/>
        </p:blipFill>
        <p:spPr>
          <a:xfrm>
            <a:off x="1549280" y="1260452"/>
            <a:ext cx="8305920" cy="4635267"/>
          </a:xfrm>
          <a:prstGeom prst="rect">
            <a:avLst/>
          </a:prstGeom>
          <a:noFill/>
          <a:ln w="0">
            <a:noFill/>
          </a:ln>
        </p:spPr>
      </p:pic>
      <p:sp>
        <p:nvSpPr>
          <p:cNvPr id="550" name="Forma libre: forma 549"/>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51" name="CuadroTexto 550"/>
          <p:cNvSpPr txBox="1"/>
          <p:nvPr/>
        </p:nvSpPr>
        <p:spPr>
          <a:xfrm>
            <a:off x="571320" y="569160"/>
            <a:ext cx="302148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Tipos de datos en Java</a:t>
            </a:r>
            <a:endParaRPr lang="en-US" sz="2700" b="0" u="none" strike="noStrike">
              <a:solidFill>
                <a:srgbClr val="000000"/>
              </a:solidFill>
              <a:effectLst/>
              <a:uFillTx/>
              <a:latin typeface="Times New Roman"/>
            </a:endParaRPr>
          </a:p>
        </p:txBody>
      </p:sp>
      <p:sp>
        <p:nvSpPr>
          <p:cNvPr id="552" name="CuadroTexto 551"/>
          <p:cNvSpPr txBox="1"/>
          <p:nvPr/>
        </p:nvSpPr>
        <p:spPr>
          <a:xfrm>
            <a:off x="571320" y="6083280"/>
            <a:ext cx="49910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 | Tomado de campusmvp.es</a:t>
            </a:r>
            <a:endParaRPr lang="en-US" sz="1200" b="0" u="none" strike="noStrike">
              <a:solidFill>
                <a:srgbClr val="000000"/>
              </a:solidFill>
              <a:effectLst/>
              <a:uFillTx/>
              <a:latin typeface="Times New Roman"/>
            </a:endParaRPr>
          </a:p>
        </p:txBody>
      </p:sp>
      <p:sp>
        <p:nvSpPr>
          <p:cNvPr id="553" name="CuadroTexto 552"/>
          <p:cNvSpPr txBox="1"/>
          <p:nvPr/>
        </p:nvSpPr>
        <p:spPr>
          <a:xfrm>
            <a:off x="11497320" y="60832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21</a:t>
            </a:r>
            <a:endParaRPr lang="en-US" sz="1200" b="0" u="none" strike="noStrike">
              <a:solidFill>
                <a:srgbClr val="000000"/>
              </a:solidFill>
              <a:effectLst/>
              <a:uFillTx/>
              <a:latin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Forma libre: forma 555"/>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557" name="Imagen 556"/>
          <p:cNvPicPr/>
          <p:nvPr/>
        </p:nvPicPr>
        <p:blipFill>
          <a:blip r:embed="rId3"/>
          <a:stretch/>
        </p:blipFill>
        <p:spPr>
          <a:xfrm>
            <a:off x="1556476" y="1041477"/>
            <a:ext cx="8543651" cy="4507203"/>
          </a:xfrm>
          <a:prstGeom prst="rect">
            <a:avLst/>
          </a:prstGeom>
          <a:noFill/>
          <a:ln w="0">
            <a:noFill/>
          </a:ln>
        </p:spPr>
      </p:pic>
      <p:sp>
        <p:nvSpPr>
          <p:cNvPr id="558" name="CuadroTexto 557"/>
          <p:cNvSpPr txBox="1"/>
          <p:nvPr/>
        </p:nvSpPr>
        <p:spPr>
          <a:xfrm>
            <a:off x="571320" y="569160"/>
            <a:ext cx="264204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Operadores en Java</a:t>
            </a:r>
            <a:endParaRPr lang="en-US" sz="2700" b="0" u="none" strike="noStrike">
              <a:solidFill>
                <a:srgbClr val="000000"/>
              </a:solidFill>
              <a:effectLst/>
              <a:uFillTx/>
              <a:latin typeface="Times New Roman"/>
            </a:endParaRPr>
          </a:p>
        </p:txBody>
      </p:sp>
      <p:sp>
        <p:nvSpPr>
          <p:cNvPr id="559" name="Forma libre: forma 558"/>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60" name="CuadroTexto 559"/>
          <p:cNvSpPr txBox="1"/>
          <p:nvPr/>
        </p:nvSpPr>
        <p:spPr>
          <a:xfrm>
            <a:off x="4504623" y="5548680"/>
            <a:ext cx="2264400" cy="169560"/>
          </a:xfrm>
          <a:prstGeom prst="rect">
            <a:avLst/>
          </a:prstGeom>
          <a:noFill/>
          <a:ln w="0">
            <a:noFill/>
          </a:ln>
        </p:spPr>
        <p:txBody>
          <a:bodyPr wrap="none" lIns="0" tIns="0" rIns="0" bIns="0" anchor="t">
            <a:spAutoFit/>
          </a:bodyPr>
          <a:lstStyle/>
          <a:p>
            <a:r>
              <a:rPr lang="en-US" sz="1200" b="0" i="1" u="none" strike="noStrike" dirty="0" err="1">
                <a:solidFill>
                  <a:srgbClr val="999999"/>
                </a:solidFill>
                <a:effectLst/>
                <a:uFillTx/>
                <a:latin typeface="CrimsonPro"/>
                <a:ea typeface="CrimsonPro"/>
              </a:rPr>
              <a:t>Tomado</a:t>
            </a:r>
            <a:r>
              <a:rPr lang="en-US" sz="1200" b="0" i="1" u="none" strike="noStrike" dirty="0">
                <a:solidFill>
                  <a:srgbClr val="999999"/>
                </a:solidFill>
                <a:effectLst/>
                <a:uFillTx/>
                <a:latin typeface="CrimsonPro"/>
                <a:ea typeface="CrimsonPro"/>
              </a:rPr>
              <a:t> de la </a:t>
            </a:r>
            <a:r>
              <a:rPr lang="en-US" sz="1200" b="0" i="1" u="none" strike="noStrike" dirty="0" err="1">
                <a:solidFill>
                  <a:srgbClr val="999999"/>
                </a:solidFill>
                <a:effectLst/>
                <a:uFillTx/>
                <a:latin typeface="CrimsonPro"/>
                <a:ea typeface="CrimsonPro"/>
              </a:rPr>
              <a:t>página</a:t>
            </a:r>
            <a:r>
              <a:rPr lang="en-US" sz="1200" b="0" i="1" u="none" strike="noStrike" dirty="0">
                <a:solidFill>
                  <a:srgbClr val="999999"/>
                </a:solidFill>
                <a:effectLst/>
                <a:uFillTx/>
                <a:latin typeface="CrimsonPro"/>
                <a:ea typeface="CrimsonPro"/>
              </a:rPr>
              <a:t> de manualweb.net</a:t>
            </a:r>
            <a:endParaRPr lang="en-US" sz="1200" b="0" u="none" strike="noStrike" dirty="0">
              <a:solidFill>
                <a:srgbClr val="000000"/>
              </a:solidFill>
              <a:effectLst/>
              <a:uFillTx/>
              <a:latin typeface="Times New Roman"/>
            </a:endParaRPr>
          </a:p>
        </p:txBody>
      </p:sp>
      <p:sp>
        <p:nvSpPr>
          <p:cNvPr id="561" name="CuadroTexto 560"/>
          <p:cNvSpPr txBox="1"/>
          <p:nvPr/>
        </p:nvSpPr>
        <p:spPr>
          <a:xfrm>
            <a:off x="571320" y="60832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562" name="CuadroTexto 561"/>
          <p:cNvSpPr txBox="1"/>
          <p:nvPr/>
        </p:nvSpPr>
        <p:spPr>
          <a:xfrm>
            <a:off x="11476080" y="60832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22</a:t>
            </a:r>
            <a:endParaRPr lang="en-US" sz="1200" b="0" u="none" strike="noStrike">
              <a:solidFill>
                <a:srgbClr val="000000"/>
              </a:solidFill>
              <a:effectLst/>
              <a:uFillTx/>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Forma libre: forma 564"/>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66" name="Forma libre: forma 565"/>
          <p:cNvSpPr/>
          <p:nvPr/>
        </p:nvSpPr>
        <p:spPr>
          <a:xfrm>
            <a:off x="1814400" y="1204560"/>
            <a:ext cx="8563320" cy="4753440"/>
          </a:xfrm>
          <a:custGeom>
            <a:avLst/>
            <a:gdLst/>
            <a:ahLst/>
            <a:cxnLst/>
            <a:rect l="0" t="0" r="r" b="b"/>
            <a:pathLst>
              <a:path w="23787" h="13204">
                <a:moveTo>
                  <a:pt x="0" y="12794"/>
                </a:moveTo>
                <a:lnTo>
                  <a:pt x="0" y="411"/>
                </a:lnTo>
                <a:cubicBezTo>
                  <a:pt x="0" y="384"/>
                  <a:pt x="2" y="357"/>
                  <a:pt x="8" y="331"/>
                </a:cubicBezTo>
                <a:cubicBezTo>
                  <a:pt x="13" y="304"/>
                  <a:pt x="21" y="279"/>
                  <a:pt x="31" y="254"/>
                </a:cubicBezTo>
                <a:cubicBezTo>
                  <a:pt x="41" y="229"/>
                  <a:pt x="54" y="205"/>
                  <a:pt x="69" y="183"/>
                </a:cubicBezTo>
                <a:cubicBezTo>
                  <a:pt x="84" y="160"/>
                  <a:pt x="101" y="140"/>
                  <a:pt x="120" y="121"/>
                </a:cubicBezTo>
                <a:cubicBezTo>
                  <a:pt x="139" y="102"/>
                  <a:pt x="160" y="85"/>
                  <a:pt x="182" y="70"/>
                </a:cubicBezTo>
                <a:cubicBezTo>
                  <a:pt x="204" y="55"/>
                  <a:pt x="228" y="42"/>
                  <a:pt x="253" y="32"/>
                </a:cubicBezTo>
                <a:cubicBezTo>
                  <a:pt x="278" y="21"/>
                  <a:pt x="303" y="14"/>
                  <a:pt x="330" y="8"/>
                </a:cubicBezTo>
                <a:cubicBezTo>
                  <a:pt x="356" y="3"/>
                  <a:pt x="383" y="0"/>
                  <a:pt x="410" y="0"/>
                </a:cubicBezTo>
                <a:lnTo>
                  <a:pt x="23377" y="0"/>
                </a:lnTo>
                <a:cubicBezTo>
                  <a:pt x="23404" y="0"/>
                  <a:pt x="23430" y="3"/>
                  <a:pt x="23457" y="8"/>
                </a:cubicBezTo>
                <a:cubicBezTo>
                  <a:pt x="23483" y="14"/>
                  <a:pt x="23509" y="21"/>
                  <a:pt x="23534" y="32"/>
                </a:cubicBezTo>
                <a:cubicBezTo>
                  <a:pt x="23559" y="42"/>
                  <a:pt x="23582" y="55"/>
                  <a:pt x="23605" y="70"/>
                </a:cubicBezTo>
                <a:cubicBezTo>
                  <a:pt x="23627" y="85"/>
                  <a:pt x="23648" y="102"/>
                  <a:pt x="23667" y="121"/>
                </a:cubicBezTo>
                <a:cubicBezTo>
                  <a:pt x="23686" y="140"/>
                  <a:pt x="23703" y="160"/>
                  <a:pt x="23718" y="183"/>
                </a:cubicBezTo>
                <a:cubicBezTo>
                  <a:pt x="23733" y="205"/>
                  <a:pt x="23745" y="229"/>
                  <a:pt x="23756" y="254"/>
                </a:cubicBezTo>
                <a:cubicBezTo>
                  <a:pt x="23766" y="279"/>
                  <a:pt x="23774" y="304"/>
                  <a:pt x="23779" y="331"/>
                </a:cubicBezTo>
                <a:cubicBezTo>
                  <a:pt x="23784" y="357"/>
                  <a:pt x="23787" y="384"/>
                  <a:pt x="23787" y="411"/>
                </a:cubicBezTo>
                <a:lnTo>
                  <a:pt x="23787" y="12794"/>
                </a:lnTo>
                <a:cubicBezTo>
                  <a:pt x="23787" y="12821"/>
                  <a:pt x="23784" y="12848"/>
                  <a:pt x="23779" y="12874"/>
                </a:cubicBezTo>
                <a:cubicBezTo>
                  <a:pt x="23774" y="12900"/>
                  <a:pt x="23766" y="12926"/>
                  <a:pt x="23756" y="12951"/>
                </a:cubicBezTo>
                <a:cubicBezTo>
                  <a:pt x="23745" y="12976"/>
                  <a:pt x="23733" y="13000"/>
                  <a:pt x="23718" y="13022"/>
                </a:cubicBezTo>
                <a:cubicBezTo>
                  <a:pt x="23703" y="13044"/>
                  <a:pt x="23686" y="13065"/>
                  <a:pt x="23667" y="13084"/>
                </a:cubicBezTo>
                <a:cubicBezTo>
                  <a:pt x="23648" y="13103"/>
                  <a:pt x="23627" y="13120"/>
                  <a:pt x="23605" y="13135"/>
                </a:cubicBezTo>
                <a:cubicBezTo>
                  <a:pt x="23582" y="13150"/>
                  <a:pt x="23559" y="13163"/>
                  <a:pt x="23534" y="13173"/>
                </a:cubicBezTo>
                <a:cubicBezTo>
                  <a:pt x="23509" y="13183"/>
                  <a:pt x="23483" y="13191"/>
                  <a:pt x="23457" y="13196"/>
                </a:cubicBezTo>
                <a:cubicBezTo>
                  <a:pt x="23430" y="13202"/>
                  <a:pt x="23404" y="13204"/>
                  <a:pt x="23377" y="13204"/>
                </a:cubicBezTo>
                <a:lnTo>
                  <a:pt x="410" y="13204"/>
                </a:lnTo>
                <a:cubicBezTo>
                  <a:pt x="383" y="13204"/>
                  <a:pt x="356" y="13202"/>
                  <a:pt x="330" y="13196"/>
                </a:cubicBezTo>
                <a:cubicBezTo>
                  <a:pt x="303" y="13191"/>
                  <a:pt x="278" y="13183"/>
                  <a:pt x="253" y="13173"/>
                </a:cubicBezTo>
                <a:cubicBezTo>
                  <a:pt x="228" y="13163"/>
                  <a:pt x="204" y="13150"/>
                  <a:pt x="182" y="13135"/>
                </a:cubicBezTo>
                <a:cubicBezTo>
                  <a:pt x="160" y="13120"/>
                  <a:pt x="139" y="13103"/>
                  <a:pt x="120" y="13084"/>
                </a:cubicBezTo>
                <a:cubicBezTo>
                  <a:pt x="101" y="13065"/>
                  <a:pt x="84" y="13044"/>
                  <a:pt x="69" y="13022"/>
                </a:cubicBezTo>
                <a:cubicBezTo>
                  <a:pt x="54" y="13000"/>
                  <a:pt x="41" y="12976"/>
                  <a:pt x="31" y="12951"/>
                </a:cubicBezTo>
                <a:cubicBezTo>
                  <a:pt x="21" y="12926"/>
                  <a:pt x="13" y="12900"/>
                  <a:pt x="8" y="12874"/>
                </a:cubicBezTo>
                <a:cubicBezTo>
                  <a:pt x="2" y="12848"/>
                  <a:pt x="0" y="12821"/>
                  <a:pt x="0" y="12794"/>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67" name="Forma libre: forma 566"/>
          <p:cNvSpPr/>
          <p:nvPr/>
        </p:nvSpPr>
        <p:spPr>
          <a:xfrm>
            <a:off x="1814400" y="1204560"/>
            <a:ext cx="8563320" cy="4753440"/>
          </a:xfrm>
          <a:custGeom>
            <a:avLst/>
            <a:gdLst/>
            <a:ahLst/>
            <a:cxnLst/>
            <a:rect l="0" t="0" r="r" b="b"/>
            <a:pathLst>
              <a:path w="23787" h="13204" fill="none">
                <a:moveTo>
                  <a:pt x="0" y="12794"/>
                </a:moveTo>
                <a:lnTo>
                  <a:pt x="0" y="411"/>
                </a:lnTo>
                <a:cubicBezTo>
                  <a:pt x="0" y="384"/>
                  <a:pt x="2" y="357"/>
                  <a:pt x="8" y="331"/>
                </a:cubicBezTo>
                <a:cubicBezTo>
                  <a:pt x="13" y="304"/>
                  <a:pt x="21" y="279"/>
                  <a:pt x="31" y="254"/>
                </a:cubicBezTo>
                <a:cubicBezTo>
                  <a:pt x="41" y="229"/>
                  <a:pt x="54" y="205"/>
                  <a:pt x="69" y="183"/>
                </a:cubicBezTo>
                <a:cubicBezTo>
                  <a:pt x="84" y="160"/>
                  <a:pt x="101" y="140"/>
                  <a:pt x="120" y="121"/>
                </a:cubicBezTo>
                <a:cubicBezTo>
                  <a:pt x="139" y="102"/>
                  <a:pt x="160" y="85"/>
                  <a:pt x="182" y="70"/>
                </a:cubicBezTo>
                <a:cubicBezTo>
                  <a:pt x="204" y="55"/>
                  <a:pt x="228" y="42"/>
                  <a:pt x="253" y="32"/>
                </a:cubicBezTo>
                <a:cubicBezTo>
                  <a:pt x="278" y="21"/>
                  <a:pt x="303" y="14"/>
                  <a:pt x="330" y="8"/>
                </a:cubicBezTo>
                <a:cubicBezTo>
                  <a:pt x="356" y="3"/>
                  <a:pt x="383" y="0"/>
                  <a:pt x="410" y="0"/>
                </a:cubicBezTo>
                <a:lnTo>
                  <a:pt x="23377" y="0"/>
                </a:lnTo>
                <a:cubicBezTo>
                  <a:pt x="23404" y="0"/>
                  <a:pt x="23430" y="3"/>
                  <a:pt x="23457" y="8"/>
                </a:cubicBezTo>
                <a:cubicBezTo>
                  <a:pt x="23483" y="14"/>
                  <a:pt x="23509" y="21"/>
                  <a:pt x="23534" y="32"/>
                </a:cubicBezTo>
                <a:cubicBezTo>
                  <a:pt x="23559" y="42"/>
                  <a:pt x="23582" y="55"/>
                  <a:pt x="23605" y="70"/>
                </a:cubicBezTo>
                <a:cubicBezTo>
                  <a:pt x="23627" y="85"/>
                  <a:pt x="23648" y="102"/>
                  <a:pt x="23667" y="121"/>
                </a:cubicBezTo>
                <a:cubicBezTo>
                  <a:pt x="23686" y="140"/>
                  <a:pt x="23703" y="160"/>
                  <a:pt x="23718" y="183"/>
                </a:cubicBezTo>
                <a:cubicBezTo>
                  <a:pt x="23733" y="205"/>
                  <a:pt x="23745" y="229"/>
                  <a:pt x="23756" y="254"/>
                </a:cubicBezTo>
                <a:cubicBezTo>
                  <a:pt x="23766" y="279"/>
                  <a:pt x="23774" y="304"/>
                  <a:pt x="23779" y="331"/>
                </a:cubicBezTo>
                <a:cubicBezTo>
                  <a:pt x="23784" y="357"/>
                  <a:pt x="23787" y="384"/>
                  <a:pt x="23787" y="411"/>
                </a:cubicBezTo>
                <a:lnTo>
                  <a:pt x="23787" y="12794"/>
                </a:lnTo>
                <a:cubicBezTo>
                  <a:pt x="23787" y="12821"/>
                  <a:pt x="23784" y="12848"/>
                  <a:pt x="23779" y="12874"/>
                </a:cubicBezTo>
                <a:cubicBezTo>
                  <a:pt x="23774" y="12900"/>
                  <a:pt x="23766" y="12926"/>
                  <a:pt x="23756" y="12951"/>
                </a:cubicBezTo>
                <a:cubicBezTo>
                  <a:pt x="23745" y="12976"/>
                  <a:pt x="23733" y="13000"/>
                  <a:pt x="23718" y="13022"/>
                </a:cubicBezTo>
                <a:cubicBezTo>
                  <a:pt x="23703" y="13044"/>
                  <a:pt x="23686" y="13065"/>
                  <a:pt x="23667" y="13084"/>
                </a:cubicBezTo>
                <a:cubicBezTo>
                  <a:pt x="23648" y="13103"/>
                  <a:pt x="23627" y="13120"/>
                  <a:pt x="23605" y="13135"/>
                </a:cubicBezTo>
                <a:cubicBezTo>
                  <a:pt x="23582" y="13150"/>
                  <a:pt x="23559" y="13163"/>
                  <a:pt x="23534" y="13173"/>
                </a:cubicBezTo>
                <a:cubicBezTo>
                  <a:pt x="23509" y="13183"/>
                  <a:pt x="23483" y="13191"/>
                  <a:pt x="23457" y="13196"/>
                </a:cubicBezTo>
                <a:cubicBezTo>
                  <a:pt x="23430" y="13202"/>
                  <a:pt x="23404" y="13204"/>
                  <a:pt x="23377" y="13204"/>
                </a:cubicBezTo>
                <a:lnTo>
                  <a:pt x="410" y="13204"/>
                </a:lnTo>
                <a:cubicBezTo>
                  <a:pt x="383" y="13204"/>
                  <a:pt x="356" y="13202"/>
                  <a:pt x="330" y="13196"/>
                </a:cubicBezTo>
                <a:cubicBezTo>
                  <a:pt x="303" y="13191"/>
                  <a:pt x="278" y="13183"/>
                  <a:pt x="253" y="13173"/>
                </a:cubicBezTo>
                <a:cubicBezTo>
                  <a:pt x="228" y="13163"/>
                  <a:pt x="204" y="13150"/>
                  <a:pt x="182" y="13135"/>
                </a:cubicBezTo>
                <a:cubicBezTo>
                  <a:pt x="160" y="13120"/>
                  <a:pt x="139" y="13103"/>
                  <a:pt x="120" y="13084"/>
                </a:cubicBezTo>
                <a:cubicBezTo>
                  <a:pt x="101" y="13065"/>
                  <a:pt x="84" y="13044"/>
                  <a:pt x="69" y="13022"/>
                </a:cubicBezTo>
                <a:cubicBezTo>
                  <a:pt x="54" y="13000"/>
                  <a:pt x="41" y="12976"/>
                  <a:pt x="31" y="12951"/>
                </a:cubicBezTo>
                <a:cubicBezTo>
                  <a:pt x="21" y="12926"/>
                  <a:pt x="13" y="12900"/>
                  <a:pt x="8" y="12874"/>
                </a:cubicBezTo>
                <a:cubicBezTo>
                  <a:pt x="2" y="12848"/>
                  <a:pt x="0" y="12821"/>
                  <a:pt x="0" y="12794"/>
                </a:cubicBezTo>
              </a:path>
            </a:pathLst>
          </a:custGeom>
          <a:ln w="9360">
            <a:solidFill>
              <a:schemeClr val="tx1"/>
            </a:solidFill>
            <a:miter/>
          </a:ln>
        </p:spPr>
        <p:txBody>
          <a:bodyPr lIns="4680" tIns="4680" rIns="4680" bIns="4680" anchor="t">
            <a:noAutofit/>
          </a:bodyPr>
          <a:lstStyle/>
          <a:p>
            <a:endParaRPr lang="en-US" sz="2400" b="0" u="none" strike="noStrike">
              <a:solidFill>
                <a:srgbClr val="000000"/>
              </a:solidFill>
              <a:effectLst/>
              <a:uFillTx/>
              <a:latin typeface="Times New Roman"/>
            </a:endParaRPr>
          </a:p>
        </p:txBody>
      </p:sp>
      <p:sp>
        <p:nvSpPr>
          <p:cNvPr id="568" name="Forma libre: forma 567"/>
          <p:cNvSpPr/>
          <p:nvPr/>
        </p:nvSpPr>
        <p:spPr>
          <a:xfrm>
            <a:off x="2219040" y="3276360"/>
            <a:ext cx="7772760" cy="1105200"/>
          </a:xfrm>
          <a:custGeom>
            <a:avLst/>
            <a:gdLst/>
            <a:ahLst/>
            <a:cxnLst/>
            <a:rect l="0" t="0" r="r" b="b"/>
            <a:pathLst>
              <a:path w="21591" h="3070">
                <a:moveTo>
                  <a:pt x="0" y="2859"/>
                </a:moveTo>
                <a:lnTo>
                  <a:pt x="0" y="212"/>
                </a:lnTo>
                <a:cubicBezTo>
                  <a:pt x="0" y="198"/>
                  <a:pt x="1" y="184"/>
                  <a:pt x="3" y="171"/>
                </a:cubicBezTo>
                <a:cubicBezTo>
                  <a:pt x="5" y="157"/>
                  <a:pt x="8" y="144"/>
                  <a:pt x="12" y="131"/>
                </a:cubicBezTo>
                <a:cubicBezTo>
                  <a:pt x="16" y="118"/>
                  <a:pt x="21" y="106"/>
                  <a:pt x="27" y="94"/>
                </a:cubicBezTo>
                <a:cubicBezTo>
                  <a:pt x="33" y="83"/>
                  <a:pt x="39" y="72"/>
                  <a:pt x="47" y="62"/>
                </a:cubicBezTo>
                <a:cubicBezTo>
                  <a:pt x="54" y="52"/>
                  <a:pt x="62" y="44"/>
                  <a:pt x="71" y="36"/>
                </a:cubicBezTo>
                <a:cubicBezTo>
                  <a:pt x="80" y="28"/>
                  <a:pt x="89" y="22"/>
                  <a:pt x="98" y="16"/>
                </a:cubicBezTo>
                <a:cubicBezTo>
                  <a:pt x="108" y="11"/>
                  <a:pt x="118" y="7"/>
                  <a:pt x="128" y="4"/>
                </a:cubicBezTo>
                <a:cubicBezTo>
                  <a:pt x="138" y="2"/>
                  <a:pt x="149" y="0"/>
                  <a:pt x="159" y="0"/>
                </a:cubicBezTo>
                <a:lnTo>
                  <a:pt x="21380" y="0"/>
                </a:lnTo>
                <a:cubicBezTo>
                  <a:pt x="21394" y="0"/>
                  <a:pt x="21407" y="2"/>
                  <a:pt x="21421" y="4"/>
                </a:cubicBezTo>
                <a:cubicBezTo>
                  <a:pt x="21435" y="7"/>
                  <a:pt x="21448" y="11"/>
                  <a:pt x="21461" y="16"/>
                </a:cubicBezTo>
                <a:cubicBezTo>
                  <a:pt x="21473" y="22"/>
                  <a:pt x="21486" y="28"/>
                  <a:pt x="21497" y="36"/>
                </a:cubicBezTo>
                <a:cubicBezTo>
                  <a:pt x="21509" y="44"/>
                  <a:pt x="21519" y="52"/>
                  <a:pt x="21529" y="62"/>
                </a:cubicBezTo>
                <a:cubicBezTo>
                  <a:pt x="21539" y="72"/>
                  <a:pt x="21548" y="83"/>
                  <a:pt x="21556" y="94"/>
                </a:cubicBezTo>
                <a:cubicBezTo>
                  <a:pt x="21563" y="106"/>
                  <a:pt x="21570" y="118"/>
                  <a:pt x="21575" y="131"/>
                </a:cubicBezTo>
                <a:cubicBezTo>
                  <a:pt x="21580" y="144"/>
                  <a:pt x="21585" y="157"/>
                  <a:pt x="21587" y="171"/>
                </a:cubicBezTo>
                <a:cubicBezTo>
                  <a:pt x="21590" y="184"/>
                  <a:pt x="21591" y="198"/>
                  <a:pt x="21591" y="212"/>
                </a:cubicBezTo>
                <a:lnTo>
                  <a:pt x="21591" y="2859"/>
                </a:lnTo>
                <a:cubicBezTo>
                  <a:pt x="21591" y="2873"/>
                  <a:pt x="21590" y="2886"/>
                  <a:pt x="21587" y="2900"/>
                </a:cubicBezTo>
                <a:cubicBezTo>
                  <a:pt x="21585" y="2914"/>
                  <a:pt x="21580" y="2927"/>
                  <a:pt x="21575" y="2940"/>
                </a:cubicBezTo>
                <a:cubicBezTo>
                  <a:pt x="21570" y="2953"/>
                  <a:pt x="21563" y="2965"/>
                  <a:pt x="21556" y="2976"/>
                </a:cubicBezTo>
                <a:cubicBezTo>
                  <a:pt x="21548" y="2988"/>
                  <a:pt x="21539" y="2999"/>
                  <a:pt x="21529" y="3008"/>
                </a:cubicBezTo>
                <a:cubicBezTo>
                  <a:pt x="21519" y="3018"/>
                  <a:pt x="21509" y="3027"/>
                  <a:pt x="21497" y="3035"/>
                </a:cubicBezTo>
                <a:cubicBezTo>
                  <a:pt x="21486" y="3042"/>
                  <a:pt x="21473" y="3049"/>
                  <a:pt x="21461" y="3054"/>
                </a:cubicBezTo>
                <a:cubicBezTo>
                  <a:pt x="21448" y="3060"/>
                  <a:pt x="21435" y="3064"/>
                  <a:pt x="21421" y="3066"/>
                </a:cubicBezTo>
                <a:cubicBezTo>
                  <a:pt x="21407" y="3069"/>
                  <a:pt x="21394" y="3070"/>
                  <a:pt x="21380" y="3070"/>
                </a:cubicBezTo>
                <a:lnTo>
                  <a:pt x="159" y="3070"/>
                </a:lnTo>
                <a:cubicBezTo>
                  <a:pt x="149" y="3070"/>
                  <a:pt x="138" y="3069"/>
                  <a:pt x="128" y="3066"/>
                </a:cubicBezTo>
                <a:cubicBezTo>
                  <a:pt x="118" y="3064"/>
                  <a:pt x="108" y="3060"/>
                  <a:pt x="98" y="3054"/>
                </a:cubicBezTo>
                <a:cubicBezTo>
                  <a:pt x="89" y="3049"/>
                  <a:pt x="80" y="3042"/>
                  <a:pt x="71" y="3035"/>
                </a:cubicBezTo>
                <a:cubicBezTo>
                  <a:pt x="62" y="3027"/>
                  <a:pt x="54" y="3018"/>
                  <a:pt x="47" y="3008"/>
                </a:cubicBezTo>
                <a:cubicBezTo>
                  <a:pt x="39" y="2999"/>
                  <a:pt x="33" y="2988"/>
                  <a:pt x="27" y="2976"/>
                </a:cubicBezTo>
                <a:cubicBezTo>
                  <a:pt x="21" y="2965"/>
                  <a:pt x="16" y="2953"/>
                  <a:pt x="12" y="2940"/>
                </a:cubicBezTo>
                <a:cubicBezTo>
                  <a:pt x="8" y="2927"/>
                  <a:pt x="5" y="2914"/>
                  <a:pt x="3" y="2900"/>
                </a:cubicBezTo>
                <a:cubicBezTo>
                  <a:pt x="1" y="2886"/>
                  <a:pt x="0" y="2873"/>
                  <a:pt x="0" y="2859"/>
                </a:cubicBezTo>
                <a:close/>
              </a:path>
            </a:pathLst>
          </a:custGeom>
          <a:solidFill>
            <a:srgbClr val="FAF9F6"/>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69" name="Forma libre: forma 568"/>
          <p:cNvSpPr/>
          <p:nvPr/>
        </p:nvSpPr>
        <p:spPr>
          <a:xfrm>
            <a:off x="2199960" y="3276360"/>
            <a:ext cx="76680" cy="1105200"/>
          </a:xfrm>
          <a:custGeom>
            <a:avLst/>
            <a:gdLst/>
            <a:ahLst/>
            <a:cxnLst/>
            <a:rect l="0" t="0" r="r" b="b"/>
            <a:pathLst>
              <a:path w="213" h="3070">
                <a:moveTo>
                  <a:pt x="0" y="0"/>
                </a:moveTo>
                <a:lnTo>
                  <a:pt x="213" y="0"/>
                </a:lnTo>
                <a:lnTo>
                  <a:pt x="213" y="3070"/>
                </a:lnTo>
                <a:lnTo>
                  <a:pt x="0" y="3070"/>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70" name="Forma libre: forma 569"/>
          <p:cNvSpPr/>
          <p:nvPr/>
        </p:nvSpPr>
        <p:spPr>
          <a:xfrm>
            <a:off x="2199960" y="5143320"/>
            <a:ext cx="7791840" cy="9720"/>
          </a:xfrm>
          <a:custGeom>
            <a:avLst/>
            <a:gdLst/>
            <a:ahLst/>
            <a:cxnLst/>
            <a:rect l="0" t="0" r="r" b="b"/>
            <a:pathLst>
              <a:path w="21644" h="27">
                <a:moveTo>
                  <a:pt x="0" y="0"/>
                </a:moveTo>
                <a:lnTo>
                  <a:pt x="21644" y="0"/>
                </a:lnTo>
                <a:lnTo>
                  <a:pt x="21644"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1" name="Forma libre: forma 570"/>
          <p:cNvSpPr/>
          <p:nvPr/>
        </p:nvSpPr>
        <p:spPr>
          <a:xfrm>
            <a:off x="2199960" y="1590480"/>
            <a:ext cx="1591200" cy="343440"/>
          </a:xfrm>
          <a:custGeom>
            <a:avLst/>
            <a:gdLst/>
            <a:ahLst/>
            <a:cxnLst/>
            <a:rect l="0" t="0" r="r" b="b"/>
            <a:pathLst>
              <a:path w="4420" h="954">
                <a:moveTo>
                  <a:pt x="0" y="476"/>
                </a:moveTo>
                <a:cubicBezTo>
                  <a:pt x="0" y="445"/>
                  <a:pt x="3" y="414"/>
                  <a:pt x="10" y="383"/>
                </a:cubicBezTo>
                <a:cubicBezTo>
                  <a:pt x="16" y="353"/>
                  <a:pt x="25" y="323"/>
                  <a:pt x="37" y="294"/>
                </a:cubicBezTo>
                <a:cubicBezTo>
                  <a:pt x="49" y="265"/>
                  <a:pt x="63" y="238"/>
                  <a:pt x="81" y="212"/>
                </a:cubicBezTo>
                <a:cubicBezTo>
                  <a:pt x="98" y="186"/>
                  <a:pt x="118" y="162"/>
                  <a:pt x="140" y="140"/>
                </a:cubicBezTo>
                <a:cubicBezTo>
                  <a:pt x="162" y="117"/>
                  <a:pt x="186" y="98"/>
                  <a:pt x="212" y="80"/>
                </a:cubicBezTo>
                <a:cubicBezTo>
                  <a:pt x="238" y="63"/>
                  <a:pt x="265" y="48"/>
                  <a:pt x="294" y="36"/>
                </a:cubicBezTo>
                <a:cubicBezTo>
                  <a:pt x="323" y="24"/>
                  <a:pt x="353" y="15"/>
                  <a:pt x="384" y="9"/>
                </a:cubicBezTo>
                <a:cubicBezTo>
                  <a:pt x="414" y="3"/>
                  <a:pt x="445" y="0"/>
                  <a:pt x="477" y="0"/>
                </a:cubicBezTo>
                <a:lnTo>
                  <a:pt x="3944" y="0"/>
                </a:lnTo>
                <a:cubicBezTo>
                  <a:pt x="3975" y="0"/>
                  <a:pt x="4006" y="3"/>
                  <a:pt x="4037" y="9"/>
                </a:cubicBezTo>
                <a:cubicBezTo>
                  <a:pt x="4067" y="15"/>
                  <a:pt x="4097" y="24"/>
                  <a:pt x="4126" y="36"/>
                </a:cubicBezTo>
                <a:cubicBezTo>
                  <a:pt x="4155" y="48"/>
                  <a:pt x="4182" y="63"/>
                  <a:pt x="4208" y="80"/>
                </a:cubicBezTo>
                <a:cubicBezTo>
                  <a:pt x="4234" y="98"/>
                  <a:pt x="4258" y="117"/>
                  <a:pt x="4280" y="140"/>
                </a:cubicBezTo>
                <a:cubicBezTo>
                  <a:pt x="4303" y="162"/>
                  <a:pt x="4322" y="186"/>
                  <a:pt x="4340" y="212"/>
                </a:cubicBezTo>
                <a:cubicBezTo>
                  <a:pt x="4357" y="238"/>
                  <a:pt x="4372" y="265"/>
                  <a:pt x="4384" y="294"/>
                </a:cubicBezTo>
                <a:cubicBezTo>
                  <a:pt x="4396" y="323"/>
                  <a:pt x="4405" y="353"/>
                  <a:pt x="4411" y="383"/>
                </a:cubicBezTo>
                <a:cubicBezTo>
                  <a:pt x="4417" y="414"/>
                  <a:pt x="4420" y="445"/>
                  <a:pt x="4420" y="476"/>
                </a:cubicBezTo>
                <a:cubicBezTo>
                  <a:pt x="4420" y="508"/>
                  <a:pt x="4417" y="539"/>
                  <a:pt x="4411" y="569"/>
                </a:cubicBezTo>
                <a:cubicBezTo>
                  <a:pt x="4405" y="600"/>
                  <a:pt x="4396" y="630"/>
                  <a:pt x="4384" y="659"/>
                </a:cubicBezTo>
                <a:cubicBezTo>
                  <a:pt x="4372" y="687"/>
                  <a:pt x="4357" y="715"/>
                  <a:pt x="4340" y="741"/>
                </a:cubicBezTo>
                <a:cubicBezTo>
                  <a:pt x="4322" y="767"/>
                  <a:pt x="4303" y="791"/>
                  <a:pt x="4280" y="813"/>
                </a:cubicBezTo>
                <a:cubicBezTo>
                  <a:pt x="4258" y="836"/>
                  <a:pt x="4234" y="856"/>
                  <a:pt x="4208" y="873"/>
                </a:cubicBezTo>
                <a:cubicBezTo>
                  <a:pt x="4182" y="891"/>
                  <a:pt x="4155" y="905"/>
                  <a:pt x="4126" y="917"/>
                </a:cubicBezTo>
                <a:cubicBezTo>
                  <a:pt x="4097" y="929"/>
                  <a:pt x="4067" y="938"/>
                  <a:pt x="4037" y="944"/>
                </a:cubicBezTo>
                <a:cubicBezTo>
                  <a:pt x="4006" y="950"/>
                  <a:pt x="3975" y="954"/>
                  <a:pt x="3944" y="954"/>
                </a:cubicBezTo>
                <a:lnTo>
                  <a:pt x="477" y="954"/>
                </a:lnTo>
                <a:cubicBezTo>
                  <a:pt x="445" y="954"/>
                  <a:pt x="414" y="950"/>
                  <a:pt x="384" y="944"/>
                </a:cubicBezTo>
                <a:cubicBezTo>
                  <a:pt x="353" y="938"/>
                  <a:pt x="323" y="929"/>
                  <a:pt x="294" y="917"/>
                </a:cubicBezTo>
                <a:cubicBezTo>
                  <a:pt x="265" y="905"/>
                  <a:pt x="238" y="891"/>
                  <a:pt x="212" y="873"/>
                </a:cubicBezTo>
                <a:cubicBezTo>
                  <a:pt x="186" y="856"/>
                  <a:pt x="162" y="836"/>
                  <a:pt x="140" y="813"/>
                </a:cubicBezTo>
                <a:cubicBezTo>
                  <a:pt x="118" y="791"/>
                  <a:pt x="98" y="767"/>
                  <a:pt x="81" y="741"/>
                </a:cubicBezTo>
                <a:cubicBezTo>
                  <a:pt x="63" y="715"/>
                  <a:pt x="49" y="687"/>
                  <a:pt x="37" y="659"/>
                </a:cubicBezTo>
                <a:cubicBezTo>
                  <a:pt x="25" y="630"/>
                  <a:pt x="16" y="600"/>
                  <a:pt x="10" y="569"/>
                </a:cubicBezTo>
                <a:cubicBezTo>
                  <a:pt x="3" y="539"/>
                  <a:pt x="0" y="508"/>
                  <a:pt x="0" y="476"/>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72" name="CuadroTexto 571"/>
          <p:cNvSpPr txBox="1"/>
          <p:nvPr/>
        </p:nvSpPr>
        <p:spPr>
          <a:xfrm>
            <a:off x="571320" y="569160"/>
            <a:ext cx="303048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Operadores - Ejercicio</a:t>
            </a:r>
            <a:endParaRPr lang="en-US" sz="2700" b="0" u="none" strike="noStrike">
              <a:solidFill>
                <a:srgbClr val="000000"/>
              </a:solidFill>
              <a:effectLst/>
              <a:uFillTx/>
              <a:latin typeface="Times New Roman"/>
            </a:endParaRPr>
          </a:p>
        </p:txBody>
      </p:sp>
      <p:sp>
        <p:nvSpPr>
          <p:cNvPr id="573" name="CuadroTexto 572"/>
          <p:cNvSpPr txBox="1"/>
          <p:nvPr/>
        </p:nvSpPr>
        <p:spPr>
          <a:xfrm>
            <a:off x="2352600" y="1690200"/>
            <a:ext cx="1181520" cy="148320"/>
          </a:xfrm>
          <a:prstGeom prst="rect">
            <a:avLst/>
          </a:prstGeom>
          <a:noFill/>
          <a:ln w="0">
            <a:noFill/>
          </a:ln>
        </p:spPr>
        <p:txBody>
          <a:bodyPr wrap="none" lIns="0" tIns="0" rIns="0" bIns="0" anchor="t">
            <a:spAutoFit/>
          </a:bodyPr>
          <a:lstStyle/>
          <a:p>
            <a:r>
              <a:rPr lang="en-US" sz="1050" b="0" u="none" strike="noStrike" dirty="0">
                <a:solidFill>
                  <a:srgbClr val="DA7756"/>
                </a:solidFill>
                <a:effectLst/>
                <a:uFillTx/>
                <a:latin typeface="CrimsonPro"/>
                <a:ea typeface="CrimsonPro"/>
              </a:rPr>
              <a:t>EJERCICIO PRÁCTICO</a:t>
            </a:r>
            <a:endParaRPr lang="en-US" sz="1050" b="0" u="none" strike="noStrike" dirty="0">
              <a:solidFill>
                <a:srgbClr val="000000"/>
              </a:solidFill>
              <a:effectLst/>
              <a:uFillTx/>
              <a:latin typeface="Times New Roman"/>
            </a:endParaRPr>
          </a:p>
        </p:txBody>
      </p:sp>
      <p:sp>
        <p:nvSpPr>
          <p:cNvPr id="574" name="CuadroTexto 573"/>
          <p:cNvSpPr txBox="1"/>
          <p:nvPr/>
        </p:nvSpPr>
        <p:spPr>
          <a:xfrm>
            <a:off x="2200320" y="2172960"/>
            <a:ext cx="3749760" cy="318960"/>
          </a:xfrm>
          <a:prstGeom prst="rect">
            <a:avLst/>
          </a:prstGeom>
          <a:noFill/>
          <a:ln w="0">
            <a:noFill/>
          </a:ln>
        </p:spPr>
        <p:txBody>
          <a:bodyPr wrap="none" lIns="0" tIns="0" rIns="0" bIns="0" anchor="t">
            <a:spAutoFit/>
          </a:bodyPr>
          <a:lstStyle/>
          <a:p>
            <a:r>
              <a:rPr lang="en-US" sz="2250" b="0" u="none" strike="noStrike">
                <a:solidFill>
                  <a:srgbClr val="000000"/>
                </a:solidFill>
                <a:effectLst/>
                <a:uFillTx/>
                <a:latin typeface="CrimsonPro"/>
                <a:ea typeface="CrimsonPro"/>
              </a:rPr>
              <a:t>Cálculo del Volumen de una Caja</a:t>
            </a:r>
            <a:endParaRPr lang="en-US" sz="2250" b="0" u="none" strike="noStrike">
              <a:solidFill>
                <a:srgbClr val="000000"/>
              </a:solidFill>
              <a:effectLst/>
              <a:uFillTx/>
              <a:latin typeface="Times New Roman"/>
            </a:endParaRPr>
          </a:p>
        </p:txBody>
      </p:sp>
      <p:sp>
        <p:nvSpPr>
          <p:cNvPr id="575" name="CuadroTexto 574"/>
          <p:cNvSpPr txBox="1"/>
          <p:nvPr/>
        </p:nvSpPr>
        <p:spPr>
          <a:xfrm>
            <a:off x="2200320" y="2782080"/>
            <a:ext cx="7169040" cy="212040"/>
          </a:xfrm>
          <a:prstGeom prst="rect">
            <a:avLst/>
          </a:prstGeom>
          <a:noFill/>
          <a:ln w="0">
            <a:noFill/>
          </a:ln>
        </p:spPr>
        <p:txBody>
          <a:bodyPr wrap="none" lIns="0" tIns="0" rIns="0" bIns="0" anchor="t">
            <a:spAutoFit/>
          </a:bodyPr>
          <a:lstStyle/>
          <a:p>
            <a:r>
              <a:rPr lang="en-US" sz="1500" b="0" u="none" strike="noStrike" dirty="0" err="1">
                <a:solidFill>
                  <a:srgbClr val="666666"/>
                </a:solidFill>
                <a:effectLst/>
                <a:uFillTx/>
                <a:latin typeface="CrimsonPro"/>
                <a:ea typeface="CrimsonPro"/>
              </a:rPr>
              <a:t>Elaborar</a:t>
            </a:r>
            <a:r>
              <a:rPr lang="en-US" sz="1500" b="0" u="none" strike="noStrike" dirty="0">
                <a:solidFill>
                  <a:srgbClr val="666666"/>
                </a:solidFill>
                <a:effectLst/>
                <a:uFillTx/>
                <a:latin typeface="CrimsonPro"/>
                <a:ea typeface="CrimsonPro"/>
              </a:rPr>
              <a:t> un </a:t>
            </a:r>
            <a:r>
              <a:rPr lang="en-US" sz="1500" b="0" u="none" strike="noStrike" dirty="0" err="1">
                <a:solidFill>
                  <a:srgbClr val="666666"/>
                </a:solidFill>
                <a:effectLst/>
                <a:uFillTx/>
                <a:latin typeface="CrimsonPro"/>
                <a:ea typeface="CrimsonPro"/>
              </a:rPr>
              <a:t>programa</a:t>
            </a:r>
            <a:r>
              <a:rPr lang="en-US" sz="1500" b="0" u="none" strike="noStrike" dirty="0">
                <a:solidFill>
                  <a:srgbClr val="666666"/>
                </a:solidFill>
                <a:effectLst/>
                <a:uFillTx/>
                <a:latin typeface="CrimsonPro"/>
                <a:ea typeface="CrimsonPro"/>
              </a:rPr>
              <a:t> </a:t>
            </a:r>
            <a:r>
              <a:rPr lang="en-US" sz="1500" b="0" u="none" strike="noStrike" dirty="0" err="1">
                <a:solidFill>
                  <a:srgbClr val="666666"/>
                </a:solidFill>
                <a:effectLst/>
                <a:uFillTx/>
                <a:latin typeface="CrimsonPro"/>
                <a:ea typeface="CrimsonPro"/>
              </a:rPr>
              <a:t>que</a:t>
            </a:r>
            <a:r>
              <a:rPr lang="en-US" sz="1500" b="0" u="none" strike="noStrike" dirty="0">
                <a:solidFill>
                  <a:srgbClr val="666666"/>
                </a:solidFill>
                <a:effectLst/>
                <a:uFillTx/>
                <a:latin typeface="CrimsonPro"/>
                <a:ea typeface="CrimsonPro"/>
              </a:rPr>
              <a:t> </a:t>
            </a:r>
            <a:r>
              <a:rPr lang="en-US" sz="1500" b="0" u="none" strike="noStrike" dirty="0" err="1">
                <a:solidFill>
                  <a:srgbClr val="666666"/>
                </a:solidFill>
                <a:effectLst/>
                <a:uFillTx/>
                <a:latin typeface="CrimsonPro"/>
                <a:ea typeface="CrimsonPro"/>
              </a:rPr>
              <a:t>permita</a:t>
            </a:r>
            <a:r>
              <a:rPr lang="en-US" sz="1500" b="0" u="none" strike="noStrike" dirty="0">
                <a:solidFill>
                  <a:srgbClr val="666666"/>
                </a:solidFill>
                <a:effectLst/>
                <a:uFillTx/>
                <a:latin typeface="CrimsonPro"/>
                <a:ea typeface="CrimsonPro"/>
              </a:rPr>
              <a:t> </a:t>
            </a:r>
            <a:r>
              <a:rPr lang="en-US" sz="1500" b="0" u="none" strike="noStrike" dirty="0" err="1">
                <a:solidFill>
                  <a:srgbClr val="666666"/>
                </a:solidFill>
                <a:effectLst/>
                <a:uFillTx/>
                <a:latin typeface="CrimsonPro"/>
                <a:ea typeface="CrimsonPro"/>
              </a:rPr>
              <a:t>determinar</a:t>
            </a:r>
            <a:r>
              <a:rPr lang="en-US" sz="1500" b="0" u="none" strike="noStrike" dirty="0">
                <a:solidFill>
                  <a:srgbClr val="666666"/>
                </a:solidFill>
                <a:effectLst/>
                <a:uFillTx/>
                <a:latin typeface="CrimsonPro"/>
                <a:ea typeface="CrimsonPro"/>
              </a:rPr>
              <a:t> </a:t>
            </a:r>
            <a:r>
              <a:rPr lang="en-US" sz="1500" b="0" u="none" strike="noStrike" dirty="0" err="1">
                <a:solidFill>
                  <a:srgbClr val="666666"/>
                </a:solidFill>
                <a:effectLst/>
                <a:uFillTx/>
                <a:latin typeface="CrimsonPro"/>
                <a:ea typeface="CrimsonPro"/>
              </a:rPr>
              <a:t>el</a:t>
            </a:r>
            <a:r>
              <a:rPr lang="en-US" sz="1500" b="0" u="none" strike="noStrike" dirty="0">
                <a:solidFill>
                  <a:srgbClr val="666666"/>
                </a:solidFill>
                <a:effectLst/>
                <a:uFillTx/>
                <a:latin typeface="CrimsonPro"/>
                <a:ea typeface="CrimsonPro"/>
              </a:rPr>
              <a:t> </a:t>
            </a:r>
            <a:r>
              <a:rPr lang="en-US" sz="1500" b="0" u="none" strike="noStrike" dirty="0" err="1">
                <a:solidFill>
                  <a:srgbClr val="666666"/>
                </a:solidFill>
                <a:effectLst/>
                <a:uFillTx/>
                <a:latin typeface="CrimsonPro"/>
                <a:ea typeface="CrimsonPro"/>
              </a:rPr>
              <a:t>volumen</a:t>
            </a:r>
            <a:r>
              <a:rPr lang="en-US" sz="1500" b="0" u="none" strike="noStrike" dirty="0">
                <a:solidFill>
                  <a:srgbClr val="666666"/>
                </a:solidFill>
                <a:effectLst/>
                <a:uFillTx/>
                <a:latin typeface="CrimsonPro"/>
                <a:ea typeface="CrimsonPro"/>
              </a:rPr>
              <a:t> de </a:t>
            </a:r>
            <a:r>
              <a:rPr lang="en-US" sz="1500" b="0" u="none" strike="noStrike" dirty="0" err="1">
                <a:solidFill>
                  <a:srgbClr val="666666"/>
                </a:solidFill>
                <a:effectLst/>
                <a:uFillTx/>
                <a:latin typeface="CrimsonPro"/>
                <a:ea typeface="CrimsonPro"/>
              </a:rPr>
              <a:t>una</a:t>
            </a:r>
            <a:r>
              <a:rPr lang="en-US" sz="1500" b="0" u="none" strike="noStrike" dirty="0">
                <a:solidFill>
                  <a:srgbClr val="666666"/>
                </a:solidFill>
                <a:effectLst/>
                <a:uFillTx/>
                <a:latin typeface="CrimsonPro"/>
                <a:ea typeface="CrimsonPro"/>
              </a:rPr>
              <a:t> </a:t>
            </a:r>
            <a:r>
              <a:rPr lang="en-US" sz="1500" b="0" u="none" strike="noStrike" dirty="0" err="1">
                <a:solidFill>
                  <a:srgbClr val="666666"/>
                </a:solidFill>
                <a:effectLst/>
                <a:uFillTx/>
                <a:latin typeface="CrimsonPro"/>
                <a:ea typeface="CrimsonPro"/>
              </a:rPr>
              <a:t>caja</a:t>
            </a:r>
            <a:r>
              <a:rPr lang="en-US" sz="1500" b="0" u="none" strike="noStrike" dirty="0">
                <a:solidFill>
                  <a:srgbClr val="666666"/>
                </a:solidFill>
                <a:effectLst/>
                <a:uFillTx/>
                <a:latin typeface="CrimsonPro"/>
                <a:ea typeface="CrimsonPro"/>
              </a:rPr>
              <a:t> de </a:t>
            </a:r>
            <a:r>
              <a:rPr lang="en-US" sz="1500" b="0" u="none" strike="noStrike" dirty="0" err="1">
                <a:solidFill>
                  <a:srgbClr val="666666"/>
                </a:solidFill>
                <a:effectLst/>
                <a:uFillTx/>
                <a:latin typeface="CrimsonPro"/>
                <a:ea typeface="CrimsonPro"/>
              </a:rPr>
              <a:t>dimensiones</a:t>
            </a:r>
            <a:r>
              <a:rPr lang="en-US" sz="1500" b="0" u="none" strike="noStrike" dirty="0">
                <a:solidFill>
                  <a:srgbClr val="666666"/>
                </a:solidFill>
                <a:effectLst/>
                <a:uFillTx/>
                <a:latin typeface="CrimsonPro"/>
                <a:ea typeface="CrimsonPro"/>
              </a:rPr>
              <a:t> A, B y C.</a:t>
            </a:r>
            <a:endParaRPr lang="en-US" sz="1500" b="0" u="none" strike="noStrike" dirty="0">
              <a:solidFill>
                <a:srgbClr val="000000"/>
              </a:solidFill>
              <a:effectLst/>
              <a:uFillTx/>
              <a:latin typeface="Times New Roman"/>
            </a:endParaRPr>
          </a:p>
        </p:txBody>
      </p:sp>
      <p:sp>
        <p:nvSpPr>
          <p:cNvPr id="576" name="CuadroTexto 575"/>
          <p:cNvSpPr txBox="1"/>
          <p:nvPr/>
        </p:nvSpPr>
        <p:spPr>
          <a:xfrm>
            <a:off x="2467080" y="3542040"/>
            <a:ext cx="62100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Fórmula:</a:t>
            </a:r>
            <a:endParaRPr lang="en-US" sz="1350" b="0" u="none" strike="noStrike">
              <a:solidFill>
                <a:srgbClr val="000000"/>
              </a:solidFill>
              <a:effectLst/>
              <a:uFillTx/>
              <a:latin typeface="Times New Roman"/>
            </a:endParaRPr>
          </a:p>
        </p:txBody>
      </p:sp>
      <p:sp>
        <p:nvSpPr>
          <p:cNvPr id="577" name="CuadroTexto 576"/>
          <p:cNvSpPr txBox="1"/>
          <p:nvPr/>
        </p:nvSpPr>
        <p:spPr>
          <a:xfrm>
            <a:off x="2467080" y="3871800"/>
            <a:ext cx="184140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Volumen = A × B × C</a:t>
            </a:r>
            <a:endParaRPr lang="en-US" sz="1800" b="0" u="none" strike="noStrike">
              <a:solidFill>
                <a:srgbClr val="000000"/>
              </a:solidFill>
              <a:effectLst/>
              <a:uFillTx/>
              <a:latin typeface="Times New Roman"/>
            </a:endParaRPr>
          </a:p>
        </p:txBody>
      </p:sp>
      <p:sp>
        <p:nvSpPr>
          <p:cNvPr id="578" name="CuadroTexto 577"/>
          <p:cNvSpPr txBox="1"/>
          <p:nvPr/>
        </p:nvSpPr>
        <p:spPr>
          <a:xfrm>
            <a:off x="2200320" y="4635360"/>
            <a:ext cx="4220280" cy="169560"/>
          </a:xfrm>
          <a:prstGeom prst="rect">
            <a:avLst/>
          </a:prstGeom>
          <a:noFill/>
          <a:ln w="0">
            <a:noFill/>
          </a:ln>
        </p:spPr>
        <p:txBody>
          <a:bodyPr wrap="none" lIns="0" tIns="0" rIns="0" bIns="0" anchor="t">
            <a:spAutoFit/>
          </a:bodyPr>
          <a:lstStyle/>
          <a:p>
            <a:r>
              <a:rPr lang="en-US" sz="1200" b="0" i="1" u="none" strike="noStrike">
                <a:solidFill>
                  <a:srgbClr val="999999"/>
                </a:solidFill>
                <a:effectLst/>
                <a:uFillTx/>
                <a:latin typeface="CrimsonPro"/>
                <a:ea typeface="CrimsonPro"/>
              </a:rPr>
              <a:t>Donde A, B y C representan las dimensiones (largo, ancho y alto) de la caja.</a:t>
            </a:r>
            <a:endParaRPr lang="en-US" sz="1200" b="0" u="none" strike="noStrike">
              <a:solidFill>
                <a:srgbClr val="000000"/>
              </a:solidFill>
              <a:effectLst/>
              <a:uFillTx/>
              <a:latin typeface="Times New Roman"/>
            </a:endParaRPr>
          </a:p>
        </p:txBody>
      </p:sp>
      <p:sp>
        <p:nvSpPr>
          <p:cNvPr id="579" name="Forma libre: forma 578"/>
          <p:cNvSpPr/>
          <p:nvPr/>
        </p:nvSpPr>
        <p:spPr>
          <a:xfrm>
            <a:off x="571320" y="603864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80" name="CuadroTexto 579"/>
          <p:cNvSpPr txBox="1"/>
          <p:nvPr/>
        </p:nvSpPr>
        <p:spPr>
          <a:xfrm>
            <a:off x="2200320" y="5405040"/>
            <a:ext cx="2073600" cy="148320"/>
          </a:xfrm>
          <a:prstGeom prst="rect">
            <a:avLst/>
          </a:prstGeom>
          <a:noFill/>
          <a:ln w="0">
            <a:noFill/>
          </a:ln>
        </p:spPr>
        <p:txBody>
          <a:bodyPr wrap="none" lIns="0" tIns="0" rIns="0" bIns="0" anchor="t">
            <a:spAutoFit/>
          </a:bodyPr>
          <a:lstStyle/>
          <a:p>
            <a:r>
              <a:rPr lang="en-US" sz="1050" b="0" u="none" strike="noStrike">
                <a:solidFill>
                  <a:srgbClr val="999999"/>
                </a:solidFill>
                <a:effectLst/>
                <a:uFillTx/>
                <a:latin typeface="CrimsonPro"/>
                <a:ea typeface="CrimsonPro"/>
              </a:rPr>
              <a:t>Tomado de la página de </a:t>
            </a:r>
            <a:r>
              <a:rPr lang="en-US" sz="1050" b="0" u="none" strike="noStrike">
                <a:solidFill>
                  <a:srgbClr val="666666"/>
                </a:solidFill>
                <a:effectLst/>
                <a:uFillTx/>
                <a:latin typeface="CrimsonPro"/>
                <a:ea typeface="CrimsonPro"/>
              </a:rPr>
              <a:t>campusmvp.es</a:t>
            </a:r>
            <a:endParaRPr lang="en-US" sz="1050" b="0" u="none" strike="noStrike">
              <a:solidFill>
                <a:srgbClr val="000000"/>
              </a:solidFill>
              <a:effectLst/>
              <a:uFillTx/>
              <a:latin typeface="Times New Roman"/>
            </a:endParaRPr>
          </a:p>
        </p:txBody>
      </p:sp>
      <p:sp>
        <p:nvSpPr>
          <p:cNvPr id="581" name="CuadroTexto 580"/>
          <p:cNvSpPr txBox="1"/>
          <p:nvPr/>
        </p:nvSpPr>
        <p:spPr>
          <a:xfrm>
            <a:off x="571320" y="622620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582" name="CuadroTexto 581"/>
          <p:cNvSpPr txBox="1"/>
          <p:nvPr/>
        </p:nvSpPr>
        <p:spPr>
          <a:xfrm>
            <a:off x="11475720" y="622620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23</a:t>
            </a:r>
            <a:endParaRPr lang="en-US" sz="1200" b="0" u="none" strike="noStrike">
              <a:solidFill>
                <a:srgbClr val="000000"/>
              </a:solidFill>
              <a:effectLst/>
              <a:uFillTx/>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Forma libre: forma 584"/>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86" name="CuadroTexto 585"/>
          <p:cNvSpPr txBox="1"/>
          <p:nvPr/>
        </p:nvSpPr>
        <p:spPr>
          <a:xfrm>
            <a:off x="571320" y="569160"/>
            <a:ext cx="37029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Manejo de control de flujos</a:t>
            </a:r>
            <a:endParaRPr lang="en-US" sz="2700" b="0" u="none" strike="noStrike">
              <a:solidFill>
                <a:srgbClr val="000000"/>
              </a:solidFill>
              <a:effectLst/>
              <a:uFillTx/>
              <a:latin typeface="Times New Roman"/>
            </a:endParaRPr>
          </a:p>
        </p:txBody>
      </p:sp>
      <p:pic>
        <p:nvPicPr>
          <p:cNvPr id="587" name="Imagen 586"/>
          <p:cNvPicPr/>
          <p:nvPr/>
        </p:nvPicPr>
        <p:blipFill>
          <a:blip r:embed="rId3"/>
          <a:stretch/>
        </p:blipFill>
        <p:spPr>
          <a:xfrm>
            <a:off x="1952881" y="1667880"/>
            <a:ext cx="2838240" cy="1942560"/>
          </a:xfrm>
          <a:prstGeom prst="rect">
            <a:avLst/>
          </a:prstGeom>
          <a:noFill/>
          <a:ln w="0">
            <a:noFill/>
          </a:ln>
        </p:spPr>
      </p:pic>
      <p:sp>
        <p:nvSpPr>
          <p:cNvPr id="588" name="CuadroTexto 587"/>
          <p:cNvSpPr txBox="1"/>
          <p:nvPr/>
        </p:nvSpPr>
        <p:spPr>
          <a:xfrm>
            <a:off x="2814361" y="1158480"/>
            <a:ext cx="106704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if-then-else</a:t>
            </a:r>
            <a:endParaRPr lang="en-US" sz="1800" b="0" u="none" strike="noStrike">
              <a:solidFill>
                <a:srgbClr val="000000"/>
              </a:solidFill>
              <a:effectLst/>
              <a:uFillTx/>
              <a:latin typeface="Times New Roman"/>
            </a:endParaRPr>
          </a:p>
        </p:txBody>
      </p:sp>
      <p:pic>
        <p:nvPicPr>
          <p:cNvPr id="589" name="Imagen 588"/>
          <p:cNvPicPr/>
          <p:nvPr/>
        </p:nvPicPr>
        <p:blipFill>
          <a:blip r:embed="rId4"/>
          <a:stretch/>
        </p:blipFill>
        <p:spPr>
          <a:xfrm>
            <a:off x="7400880" y="1924200"/>
            <a:ext cx="3104640" cy="3809520"/>
          </a:xfrm>
          <a:prstGeom prst="rect">
            <a:avLst/>
          </a:prstGeom>
          <a:noFill/>
          <a:ln w="0">
            <a:noFill/>
          </a:ln>
        </p:spPr>
      </p:pic>
      <p:sp>
        <p:nvSpPr>
          <p:cNvPr id="590" name="Forma libre: forma 589"/>
          <p:cNvSpPr/>
          <p:nvPr/>
        </p:nvSpPr>
        <p:spPr>
          <a:xfrm>
            <a:off x="571320" y="59623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591" name="CuadroTexto 590"/>
          <p:cNvSpPr txBox="1"/>
          <p:nvPr/>
        </p:nvSpPr>
        <p:spPr>
          <a:xfrm>
            <a:off x="8634960" y="1414440"/>
            <a:ext cx="61164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switch</a:t>
            </a:r>
            <a:endParaRPr lang="en-US" sz="1800" b="0" u="none" strike="noStrike">
              <a:solidFill>
                <a:srgbClr val="000000"/>
              </a:solidFill>
              <a:effectLst/>
              <a:uFillTx/>
              <a:latin typeface="Times New Roman"/>
            </a:endParaRPr>
          </a:p>
        </p:txBody>
      </p:sp>
      <p:sp>
        <p:nvSpPr>
          <p:cNvPr id="592" name="CuadroTexto 591"/>
          <p:cNvSpPr txBox="1"/>
          <p:nvPr/>
        </p:nvSpPr>
        <p:spPr>
          <a:xfrm>
            <a:off x="571320" y="61498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593" name="CuadroTexto 592"/>
          <p:cNvSpPr txBox="1"/>
          <p:nvPr/>
        </p:nvSpPr>
        <p:spPr>
          <a:xfrm>
            <a:off x="6943680" y="6167160"/>
            <a:ext cx="1412640" cy="148320"/>
          </a:xfrm>
          <a:prstGeom prst="rect">
            <a:avLst/>
          </a:prstGeom>
          <a:noFill/>
          <a:ln w="0">
            <a:noFill/>
          </a:ln>
        </p:spPr>
        <p:txBody>
          <a:bodyPr wrap="none" lIns="0" tIns="0" rIns="0" bIns="0" anchor="t">
            <a:spAutoFit/>
          </a:bodyPr>
          <a:lstStyle/>
          <a:p>
            <a:r>
              <a:rPr lang="en-US" sz="1050" b="0" u="none" strike="noStrike">
                <a:solidFill>
                  <a:srgbClr val="999999"/>
                </a:solidFill>
                <a:effectLst/>
                <a:uFillTx/>
                <a:latin typeface="CrimsonPro"/>
                <a:ea typeface="CrimsonPro"/>
              </a:rPr>
              <a:t>Tomado de campusmvp.es</a:t>
            </a:r>
            <a:endParaRPr lang="en-US" sz="1050" b="0" u="none" strike="noStrike">
              <a:solidFill>
                <a:srgbClr val="000000"/>
              </a:solidFill>
              <a:effectLst/>
              <a:uFillTx/>
              <a:latin typeface="Times New Roman"/>
            </a:endParaRPr>
          </a:p>
        </p:txBody>
      </p:sp>
      <p:sp>
        <p:nvSpPr>
          <p:cNvPr id="594" name="CuadroTexto 593"/>
          <p:cNvSpPr txBox="1"/>
          <p:nvPr/>
        </p:nvSpPr>
        <p:spPr>
          <a:xfrm>
            <a:off x="11469960" y="61498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24</a:t>
            </a:r>
            <a:endParaRPr lang="en-US" sz="1200" b="0" u="none" strike="noStrike">
              <a:solidFill>
                <a:srgbClr val="000000"/>
              </a:solidFill>
              <a:effectLst/>
              <a:uFillTx/>
              <a:latin typeface="Times New Roman"/>
            </a:endParaRPr>
          </a:p>
        </p:txBody>
      </p:sp>
      <p:sp>
        <p:nvSpPr>
          <p:cNvPr id="2" name="Forma libre: forma 1">
            <a:extLst>
              <a:ext uri="{FF2B5EF4-FFF2-40B4-BE49-F238E27FC236}">
                <a16:creationId xmlns:a16="http://schemas.microsoft.com/office/drawing/2014/main" id="{F90A1D20-BE37-84D6-42F7-0C437E52FDB9}"/>
              </a:ext>
            </a:extLst>
          </p:cNvPr>
          <p:cNvSpPr/>
          <p:nvPr/>
        </p:nvSpPr>
        <p:spPr>
          <a:xfrm>
            <a:off x="617904" y="3724080"/>
            <a:ext cx="1591200" cy="343440"/>
          </a:xfrm>
          <a:custGeom>
            <a:avLst/>
            <a:gdLst/>
            <a:ahLst/>
            <a:cxnLst/>
            <a:rect l="0" t="0" r="r" b="b"/>
            <a:pathLst>
              <a:path w="4420" h="954">
                <a:moveTo>
                  <a:pt x="0" y="476"/>
                </a:moveTo>
                <a:cubicBezTo>
                  <a:pt x="0" y="445"/>
                  <a:pt x="3" y="414"/>
                  <a:pt x="10" y="383"/>
                </a:cubicBezTo>
                <a:cubicBezTo>
                  <a:pt x="16" y="353"/>
                  <a:pt x="25" y="323"/>
                  <a:pt x="37" y="294"/>
                </a:cubicBezTo>
                <a:cubicBezTo>
                  <a:pt x="49" y="265"/>
                  <a:pt x="63" y="238"/>
                  <a:pt x="81" y="212"/>
                </a:cubicBezTo>
                <a:cubicBezTo>
                  <a:pt x="98" y="186"/>
                  <a:pt x="118" y="162"/>
                  <a:pt x="140" y="140"/>
                </a:cubicBezTo>
                <a:cubicBezTo>
                  <a:pt x="162" y="117"/>
                  <a:pt x="186" y="98"/>
                  <a:pt x="212" y="80"/>
                </a:cubicBezTo>
                <a:cubicBezTo>
                  <a:pt x="238" y="63"/>
                  <a:pt x="265" y="48"/>
                  <a:pt x="294" y="36"/>
                </a:cubicBezTo>
                <a:cubicBezTo>
                  <a:pt x="323" y="24"/>
                  <a:pt x="353" y="15"/>
                  <a:pt x="384" y="9"/>
                </a:cubicBezTo>
                <a:cubicBezTo>
                  <a:pt x="414" y="3"/>
                  <a:pt x="445" y="0"/>
                  <a:pt x="477" y="0"/>
                </a:cubicBezTo>
                <a:lnTo>
                  <a:pt x="3944" y="0"/>
                </a:lnTo>
                <a:cubicBezTo>
                  <a:pt x="3975" y="0"/>
                  <a:pt x="4006" y="3"/>
                  <a:pt x="4037" y="9"/>
                </a:cubicBezTo>
                <a:cubicBezTo>
                  <a:pt x="4067" y="15"/>
                  <a:pt x="4097" y="24"/>
                  <a:pt x="4126" y="36"/>
                </a:cubicBezTo>
                <a:cubicBezTo>
                  <a:pt x="4155" y="48"/>
                  <a:pt x="4182" y="63"/>
                  <a:pt x="4208" y="80"/>
                </a:cubicBezTo>
                <a:cubicBezTo>
                  <a:pt x="4234" y="98"/>
                  <a:pt x="4258" y="117"/>
                  <a:pt x="4280" y="140"/>
                </a:cubicBezTo>
                <a:cubicBezTo>
                  <a:pt x="4303" y="162"/>
                  <a:pt x="4322" y="186"/>
                  <a:pt x="4340" y="212"/>
                </a:cubicBezTo>
                <a:cubicBezTo>
                  <a:pt x="4357" y="238"/>
                  <a:pt x="4372" y="265"/>
                  <a:pt x="4384" y="294"/>
                </a:cubicBezTo>
                <a:cubicBezTo>
                  <a:pt x="4396" y="323"/>
                  <a:pt x="4405" y="353"/>
                  <a:pt x="4411" y="383"/>
                </a:cubicBezTo>
                <a:cubicBezTo>
                  <a:pt x="4417" y="414"/>
                  <a:pt x="4420" y="445"/>
                  <a:pt x="4420" y="476"/>
                </a:cubicBezTo>
                <a:cubicBezTo>
                  <a:pt x="4420" y="508"/>
                  <a:pt x="4417" y="539"/>
                  <a:pt x="4411" y="569"/>
                </a:cubicBezTo>
                <a:cubicBezTo>
                  <a:pt x="4405" y="600"/>
                  <a:pt x="4396" y="630"/>
                  <a:pt x="4384" y="659"/>
                </a:cubicBezTo>
                <a:cubicBezTo>
                  <a:pt x="4372" y="687"/>
                  <a:pt x="4357" y="715"/>
                  <a:pt x="4340" y="741"/>
                </a:cubicBezTo>
                <a:cubicBezTo>
                  <a:pt x="4322" y="767"/>
                  <a:pt x="4303" y="791"/>
                  <a:pt x="4280" y="813"/>
                </a:cubicBezTo>
                <a:cubicBezTo>
                  <a:pt x="4258" y="836"/>
                  <a:pt x="4234" y="856"/>
                  <a:pt x="4208" y="873"/>
                </a:cubicBezTo>
                <a:cubicBezTo>
                  <a:pt x="4182" y="891"/>
                  <a:pt x="4155" y="905"/>
                  <a:pt x="4126" y="917"/>
                </a:cubicBezTo>
                <a:cubicBezTo>
                  <a:pt x="4097" y="929"/>
                  <a:pt x="4067" y="938"/>
                  <a:pt x="4037" y="944"/>
                </a:cubicBezTo>
                <a:cubicBezTo>
                  <a:pt x="4006" y="950"/>
                  <a:pt x="3975" y="954"/>
                  <a:pt x="3944" y="954"/>
                </a:cubicBezTo>
                <a:lnTo>
                  <a:pt x="477" y="954"/>
                </a:lnTo>
                <a:cubicBezTo>
                  <a:pt x="445" y="954"/>
                  <a:pt x="414" y="950"/>
                  <a:pt x="384" y="944"/>
                </a:cubicBezTo>
                <a:cubicBezTo>
                  <a:pt x="353" y="938"/>
                  <a:pt x="323" y="929"/>
                  <a:pt x="294" y="917"/>
                </a:cubicBezTo>
                <a:cubicBezTo>
                  <a:pt x="265" y="905"/>
                  <a:pt x="238" y="891"/>
                  <a:pt x="212" y="873"/>
                </a:cubicBezTo>
                <a:cubicBezTo>
                  <a:pt x="186" y="856"/>
                  <a:pt x="162" y="836"/>
                  <a:pt x="140" y="813"/>
                </a:cubicBezTo>
                <a:cubicBezTo>
                  <a:pt x="118" y="791"/>
                  <a:pt x="98" y="767"/>
                  <a:pt x="81" y="741"/>
                </a:cubicBezTo>
                <a:cubicBezTo>
                  <a:pt x="63" y="715"/>
                  <a:pt x="49" y="687"/>
                  <a:pt x="37" y="659"/>
                </a:cubicBezTo>
                <a:cubicBezTo>
                  <a:pt x="25" y="630"/>
                  <a:pt x="16" y="600"/>
                  <a:pt x="10" y="569"/>
                </a:cubicBezTo>
                <a:cubicBezTo>
                  <a:pt x="3" y="539"/>
                  <a:pt x="0" y="508"/>
                  <a:pt x="0" y="476"/>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3" name="CuadroTexto 2">
            <a:extLst>
              <a:ext uri="{FF2B5EF4-FFF2-40B4-BE49-F238E27FC236}">
                <a16:creationId xmlns:a16="http://schemas.microsoft.com/office/drawing/2014/main" id="{BFF97F04-21E9-7537-DE41-BD9CBF7AA49E}"/>
              </a:ext>
            </a:extLst>
          </p:cNvPr>
          <p:cNvSpPr txBox="1"/>
          <p:nvPr/>
        </p:nvSpPr>
        <p:spPr>
          <a:xfrm>
            <a:off x="770544" y="3823800"/>
            <a:ext cx="1181520" cy="148320"/>
          </a:xfrm>
          <a:prstGeom prst="rect">
            <a:avLst/>
          </a:prstGeom>
          <a:noFill/>
          <a:ln w="0">
            <a:noFill/>
          </a:ln>
        </p:spPr>
        <p:txBody>
          <a:bodyPr wrap="none" lIns="0" tIns="0" rIns="0" bIns="0" anchor="t">
            <a:spAutoFit/>
          </a:bodyPr>
          <a:lstStyle/>
          <a:p>
            <a:r>
              <a:rPr lang="en-US" sz="1050" b="0" u="none" strike="noStrike" dirty="0">
                <a:solidFill>
                  <a:srgbClr val="DA7756"/>
                </a:solidFill>
                <a:effectLst/>
                <a:uFillTx/>
                <a:latin typeface="CrimsonPro"/>
                <a:ea typeface="CrimsonPro"/>
              </a:rPr>
              <a:t>EJERCICIO PRÁCTICO</a:t>
            </a:r>
            <a:endParaRPr lang="en-US" sz="1050" b="0" u="none" strike="noStrike" dirty="0">
              <a:solidFill>
                <a:srgbClr val="000000"/>
              </a:solidFill>
              <a:effectLst/>
              <a:uFillTx/>
              <a:latin typeface="Times New Roman"/>
            </a:endParaRPr>
          </a:p>
        </p:txBody>
      </p:sp>
      <p:sp>
        <p:nvSpPr>
          <p:cNvPr id="4" name="CuadroTexto 3">
            <a:extLst>
              <a:ext uri="{FF2B5EF4-FFF2-40B4-BE49-F238E27FC236}">
                <a16:creationId xmlns:a16="http://schemas.microsoft.com/office/drawing/2014/main" id="{8BA019B8-D638-FDE2-DDC0-43756F863038}"/>
              </a:ext>
            </a:extLst>
          </p:cNvPr>
          <p:cNvSpPr txBox="1"/>
          <p:nvPr/>
        </p:nvSpPr>
        <p:spPr>
          <a:xfrm>
            <a:off x="617904" y="4049784"/>
            <a:ext cx="3749760" cy="318960"/>
          </a:xfrm>
          <a:prstGeom prst="rect">
            <a:avLst/>
          </a:prstGeom>
          <a:noFill/>
          <a:ln w="0">
            <a:noFill/>
          </a:ln>
        </p:spPr>
        <p:txBody>
          <a:bodyPr wrap="none" lIns="0" tIns="0" rIns="0" bIns="0" anchor="t">
            <a:spAutoFit/>
          </a:bodyPr>
          <a:lstStyle/>
          <a:p>
            <a:r>
              <a:rPr lang="en-US" sz="2250" b="0" u="none" strike="noStrike" dirty="0" err="1">
                <a:solidFill>
                  <a:srgbClr val="000000"/>
                </a:solidFill>
                <a:effectLst/>
                <a:uFillTx/>
                <a:latin typeface="CrimsonPro"/>
                <a:ea typeface="CrimsonPro"/>
              </a:rPr>
              <a:t>Cálculo</a:t>
            </a:r>
            <a:r>
              <a:rPr lang="en-US" sz="2250" b="0" u="none" strike="noStrike" dirty="0">
                <a:solidFill>
                  <a:srgbClr val="000000"/>
                </a:solidFill>
                <a:effectLst/>
                <a:uFillTx/>
                <a:latin typeface="CrimsonPro"/>
                <a:ea typeface="CrimsonPro"/>
              </a:rPr>
              <a:t> del </a:t>
            </a:r>
            <a:r>
              <a:rPr lang="en-US" sz="2250" b="0" u="none" strike="noStrike" dirty="0" err="1">
                <a:solidFill>
                  <a:srgbClr val="000000"/>
                </a:solidFill>
                <a:effectLst/>
                <a:uFillTx/>
                <a:latin typeface="CrimsonPro"/>
                <a:ea typeface="CrimsonPro"/>
              </a:rPr>
              <a:t>Volumen</a:t>
            </a:r>
            <a:r>
              <a:rPr lang="en-US" sz="2250" b="0" u="none" strike="noStrike" dirty="0">
                <a:solidFill>
                  <a:srgbClr val="000000"/>
                </a:solidFill>
                <a:effectLst/>
                <a:uFillTx/>
                <a:latin typeface="CrimsonPro"/>
                <a:ea typeface="CrimsonPro"/>
              </a:rPr>
              <a:t> de </a:t>
            </a:r>
            <a:r>
              <a:rPr lang="en-US" sz="2250" b="0" u="none" strike="noStrike" dirty="0" err="1">
                <a:solidFill>
                  <a:srgbClr val="000000"/>
                </a:solidFill>
                <a:effectLst/>
                <a:uFillTx/>
                <a:latin typeface="CrimsonPro"/>
                <a:ea typeface="CrimsonPro"/>
              </a:rPr>
              <a:t>una</a:t>
            </a:r>
            <a:r>
              <a:rPr lang="en-US" sz="2250" b="0" u="none" strike="noStrike" dirty="0">
                <a:solidFill>
                  <a:srgbClr val="000000"/>
                </a:solidFill>
                <a:effectLst/>
                <a:uFillTx/>
                <a:latin typeface="CrimsonPro"/>
                <a:ea typeface="CrimsonPro"/>
              </a:rPr>
              <a:t> Caja</a:t>
            </a:r>
            <a:endParaRPr lang="en-US" sz="2250" b="0" u="none" strike="noStrike" dirty="0">
              <a:solidFill>
                <a:srgbClr val="000000"/>
              </a:solidFill>
              <a:effectLst/>
              <a:uFillTx/>
              <a:latin typeface="Times New Roman"/>
            </a:endParaRPr>
          </a:p>
        </p:txBody>
      </p:sp>
      <p:sp>
        <p:nvSpPr>
          <p:cNvPr id="5" name="CuadroTexto 4">
            <a:extLst>
              <a:ext uri="{FF2B5EF4-FFF2-40B4-BE49-F238E27FC236}">
                <a16:creationId xmlns:a16="http://schemas.microsoft.com/office/drawing/2014/main" id="{52A1A61A-547F-7CB7-DBF0-8ECD9B919A1A}"/>
              </a:ext>
            </a:extLst>
          </p:cNvPr>
          <p:cNvSpPr txBox="1"/>
          <p:nvPr/>
        </p:nvSpPr>
        <p:spPr>
          <a:xfrm>
            <a:off x="633133" y="4451456"/>
            <a:ext cx="5709610" cy="1477328"/>
          </a:xfrm>
          <a:prstGeom prst="rect">
            <a:avLst/>
          </a:prstGeom>
          <a:noFill/>
          <a:ln w="0">
            <a:noFill/>
          </a:ln>
        </p:spPr>
        <p:txBody>
          <a:bodyPr wrap="square" lIns="0" tIns="0" rIns="0" bIns="0" anchor="t">
            <a:spAutoFit/>
          </a:bodyPr>
          <a:lstStyle/>
          <a:p>
            <a:pPr algn="just"/>
            <a:r>
              <a:rPr lang="es-MX" sz="1600" dirty="0"/>
              <a:t>Elaborar un programa que permita determinar el volumen de una caja de dimensiones A, B y C, pero que además valide si las dimensiones son positivas. Si alguna dimensión es cero o negativa, el programa debe mostrar un mensaje indicando que los valores no son válidos. Si todas las dimensiones son correctas, calcular el volumen.</a:t>
            </a:r>
            <a:endParaRPr lang="en-US" sz="1500" b="0" u="none" strike="noStrike" dirty="0">
              <a:solidFill>
                <a:srgbClr val="000000"/>
              </a:solidFill>
              <a:effectLst/>
              <a:uFillTx/>
              <a:latin typeface="Times New Roman"/>
            </a:endParaRPr>
          </a:p>
        </p:txBody>
      </p:sp>
      <p:sp>
        <p:nvSpPr>
          <p:cNvPr id="6" name="Forma libre: forma 5">
            <a:extLst>
              <a:ext uri="{FF2B5EF4-FFF2-40B4-BE49-F238E27FC236}">
                <a16:creationId xmlns:a16="http://schemas.microsoft.com/office/drawing/2014/main" id="{D36BA83B-6F3C-97EC-D70A-6D46FB734BA4}"/>
              </a:ext>
            </a:extLst>
          </p:cNvPr>
          <p:cNvSpPr/>
          <p:nvPr/>
        </p:nvSpPr>
        <p:spPr>
          <a:xfrm>
            <a:off x="399079" y="3675503"/>
            <a:ext cx="6132349" cy="2454937"/>
          </a:xfrm>
          <a:custGeom>
            <a:avLst/>
            <a:gdLst/>
            <a:ahLst/>
            <a:cxnLst/>
            <a:rect l="0" t="0" r="r" b="b"/>
            <a:pathLst>
              <a:path w="23787" h="13204" fill="none">
                <a:moveTo>
                  <a:pt x="0" y="12794"/>
                </a:moveTo>
                <a:lnTo>
                  <a:pt x="0" y="411"/>
                </a:lnTo>
                <a:cubicBezTo>
                  <a:pt x="0" y="384"/>
                  <a:pt x="2" y="357"/>
                  <a:pt x="8" y="331"/>
                </a:cubicBezTo>
                <a:cubicBezTo>
                  <a:pt x="13" y="304"/>
                  <a:pt x="21" y="279"/>
                  <a:pt x="31" y="254"/>
                </a:cubicBezTo>
                <a:cubicBezTo>
                  <a:pt x="41" y="229"/>
                  <a:pt x="54" y="205"/>
                  <a:pt x="69" y="183"/>
                </a:cubicBezTo>
                <a:cubicBezTo>
                  <a:pt x="84" y="160"/>
                  <a:pt x="101" y="140"/>
                  <a:pt x="120" y="121"/>
                </a:cubicBezTo>
                <a:cubicBezTo>
                  <a:pt x="139" y="102"/>
                  <a:pt x="160" y="85"/>
                  <a:pt x="182" y="70"/>
                </a:cubicBezTo>
                <a:cubicBezTo>
                  <a:pt x="204" y="55"/>
                  <a:pt x="228" y="42"/>
                  <a:pt x="253" y="32"/>
                </a:cubicBezTo>
                <a:cubicBezTo>
                  <a:pt x="278" y="21"/>
                  <a:pt x="303" y="14"/>
                  <a:pt x="330" y="8"/>
                </a:cubicBezTo>
                <a:cubicBezTo>
                  <a:pt x="356" y="3"/>
                  <a:pt x="383" y="0"/>
                  <a:pt x="410" y="0"/>
                </a:cubicBezTo>
                <a:lnTo>
                  <a:pt x="23377" y="0"/>
                </a:lnTo>
                <a:cubicBezTo>
                  <a:pt x="23404" y="0"/>
                  <a:pt x="23430" y="3"/>
                  <a:pt x="23457" y="8"/>
                </a:cubicBezTo>
                <a:cubicBezTo>
                  <a:pt x="23483" y="14"/>
                  <a:pt x="23509" y="21"/>
                  <a:pt x="23534" y="32"/>
                </a:cubicBezTo>
                <a:cubicBezTo>
                  <a:pt x="23559" y="42"/>
                  <a:pt x="23582" y="55"/>
                  <a:pt x="23605" y="70"/>
                </a:cubicBezTo>
                <a:cubicBezTo>
                  <a:pt x="23627" y="85"/>
                  <a:pt x="23648" y="102"/>
                  <a:pt x="23667" y="121"/>
                </a:cubicBezTo>
                <a:cubicBezTo>
                  <a:pt x="23686" y="140"/>
                  <a:pt x="23703" y="160"/>
                  <a:pt x="23718" y="183"/>
                </a:cubicBezTo>
                <a:cubicBezTo>
                  <a:pt x="23733" y="205"/>
                  <a:pt x="23745" y="229"/>
                  <a:pt x="23756" y="254"/>
                </a:cubicBezTo>
                <a:cubicBezTo>
                  <a:pt x="23766" y="279"/>
                  <a:pt x="23774" y="304"/>
                  <a:pt x="23779" y="331"/>
                </a:cubicBezTo>
                <a:cubicBezTo>
                  <a:pt x="23784" y="357"/>
                  <a:pt x="23787" y="384"/>
                  <a:pt x="23787" y="411"/>
                </a:cubicBezTo>
                <a:lnTo>
                  <a:pt x="23787" y="12794"/>
                </a:lnTo>
                <a:cubicBezTo>
                  <a:pt x="23787" y="12821"/>
                  <a:pt x="23784" y="12848"/>
                  <a:pt x="23779" y="12874"/>
                </a:cubicBezTo>
                <a:cubicBezTo>
                  <a:pt x="23774" y="12900"/>
                  <a:pt x="23766" y="12926"/>
                  <a:pt x="23756" y="12951"/>
                </a:cubicBezTo>
                <a:cubicBezTo>
                  <a:pt x="23745" y="12976"/>
                  <a:pt x="23733" y="13000"/>
                  <a:pt x="23718" y="13022"/>
                </a:cubicBezTo>
                <a:cubicBezTo>
                  <a:pt x="23703" y="13044"/>
                  <a:pt x="23686" y="13065"/>
                  <a:pt x="23667" y="13084"/>
                </a:cubicBezTo>
                <a:cubicBezTo>
                  <a:pt x="23648" y="13103"/>
                  <a:pt x="23627" y="13120"/>
                  <a:pt x="23605" y="13135"/>
                </a:cubicBezTo>
                <a:cubicBezTo>
                  <a:pt x="23582" y="13150"/>
                  <a:pt x="23559" y="13163"/>
                  <a:pt x="23534" y="13173"/>
                </a:cubicBezTo>
                <a:cubicBezTo>
                  <a:pt x="23509" y="13183"/>
                  <a:pt x="23483" y="13191"/>
                  <a:pt x="23457" y="13196"/>
                </a:cubicBezTo>
                <a:cubicBezTo>
                  <a:pt x="23430" y="13202"/>
                  <a:pt x="23404" y="13204"/>
                  <a:pt x="23377" y="13204"/>
                </a:cubicBezTo>
                <a:lnTo>
                  <a:pt x="410" y="13204"/>
                </a:lnTo>
                <a:cubicBezTo>
                  <a:pt x="383" y="13204"/>
                  <a:pt x="356" y="13202"/>
                  <a:pt x="330" y="13196"/>
                </a:cubicBezTo>
                <a:cubicBezTo>
                  <a:pt x="303" y="13191"/>
                  <a:pt x="278" y="13183"/>
                  <a:pt x="253" y="13173"/>
                </a:cubicBezTo>
                <a:cubicBezTo>
                  <a:pt x="228" y="13163"/>
                  <a:pt x="204" y="13150"/>
                  <a:pt x="182" y="13135"/>
                </a:cubicBezTo>
                <a:cubicBezTo>
                  <a:pt x="160" y="13120"/>
                  <a:pt x="139" y="13103"/>
                  <a:pt x="120" y="13084"/>
                </a:cubicBezTo>
                <a:cubicBezTo>
                  <a:pt x="101" y="13065"/>
                  <a:pt x="84" y="13044"/>
                  <a:pt x="69" y="13022"/>
                </a:cubicBezTo>
                <a:cubicBezTo>
                  <a:pt x="54" y="13000"/>
                  <a:pt x="41" y="12976"/>
                  <a:pt x="31" y="12951"/>
                </a:cubicBezTo>
                <a:cubicBezTo>
                  <a:pt x="21" y="12926"/>
                  <a:pt x="13" y="12900"/>
                  <a:pt x="8" y="12874"/>
                </a:cubicBezTo>
                <a:cubicBezTo>
                  <a:pt x="2" y="12848"/>
                  <a:pt x="0" y="12821"/>
                  <a:pt x="0" y="12794"/>
                </a:cubicBezTo>
              </a:path>
            </a:pathLst>
          </a:custGeom>
          <a:ln w="9360">
            <a:solidFill>
              <a:schemeClr val="tx1"/>
            </a:solidFill>
            <a:miter/>
          </a:ln>
        </p:spPr>
        <p:txBody>
          <a:bodyPr lIns="4680" tIns="4680" rIns="4680" bIns="4680" anchor="t">
            <a:noAutofit/>
          </a:bodyPr>
          <a:lstStyle/>
          <a:p>
            <a:endParaRPr lang="en-US" sz="24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 name="Forma libre: forma 596"/>
          <p:cNvSpPr/>
          <p:nvPr/>
        </p:nvSpPr>
        <p:spPr>
          <a:xfrm>
            <a:off x="571320" y="148572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598" name="CuadroTexto 597"/>
          <p:cNvSpPr txBox="1"/>
          <p:nvPr/>
        </p:nvSpPr>
        <p:spPr>
          <a:xfrm>
            <a:off x="571320" y="569160"/>
            <a:ext cx="37029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Manejo de control de flujos</a:t>
            </a:r>
            <a:endParaRPr lang="en-US" sz="2700" b="0" u="none" strike="noStrike">
              <a:solidFill>
                <a:srgbClr val="000000"/>
              </a:solidFill>
              <a:effectLst/>
              <a:uFillTx/>
              <a:latin typeface="Times New Roman"/>
            </a:endParaRPr>
          </a:p>
        </p:txBody>
      </p:sp>
      <p:pic>
        <p:nvPicPr>
          <p:cNvPr id="599" name="Imagen 598"/>
          <p:cNvPicPr/>
          <p:nvPr/>
        </p:nvPicPr>
        <p:blipFill>
          <a:blip r:embed="rId3"/>
          <a:stretch/>
        </p:blipFill>
        <p:spPr>
          <a:xfrm>
            <a:off x="2286000" y="2733840"/>
            <a:ext cx="7619760" cy="1523520"/>
          </a:xfrm>
          <a:prstGeom prst="rect">
            <a:avLst/>
          </a:prstGeom>
          <a:noFill/>
          <a:ln w="0">
            <a:noFill/>
          </a:ln>
        </p:spPr>
      </p:pic>
      <p:sp>
        <p:nvSpPr>
          <p:cNvPr id="600" name="CuadroTexto 599"/>
          <p:cNvSpPr txBox="1"/>
          <p:nvPr/>
        </p:nvSpPr>
        <p:spPr>
          <a:xfrm>
            <a:off x="571320" y="1052640"/>
            <a:ext cx="1662840" cy="253440"/>
          </a:xfrm>
          <a:prstGeom prst="rect">
            <a:avLst/>
          </a:prstGeom>
          <a:noFill/>
          <a:ln w="0">
            <a:noFill/>
          </a:ln>
        </p:spPr>
        <p:txBody>
          <a:bodyPr wrap="none" lIns="0" tIns="0" rIns="0" bIns="0" anchor="t">
            <a:spAutoFit/>
          </a:bodyPr>
          <a:lstStyle/>
          <a:p>
            <a:r>
              <a:rPr lang="en-US" sz="1800" b="0" u="none" strike="noStrike">
                <a:solidFill>
                  <a:srgbClr val="666666"/>
                </a:solidFill>
                <a:effectLst/>
                <a:uFillTx/>
                <a:latin typeface="CrimsonPro"/>
                <a:ea typeface="CrimsonPro"/>
              </a:rPr>
              <a:t>Tabla de la verdad</a:t>
            </a:r>
            <a:endParaRPr lang="en-US" sz="1800" b="0" u="none" strike="noStrike">
              <a:solidFill>
                <a:srgbClr val="000000"/>
              </a:solidFill>
              <a:effectLst/>
              <a:uFillTx/>
              <a:latin typeface="Times New Roman"/>
            </a:endParaRPr>
          </a:p>
        </p:txBody>
      </p:sp>
      <p:sp>
        <p:nvSpPr>
          <p:cNvPr id="601" name="Forma libre: forma 600"/>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02" name="CuadroTexto 601"/>
          <p:cNvSpPr txBox="1"/>
          <p:nvPr/>
        </p:nvSpPr>
        <p:spPr>
          <a:xfrm>
            <a:off x="5138280" y="4586040"/>
            <a:ext cx="191520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campusmvp.es</a:t>
            </a:r>
            <a:endParaRPr lang="en-US" sz="1050" b="0" u="none" strike="noStrike">
              <a:solidFill>
                <a:srgbClr val="000000"/>
              </a:solidFill>
              <a:effectLst/>
              <a:uFillTx/>
              <a:latin typeface="Times New Roman"/>
            </a:endParaRPr>
          </a:p>
        </p:txBody>
      </p:sp>
      <p:sp>
        <p:nvSpPr>
          <p:cNvPr id="603" name="CuadroTexto 602"/>
          <p:cNvSpPr txBox="1"/>
          <p:nvPr/>
        </p:nvSpPr>
        <p:spPr>
          <a:xfrm>
            <a:off x="571320" y="60832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604" name="CuadroTexto 603"/>
          <p:cNvSpPr txBox="1"/>
          <p:nvPr/>
        </p:nvSpPr>
        <p:spPr>
          <a:xfrm>
            <a:off x="11476080" y="60832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25</a:t>
            </a:r>
            <a:endParaRPr lang="en-US" sz="1200" b="0" u="none" strike="noStrike">
              <a:solidFill>
                <a:srgbClr val="000000"/>
              </a:solidFill>
              <a:effectLst/>
              <a:uFillTx/>
              <a:latin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 name="Forma libre: forma 606"/>
          <p:cNvSpPr/>
          <p:nvPr/>
        </p:nvSpPr>
        <p:spPr>
          <a:xfrm>
            <a:off x="571320" y="144756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08" name="CuadroTexto 607"/>
          <p:cNvSpPr txBox="1"/>
          <p:nvPr/>
        </p:nvSpPr>
        <p:spPr>
          <a:xfrm>
            <a:off x="571320" y="569160"/>
            <a:ext cx="37029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Manejo de control de flujos</a:t>
            </a:r>
            <a:endParaRPr lang="en-US" sz="2700" b="0" u="none" strike="noStrike">
              <a:solidFill>
                <a:srgbClr val="000000"/>
              </a:solidFill>
              <a:effectLst/>
              <a:uFillTx/>
              <a:latin typeface="Times New Roman"/>
            </a:endParaRPr>
          </a:p>
        </p:txBody>
      </p:sp>
      <p:sp>
        <p:nvSpPr>
          <p:cNvPr id="609" name="Forma libre: forma 608"/>
          <p:cNvSpPr/>
          <p:nvPr/>
        </p:nvSpPr>
        <p:spPr>
          <a:xfrm>
            <a:off x="1333440" y="1618920"/>
            <a:ext cx="9525240" cy="1114920"/>
          </a:xfrm>
          <a:custGeom>
            <a:avLst/>
            <a:gdLst/>
            <a:ahLst/>
            <a:cxnLst/>
            <a:rect l="0" t="0" r="r" b="b"/>
            <a:pathLst>
              <a:path w="26459" h="3097">
                <a:moveTo>
                  <a:pt x="0" y="2780"/>
                </a:moveTo>
                <a:lnTo>
                  <a:pt x="0" y="319"/>
                </a:lnTo>
                <a:cubicBezTo>
                  <a:pt x="0" y="298"/>
                  <a:pt x="2" y="277"/>
                  <a:pt x="6" y="257"/>
                </a:cubicBezTo>
                <a:cubicBezTo>
                  <a:pt x="10" y="237"/>
                  <a:pt x="16" y="217"/>
                  <a:pt x="24" y="197"/>
                </a:cubicBezTo>
                <a:cubicBezTo>
                  <a:pt x="32" y="178"/>
                  <a:pt x="42" y="160"/>
                  <a:pt x="53" y="142"/>
                </a:cubicBezTo>
                <a:cubicBezTo>
                  <a:pt x="65" y="124"/>
                  <a:pt x="78" y="108"/>
                  <a:pt x="93" y="93"/>
                </a:cubicBezTo>
                <a:cubicBezTo>
                  <a:pt x="107" y="79"/>
                  <a:pt x="123" y="66"/>
                  <a:pt x="141" y="54"/>
                </a:cubicBezTo>
                <a:cubicBezTo>
                  <a:pt x="158" y="42"/>
                  <a:pt x="176" y="33"/>
                  <a:pt x="196" y="25"/>
                </a:cubicBezTo>
                <a:cubicBezTo>
                  <a:pt x="215" y="17"/>
                  <a:pt x="235" y="11"/>
                  <a:pt x="255" y="7"/>
                </a:cubicBezTo>
                <a:cubicBezTo>
                  <a:pt x="276" y="2"/>
                  <a:pt x="296" y="0"/>
                  <a:pt x="317" y="0"/>
                </a:cubicBezTo>
                <a:lnTo>
                  <a:pt x="26141" y="0"/>
                </a:lnTo>
                <a:cubicBezTo>
                  <a:pt x="26162" y="0"/>
                  <a:pt x="26183" y="2"/>
                  <a:pt x="26203" y="7"/>
                </a:cubicBezTo>
                <a:cubicBezTo>
                  <a:pt x="26224" y="11"/>
                  <a:pt x="26244" y="17"/>
                  <a:pt x="26263" y="25"/>
                </a:cubicBezTo>
                <a:cubicBezTo>
                  <a:pt x="26282" y="33"/>
                  <a:pt x="26301" y="42"/>
                  <a:pt x="26318" y="54"/>
                </a:cubicBezTo>
                <a:cubicBezTo>
                  <a:pt x="26335" y="66"/>
                  <a:pt x="26351" y="79"/>
                  <a:pt x="26366" y="93"/>
                </a:cubicBezTo>
                <a:cubicBezTo>
                  <a:pt x="26381" y="108"/>
                  <a:pt x="26394" y="124"/>
                  <a:pt x="26405" y="142"/>
                </a:cubicBezTo>
                <a:cubicBezTo>
                  <a:pt x="26417" y="160"/>
                  <a:pt x="26427" y="178"/>
                  <a:pt x="26435" y="197"/>
                </a:cubicBezTo>
                <a:cubicBezTo>
                  <a:pt x="26443" y="217"/>
                  <a:pt x="26449" y="237"/>
                  <a:pt x="26453" y="257"/>
                </a:cubicBezTo>
                <a:cubicBezTo>
                  <a:pt x="26457" y="277"/>
                  <a:pt x="26459" y="298"/>
                  <a:pt x="26459" y="319"/>
                </a:cubicBezTo>
                <a:lnTo>
                  <a:pt x="26459" y="2780"/>
                </a:lnTo>
                <a:cubicBezTo>
                  <a:pt x="26459" y="2800"/>
                  <a:pt x="26457" y="2821"/>
                  <a:pt x="26453" y="2841"/>
                </a:cubicBezTo>
                <a:cubicBezTo>
                  <a:pt x="26449" y="2862"/>
                  <a:pt x="26443" y="2882"/>
                  <a:pt x="26435" y="2901"/>
                </a:cubicBezTo>
                <a:cubicBezTo>
                  <a:pt x="26427" y="2920"/>
                  <a:pt x="26417" y="2939"/>
                  <a:pt x="26405" y="2956"/>
                </a:cubicBezTo>
                <a:cubicBezTo>
                  <a:pt x="26394" y="2973"/>
                  <a:pt x="26381" y="2989"/>
                  <a:pt x="26366" y="3004"/>
                </a:cubicBezTo>
                <a:cubicBezTo>
                  <a:pt x="26351" y="3019"/>
                  <a:pt x="26335" y="3032"/>
                  <a:pt x="26318" y="3044"/>
                </a:cubicBezTo>
                <a:cubicBezTo>
                  <a:pt x="26301" y="3055"/>
                  <a:pt x="26282" y="3065"/>
                  <a:pt x="26263" y="3073"/>
                </a:cubicBezTo>
                <a:cubicBezTo>
                  <a:pt x="26244" y="3081"/>
                  <a:pt x="26224" y="3087"/>
                  <a:pt x="26203" y="3091"/>
                </a:cubicBezTo>
                <a:cubicBezTo>
                  <a:pt x="26183" y="3095"/>
                  <a:pt x="26162" y="3097"/>
                  <a:pt x="26141" y="3097"/>
                </a:cubicBezTo>
                <a:lnTo>
                  <a:pt x="317" y="3097"/>
                </a:lnTo>
                <a:cubicBezTo>
                  <a:pt x="296" y="3097"/>
                  <a:pt x="276" y="3095"/>
                  <a:pt x="255" y="3091"/>
                </a:cubicBezTo>
                <a:cubicBezTo>
                  <a:pt x="235" y="3087"/>
                  <a:pt x="215" y="3081"/>
                  <a:pt x="196" y="3073"/>
                </a:cubicBezTo>
                <a:cubicBezTo>
                  <a:pt x="176" y="3065"/>
                  <a:pt x="158" y="3055"/>
                  <a:pt x="141" y="3044"/>
                </a:cubicBezTo>
                <a:cubicBezTo>
                  <a:pt x="123" y="3032"/>
                  <a:pt x="107" y="3019"/>
                  <a:pt x="93" y="3004"/>
                </a:cubicBezTo>
                <a:cubicBezTo>
                  <a:pt x="78" y="2989"/>
                  <a:pt x="65" y="2973"/>
                  <a:pt x="53" y="2956"/>
                </a:cubicBezTo>
                <a:cubicBezTo>
                  <a:pt x="42" y="2939"/>
                  <a:pt x="32" y="2920"/>
                  <a:pt x="24" y="2901"/>
                </a:cubicBezTo>
                <a:cubicBezTo>
                  <a:pt x="16" y="2882"/>
                  <a:pt x="10" y="2862"/>
                  <a:pt x="6" y="2841"/>
                </a:cubicBezTo>
                <a:cubicBezTo>
                  <a:pt x="2" y="2821"/>
                  <a:pt x="0" y="2800"/>
                  <a:pt x="0" y="278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10" name="CuadroTexto 609"/>
          <p:cNvSpPr txBox="1"/>
          <p:nvPr/>
        </p:nvSpPr>
        <p:spPr>
          <a:xfrm>
            <a:off x="571320" y="1052640"/>
            <a:ext cx="95616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Ejercicio if</a:t>
            </a:r>
            <a:endParaRPr lang="en-US" sz="1800" b="0" u="none" strike="noStrike">
              <a:solidFill>
                <a:srgbClr val="000000"/>
              </a:solidFill>
              <a:effectLst/>
              <a:uFillTx/>
              <a:latin typeface="Times New Roman"/>
            </a:endParaRPr>
          </a:p>
        </p:txBody>
      </p:sp>
      <p:sp>
        <p:nvSpPr>
          <p:cNvPr id="611" name="CuadroTexto 610"/>
          <p:cNvSpPr txBox="1"/>
          <p:nvPr/>
        </p:nvSpPr>
        <p:spPr>
          <a:xfrm>
            <a:off x="1562040" y="1877040"/>
            <a:ext cx="2556918" cy="230832"/>
          </a:xfrm>
          <a:prstGeom prst="rect">
            <a:avLst/>
          </a:prstGeom>
          <a:noFill/>
          <a:ln w="0">
            <a:noFill/>
          </a:ln>
        </p:spPr>
        <p:txBody>
          <a:bodyPr wrap="none" lIns="0" tIns="0" rIns="0" bIns="0" anchor="t">
            <a:spAutoFit/>
          </a:bodyPr>
          <a:lstStyle/>
          <a:p>
            <a:r>
              <a:rPr lang="en-US" sz="1500" b="1" u="none" strike="noStrike" dirty="0" err="1">
                <a:solidFill>
                  <a:srgbClr val="000000"/>
                </a:solidFill>
                <a:effectLst/>
                <a:uFillTx/>
                <a:latin typeface="CrimsonPro"/>
                <a:ea typeface="CrimsonPro"/>
              </a:rPr>
              <a:t>Ejercicio</a:t>
            </a:r>
            <a:r>
              <a:rPr lang="en-US" sz="1500" b="1" u="none" strike="noStrike" dirty="0">
                <a:solidFill>
                  <a:srgbClr val="000000"/>
                </a:solidFill>
                <a:effectLst/>
                <a:uFillTx/>
                <a:latin typeface="CrimsonPro"/>
                <a:ea typeface="CrimsonPro"/>
              </a:rPr>
              <a:t> para los </a:t>
            </a:r>
            <a:r>
              <a:rPr lang="en-US" sz="1500" b="1" u="none" strike="noStrike" dirty="0" err="1">
                <a:solidFill>
                  <a:srgbClr val="000000"/>
                </a:solidFill>
                <a:effectLst/>
                <a:uFillTx/>
                <a:latin typeface="CrimsonPro"/>
                <a:ea typeface="CrimsonPro"/>
              </a:rPr>
              <a:t>participantes</a:t>
            </a:r>
            <a:r>
              <a:rPr lang="en-US" sz="1500" b="1" u="none" strike="noStrike" dirty="0">
                <a:solidFill>
                  <a:srgbClr val="000000"/>
                </a:solidFill>
                <a:effectLst/>
                <a:uFillTx/>
                <a:latin typeface="CrimsonPro"/>
                <a:ea typeface="CrimsonPro"/>
              </a:rPr>
              <a:t>…</a:t>
            </a:r>
            <a:endParaRPr lang="en-US" sz="1500" b="1" u="none" strike="noStrike" dirty="0">
              <a:solidFill>
                <a:srgbClr val="000000"/>
              </a:solidFill>
              <a:effectLst/>
              <a:uFillTx/>
              <a:latin typeface="Times New Roman"/>
            </a:endParaRPr>
          </a:p>
        </p:txBody>
      </p:sp>
      <p:sp>
        <p:nvSpPr>
          <p:cNvPr id="612" name="Forma libre: forma 611"/>
          <p:cNvSpPr/>
          <p:nvPr/>
        </p:nvSpPr>
        <p:spPr>
          <a:xfrm>
            <a:off x="1352520" y="2962080"/>
            <a:ext cx="4667400" cy="952920"/>
          </a:xfrm>
          <a:custGeom>
            <a:avLst/>
            <a:gdLst/>
            <a:ahLst/>
            <a:cxnLst/>
            <a:rect l="0" t="0" r="r" b="b"/>
            <a:pathLst>
              <a:path w="12965" h="2647">
                <a:moveTo>
                  <a:pt x="0" y="2435"/>
                </a:moveTo>
                <a:lnTo>
                  <a:pt x="0" y="212"/>
                </a:lnTo>
                <a:cubicBezTo>
                  <a:pt x="0" y="198"/>
                  <a:pt x="1" y="184"/>
                  <a:pt x="3" y="170"/>
                </a:cubicBezTo>
                <a:cubicBezTo>
                  <a:pt x="5" y="157"/>
                  <a:pt x="8" y="144"/>
                  <a:pt x="12" y="131"/>
                </a:cubicBezTo>
                <a:cubicBezTo>
                  <a:pt x="16" y="118"/>
                  <a:pt x="21" y="106"/>
                  <a:pt x="26" y="94"/>
                </a:cubicBezTo>
                <a:cubicBezTo>
                  <a:pt x="32" y="83"/>
                  <a:pt x="39" y="72"/>
                  <a:pt x="46" y="62"/>
                </a:cubicBezTo>
                <a:cubicBezTo>
                  <a:pt x="53" y="52"/>
                  <a:pt x="61" y="43"/>
                  <a:pt x="70" y="36"/>
                </a:cubicBezTo>
                <a:cubicBezTo>
                  <a:pt x="79" y="28"/>
                  <a:pt x="88" y="21"/>
                  <a:pt x="98" y="16"/>
                </a:cubicBezTo>
                <a:cubicBezTo>
                  <a:pt x="107" y="11"/>
                  <a:pt x="117" y="7"/>
                  <a:pt x="127" y="4"/>
                </a:cubicBezTo>
                <a:cubicBezTo>
                  <a:pt x="138" y="1"/>
                  <a:pt x="148" y="0"/>
                  <a:pt x="158" y="0"/>
                </a:cubicBezTo>
                <a:lnTo>
                  <a:pt x="12753" y="0"/>
                </a:lnTo>
                <a:cubicBezTo>
                  <a:pt x="12767" y="0"/>
                  <a:pt x="12781" y="1"/>
                  <a:pt x="12795" y="4"/>
                </a:cubicBezTo>
                <a:cubicBezTo>
                  <a:pt x="12808" y="7"/>
                  <a:pt x="12822" y="11"/>
                  <a:pt x="12834" y="16"/>
                </a:cubicBezTo>
                <a:cubicBezTo>
                  <a:pt x="12847" y="21"/>
                  <a:pt x="12860" y="28"/>
                  <a:pt x="12871" y="36"/>
                </a:cubicBezTo>
                <a:cubicBezTo>
                  <a:pt x="12883" y="43"/>
                  <a:pt x="12893" y="52"/>
                  <a:pt x="12903" y="62"/>
                </a:cubicBezTo>
                <a:cubicBezTo>
                  <a:pt x="12913" y="72"/>
                  <a:pt x="12922" y="83"/>
                  <a:pt x="12929" y="94"/>
                </a:cubicBezTo>
                <a:cubicBezTo>
                  <a:pt x="12937" y="106"/>
                  <a:pt x="12944" y="118"/>
                  <a:pt x="12949" y="131"/>
                </a:cubicBezTo>
                <a:cubicBezTo>
                  <a:pt x="12954" y="144"/>
                  <a:pt x="12958" y="157"/>
                  <a:pt x="12961" y="170"/>
                </a:cubicBezTo>
                <a:cubicBezTo>
                  <a:pt x="12964" y="184"/>
                  <a:pt x="12965" y="198"/>
                  <a:pt x="12965" y="212"/>
                </a:cubicBezTo>
                <a:lnTo>
                  <a:pt x="12965" y="2435"/>
                </a:lnTo>
                <a:cubicBezTo>
                  <a:pt x="12965" y="2449"/>
                  <a:pt x="12964" y="2463"/>
                  <a:pt x="12961" y="2477"/>
                </a:cubicBezTo>
                <a:cubicBezTo>
                  <a:pt x="12958" y="2490"/>
                  <a:pt x="12954" y="2503"/>
                  <a:pt x="12949" y="2516"/>
                </a:cubicBezTo>
                <a:cubicBezTo>
                  <a:pt x="12944" y="2529"/>
                  <a:pt x="12937" y="2541"/>
                  <a:pt x="12929" y="2553"/>
                </a:cubicBezTo>
                <a:cubicBezTo>
                  <a:pt x="12922" y="2564"/>
                  <a:pt x="12913" y="2575"/>
                  <a:pt x="12903" y="2585"/>
                </a:cubicBezTo>
                <a:cubicBezTo>
                  <a:pt x="12893" y="2595"/>
                  <a:pt x="12883" y="2603"/>
                  <a:pt x="12871" y="2611"/>
                </a:cubicBezTo>
                <a:cubicBezTo>
                  <a:pt x="12860" y="2619"/>
                  <a:pt x="12847" y="2625"/>
                  <a:pt x="12834" y="2631"/>
                </a:cubicBezTo>
                <a:cubicBezTo>
                  <a:pt x="12822" y="2636"/>
                  <a:pt x="12808" y="2640"/>
                  <a:pt x="12795" y="2643"/>
                </a:cubicBezTo>
                <a:cubicBezTo>
                  <a:pt x="12781" y="2646"/>
                  <a:pt x="12767" y="2647"/>
                  <a:pt x="12753" y="2647"/>
                </a:cubicBezTo>
                <a:lnTo>
                  <a:pt x="158" y="2647"/>
                </a:lnTo>
                <a:cubicBezTo>
                  <a:pt x="148" y="2647"/>
                  <a:pt x="138" y="2646"/>
                  <a:pt x="127" y="2643"/>
                </a:cubicBezTo>
                <a:cubicBezTo>
                  <a:pt x="117" y="2640"/>
                  <a:pt x="107" y="2636"/>
                  <a:pt x="98" y="2631"/>
                </a:cubicBezTo>
                <a:cubicBezTo>
                  <a:pt x="88" y="2625"/>
                  <a:pt x="79" y="2619"/>
                  <a:pt x="70" y="2611"/>
                </a:cubicBezTo>
                <a:cubicBezTo>
                  <a:pt x="61" y="2603"/>
                  <a:pt x="53" y="2595"/>
                  <a:pt x="46" y="2585"/>
                </a:cubicBezTo>
                <a:cubicBezTo>
                  <a:pt x="39" y="2575"/>
                  <a:pt x="32" y="2564"/>
                  <a:pt x="26" y="2553"/>
                </a:cubicBezTo>
                <a:cubicBezTo>
                  <a:pt x="21" y="2541"/>
                  <a:pt x="16" y="2529"/>
                  <a:pt x="12" y="2516"/>
                </a:cubicBezTo>
                <a:cubicBezTo>
                  <a:pt x="8" y="2503"/>
                  <a:pt x="5" y="2490"/>
                  <a:pt x="3" y="2477"/>
                </a:cubicBezTo>
                <a:cubicBezTo>
                  <a:pt x="1" y="2463"/>
                  <a:pt x="0" y="2449"/>
                  <a:pt x="0" y="2435"/>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13" name="Forma libre: forma 612"/>
          <p:cNvSpPr/>
          <p:nvPr/>
        </p:nvSpPr>
        <p:spPr>
          <a:xfrm>
            <a:off x="1333440" y="2962080"/>
            <a:ext cx="76320" cy="952920"/>
          </a:xfrm>
          <a:custGeom>
            <a:avLst/>
            <a:gdLst/>
            <a:ahLst/>
            <a:cxnLst/>
            <a:rect l="0" t="0" r="r" b="b"/>
            <a:pathLst>
              <a:path w="212" h="2647">
                <a:moveTo>
                  <a:pt x="0" y="0"/>
                </a:moveTo>
                <a:lnTo>
                  <a:pt x="212" y="0"/>
                </a:lnTo>
                <a:lnTo>
                  <a:pt x="212" y="2647"/>
                </a:lnTo>
                <a:lnTo>
                  <a:pt x="0" y="2647"/>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14" name="CuadroTexto 613"/>
          <p:cNvSpPr txBox="1"/>
          <p:nvPr/>
        </p:nvSpPr>
        <p:spPr>
          <a:xfrm>
            <a:off x="1562040" y="2265840"/>
            <a:ext cx="775080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Aplicando el control de flujo if, elabora un programa que muestre un mensaje de acuerdo a la edad de una persona:</a:t>
            </a:r>
            <a:endParaRPr lang="en-US" sz="1350" b="0" u="none" strike="noStrike">
              <a:solidFill>
                <a:srgbClr val="000000"/>
              </a:solidFill>
              <a:effectLst/>
              <a:uFillTx/>
              <a:latin typeface="Times New Roman"/>
            </a:endParaRPr>
          </a:p>
        </p:txBody>
      </p:sp>
      <p:sp>
        <p:nvSpPr>
          <p:cNvPr id="615" name="CuadroTexto 614"/>
          <p:cNvSpPr txBox="1"/>
          <p:nvPr/>
        </p:nvSpPr>
        <p:spPr>
          <a:xfrm>
            <a:off x="1562040" y="3138480"/>
            <a:ext cx="41832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0-10</a:t>
            </a:r>
            <a:endParaRPr lang="en-US" sz="1800" b="0" u="none" strike="noStrike">
              <a:solidFill>
                <a:srgbClr val="000000"/>
              </a:solidFill>
              <a:effectLst/>
              <a:uFillTx/>
              <a:latin typeface="Times New Roman"/>
            </a:endParaRPr>
          </a:p>
        </p:txBody>
      </p:sp>
      <p:sp>
        <p:nvSpPr>
          <p:cNvPr id="616" name="CuadroTexto 615"/>
          <p:cNvSpPr txBox="1"/>
          <p:nvPr/>
        </p:nvSpPr>
        <p:spPr>
          <a:xfrm>
            <a:off x="2123640" y="3170520"/>
            <a:ext cx="3229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años</a:t>
            </a:r>
            <a:endParaRPr lang="en-US" sz="1350" b="0" u="none" strike="noStrike">
              <a:solidFill>
                <a:srgbClr val="000000"/>
              </a:solidFill>
              <a:effectLst/>
              <a:uFillTx/>
              <a:latin typeface="Times New Roman"/>
            </a:endParaRPr>
          </a:p>
        </p:txBody>
      </p:sp>
      <p:sp>
        <p:nvSpPr>
          <p:cNvPr id="617" name="Forma libre: forma 616"/>
          <p:cNvSpPr/>
          <p:nvPr/>
        </p:nvSpPr>
        <p:spPr>
          <a:xfrm>
            <a:off x="6190920" y="2962080"/>
            <a:ext cx="4667760" cy="952920"/>
          </a:xfrm>
          <a:custGeom>
            <a:avLst/>
            <a:gdLst/>
            <a:ahLst/>
            <a:cxnLst/>
            <a:rect l="0" t="0" r="r" b="b"/>
            <a:pathLst>
              <a:path w="12966" h="2647">
                <a:moveTo>
                  <a:pt x="0" y="2435"/>
                </a:moveTo>
                <a:lnTo>
                  <a:pt x="0" y="212"/>
                </a:lnTo>
                <a:cubicBezTo>
                  <a:pt x="0" y="198"/>
                  <a:pt x="1" y="184"/>
                  <a:pt x="3" y="170"/>
                </a:cubicBezTo>
                <a:cubicBezTo>
                  <a:pt x="5" y="157"/>
                  <a:pt x="9" y="144"/>
                  <a:pt x="12" y="131"/>
                </a:cubicBezTo>
                <a:cubicBezTo>
                  <a:pt x="16" y="118"/>
                  <a:pt x="21" y="106"/>
                  <a:pt x="27" y="94"/>
                </a:cubicBezTo>
                <a:cubicBezTo>
                  <a:pt x="33" y="83"/>
                  <a:pt x="40" y="72"/>
                  <a:pt x="47" y="62"/>
                </a:cubicBezTo>
                <a:cubicBezTo>
                  <a:pt x="54" y="52"/>
                  <a:pt x="62" y="43"/>
                  <a:pt x="71" y="36"/>
                </a:cubicBezTo>
                <a:cubicBezTo>
                  <a:pt x="80" y="28"/>
                  <a:pt x="89" y="21"/>
                  <a:pt x="98" y="16"/>
                </a:cubicBezTo>
                <a:cubicBezTo>
                  <a:pt x="108" y="11"/>
                  <a:pt x="118" y="7"/>
                  <a:pt x="128" y="4"/>
                </a:cubicBezTo>
                <a:cubicBezTo>
                  <a:pt x="138" y="1"/>
                  <a:pt x="149" y="0"/>
                  <a:pt x="159" y="0"/>
                </a:cubicBezTo>
                <a:lnTo>
                  <a:pt x="12754" y="0"/>
                </a:lnTo>
                <a:cubicBezTo>
                  <a:pt x="12768" y="0"/>
                  <a:pt x="12782" y="1"/>
                  <a:pt x="12796" y="4"/>
                </a:cubicBezTo>
                <a:cubicBezTo>
                  <a:pt x="12809" y="7"/>
                  <a:pt x="12822" y="11"/>
                  <a:pt x="12835" y="16"/>
                </a:cubicBezTo>
                <a:cubicBezTo>
                  <a:pt x="12848" y="21"/>
                  <a:pt x="12860" y="28"/>
                  <a:pt x="12872" y="36"/>
                </a:cubicBezTo>
                <a:cubicBezTo>
                  <a:pt x="12883" y="43"/>
                  <a:pt x="12894" y="52"/>
                  <a:pt x="12904" y="62"/>
                </a:cubicBezTo>
                <a:cubicBezTo>
                  <a:pt x="12914" y="72"/>
                  <a:pt x="12923" y="83"/>
                  <a:pt x="12930" y="94"/>
                </a:cubicBezTo>
                <a:cubicBezTo>
                  <a:pt x="12938" y="106"/>
                  <a:pt x="12945" y="118"/>
                  <a:pt x="12950" y="131"/>
                </a:cubicBezTo>
                <a:cubicBezTo>
                  <a:pt x="12955" y="144"/>
                  <a:pt x="12959" y="157"/>
                  <a:pt x="12962" y="170"/>
                </a:cubicBezTo>
                <a:cubicBezTo>
                  <a:pt x="12965" y="184"/>
                  <a:pt x="12966" y="198"/>
                  <a:pt x="12966" y="212"/>
                </a:cubicBezTo>
                <a:lnTo>
                  <a:pt x="12966" y="2435"/>
                </a:lnTo>
                <a:cubicBezTo>
                  <a:pt x="12966" y="2449"/>
                  <a:pt x="12965" y="2463"/>
                  <a:pt x="12962" y="2477"/>
                </a:cubicBezTo>
                <a:cubicBezTo>
                  <a:pt x="12959" y="2490"/>
                  <a:pt x="12955" y="2503"/>
                  <a:pt x="12950" y="2516"/>
                </a:cubicBezTo>
                <a:cubicBezTo>
                  <a:pt x="12945" y="2529"/>
                  <a:pt x="12938" y="2541"/>
                  <a:pt x="12930" y="2553"/>
                </a:cubicBezTo>
                <a:cubicBezTo>
                  <a:pt x="12923" y="2564"/>
                  <a:pt x="12914" y="2575"/>
                  <a:pt x="12904" y="2585"/>
                </a:cubicBezTo>
                <a:cubicBezTo>
                  <a:pt x="12894" y="2595"/>
                  <a:pt x="12883" y="2603"/>
                  <a:pt x="12872" y="2611"/>
                </a:cubicBezTo>
                <a:cubicBezTo>
                  <a:pt x="12860" y="2619"/>
                  <a:pt x="12848" y="2625"/>
                  <a:pt x="12835" y="2631"/>
                </a:cubicBezTo>
                <a:cubicBezTo>
                  <a:pt x="12822" y="2636"/>
                  <a:pt x="12809" y="2640"/>
                  <a:pt x="12796" y="2643"/>
                </a:cubicBezTo>
                <a:cubicBezTo>
                  <a:pt x="12782" y="2646"/>
                  <a:pt x="12768" y="2647"/>
                  <a:pt x="12754" y="2647"/>
                </a:cubicBezTo>
                <a:lnTo>
                  <a:pt x="159" y="2647"/>
                </a:lnTo>
                <a:cubicBezTo>
                  <a:pt x="149" y="2647"/>
                  <a:pt x="138" y="2646"/>
                  <a:pt x="128" y="2643"/>
                </a:cubicBezTo>
                <a:cubicBezTo>
                  <a:pt x="118" y="2640"/>
                  <a:pt x="108" y="2636"/>
                  <a:pt x="98" y="2631"/>
                </a:cubicBezTo>
                <a:cubicBezTo>
                  <a:pt x="89" y="2625"/>
                  <a:pt x="80" y="2619"/>
                  <a:pt x="71" y="2611"/>
                </a:cubicBezTo>
                <a:cubicBezTo>
                  <a:pt x="62" y="2603"/>
                  <a:pt x="54" y="2595"/>
                  <a:pt x="47" y="2585"/>
                </a:cubicBezTo>
                <a:cubicBezTo>
                  <a:pt x="40" y="2575"/>
                  <a:pt x="33" y="2564"/>
                  <a:pt x="27" y="2553"/>
                </a:cubicBezTo>
                <a:cubicBezTo>
                  <a:pt x="21" y="2541"/>
                  <a:pt x="16" y="2529"/>
                  <a:pt x="12" y="2516"/>
                </a:cubicBezTo>
                <a:cubicBezTo>
                  <a:pt x="9" y="2503"/>
                  <a:pt x="5" y="2490"/>
                  <a:pt x="3" y="2477"/>
                </a:cubicBezTo>
                <a:cubicBezTo>
                  <a:pt x="1" y="2463"/>
                  <a:pt x="0" y="2449"/>
                  <a:pt x="0" y="2435"/>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18" name="Forma libre: forma 617"/>
          <p:cNvSpPr/>
          <p:nvPr/>
        </p:nvSpPr>
        <p:spPr>
          <a:xfrm>
            <a:off x="6171840" y="2962080"/>
            <a:ext cx="76680" cy="952920"/>
          </a:xfrm>
          <a:custGeom>
            <a:avLst/>
            <a:gdLst/>
            <a:ahLst/>
            <a:cxnLst/>
            <a:rect l="0" t="0" r="r" b="b"/>
            <a:pathLst>
              <a:path w="213" h="2647">
                <a:moveTo>
                  <a:pt x="0" y="0"/>
                </a:moveTo>
                <a:lnTo>
                  <a:pt x="213" y="0"/>
                </a:lnTo>
                <a:lnTo>
                  <a:pt x="213" y="2647"/>
                </a:lnTo>
                <a:lnTo>
                  <a:pt x="0" y="2647"/>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19" name="CuadroTexto 618"/>
          <p:cNvSpPr txBox="1"/>
          <p:nvPr/>
        </p:nvSpPr>
        <p:spPr>
          <a:xfrm>
            <a:off x="1562040" y="3525120"/>
            <a:ext cx="34956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niño</a:t>
            </a:r>
            <a:endParaRPr lang="en-US" sz="1500" b="0" u="none" strike="noStrike">
              <a:solidFill>
                <a:srgbClr val="000000"/>
              </a:solidFill>
              <a:effectLst/>
              <a:uFillTx/>
              <a:latin typeface="Times New Roman"/>
            </a:endParaRPr>
          </a:p>
        </p:txBody>
      </p:sp>
      <p:sp>
        <p:nvSpPr>
          <p:cNvPr id="620" name="CuadroTexto 619"/>
          <p:cNvSpPr txBox="1"/>
          <p:nvPr/>
        </p:nvSpPr>
        <p:spPr>
          <a:xfrm>
            <a:off x="6400800" y="3138480"/>
            <a:ext cx="42840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11-14</a:t>
            </a:r>
            <a:endParaRPr lang="en-US" sz="1800" b="0" u="none" strike="noStrike">
              <a:solidFill>
                <a:srgbClr val="000000"/>
              </a:solidFill>
              <a:effectLst/>
              <a:uFillTx/>
              <a:latin typeface="Times New Roman"/>
            </a:endParaRPr>
          </a:p>
        </p:txBody>
      </p:sp>
      <p:sp>
        <p:nvSpPr>
          <p:cNvPr id="621" name="CuadroTexto 620"/>
          <p:cNvSpPr txBox="1"/>
          <p:nvPr/>
        </p:nvSpPr>
        <p:spPr>
          <a:xfrm>
            <a:off x="6978960" y="3170520"/>
            <a:ext cx="3229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años</a:t>
            </a:r>
            <a:endParaRPr lang="en-US" sz="1350" b="0" u="none" strike="noStrike">
              <a:solidFill>
                <a:srgbClr val="000000"/>
              </a:solidFill>
              <a:effectLst/>
              <a:uFillTx/>
              <a:latin typeface="Times New Roman"/>
            </a:endParaRPr>
          </a:p>
        </p:txBody>
      </p:sp>
      <p:sp>
        <p:nvSpPr>
          <p:cNvPr id="622" name="Forma libre: forma 621"/>
          <p:cNvSpPr/>
          <p:nvPr/>
        </p:nvSpPr>
        <p:spPr>
          <a:xfrm>
            <a:off x="1352520" y="4066920"/>
            <a:ext cx="4667400" cy="952920"/>
          </a:xfrm>
          <a:custGeom>
            <a:avLst/>
            <a:gdLst/>
            <a:ahLst/>
            <a:cxnLst/>
            <a:rect l="0" t="0" r="r" b="b"/>
            <a:pathLst>
              <a:path w="12965" h="2647">
                <a:moveTo>
                  <a:pt x="0" y="2435"/>
                </a:moveTo>
                <a:lnTo>
                  <a:pt x="0" y="212"/>
                </a:lnTo>
                <a:cubicBezTo>
                  <a:pt x="0" y="198"/>
                  <a:pt x="1" y="184"/>
                  <a:pt x="3" y="171"/>
                </a:cubicBezTo>
                <a:cubicBezTo>
                  <a:pt x="5" y="157"/>
                  <a:pt x="8" y="144"/>
                  <a:pt x="12" y="131"/>
                </a:cubicBezTo>
                <a:cubicBezTo>
                  <a:pt x="16" y="118"/>
                  <a:pt x="21" y="106"/>
                  <a:pt x="26" y="94"/>
                </a:cubicBezTo>
                <a:cubicBezTo>
                  <a:pt x="32" y="83"/>
                  <a:pt x="39" y="72"/>
                  <a:pt x="46" y="62"/>
                </a:cubicBezTo>
                <a:cubicBezTo>
                  <a:pt x="53" y="52"/>
                  <a:pt x="61" y="44"/>
                  <a:pt x="70" y="36"/>
                </a:cubicBezTo>
                <a:cubicBezTo>
                  <a:pt x="79" y="28"/>
                  <a:pt x="88" y="22"/>
                  <a:pt x="98" y="16"/>
                </a:cubicBezTo>
                <a:cubicBezTo>
                  <a:pt x="107" y="11"/>
                  <a:pt x="117" y="7"/>
                  <a:pt x="127" y="4"/>
                </a:cubicBezTo>
                <a:cubicBezTo>
                  <a:pt x="138" y="2"/>
                  <a:pt x="148" y="0"/>
                  <a:pt x="158" y="0"/>
                </a:cubicBezTo>
                <a:lnTo>
                  <a:pt x="12753" y="0"/>
                </a:lnTo>
                <a:cubicBezTo>
                  <a:pt x="12767" y="0"/>
                  <a:pt x="12781" y="2"/>
                  <a:pt x="12795" y="4"/>
                </a:cubicBezTo>
                <a:cubicBezTo>
                  <a:pt x="12808" y="7"/>
                  <a:pt x="12822" y="11"/>
                  <a:pt x="12834" y="16"/>
                </a:cubicBezTo>
                <a:cubicBezTo>
                  <a:pt x="12847" y="22"/>
                  <a:pt x="12860" y="28"/>
                  <a:pt x="12871" y="36"/>
                </a:cubicBezTo>
                <a:cubicBezTo>
                  <a:pt x="12883" y="44"/>
                  <a:pt x="12893" y="52"/>
                  <a:pt x="12903" y="62"/>
                </a:cubicBezTo>
                <a:cubicBezTo>
                  <a:pt x="12913" y="72"/>
                  <a:pt x="12922" y="83"/>
                  <a:pt x="12929" y="94"/>
                </a:cubicBezTo>
                <a:cubicBezTo>
                  <a:pt x="12937" y="106"/>
                  <a:pt x="12944" y="118"/>
                  <a:pt x="12949" y="131"/>
                </a:cubicBezTo>
                <a:cubicBezTo>
                  <a:pt x="12954" y="144"/>
                  <a:pt x="12958" y="157"/>
                  <a:pt x="12961" y="171"/>
                </a:cubicBezTo>
                <a:cubicBezTo>
                  <a:pt x="12964" y="184"/>
                  <a:pt x="12965" y="198"/>
                  <a:pt x="12965" y="212"/>
                </a:cubicBezTo>
                <a:lnTo>
                  <a:pt x="12965" y="2435"/>
                </a:lnTo>
                <a:cubicBezTo>
                  <a:pt x="12965" y="2449"/>
                  <a:pt x="12964" y="2463"/>
                  <a:pt x="12961" y="2477"/>
                </a:cubicBezTo>
                <a:cubicBezTo>
                  <a:pt x="12958" y="2490"/>
                  <a:pt x="12954" y="2504"/>
                  <a:pt x="12949" y="2516"/>
                </a:cubicBezTo>
                <a:cubicBezTo>
                  <a:pt x="12944" y="2529"/>
                  <a:pt x="12937" y="2541"/>
                  <a:pt x="12929" y="2553"/>
                </a:cubicBezTo>
                <a:cubicBezTo>
                  <a:pt x="12922" y="2565"/>
                  <a:pt x="12913" y="2575"/>
                  <a:pt x="12903" y="2585"/>
                </a:cubicBezTo>
                <a:cubicBezTo>
                  <a:pt x="12893" y="2595"/>
                  <a:pt x="12883" y="2604"/>
                  <a:pt x="12871" y="2611"/>
                </a:cubicBezTo>
                <a:cubicBezTo>
                  <a:pt x="12860" y="2619"/>
                  <a:pt x="12847" y="2626"/>
                  <a:pt x="12834" y="2631"/>
                </a:cubicBezTo>
                <a:cubicBezTo>
                  <a:pt x="12822" y="2636"/>
                  <a:pt x="12808" y="2640"/>
                  <a:pt x="12795" y="2643"/>
                </a:cubicBezTo>
                <a:cubicBezTo>
                  <a:pt x="12781" y="2646"/>
                  <a:pt x="12767" y="2647"/>
                  <a:pt x="12753" y="2647"/>
                </a:cubicBezTo>
                <a:lnTo>
                  <a:pt x="158" y="2647"/>
                </a:lnTo>
                <a:cubicBezTo>
                  <a:pt x="148" y="2647"/>
                  <a:pt x="138" y="2646"/>
                  <a:pt x="127" y="2643"/>
                </a:cubicBezTo>
                <a:cubicBezTo>
                  <a:pt x="117" y="2640"/>
                  <a:pt x="107" y="2636"/>
                  <a:pt x="98" y="2631"/>
                </a:cubicBezTo>
                <a:cubicBezTo>
                  <a:pt x="88" y="2626"/>
                  <a:pt x="79" y="2619"/>
                  <a:pt x="70" y="2611"/>
                </a:cubicBezTo>
                <a:cubicBezTo>
                  <a:pt x="61" y="2604"/>
                  <a:pt x="53" y="2595"/>
                  <a:pt x="46" y="2585"/>
                </a:cubicBezTo>
                <a:cubicBezTo>
                  <a:pt x="39" y="2575"/>
                  <a:pt x="32" y="2565"/>
                  <a:pt x="26" y="2553"/>
                </a:cubicBezTo>
                <a:cubicBezTo>
                  <a:pt x="21" y="2541"/>
                  <a:pt x="16" y="2529"/>
                  <a:pt x="12" y="2516"/>
                </a:cubicBezTo>
                <a:cubicBezTo>
                  <a:pt x="8" y="2504"/>
                  <a:pt x="5" y="2490"/>
                  <a:pt x="3" y="2477"/>
                </a:cubicBezTo>
                <a:cubicBezTo>
                  <a:pt x="1" y="2463"/>
                  <a:pt x="0" y="2449"/>
                  <a:pt x="0" y="2435"/>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23" name="Forma libre: forma 622"/>
          <p:cNvSpPr/>
          <p:nvPr/>
        </p:nvSpPr>
        <p:spPr>
          <a:xfrm>
            <a:off x="1333440" y="4066920"/>
            <a:ext cx="76320" cy="952920"/>
          </a:xfrm>
          <a:custGeom>
            <a:avLst/>
            <a:gdLst/>
            <a:ahLst/>
            <a:cxnLst/>
            <a:rect l="0" t="0" r="r" b="b"/>
            <a:pathLst>
              <a:path w="212" h="2647">
                <a:moveTo>
                  <a:pt x="0" y="0"/>
                </a:moveTo>
                <a:lnTo>
                  <a:pt x="212" y="0"/>
                </a:lnTo>
                <a:lnTo>
                  <a:pt x="212" y="2647"/>
                </a:lnTo>
                <a:lnTo>
                  <a:pt x="0" y="2647"/>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24" name="CuadroTexto 623"/>
          <p:cNvSpPr txBox="1"/>
          <p:nvPr/>
        </p:nvSpPr>
        <p:spPr>
          <a:xfrm>
            <a:off x="6400800" y="3525120"/>
            <a:ext cx="122472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pre-adolescente</a:t>
            </a:r>
            <a:endParaRPr lang="en-US" sz="1500" b="0" u="none" strike="noStrike">
              <a:solidFill>
                <a:srgbClr val="000000"/>
              </a:solidFill>
              <a:effectLst/>
              <a:uFillTx/>
              <a:latin typeface="Times New Roman"/>
            </a:endParaRPr>
          </a:p>
        </p:txBody>
      </p:sp>
      <p:sp>
        <p:nvSpPr>
          <p:cNvPr id="625" name="CuadroTexto 624"/>
          <p:cNvSpPr txBox="1"/>
          <p:nvPr/>
        </p:nvSpPr>
        <p:spPr>
          <a:xfrm>
            <a:off x="1562040" y="4243320"/>
            <a:ext cx="46656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15-18</a:t>
            </a:r>
            <a:endParaRPr lang="en-US" sz="1800" b="0" u="none" strike="noStrike">
              <a:solidFill>
                <a:srgbClr val="000000"/>
              </a:solidFill>
              <a:effectLst/>
              <a:uFillTx/>
              <a:latin typeface="Times New Roman"/>
            </a:endParaRPr>
          </a:p>
        </p:txBody>
      </p:sp>
      <p:sp>
        <p:nvSpPr>
          <p:cNvPr id="626" name="CuadroTexto 625"/>
          <p:cNvSpPr txBox="1"/>
          <p:nvPr/>
        </p:nvSpPr>
        <p:spPr>
          <a:xfrm>
            <a:off x="2176920" y="4275360"/>
            <a:ext cx="3229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años</a:t>
            </a:r>
            <a:endParaRPr lang="en-US" sz="1350" b="0" u="none" strike="noStrike">
              <a:solidFill>
                <a:srgbClr val="000000"/>
              </a:solidFill>
              <a:effectLst/>
              <a:uFillTx/>
              <a:latin typeface="Times New Roman"/>
            </a:endParaRPr>
          </a:p>
        </p:txBody>
      </p:sp>
      <p:sp>
        <p:nvSpPr>
          <p:cNvPr id="627" name="Forma libre: forma 626"/>
          <p:cNvSpPr/>
          <p:nvPr/>
        </p:nvSpPr>
        <p:spPr>
          <a:xfrm>
            <a:off x="6190920" y="4066920"/>
            <a:ext cx="4667760" cy="952920"/>
          </a:xfrm>
          <a:custGeom>
            <a:avLst/>
            <a:gdLst/>
            <a:ahLst/>
            <a:cxnLst/>
            <a:rect l="0" t="0" r="r" b="b"/>
            <a:pathLst>
              <a:path w="12966" h="2647">
                <a:moveTo>
                  <a:pt x="0" y="2435"/>
                </a:moveTo>
                <a:lnTo>
                  <a:pt x="0" y="212"/>
                </a:lnTo>
                <a:cubicBezTo>
                  <a:pt x="0" y="198"/>
                  <a:pt x="1" y="184"/>
                  <a:pt x="3" y="171"/>
                </a:cubicBezTo>
                <a:cubicBezTo>
                  <a:pt x="5" y="157"/>
                  <a:pt x="9" y="144"/>
                  <a:pt x="12" y="131"/>
                </a:cubicBezTo>
                <a:cubicBezTo>
                  <a:pt x="16" y="118"/>
                  <a:pt x="21" y="106"/>
                  <a:pt x="27" y="94"/>
                </a:cubicBezTo>
                <a:cubicBezTo>
                  <a:pt x="33" y="83"/>
                  <a:pt x="40" y="72"/>
                  <a:pt x="47" y="62"/>
                </a:cubicBezTo>
                <a:cubicBezTo>
                  <a:pt x="54" y="52"/>
                  <a:pt x="62" y="44"/>
                  <a:pt x="71" y="36"/>
                </a:cubicBezTo>
                <a:cubicBezTo>
                  <a:pt x="80" y="28"/>
                  <a:pt x="89" y="22"/>
                  <a:pt x="98" y="16"/>
                </a:cubicBezTo>
                <a:cubicBezTo>
                  <a:pt x="108" y="11"/>
                  <a:pt x="118" y="7"/>
                  <a:pt x="128" y="4"/>
                </a:cubicBezTo>
                <a:cubicBezTo>
                  <a:pt x="138" y="2"/>
                  <a:pt x="149" y="0"/>
                  <a:pt x="159" y="0"/>
                </a:cubicBezTo>
                <a:lnTo>
                  <a:pt x="12754" y="0"/>
                </a:lnTo>
                <a:cubicBezTo>
                  <a:pt x="12768" y="0"/>
                  <a:pt x="12782" y="2"/>
                  <a:pt x="12796" y="4"/>
                </a:cubicBezTo>
                <a:cubicBezTo>
                  <a:pt x="12809" y="7"/>
                  <a:pt x="12822" y="11"/>
                  <a:pt x="12835" y="16"/>
                </a:cubicBezTo>
                <a:cubicBezTo>
                  <a:pt x="12848" y="22"/>
                  <a:pt x="12860" y="28"/>
                  <a:pt x="12872" y="36"/>
                </a:cubicBezTo>
                <a:cubicBezTo>
                  <a:pt x="12883" y="44"/>
                  <a:pt x="12894" y="52"/>
                  <a:pt x="12904" y="62"/>
                </a:cubicBezTo>
                <a:cubicBezTo>
                  <a:pt x="12914" y="72"/>
                  <a:pt x="12923" y="83"/>
                  <a:pt x="12930" y="94"/>
                </a:cubicBezTo>
                <a:cubicBezTo>
                  <a:pt x="12938" y="106"/>
                  <a:pt x="12945" y="118"/>
                  <a:pt x="12950" y="131"/>
                </a:cubicBezTo>
                <a:cubicBezTo>
                  <a:pt x="12955" y="144"/>
                  <a:pt x="12959" y="157"/>
                  <a:pt x="12962" y="171"/>
                </a:cubicBezTo>
                <a:cubicBezTo>
                  <a:pt x="12965" y="184"/>
                  <a:pt x="12966" y="198"/>
                  <a:pt x="12966" y="212"/>
                </a:cubicBezTo>
                <a:lnTo>
                  <a:pt x="12966" y="2435"/>
                </a:lnTo>
                <a:cubicBezTo>
                  <a:pt x="12966" y="2449"/>
                  <a:pt x="12965" y="2463"/>
                  <a:pt x="12962" y="2477"/>
                </a:cubicBezTo>
                <a:cubicBezTo>
                  <a:pt x="12959" y="2490"/>
                  <a:pt x="12955" y="2504"/>
                  <a:pt x="12950" y="2516"/>
                </a:cubicBezTo>
                <a:cubicBezTo>
                  <a:pt x="12945" y="2529"/>
                  <a:pt x="12938" y="2541"/>
                  <a:pt x="12930" y="2553"/>
                </a:cubicBezTo>
                <a:cubicBezTo>
                  <a:pt x="12923" y="2565"/>
                  <a:pt x="12914" y="2575"/>
                  <a:pt x="12904" y="2585"/>
                </a:cubicBezTo>
                <a:cubicBezTo>
                  <a:pt x="12894" y="2595"/>
                  <a:pt x="12883" y="2604"/>
                  <a:pt x="12872" y="2611"/>
                </a:cubicBezTo>
                <a:cubicBezTo>
                  <a:pt x="12860" y="2619"/>
                  <a:pt x="12848" y="2626"/>
                  <a:pt x="12835" y="2631"/>
                </a:cubicBezTo>
                <a:cubicBezTo>
                  <a:pt x="12822" y="2636"/>
                  <a:pt x="12809" y="2640"/>
                  <a:pt x="12796" y="2643"/>
                </a:cubicBezTo>
                <a:cubicBezTo>
                  <a:pt x="12782" y="2646"/>
                  <a:pt x="12768" y="2647"/>
                  <a:pt x="12754" y="2647"/>
                </a:cubicBezTo>
                <a:lnTo>
                  <a:pt x="159" y="2647"/>
                </a:lnTo>
                <a:cubicBezTo>
                  <a:pt x="149" y="2647"/>
                  <a:pt x="138" y="2646"/>
                  <a:pt x="128" y="2643"/>
                </a:cubicBezTo>
                <a:cubicBezTo>
                  <a:pt x="118" y="2640"/>
                  <a:pt x="108" y="2636"/>
                  <a:pt x="98" y="2631"/>
                </a:cubicBezTo>
                <a:cubicBezTo>
                  <a:pt x="89" y="2626"/>
                  <a:pt x="80" y="2619"/>
                  <a:pt x="71" y="2611"/>
                </a:cubicBezTo>
                <a:cubicBezTo>
                  <a:pt x="62" y="2604"/>
                  <a:pt x="54" y="2595"/>
                  <a:pt x="47" y="2585"/>
                </a:cubicBezTo>
                <a:cubicBezTo>
                  <a:pt x="40" y="2575"/>
                  <a:pt x="33" y="2565"/>
                  <a:pt x="27" y="2553"/>
                </a:cubicBezTo>
                <a:cubicBezTo>
                  <a:pt x="21" y="2541"/>
                  <a:pt x="16" y="2529"/>
                  <a:pt x="12" y="2516"/>
                </a:cubicBezTo>
                <a:cubicBezTo>
                  <a:pt x="9" y="2504"/>
                  <a:pt x="5" y="2490"/>
                  <a:pt x="3" y="2477"/>
                </a:cubicBezTo>
                <a:cubicBezTo>
                  <a:pt x="1" y="2463"/>
                  <a:pt x="0" y="2449"/>
                  <a:pt x="0" y="2435"/>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28" name="Forma libre: forma 627"/>
          <p:cNvSpPr/>
          <p:nvPr/>
        </p:nvSpPr>
        <p:spPr>
          <a:xfrm>
            <a:off x="6171840" y="4066920"/>
            <a:ext cx="76680" cy="952920"/>
          </a:xfrm>
          <a:custGeom>
            <a:avLst/>
            <a:gdLst/>
            <a:ahLst/>
            <a:cxnLst/>
            <a:rect l="0" t="0" r="r" b="b"/>
            <a:pathLst>
              <a:path w="213" h="2647">
                <a:moveTo>
                  <a:pt x="0" y="0"/>
                </a:moveTo>
                <a:lnTo>
                  <a:pt x="213" y="0"/>
                </a:lnTo>
                <a:lnTo>
                  <a:pt x="213" y="2647"/>
                </a:lnTo>
                <a:lnTo>
                  <a:pt x="0" y="2647"/>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29" name="CuadroTexto 628"/>
          <p:cNvSpPr txBox="1"/>
          <p:nvPr/>
        </p:nvSpPr>
        <p:spPr>
          <a:xfrm>
            <a:off x="1562040" y="4629960"/>
            <a:ext cx="90396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adolescente</a:t>
            </a:r>
            <a:endParaRPr lang="en-US" sz="1500" b="0" u="none" strike="noStrike">
              <a:solidFill>
                <a:srgbClr val="000000"/>
              </a:solidFill>
              <a:effectLst/>
              <a:uFillTx/>
              <a:latin typeface="Times New Roman"/>
            </a:endParaRPr>
          </a:p>
        </p:txBody>
      </p:sp>
      <p:sp>
        <p:nvSpPr>
          <p:cNvPr id="630" name="CuadroTexto 629"/>
          <p:cNvSpPr txBox="1"/>
          <p:nvPr/>
        </p:nvSpPr>
        <p:spPr>
          <a:xfrm>
            <a:off x="6400800" y="4243320"/>
            <a:ext cx="49284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19-25</a:t>
            </a:r>
            <a:endParaRPr lang="en-US" sz="1800" b="0" u="none" strike="noStrike">
              <a:solidFill>
                <a:srgbClr val="000000"/>
              </a:solidFill>
              <a:effectLst/>
              <a:uFillTx/>
              <a:latin typeface="Times New Roman"/>
            </a:endParaRPr>
          </a:p>
        </p:txBody>
      </p:sp>
      <p:sp>
        <p:nvSpPr>
          <p:cNvPr id="631" name="CuadroTexto 630"/>
          <p:cNvSpPr txBox="1"/>
          <p:nvPr/>
        </p:nvSpPr>
        <p:spPr>
          <a:xfrm>
            <a:off x="7038360" y="4275360"/>
            <a:ext cx="3229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años</a:t>
            </a:r>
            <a:endParaRPr lang="en-US" sz="1350" b="0" u="none" strike="noStrike">
              <a:solidFill>
                <a:srgbClr val="000000"/>
              </a:solidFill>
              <a:effectLst/>
              <a:uFillTx/>
              <a:latin typeface="Times New Roman"/>
            </a:endParaRPr>
          </a:p>
        </p:txBody>
      </p:sp>
      <p:sp>
        <p:nvSpPr>
          <p:cNvPr id="632" name="Forma libre: forma 631"/>
          <p:cNvSpPr/>
          <p:nvPr/>
        </p:nvSpPr>
        <p:spPr>
          <a:xfrm>
            <a:off x="1352520" y="5171760"/>
            <a:ext cx="4667400" cy="952920"/>
          </a:xfrm>
          <a:custGeom>
            <a:avLst/>
            <a:gdLst/>
            <a:ahLst/>
            <a:cxnLst/>
            <a:rect l="0" t="0" r="r" b="b"/>
            <a:pathLst>
              <a:path w="12965" h="2647">
                <a:moveTo>
                  <a:pt x="0" y="2436"/>
                </a:moveTo>
                <a:lnTo>
                  <a:pt x="0" y="213"/>
                </a:lnTo>
                <a:cubicBezTo>
                  <a:pt x="0" y="199"/>
                  <a:pt x="1" y="185"/>
                  <a:pt x="3" y="171"/>
                </a:cubicBezTo>
                <a:cubicBezTo>
                  <a:pt x="5" y="157"/>
                  <a:pt x="8" y="144"/>
                  <a:pt x="12" y="131"/>
                </a:cubicBezTo>
                <a:cubicBezTo>
                  <a:pt x="16" y="118"/>
                  <a:pt x="21" y="106"/>
                  <a:pt x="26" y="94"/>
                </a:cubicBezTo>
                <a:cubicBezTo>
                  <a:pt x="32" y="83"/>
                  <a:pt x="39" y="72"/>
                  <a:pt x="46" y="62"/>
                </a:cubicBezTo>
                <a:cubicBezTo>
                  <a:pt x="53" y="53"/>
                  <a:pt x="61" y="44"/>
                  <a:pt x="70" y="36"/>
                </a:cubicBezTo>
                <a:cubicBezTo>
                  <a:pt x="79" y="28"/>
                  <a:pt x="88" y="22"/>
                  <a:pt x="98" y="16"/>
                </a:cubicBezTo>
                <a:cubicBezTo>
                  <a:pt x="107" y="11"/>
                  <a:pt x="117" y="7"/>
                  <a:pt x="127" y="4"/>
                </a:cubicBezTo>
                <a:cubicBezTo>
                  <a:pt x="138" y="2"/>
                  <a:pt x="148" y="0"/>
                  <a:pt x="158" y="0"/>
                </a:cubicBezTo>
                <a:lnTo>
                  <a:pt x="12753" y="0"/>
                </a:lnTo>
                <a:cubicBezTo>
                  <a:pt x="12767" y="0"/>
                  <a:pt x="12781" y="2"/>
                  <a:pt x="12795" y="4"/>
                </a:cubicBezTo>
                <a:cubicBezTo>
                  <a:pt x="12808" y="7"/>
                  <a:pt x="12822" y="11"/>
                  <a:pt x="12834" y="16"/>
                </a:cubicBezTo>
                <a:cubicBezTo>
                  <a:pt x="12847" y="22"/>
                  <a:pt x="12860" y="28"/>
                  <a:pt x="12871" y="36"/>
                </a:cubicBezTo>
                <a:cubicBezTo>
                  <a:pt x="12883" y="44"/>
                  <a:pt x="12893" y="53"/>
                  <a:pt x="12903" y="62"/>
                </a:cubicBezTo>
                <a:cubicBezTo>
                  <a:pt x="12913" y="72"/>
                  <a:pt x="12922" y="83"/>
                  <a:pt x="12929" y="94"/>
                </a:cubicBezTo>
                <a:cubicBezTo>
                  <a:pt x="12937" y="106"/>
                  <a:pt x="12944" y="118"/>
                  <a:pt x="12949" y="131"/>
                </a:cubicBezTo>
                <a:cubicBezTo>
                  <a:pt x="12954" y="144"/>
                  <a:pt x="12958" y="157"/>
                  <a:pt x="12961" y="171"/>
                </a:cubicBezTo>
                <a:cubicBezTo>
                  <a:pt x="12964" y="185"/>
                  <a:pt x="12965" y="199"/>
                  <a:pt x="12965" y="213"/>
                </a:cubicBezTo>
                <a:lnTo>
                  <a:pt x="12965" y="2436"/>
                </a:lnTo>
                <a:cubicBezTo>
                  <a:pt x="12965" y="2449"/>
                  <a:pt x="12964" y="2463"/>
                  <a:pt x="12961" y="2477"/>
                </a:cubicBezTo>
                <a:cubicBezTo>
                  <a:pt x="12958" y="2490"/>
                  <a:pt x="12954" y="2504"/>
                  <a:pt x="12949" y="2517"/>
                </a:cubicBezTo>
                <a:cubicBezTo>
                  <a:pt x="12944" y="2529"/>
                  <a:pt x="12937" y="2542"/>
                  <a:pt x="12929" y="2553"/>
                </a:cubicBezTo>
                <a:cubicBezTo>
                  <a:pt x="12922" y="2565"/>
                  <a:pt x="12913" y="2575"/>
                  <a:pt x="12903" y="2585"/>
                </a:cubicBezTo>
                <a:cubicBezTo>
                  <a:pt x="12893" y="2595"/>
                  <a:pt x="12883" y="2604"/>
                  <a:pt x="12871" y="2612"/>
                </a:cubicBezTo>
                <a:cubicBezTo>
                  <a:pt x="12860" y="2619"/>
                  <a:pt x="12847" y="2626"/>
                  <a:pt x="12834" y="2631"/>
                </a:cubicBezTo>
                <a:cubicBezTo>
                  <a:pt x="12822" y="2636"/>
                  <a:pt x="12808" y="2640"/>
                  <a:pt x="12795" y="2643"/>
                </a:cubicBezTo>
                <a:cubicBezTo>
                  <a:pt x="12781" y="2646"/>
                  <a:pt x="12767" y="2647"/>
                  <a:pt x="12753" y="2647"/>
                </a:cubicBezTo>
                <a:lnTo>
                  <a:pt x="158" y="2647"/>
                </a:lnTo>
                <a:cubicBezTo>
                  <a:pt x="148" y="2647"/>
                  <a:pt x="138" y="2646"/>
                  <a:pt x="127" y="2643"/>
                </a:cubicBezTo>
                <a:cubicBezTo>
                  <a:pt x="117" y="2640"/>
                  <a:pt x="107" y="2636"/>
                  <a:pt x="98" y="2631"/>
                </a:cubicBezTo>
                <a:cubicBezTo>
                  <a:pt x="88" y="2626"/>
                  <a:pt x="79" y="2619"/>
                  <a:pt x="70" y="2612"/>
                </a:cubicBezTo>
                <a:cubicBezTo>
                  <a:pt x="61" y="2604"/>
                  <a:pt x="53" y="2595"/>
                  <a:pt x="46" y="2585"/>
                </a:cubicBezTo>
                <a:cubicBezTo>
                  <a:pt x="39" y="2575"/>
                  <a:pt x="32" y="2565"/>
                  <a:pt x="26" y="2553"/>
                </a:cubicBezTo>
                <a:cubicBezTo>
                  <a:pt x="21" y="2542"/>
                  <a:pt x="16" y="2529"/>
                  <a:pt x="12" y="2517"/>
                </a:cubicBezTo>
                <a:cubicBezTo>
                  <a:pt x="8" y="2504"/>
                  <a:pt x="5" y="2490"/>
                  <a:pt x="3" y="2477"/>
                </a:cubicBezTo>
                <a:cubicBezTo>
                  <a:pt x="1" y="2463"/>
                  <a:pt x="0" y="2449"/>
                  <a:pt x="0" y="2436"/>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33" name="Forma libre: forma 632"/>
          <p:cNvSpPr/>
          <p:nvPr/>
        </p:nvSpPr>
        <p:spPr>
          <a:xfrm>
            <a:off x="1333440" y="5171760"/>
            <a:ext cx="76320" cy="952920"/>
          </a:xfrm>
          <a:custGeom>
            <a:avLst/>
            <a:gdLst/>
            <a:ahLst/>
            <a:cxnLst/>
            <a:rect l="0" t="0" r="r" b="b"/>
            <a:pathLst>
              <a:path w="212" h="2647">
                <a:moveTo>
                  <a:pt x="0" y="0"/>
                </a:moveTo>
                <a:lnTo>
                  <a:pt x="212" y="0"/>
                </a:lnTo>
                <a:lnTo>
                  <a:pt x="212" y="2647"/>
                </a:lnTo>
                <a:lnTo>
                  <a:pt x="0" y="2647"/>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34" name="CuadroTexto 633"/>
          <p:cNvSpPr txBox="1"/>
          <p:nvPr/>
        </p:nvSpPr>
        <p:spPr>
          <a:xfrm>
            <a:off x="6400800" y="4629960"/>
            <a:ext cx="41616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joven</a:t>
            </a:r>
            <a:endParaRPr lang="en-US" sz="1500" b="0" u="none" strike="noStrike">
              <a:solidFill>
                <a:srgbClr val="000000"/>
              </a:solidFill>
              <a:effectLst/>
              <a:uFillTx/>
              <a:latin typeface="Times New Roman"/>
            </a:endParaRPr>
          </a:p>
        </p:txBody>
      </p:sp>
      <p:sp>
        <p:nvSpPr>
          <p:cNvPr id="635" name="CuadroTexto 634"/>
          <p:cNvSpPr txBox="1"/>
          <p:nvPr/>
        </p:nvSpPr>
        <p:spPr>
          <a:xfrm>
            <a:off x="1562040" y="5348160"/>
            <a:ext cx="53280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26-65</a:t>
            </a:r>
            <a:endParaRPr lang="en-US" sz="1800" b="0" u="none" strike="noStrike">
              <a:solidFill>
                <a:srgbClr val="000000"/>
              </a:solidFill>
              <a:effectLst/>
              <a:uFillTx/>
              <a:latin typeface="Times New Roman"/>
            </a:endParaRPr>
          </a:p>
        </p:txBody>
      </p:sp>
      <p:sp>
        <p:nvSpPr>
          <p:cNvPr id="636" name="CuadroTexto 635"/>
          <p:cNvSpPr txBox="1"/>
          <p:nvPr/>
        </p:nvSpPr>
        <p:spPr>
          <a:xfrm>
            <a:off x="2238840" y="5380560"/>
            <a:ext cx="3229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años</a:t>
            </a:r>
            <a:endParaRPr lang="en-US" sz="1350" b="0" u="none" strike="noStrike">
              <a:solidFill>
                <a:srgbClr val="000000"/>
              </a:solidFill>
              <a:effectLst/>
              <a:uFillTx/>
              <a:latin typeface="Times New Roman"/>
            </a:endParaRPr>
          </a:p>
        </p:txBody>
      </p:sp>
      <p:sp>
        <p:nvSpPr>
          <p:cNvPr id="637" name="Forma libre: forma 636"/>
          <p:cNvSpPr/>
          <p:nvPr/>
        </p:nvSpPr>
        <p:spPr>
          <a:xfrm>
            <a:off x="6190920" y="5171760"/>
            <a:ext cx="4667760" cy="952920"/>
          </a:xfrm>
          <a:custGeom>
            <a:avLst/>
            <a:gdLst/>
            <a:ahLst/>
            <a:cxnLst/>
            <a:rect l="0" t="0" r="r" b="b"/>
            <a:pathLst>
              <a:path w="12966" h="2647">
                <a:moveTo>
                  <a:pt x="0" y="2436"/>
                </a:moveTo>
                <a:lnTo>
                  <a:pt x="0" y="213"/>
                </a:lnTo>
                <a:cubicBezTo>
                  <a:pt x="0" y="199"/>
                  <a:pt x="1" y="185"/>
                  <a:pt x="3" y="171"/>
                </a:cubicBezTo>
                <a:cubicBezTo>
                  <a:pt x="5" y="157"/>
                  <a:pt x="9" y="144"/>
                  <a:pt x="12" y="131"/>
                </a:cubicBezTo>
                <a:cubicBezTo>
                  <a:pt x="16" y="118"/>
                  <a:pt x="21" y="106"/>
                  <a:pt x="27" y="94"/>
                </a:cubicBezTo>
                <a:cubicBezTo>
                  <a:pt x="33" y="83"/>
                  <a:pt x="40" y="72"/>
                  <a:pt x="47" y="62"/>
                </a:cubicBezTo>
                <a:cubicBezTo>
                  <a:pt x="54" y="53"/>
                  <a:pt x="62" y="44"/>
                  <a:pt x="71" y="36"/>
                </a:cubicBezTo>
                <a:cubicBezTo>
                  <a:pt x="80" y="28"/>
                  <a:pt x="89" y="22"/>
                  <a:pt x="98" y="16"/>
                </a:cubicBezTo>
                <a:cubicBezTo>
                  <a:pt x="108" y="11"/>
                  <a:pt x="118" y="7"/>
                  <a:pt x="128" y="4"/>
                </a:cubicBezTo>
                <a:cubicBezTo>
                  <a:pt x="138" y="2"/>
                  <a:pt x="149" y="0"/>
                  <a:pt x="159" y="0"/>
                </a:cubicBezTo>
                <a:lnTo>
                  <a:pt x="12754" y="0"/>
                </a:lnTo>
                <a:cubicBezTo>
                  <a:pt x="12768" y="0"/>
                  <a:pt x="12782" y="2"/>
                  <a:pt x="12796" y="4"/>
                </a:cubicBezTo>
                <a:cubicBezTo>
                  <a:pt x="12809" y="7"/>
                  <a:pt x="12822" y="11"/>
                  <a:pt x="12835" y="16"/>
                </a:cubicBezTo>
                <a:cubicBezTo>
                  <a:pt x="12848" y="22"/>
                  <a:pt x="12860" y="28"/>
                  <a:pt x="12872" y="36"/>
                </a:cubicBezTo>
                <a:cubicBezTo>
                  <a:pt x="12883" y="44"/>
                  <a:pt x="12894" y="53"/>
                  <a:pt x="12904" y="62"/>
                </a:cubicBezTo>
                <a:cubicBezTo>
                  <a:pt x="12914" y="72"/>
                  <a:pt x="12923" y="83"/>
                  <a:pt x="12930" y="94"/>
                </a:cubicBezTo>
                <a:cubicBezTo>
                  <a:pt x="12938" y="106"/>
                  <a:pt x="12945" y="118"/>
                  <a:pt x="12950" y="131"/>
                </a:cubicBezTo>
                <a:cubicBezTo>
                  <a:pt x="12955" y="144"/>
                  <a:pt x="12959" y="157"/>
                  <a:pt x="12962" y="171"/>
                </a:cubicBezTo>
                <a:cubicBezTo>
                  <a:pt x="12965" y="185"/>
                  <a:pt x="12966" y="199"/>
                  <a:pt x="12966" y="213"/>
                </a:cubicBezTo>
                <a:lnTo>
                  <a:pt x="12966" y="2436"/>
                </a:lnTo>
                <a:cubicBezTo>
                  <a:pt x="12966" y="2449"/>
                  <a:pt x="12965" y="2463"/>
                  <a:pt x="12962" y="2477"/>
                </a:cubicBezTo>
                <a:cubicBezTo>
                  <a:pt x="12959" y="2490"/>
                  <a:pt x="12955" y="2504"/>
                  <a:pt x="12950" y="2517"/>
                </a:cubicBezTo>
                <a:cubicBezTo>
                  <a:pt x="12945" y="2529"/>
                  <a:pt x="12938" y="2542"/>
                  <a:pt x="12930" y="2553"/>
                </a:cubicBezTo>
                <a:cubicBezTo>
                  <a:pt x="12923" y="2565"/>
                  <a:pt x="12914" y="2575"/>
                  <a:pt x="12904" y="2585"/>
                </a:cubicBezTo>
                <a:cubicBezTo>
                  <a:pt x="12894" y="2595"/>
                  <a:pt x="12883" y="2604"/>
                  <a:pt x="12872" y="2612"/>
                </a:cubicBezTo>
                <a:cubicBezTo>
                  <a:pt x="12860" y="2619"/>
                  <a:pt x="12848" y="2626"/>
                  <a:pt x="12835" y="2631"/>
                </a:cubicBezTo>
                <a:cubicBezTo>
                  <a:pt x="12822" y="2636"/>
                  <a:pt x="12809" y="2640"/>
                  <a:pt x="12796" y="2643"/>
                </a:cubicBezTo>
                <a:cubicBezTo>
                  <a:pt x="12782" y="2646"/>
                  <a:pt x="12768" y="2647"/>
                  <a:pt x="12754" y="2647"/>
                </a:cubicBezTo>
                <a:lnTo>
                  <a:pt x="159" y="2647"/>
                </a:lnTo>
                <a:cubicBezTo>
                  <a:pt x="149" y="2647"/>
                  <a:pt x="138" y="2646"/>
                  <a:pt x="128" y="2643"/>
                </a:cubicBezTo>
                <a:cubicBezTo>
                  <a:pt x="118" y="2640"/>
                  <a:pt x="108" y="2636"/>
                  <a:pt x="98" y="2631"/>
                </a:cubicBezTo>
                <a:cubicBezTo>
                  <a:pt x="89" y="2626"/>
                  <a:pt x="80" y="2619"/>
                  <a:pt x="71" y="2612"/>
                </a:cubicBezTo>
                <a:cubicBezTo>
                  <a:pt x="62" y="2604"/>
                  <a:pt x="54" y="2595"/>
                  <a:pt x="47" y="2585"/>
                </a:cubicBezTo>
                <a:cubicBezTo>
                  <a:pt x="40" y="2575"/>
                  <a:pt x="33" y="2565"/>
                  <a:pt x="27" y="2553"/>
                </a:cubicBezTo>
                <a:cubicBezTo>
                  <a:pt x="21" y="2542"/>
                  <a:pt x="16" y="2529"/>
                  <a:pt x="12" y="2517"/>
                </a:cubicBezTo>
                <a:cubicBezTo>
                  <a:pt x="9" y="2504"/>
                  <a:pt x="5" y="2490"/>
                  <a:pt x="3" y="2477"/>
                </a:cubicBezTo>
                <a:cubicBezTo>
                  <a:pt x="1" y="2463"/>
                  <a:pt x="0" y="2449"/>
                  <a:pt x="0" y="2436"/>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38" name="Forma libre: forma 637"/>
          <p:cNvSpPr/>
          <p:nvPr/>
        </p:nvSpPr>
        <p:spPr>
          <a:xfrm>
            <a:off x="6171840" y="5171760"/>
            <a:ext cx="76680" cy="952920"/>
          </a:xfrm>
          <a:custGeom>
            <a:avLst/>
            <a:gdLst/>
            <a:ahLst/>
            <a:cxnLst/>
            <a:rect l="0" t="0" r="r" b="b"/>
            <a:pathLst>
              <a:path w="213" h="2647">
                <a:moveTo>
                  <a:pt x="0" y="0"/>
                </a:moveTo>
                <a:lnTo>
                  <a:pt x="213" y="0"/>
                </a:lnTo>
                <a:lnTo>
                  <a:pt x="213" y="2647"/>
                </a:lnTo>
                <a:lnTo>
                  <a:pt x="0" y="2647"/>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39" name="CuadroTexto 638"/>
          <p:cNvSpPr txBox="1"/>
          <p:nvPr/>
        </p:nvSpPr>
        <p:spPr>
          <a:xfrm>
            <a:off x="1562040" y="5734800"/>
            <a:ext cx="49788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adulto</a:t>
            </a:r>
            <a:endParaRPr lang="en-US" sz="1500" b="0" u="none" strike="noStrike">
              <a:solidFill>
                <a:srgbClr val="000000"/>
              </a:solidFill>
              <a:effectLst/>
              <a:uFillTx/>
              <a:latin typeface="Times New Roman"/>
            </a:endParaRPr>
          </a:p>
        </p:txBody>
      </p:sp>
      <p:sp>
        <p:nvSpPr>
          <p:cNvPr id="640" name="CuadroTexto 639"/>
          <p:cNvSpPr txBox="1"/>
          <p:nvPr/>
        </p:nvSpPr>
        <p:spPr>
          <a:xfrm>
            <a:off x="6400800" y="5348160"/>
            <a:ext cx="34524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&gt;65</a:t>
            </a:r>
            <a:endParaRPr lang="en-US" sz="1800" b="0" u="none" strike="noStrike">
              <a:solidFill>
                <a:srgbClr val="000000"/>
              </a:solidFill>
              <a:effectLst/>
              <a:uFillTx/>
              <a:latin typeface="Times New Roman"/>
            </a:endParaRPr>
          </a:p>
        </p:txBody>
      </p:sp>
      <p:sp>
        <p:nvSpPr>
          <p:cNvPr id="641" name="CuadroTexto 640"/>
          <p:cNvSpPr txBox="1"/>
          <p:nvPr/>
        </p:nvSpPr>
        <p:spPr>
          <a:xfrm>
            <a:off x="6869160" y="5380560"/>
            <a:ext cx="3229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años</a:t>
            </a:r>
            <a:endParaRPr lang="en-US" sz="1350" b="0" u="none" strike="noStrike">
              <a:solidFill>
                <a:srgbClr val="000000"/>
              </a:solidFill>
              <a:effectLst/>
              <a:uFillTx/>
              <a:latin typeface="Times New Roman"/>
            </a:endParaRPr>
          </a:p>
        </p:txBody>
      </p:sp>
      <p:sp>
        <p:nvSpPr>
          <p:cNvPr id="642" name="CuadroTexto 641"/>
          <p:cNvSpPr txBox="1"/>
          <p:nvPr/>
        </p:nvSpPr>
        <p:spPr>
          <a:xfrm>
            <a:off x="6400800" y="5734800"/>
            <a:ext cx="60516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anciano</a:t>
            </a:r>
            <a:endParaRPr lang="en-US" sz="1500" b="0" u="none" strike="noStrike">
              <a:solidFill>
                <a:srgbClr val="000000"/>
              </a:solidFill>
              <a:effectLst/>
              <a:uFillTx/>
              <a:latin typeface="Times New Roman"/>
            </a:endParaRPr>
          </a:p>
        </p:txBody>
      </p:sp>
      <p:sp>
        <p:nvSpPr>
          <p:cNvPr id="643" name="Forma libre: forma 642"/>
          <p:cNvSpPr/>
          <p:nvPr/>
        </p:nvSpPr>
        <p:spPr>
          <a:xfrm>
            <a:off x="571320" y="6619680"/>
            <a:ext cx="11049480" cy="9720"/>
          </a:xfrm>
          <a:custGeom>
            <a:avLst/>
            <a:gdLst/>
            <a:ahLst/>
            <a:cxnLst/>
            <a:rect l="0" t="0" r="r" b="b"/>
            <a:pathLst>
              <a:path w="30693" h="27">
                <a:moveTo>
                  <a:pt x="0" y="0"/>
                </a:moveTo>
                <a:lnTo>
                  <a:pt x="30693" y="0"/>
                </a:lnTo>
                <a:lnTo>
                  <a:pt x="30693"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44" name="CuadroTexto 643"/>
          <p:cNvSpPr txBox="1"/>
          <p:nvPr/>
        </p:nvSpPr>
        <p:spPr>
          <a:xfrm>
            <a:off x="5456160" y="6376680"/>
            <a:ext cx="128340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campusmvp.es</a:t>
            </a:r>
            <a:endParaRPr lang="en-US" sz="1050" b="0" u="none" strike="noStrike">
              <a:solidFill>
                <a:srgbClr val="000000"/>
              </a:solidFill>
              <a:effectLst/>
              <a:uFillTx/>
              <a:latin typeface="Times New Roman"/>
            </a:endParaRPr>
          </a:p>
        </p:txBody>
      </p:sp>
      <p:sp>
        <p:nvSpPr>
          <p:cNvPr id="645" name="CuadroTexto 644"/>
          <p:cNvSpPr txBox="1"/>
          <p:nvPr/>
        </p:nvSpPr>
        <p:spPr>
          <a:xfrm>
            <a:off x="571320" y="6807240"/>
            <a:ext cx="3524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 k h</a:t>
            </a:r>
            <a:endParaRPr lang="en-US" sz="1200" b="0" u="none" strike="noStrike">
              <a:solidFill>
                <a:srgbClr val="000000"/>
              </a:solidFill>
              <a:effectLst/>
              <a:uFillTx/>
              <a:latin typeface="Times New Roman"/>
            </a:endParaRPr>
          </a:p>
        </p:txBody>
      </p:sp>
      <p:sp>
        <p:nvSpPr>
          <p:cNvPr id="646" name="CuadroTexto 645"/>
          <p:cNvSpPr txBox="1"/>
          <p:nvPr/>
        </p:nvSpPr>
        <p:spPr>
          <a:xfrm>
            <a:off x="1231560" y="6807240"/>
            <a:ext cx="19620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d A</a:t>
            </a:r>
            <a:endParaRPr lang="en-US" sz="1200" b="0" u="none" strike="noStrike">
              <a:solidFill>
                <a:srgbClr val="000000"/>
              </a:solidFill>
              <a:effectLst/>
              <a:uFillTx/>
              <a:latin typeface="Times New Roman"/>
            </a:endParaRPr>
          </a:p>
        </p:txBody>
      </p:sp>
      <p:sp>
        <p:nvSpPr>
          <p:cNvPr id="647" name="CuadroTexto 646"/>
          <p:cNvSpPr txBox="1"/>
          <p:nvPr/>
        </p:nvSpPr>
        <p:spPr>
          <a:xfrm>
            <a:off x="1941840" y="680724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i</a:t>
            </a:r>
            <a:endParaRPr lang="en-US" sz="1200" b="0" u="none" strike="noStrike">
              <a:solidFill>
                <a:srgbClr val="000000"/>
              </a:solidFill>
              <a:effectLst/>
              <a:uFillTx/>
              <a:latin typeface="Times New Roman"/>
            </a:endParaRPr>
          </a:p>
        </p:txBody>
      </p:sp>
      <p:sp>
        <p:nvSpPr>
          <p:cNvPr id="648" name="CuadroTexto 647"/>
          <p:cNvSpPr txBox="1"/>
          <p:nvPr/>
        </p:nvSpPr>
        <p:spPr>
          <a:xfrm>
            <a:off x="2180160" y="680724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ió</a:t>
            </a:r>
            <a:endParaRPr lang="en-US" sz="1200" b="0" u="none" strike="noStrike">
              <a:solidFill>
                <a:srgbClr val="000000"/>
              </a:solidFill>
              <a:effectLst/>
              <a:uFillTx/>
              <a:latin typeface="Times New Roman"/>
            </a:endParaRPr>
          </a:p>
        </p:txBody>
      </p:sp>
      <p:sp>
        <p:nvSpPr>
          <p:cNvPr id="649" name="CuadroTexto 648"/>
          <p:cNvSpPr txBox="1"/>
          <p:nvPr/>
        </p:nvSpPr>
        <p:spPr>
          <a:xfrm>
            <a:off x="2405880" y="6807240"/>
            <a:ext cx="1861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d P</a:t>
            </a:r>
            <a:endParaRPr lang="en-US" sz="1200" b="0" u="none" strike="noStrike">
              <a:solidFill>
                <a:srgbClr val="000000"/>
              </a:solidFill>
              <a:effectLst/>
              <a:uFillTx/>
              <a:latin typeface="Times New Roman"/>
            </a:endParaRPr>
          </a:p>
        </p:txBody>
      </p:sp>
      <p:sp>
        <p:nvSpPr>
          <p:cNvPr id="650" name="CuadroTexto 649"/>
          <p:cNvSpPr txBox="1"/>
          <p:nvPr/>
        </p:nvSpPr>
        <p:spPr>
          <a:xfrm>
            <a:off x="2859480" y="680724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b</a:t>
            </a:r>
            <a:endParaRPr lang="en-US" sz="1200" b="0" u="none" strike="noStrike">
              <a:solidFill>
                <a:srgbClr val="000000"/>
              </a:solidFill>
              <a:effectLst/>
              <a:uFillTx/>
              <a:latin typeface="Times New Roman"/>
            </a:endParaRPr>
          </a:p>
        </p:txBody>
      </p:sp>
      <p:sp>
        <p:nvSpPr>
          <p:cNvPr id="651" name="CuadroTexto 650"/>
          <p:cNvSpPr txBox="1"/>
          <p:nvPr/>
        </p:nvSpPr>
        <p:spPr>
          <a:xfrm>
            <a:off x="3180600" y="680724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Ni</a:t>
            </a:r>
            <a:endParaRPr lang="en-US" sz="1200" b="0" u="none" strike="noStrike">
              <a:solidFill>
                <a:srgbClr val="000000"/>
              </a:solidFill>
              <a:effectLst/>
              <a:uFillTx/>
              <a:latin typeface="Times New Roman"/>
            </a:endParaRPr>
          </a:p>
        </p:txBody>
      </p:sp>
      <p:sp>
        <p:nvSpPr>
          <p:cNvPr id="652" name="CuadroTexto 651"/>
          <p:cNvSpPr txBox="1"/>
          <p:nvPr/>
        </p:nvSpPr>
        <p:spPr>
          <a:xfrm>
            <a:off x="3456720" y="680724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l</a:t>
            </a:r>
            <a:endParaRPr lang="en-US" sz="1200" b="0" u="none" strike="noStrike">
              <a:solidFill>
                <a:srgbClr val="000000"/>
              </a:solidFill>
              <a:effectLst/>
              <a:uFillTx/>
              <a:latin typeface="Times New Roman"/>
            </a:endParaRPr>
          </a:p>
        </p:txBody>
      </p:sp>
      <p:sp>
        <p:nvSpPr>
          <p:cNvPr id="653" name="CuadroTexto 652"/>
          <p:cNvSpPr txBox="1"/>
          <p:nvPr/>
        </p:nvSpPr>
        <p:spPr>
          <a:xfrm>
            <a:off x="3630600" y="680724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ió</a:t>
            </a:r>
            <a:endParaRPr lang="en-US" sz="1200" b="0" u="none" strike="noStrike">
              <a:solidFill>
                <a:srgbClr val="000000"/>
              </a:solidFill>
              <a:effectLst/>
              <a:uFillTx/>
              <a:latin typeface="Times New Roman"/>
            </a:endParaRPr>
          </a:p>
        </p:txBody>
      </p:sp>
      <p:sp>
        <p:nvSpPr>
          <p:cNvPr id="654" name="CuadroTexto 653"/>
          <p:cNvSpPr txBox="1"/>
          <p:nvPr/>
        </p:nvSpPr>
        <p:spPr>
          <a:xfrm>
            <a:off x="11470320" y="680724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26</a:t>
            </a:r>
            <a:endParaRPr lang="en-US" sz="1200" b="0" u="none" strike="noStrike">
              <a:solidFill>
                <a:srgbClr val="000000"/>
              </a:solidFill>
              <a:effectLst/>
              <a:uFillTx/>
              <a:latin typeface="Times New Roman"/>
            </a:endParaRPr>
          </a:p>
        </p:txBody>
      </p:sp>
      <p:sp>
        <p:nvSpPr>
          <p:cNvPr id="2" name="Estrella: 5 puntas 1">
            <a:extLst>
              <a:ext uri="{FF2B5EF4-FFF2-40B4-BE49-F238E27FC236}">
                <a16:creationId xmlns:a16="http://schemas.microsoft.com/office/drawing/2014/main" id="{D7D019B1-FFF6-1284-8555-F0956C9E4387}"/>
              </a:ext>
            </a:extLst>
          </p:cNvPr>
          <p:cNvSpPr/>
          <p:nvPr/>
        </p:nvSpPr>
        <p:spPr>
          <a:xfrm>
            <a:off x="7570569" y="250260"/>
            <a:ext cx="1742271" cy="139704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t>5 m</a:t>
            </a:r>
            <a:endParaRPr lang="es-CO"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 name="Forma libre: forma 656"/>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58" name="Forma libre: forma 657"/>
          <p:cNvSpPr/>
          <p:nvPr/>
        </p:nvSpPr>
        <p:spPr>
          <a:xfrm>
            <a:off x="1828440" y="1199880"/>
            <a:ext cx="8553960" cy="4239000"/>
          </a:xfrm>
          <a:custGeom>
            <a:avLst/>
            <a:gdLst/>
            <a:ahLst/>
            <a:cxnLst/>
            <a:rect l="0" t="0" r="r" b="b"/>
            <a:pathLst>
              <a:path w="23761" h="11775">
                <a:moveTo>
                  <a:pt x="0" y="11352"/>
                </a:moveTo>
                <a:lnTo>
                  <a:pt x="0" y="424"/>
                </a:lnTo>
                <a:cubicBezTo>
                  <a:pt x="0" y="396"/>
                  <a:pt x="3" y="368"/>
                  <a:pt x="8" y="341"/>
                </a:cubicBezTo>
                <a:cubicBezTo>
                  <a:pt x="12" y="314"/>
                  <a:pt x="19" y="287"/>
                  <a:pt x="29" y="262"/>
                </a:cubicBezTo>
                <a:cubicBezTo>
                  <a:pt x="38" y="236"/>
                  <a:pt x="49" y="212"/>
                  <a:pt x="63" y="188"/>
                </a:cubicBezTo>
                <a:cubicBezTo>
                  <a:pt x="76" y="165"/>
                  <a:pt x="92" y="144"/>
                  <a:pt x="109" y="124"/>
                </a:cubicBezTo>
                <a:cubicBezTo>
                  <a:pt x="126" y="105"/>
                  <a:pt x="145" y="87"/>
                  <a:pt x="165" y="72"/>
                </a:cubicBezTo>
                <a:cubicBezTo>
                  <a:pt x="185" y="56"/>
                  <a:pt x="207" y="43"/>
                  <a:pt x="229" y="32"/>
                </a:cubicBezTo>
                <a:cubicBezTo>
                  <a:pt x="252" y="22"/>
                  <a:pt x="275" y="14"/>
                  <a:pt x="299" y="8"/>
                </a:cubicBezTo>
                <a:cubicBezTo>
                  <a:pt x="323" y="3"/>
                  <a:pt x="347" y="0"/>
                  <a:pt x="371" y="0"/>
                </a:cubicBezTo>
                <a:lnTo>
                  <a:pt x="23338" y="0"/>
                </a:lnTo>
                <a:cubicBezTo>
                  <a:pt x="23366" y="0"/>
                  <a:pt x="23393" y="3"/>
                  <a:pt x="23420" y="8"/>
                </a:cubicBezTo>
                <a:cubicBezTo>
                  <a:pt x="23448" y="14"/>
                  <a:pt x="23474" y="22"/>
                  <a:pt x="23500" y="32"/>
                </a:cubicBezTo>
                <a:cubicBezTo>
                  <a:pt x="23525" y="43"/>
                  <a:pt x="23550" y="56"/>
                  <a:pt x="23573" y="72"/>
                </a:cubicBezTo>
                <a:cubicBezTo>
                  <a:pt x="23596" y="87"/>
                  <a:pt x="23617" y="105"/>
                  <a:pt x="23637" y="124"/>
                </a:cubicBezTo>
                <a:cubicBezTo>
                  <a:pt x="23657" y="144"/>
                  <a:pt x="23674" y="165"/>
                  <a:pt x="23690" y="188"/>
                </a:cubicBezTo>
                <a:cubicBezTo>
                  <a:pt x="23705" y="212"/>
                  <a:pt x="23718" y="236"/>
                  <a:pt x="23729" y="262"/>
                </a:cubicBezTo>
                <a:cubicBezTo>
                  <a:pt x="23739" y="287"/>
                  <a:pt x="23748" y="314"/>
                  <a:pt x="23753" y="341"/>
                </a:cubicBezTo>
                <a:cubicBezTo>
                  <a:pt x="23758" y="368"/>
                  <a:pt x="23761" y="396"/>
                  <a:pt x="23761" y="424"/>
                </a:cubicBezTo>
                <a:lnTo>
                  <a:pt x="23761" y="11352"/>
                </a:lnTo>
                <a:cubicBezTo>
                  <a:pt x="23761" y="11380"/>
                  <a:pt x="23758" y="11407"/>
                  <a:pt x="23753" y="11434"/>
                </a:cubicBezTo>
                <a:cubicBezTo>
                  <a:pt x="23748" y="11462"/>
                  <a:pt x="23739" y="11488"/>
                  <a:pt x="23729" y="11514"/>
                </a:cubicBezTo>
                <a:cubicBezTo>
                  <a:pt x="23718" y="11540"/>
                  <a:pt x="23705" y="11564"/>
                  <a:pt x="23690" y="11587"/>
                </a:cubicBezTo>
                <a:cubicBezTo>
                  <a:pt x="23674" y="11610"/>
                  <a:pt x="23657" y="11632"/>
                  <a:pt x="23637" y="11651"/>
                </a:cubicBezTo>
                <a:cubicBezTo>
                  <a:pt x="23617" y="11671"/>
                  <a:pt x="23596" y="11688"/>
                  <a:pt x="23573" y="11704"/>
                </a:cubicBezTo>
                <a:cubicBezTo>
                  <a:pt x="23550" y="11719"/>
                  <a:pt x="23525" y="11732"/>
                  <a:pt x="23500" y="11743"/>
                </a:cubicBezTo>
                <a:cubicBezTo>
                  <a:pt x="23474" y="11754"/>
                  <a:pt x="23448" y="11762"/>
                  <a:pt x="23420" y="11767"/>
                </a:cubicBezTo>
                <a:cubicBezTo>
                  <a:pt x="23393" y="11772"/>
                  <a:pt x="23366" y="11775"/>
                  <a:pt x="23338" y="11775"/>
                </a:cubicBezTo>
                <a:lnTo>
                  <a:pt x="371" y="11775"/>
                </a:lnTo>
                <a:cubicBezTo>
                  <a:pt x="347" y="11775"/>
                  <a:pt x="323" y="11772"/>
                  <a:pt x="299" y="11767"/>
                </a:cubicBezTo>
                <a:cubicBezTo>
                  <a:pt x="275" y="11762"/>
                  <a:pt x="252" y="11754"/>
                  <a:pt x="229" y="11743"/>
                </a:cubicBezTo>
                <a:cubicBezTo>
                  <a:pt x="207" y="11732"/>
                  <a:pt x="185" y="11719"/>
                  <a:pt x="165" y="11704"/>
                </a:cubicBezTo>
                <a:cubicBezTo>
                  <a:pt x="145" y="11688"/>
                  <a:pt x="126" y="11671"/>
                  <a:pt x="109" y="11651"/>
                </a:cubicBezTo>
                <a:cubicBezTo>
                  <a:pt x="92" y="11632"/>
                  <a:pt x="76" y="11610"/>
                  <a:pt x="63" y="11587"/>
                </a:cubicBezTo>
                <a:cubicBezTo>
                  <a:pt x="49" y="11564"/>
                  <a:pt x="38" y="11540"/>
                  <a:pt x="29" y="11514"/>
                </a:cubicBezTo>
                <a:cubicBezTo>
                  <a:pt x="19" y="11488"/>
                  <a:pt x="12" y="11462"/>
                  <a:pt x="8" y="11434"/>
                </a:cubicBezTo>
                <a:cubicBezTo>
                  <a:pt x="3" y="11407"/>
                  <a:pt x="0" y="11380"/>
                  <a:pt x="0" y="11352"/>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59" name="Forma libre: forma 658"/>
          <p:cNvSpPr/>
          <p:nvPr/>
        </p:nvSpPr>
        <p:spPr>
          <a:xfrm>
            <a:off x="1809720" y="1199880"/>
            <a:ext cx="152640" cy="4239000"/>
          </a:xfrm>
          <a:custGeom>
            <a:avLst/>
            <a:gdLst/>
            <a:ahLst/>
            <a:cxnLst/>
            <a:rect l="0" t="0" r="r" b="b"/>
            <a:pathLst>
              <a:path w="424" h="11775">
                <a:moveTo>
                  <a:pt x="0" y="0"/>
                </a:moveTo>
                <a:lnTo>
                  <a:pt x="424" y="0"/>
                </a:lnTo>
                <a:lnTo>
                  <a:pt x="424" y="11775"/>
                </a:lnTo>
                <a:lnTo>
                  <a:pt x="0" y="11775"/>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60" name="Forma libre: forma 659"/>
          <p:cNvSpPr/>
          <p:nvPr/>
        </p:nvSpPr>
        <p:spPr>
          <a:xfrm>
            <a:off x="2228760" y="3419280"/>
            <a:ext cx="7772760" cy="1638720"/>
          </a:xfrm>
          <a:custGeom>
            <a:avLst/>
            <a:gdLst/>
            <a:ahLst/>
            <a:cxnLst/>
            <a:rect l="0" t="0" r="r" b="b"/>
            <a:pathLst>
              <a:path w="21591" h="4552">
                <a:moveTo>
                  <a:pt x="0" y="4340"/>
                </a:moveTo>
                <a:lnTo>
                  <a:pt x="0" y="212"/>
                </a:lnTo>
                <a:cubicBezTo>
                  <a:pt x="0" y="198"/>
                  <a:pt x="1" y="184"/>
                  <a:pt x="4" y="170"/>
                </a:cubicBezTo>
                <a:cubicBezTo>
                  <a:pt x="7" y="157"/>
                  <a:pt x="11" y="144"/>
                  <a:pt x="16" y="131"/>
                </a:cubicBezTo>
                <a:cubicBezTo>
                  <a:pt x="21" y="118"/>
                  <a:pt x="28" y="106"/>
                  <a:pt x="35" y="94"/>
                </a:cubicBezTo>
                <a:cubicBezTo>
                  <a:pt x="43" y="83"/>
                  <a:pt x="52" y="72"/>
                  <a:pt x="62" y="62"/>
                </a:cubicBezTo>
                <a:cubicBezTo>
                  <a:pt x="72" y="52"/>
                  <a:pt x="82" y="43"/>
                  <a:pt x="94" y="36"/>
                </a:cubicBezTo>
                <a:cubicBezTo>
                  <a:pt x="105" y="28"/>
                  <a:pt x="118" y="21"/>
                  <a:pt x="130" y="16"/>
                </a:cubicBezTo>
                <a:cubicBezTo>
                  <a:pt x="143" y="11"/>
                  <a:pt x="156" y="7"/>
                  <a:pt x="170" y="4"/>
                </a:cubicBezTo>
                <a:cubicBezTo>
                  <a:pt x="184" y="1"/>
                  <a:pt x="198" y="0"/>
                  <a:pt x="211" y="0"/>
                </a:cubicBezTo>
                <a:lnTo>
                  <a:pt x="21379" y="0"/>
                </a:lnTo>
                <a:cubicBezTo>
                  <a:pt x="21393" y="0"/>
                  <a:pt x="21407" y="1"/>
                  <a:pt x="21420" y="4"/>
                </a:cubicBezTo>
                <a:cubicBezTo>
                  <a:pt x="21434" y="7"/>
                  <a:pt x="21447" y="11"/>
                  <a:pt x="21460" y="16"/>
                </a:cubicBezTo>
                <a:cubicBezTo>
                  <a:pt x="21473" y="21"/>
                  <a:pt x="21485" y="28"/>
                  <a:pt x="21497" y="36"/>
                </a:cubicBezTo>
                <a:cubicBezTo>
                  <a:pt x="21508" y="43"/>
                  <a:pt x="21519" y="52"/>
                  <a:pt x="21529" y="62"/>
                </a:cubicBezTo>
                <a:cubicBezTo>
                  <a:pt x="21539" y="72"/>
                  <a:pt x="21547" y="83"/>
                  <a:pt x="21555" y="94"/>
                </a:cubicBezTo>
                <a:cubicBezTo>
                  <a:pt x="21563" y="106"/>
                  <a:pt x="21569" y="118"/>
                  <a:pt x="21575" y="131"/>
                </a:cubicBezTo>
                <a:cubicBezTo>
                  <a:pt x="21580" y="144"/>
                  <a:pt x="21584" y="157"/>
                  <a:pt x="21587" y="170"/>
                </a:cubicBezTo>
                <a:cubicBezTo>
                  <a:pt x="21589" y="184"/>
                  <a:pt x="21591" y="198"/>
                  <a:pt x="21591" y="212"/>
                </a:cubicBezTo>
                <a:lnTo>
                  <a:pt x="21591" y="4340"/>
                </a:lnTo>
                <a:cubicBezTo>
                  <a:pt x="21591" y="4354"/>
                  <a:pt x="21589" y="4368"/>
                  <a:pt x="21587" y="4382"/>
                </a:cubicBezTo>
                <a:cubicBezTo>
                  <a:pt x="21584" y="4395"/>
                  <a:pt x="21580" y="4408"/>
                  <a:pt x="21575" y="4421"/>
                </a:cubicBezTo>
                <a:cubicBezTo>
                  <a:pt x="21569" y="4434"/>
                  <a:pt x="21563" y="4446"/>
                  <a:pt x="21555" y="4458"/>
                </a:cubicBezTo>
                <a:cubicBezTo>
                  <a:pt x="21547" y="4469"/>
                  <a:pt x="21539" y="4480"/>
                  <a:pt x="21529" y="4490"/>
                </a:cubicBezTo>
                <a:cubicBezTo>
                  <a:pt x="21519" y="4500"/>
                  <a:pt x="21508" y="4508"/>
                  <a:pt x="21497" y="4516"/>
                </a:cubicBezTo>
                <a:cubicBezTo>
                  <a:pt x="21485" y="4524"/>
                  <a:pt x="21473" y="4530"/>
                  <a:pt x="21460" y="4536"/>
                </a:cubicBezTo>
                <a:cubicBezTo>
                  <a:pt x="21447" y="4541"/>
                  <a:pt x="21434" y="4545"/>
                  <a:pt x="21420" y="4548"/>
                </a:cubicBezTo>
                <a:cubicBezTo>
                  <a:pt x="21407" y="4551"/>
                  <a:pt x="21393" y="4552"/>
                  <a:pt x="21379" y="4552"/>
                </a:cubicBezTo>
                <a:lnTo>
                  <a:pt x="211" y="4552"/>
                </a:lnTo>
                <a:cubicBezTo>
                  <a:pt x="198" y="4552"/>
                  <a:pt x="184" y="4551"/>
                  <a:pt x="170" y="4548"/>
                </a:cubicBezTo>
                <a:cubicBezTo>
                  <a:pt x="156" y="4545"/>
                  <a:pt x="143" y="4541"/>
                  <a:pt x="130" y="4536"/>
                </a:cubicBezTo>
                <a:cubicBezTo>
                  <a:pt x="118" y="4530"/>
                  <a:pt x="105" y="4524"/>
                  <a:pt x="94" y="4516"/>
                </a:cubicBezTo>
                <a:cubicBezTo>
                  <a:pt x="82" y="4508"/>
                  <a:pt x="72" y="4500"/>
                  <a:pt x="62" y="4490"/>
                </a:cubicBezTo>
                <a:cubicBezTo>
                  <a:pt x="52" y="4480"/>
                  <a:pt x="43" y="4469"/>
                  <a:pt x="35" y="4458"/>
                </a:cubicBezTo>
                <a:cubicBezTo>
                  <a:pt x="28" y="4446"/>
                  <a:pt x="21" y="4434"/>
                  <a:pt x="16" y="4421"/>
                </a:cubicBezTo>
                <a:cubicBezTo>
                  <a:pt x="11" y="4408"/>
                  <a:pt x="7" y="4395"/>
                  <a:pt x="4" y="4382"/>
                </a:cubicBezTo>
                <a:cubicBezTo>
                  <a:pt x="1" y="4368"/>
                  <a:pt x="0" y="4354"/>
                  <a:pt x="0" y="434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61" name="CuadroTexto 660"/>
          <p:cNvSpPr txBox="1"/>
          <p:nvPr/>
        </p:nvSpPr>
        <p:spPr>
          <a:xfrm>
            <a:off x="571320" y="569160"/>
            <a:ext cx="61149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Manejo de control de flujos - Ejercicio switch</a:t>
            </a:r>
            <a:endParaRPr lang="en-US" sz="2700" b="0" u="none" strike="noStrike">
              <a:solidFill>
                <a:srgbClr val="000000"/>
              </a:solidFill>
              <a:effectLst/>
              <a:uFillTx/>
              <a:latin typeface="Times New Roman"/>
            </a:endParaRPr>
          </a:p>
        </p:txBody>
      </p:sp>
      <p:sp>
        <p:nvSpPr>
          <p:cNvPr id="662" name="CuadroTexto 661"/>
          <p:cNvSpPr txBox="1"/>
          <p:nvPr/>
        </p:nvSpPr>
        <p:spPr>
          <a:xfrm>
            <a:off x="2228760" y="1606680"/>
            <a:ext cx="1476720" cy="169560"/>
          </a:xfrm>
          <a:prstGeom prst="rect">
            <a:avLst/>
          </a:prstGeom>
          <a:noFill/>
          <a:ln w="0">
            <a:noFill/>
          </a:ln>
        </p:spPr>
        <p:txBody>
          <a:bodyPr wrap="none" lIns="0" tIns="0" rIns="0" bIns="0" anchor="t">
            <a:spAutoFit/>
          </a:bodyPr>
          <a:lstStyle/>
          <a:p>
            <a:r>
              <a:rPr lang="en-US" sz="1200" b="0" u="none" strike="noStrike">
                <a:solidFill>
                  <a:srgbClr val="DA7756"/>
                </a:solidFill>
                <a:effectLst/>
                <a:uFillTx/>
                <a:latin typeface="CrimsonPro"/>
                <a:ea typeface="CrimsonPro"/>
              </a:rPr>
              <a:t>EJERCICIO PROPUESTO</a:t>
            </a:r>
            <a:endParaRPr lang="en-US" sz="1200" b="0" u="none" strike="noStrike">
              <a:solidFill>
                <a:srgbClr val="000000"/>
              </a:solidFill>
              <a:effectLst/>
              <a:uFillTx/>
              <a:latin typeface="Times New Roman"/>
            </a:endParaRPr>
          </a:p>
        </p:txBody>
      </p:sp>
      <p:sp>
        <p:nvSpPr>
          <p:cNvPr id="663" name="CuadroTexto 662"/>
          <p:cNvSpPr txBox="1"/>
          <p:nvPr/>
        </p:nvSpPr>
        <p:spPr>
          <a:xfrm>
            <a:off x="2228760" y="1985760"/>
            <a:ext cx="2077920" cy="253440"/>
          </a:xfrm>
          <a:prstGeom prst="rect">
            <a:avLst/>
          </a:prstGeom>
          <a:noFill/>
          <a:ln w="0">
            <a:noFill/>
          </a:ln>
        </p:spPr>
        <p:txBody>
          <a:bodyPr wrap="none" lIns="0" tIns="0" rIns="0" bIns="0" anchor="t">
            <a:spAutoFit/>
          </a:bodyPr>
          <a:lstStyle/>
          <a:p>
            <a:r>
              <a:rPr lang="en-US" sz="1800" b="0" u="none" strike="noStrike">
                <a:solidFill>
                  <a:srgbClr val="000000"/>
                </a:solidFill>
                <a:effectLst/>
                <a:uFillTx/>
                <a:latin typeface="CrimsonPro"/>
                <a:ea typeface="CrimsonPro"/>
              </a:rPr>
              <a:t>Control de flujo switch</a:t>
            </a:r>
            <a:endParaRPr lang="en-US" sz="1800" b="0" u="none" strike="noStrike">
              <a:solidFill>
                <a:srgbClr val="000000"/>
              </a:solidFill>
              <a:effectLst/>
              <a:uFillTx/>
              <a:latin typeface="Times New Roman"/>
            </a:endParaRPr>
          </a:p>
        </p:txBody>
      </p:sp>
      <p:sp>
        <p:nvSpPr>
          <p:cNvPr id="664" name="CuadroTexto 663"/>
          <p:cNvSpPr txBox="1"/>
          <p:nvPr/>
        </p:nvSpPr>
        <p:spPr>
          <a:xfrm>
            <a:off x="2228760" y="2543760"/>
            <a:ext cx="7557480" cy="212040"/>
          </a:xfrm>
          <a:prstGeom prst="rect">
            <a:avLst/>
          </a:prstGeom>
          <a:noFill/>
          <a:ln w="0">
            <a:noFill/>
          </a:ln>
        </p:spPr>
        <p:txBody>
          <a:bodyPr wrap="none" lIns="0" tIns="0" rIns="0" bIns="0" anchor="t">
            <a:spAutoFit/>
          </a:bodyPr>
          <a:lstStyle/>
          <a:p>
            <a:r>
              <a:rPr lang="en-US" sz="1500" b="0" u="none" strike="noStrike" dirty="0" err="1">
                <a:solidFill>
                  <a:srgbClr val="666666"/>
                </a:solidFill>
                <a:effectLst/>
                <a:uFillTx/>
                <a:latin typeface="CrimsonPro"/>
                <a:ea typeface="CrimsonPro"/>
              </a:rPr>
              <a:t>Aplicando</a:t>
            </a:r>
            <a:r>
              <a:rPr lang="en-US" sz="1500" b="0" u="none" strike="noStrike" dirty="0">
                <a:solidFill>
                  <a:srgbClr val="666666"/>
                </a:solidFill>
                <a:effectLst/>
                <a:uFillTx/>
                <a:latin typeface="CrimsonPro"/>
                <a:ea typeface="CrimsonPro"/>
              </a:rPr>
              <a:t> </a:t>
            </a:r>
            <a:r>
              <a:rPr lang="en-US" sz="1500" b="0" u="none" strike="noStrike" dirty="0" err="1">
                <a:solidFill>
                  <a:srgbClr val="666666"/>
                </a:solidFill>
                <a:effectLst/>
                <a:uFillTx/>
                <a:latin typeface="CrimsonPro"/>
                <a:ea typeface="CrimsonPro"/>
              </a:rPr>
              <a:t>el</a:t>
            </a:r>
            <a:r>
              <a:rPr lang="en-US" sz="1500" b="0" u="none" strike="noStrike" dirty="0">
                <a:solidFill>
                  <a:srgbClr val="666666"/>
                </a:solidFill>
                <a:effectLst/>
                <a:uFillTx/>
                <a:latin typeface="CrimsonPro"/>
                <a:ea typeface="CrimsonPro"/>
              </a:rPr>
              <a:t> control de </a:t>
            </a:r>
            <a:r>
              <a:rPr lang="en-US" sz="1500" b="0" u="none" strike="noStrike" dirty="0" err="1">
                <a:solidFill>
                  <a:srgbClr val="666666"/>
                </a:solidFill>
                <a:effectLst/>
                <a:uFillTx/>
                <a:latin typeface="CrimsonPro"/>
                <a:ea typeface="CrimsonPro"/>
              </a:rPr>
              <a:t>flujo</a:t>
            </a:r>
            <a:r>
              <a:rPr lang="en-US" sz="1500" b="0" u="none" strike="noStrike" dirty="0">
                <a:solidFill>
                  <a:srgbClr val="666666"/>
                </a:solidFill>
                <a:effectLst/>
                <a:uFillTx/>
                <a:latin typeface="CrimsonPro"/>
                <a:ea typeface="CrimsonPro"/>
              </a:rPr>
              <a:t> switch, </a:t>
            </a:r>
            <a:r>
              <a:rPr lang="en-US" sz="1500" b="0" u="none" strike="noStrike" dirty="0" err="1">
                <a:solidFill>
                  <a:srgbClr val="666666"/>
                </a:solidFill>
                <a:effectLst/>
                <a:uFillTx/>
                <a:latin typeface="CrimsonPro"/>
                <a:ea typeface="CrimsonPro"/>
              </a:rPr>
              <a:t>realiza</a:t>
            </a:r>
            <a:r>
              <a:rPr lang="en-US" sz="1500" b="0" u="none" strike="noStrike" dirty="0">
                <a:solidFill>
                  <a:srgbClr val="666666"/>
                </a:solidFill>
                <a:effectLst/>
                <a:uFillTx/>
                <a:latin typeface="CrimsonPro"/>
                <a:ea typeface="CrimsonPro"/>
              </a:rPr>
              <a:t> un </a:t>
            </a:r>
            <a:r>
              <a:rPr lang="en-US" sz="1500" b="0" u="none" strike="noStrike" dirty="0" err="1">
                <a:solidFill>
                  <a:srgbClr val="666666"/>
                </a:solidFill>
                <a:effectLst/>
                <a:uFillTx/>
                <a:latin typeface="CrimsonPro"/>
                <a:ea typeface="CrimsonPro"/>
              </a:rPr>
              <a:t>programa</a:t>
            </a:r>
            <a:r>
              <a:rPr lang="en-US" sz="1500" b="0" u="none" strike="noStrike" dirty="0">
                <a:solidFill>
                  <a:srgbClr val="666666"/>
                </a:solidFill>
                <a:effectLst/>
                <a:uFillTx/>
                <a:latin typeface="CrimsonPro"/>
                <a:ea typeface="CrimsonPro"/>
              </a:rPr>
              <a:t> </a:t>
            </a:r>
            <a:r>
              <a:rPr lang="en-US" sz="1500" b="0" u="none" strike="noStrike" dirty="0" err="1">
                <a:solidFill>
                  <a:srgbClr val="666666"/>
                </a:solidFill>
                <a:effectLst/>
                <a:uFillTx/>
                <a:latin typeface="CrimsonPro"/>
                <a:ea typeface="CrimsonPro"/>
              </a:rPr>
              <a:t>que</a:t>
            </a:r>
            <a:r>
              <a:rPr lang="en-US" sz="1500" b="0" u="none" strike="noStrike" dirty="0">
                <a:solidFill>
                  <a:srgbClr val="666666"/>
                </a:solidFill>
                <a:effectLst/>
                <a:uFillTx/>
                <a:latin typeface="CrimsonPro"/>
                <a:ea typeface="CrimsonPro"/>
              </a:rPr>
              <a:t> al </a:t>
            </a:r>
            <a:r>
              <a:rPr lang="en-US" sz="1500" b="0" u="none" strike="noStrike" dirty="0" err="1">
                <a:solidFill>
                  <a:srgbClr val="666666"/>
                </a:solidFill>
                <a:effectLst/>
                <a:uFillTx/>
                <a:latin typeface="CrimsonPro"/>
                <a:ea typeface="CrimsonPro"/>
              </a:rPr>
              <a:t>ingresar</a:t>
            </a:r>
            <a:r>
              <a:rPr lang="en-US" sz="1500" b="0" u="none" strike="noStrike" dirty="0">
                <a:solidFill>
                  <a:srgbClr val="666666"/>
                </a:solidFill>
                <a:effectLst/>
                <a:uFillTx/>
                <a:latin typeface="CrimsonPro"/>
                <a:ea typeface="CrimsonPro"/>
              </a:rPr>
              <a:t> un día </a:t>
            </a:r>
            <a:r>
              <a:rPr lang="en-US" sz="1500" b="0" u="none" strike="noStrike" dirty="0" err="1">
                <a:solidFill>
                  <a:srgbClr val="666666"/>
                </a:solidFill>
                <a:effectLst/>
                <a:uFillTx/>
                <a:latin typeface="CrimsonPro"/>
                <a:ea typeface="CrimsonPro"/>
              </a:rPr>
              <a:t>en</a:t>
            </a:r>
            <a:r>
              <a:rPr lang="en-US" sz="1500" b="0" u="none" strike="noStrike" dirty="0">
                <a:solidFill>
                  <a:srgbClr val="666666"/>
                </a:solidFill>
                <a:effectLst/>
                <a:uFillTx/>
                <a:latin typeface="CrimsonPro"/>
                <a:ea typeface="CrimsonPro"/>
              </a:rPr>
              <a:t> </a:t>
            </a:r>
            <a:r>
              <a:rPr lang="en-US" sz="1500" b="0" u="none" strike="noStrike" dirty="0" err="1">
                <a:solidFill>
                  <a:srgbClr val="666666"/>
                </a:solidFill>
                <a:effectLst/>
                <a:uFillTx/>
                <a:latin typeface="CrimsonPro"/>
                <a:ea typeface="CrimsonPro"/>
              </a:rPr>
              <a:t>números</a:t>
            </a:r>
            <a:r>
              <a:rPr lang="en-US" sz="1500" b="0" u="none" strike="noStrike" dirty="0">
                <a:solidFill>
                  <a:srgbClr val="666666"/>
                </a:solidFill>
                <a:effectLst/>
                <a:uFillTx/>
                <a:latin typeface="CrimsonPro"/>
                <a:ea typeface="CrimsonPro"/>
              </a:rPr>
              <a:t> del 1 al 7</a:t>
            </a:r>
            <a:endParaRPr lang="en-US" sz="1500" b="0" u="none" strike="noStrike" dirty="0">
              <a:solidFill>
                <a:srgbClr val="000000"/>
              </a:solidFill>
              <a:effectLst/>
              <a:uFillTx/>
              <a:latin typeface="Times New Roman"/>
            </a:endParaRPr>
          </a:p>
        </p:txBody>
      </p:sp>
      <p:sp>
        <p:nvSpPr>
          <p:cNvPr id="665" name="CuadroTexto 664"/>
          <p:cNvSpPr txBox="1"/>
          <p:nvPr/>
        </p:nvSpPr>
        <p:spPr>
          <a:xfrm>
            <a:off x="2228760" y="2858400"/>
            <a:ext cx="176616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muestre el día en texto.</a:t>
            </a:r>
            <a:endParaRPr lang="en-US" sz="1500" b="0" u="none" strike="noStrike">
              <a:solidFill>
                <a:srgbClr val="000000"/>
              </a:solidFill>
              <a:effectLst/>
              <a:uFillTx/>
              <a:latin typeface="Times New Roman"/>
            </a:endParaRPr>
          </a:p>
        </p:txBody>
      </p:sp>
      <p:sp>
        <p:nvSpPr>
          <p:cNvPr id="666" name="CuadroTexto 665"/>
          <p:cNvSpPr txBox="1"/>
          <p:nvPr/>
        </p:nvSpPr>
        <p:spPr>
          <a:xfrm>
            <a:off x="2457360" y="3673440"/>
            <a:ext cx="54108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Ejemplo:</a:t>
            </a:r>
            <a:endParaRPr lang="en-US" sz="1200" b="0" u="none" strike="noStrike">
              <a:solidFill>
                <a:srgbClr val="000000"/>
              </a:solidFill>
              <a:effectLst/>
              <a:uFillTx/>
              <a:latin typeface="Times New Roman"/>
            </a:endParaRPr>
          </a:p>
        </p:txBody>
      </p:sp>
      <p:sp>
        <p:nvSpPr>
          <p:cNvPr id="667" name="CuadroTexto 666"/>
          <p:cNvSpPr txBox="1"/>
          <p:nvPr/>
        </p:nvSpPr>
        <p:spPr>
          <a:xfrm>
            <a:off x="2457360" y="4016520"/>
            <a:ext cx="7250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 Entrada: 1 </a:t>
            </a:r>
            <a:endParaRPr lang="en-US" sz="1200" b="0" u="none" strike="noStrike">
              <a:solidFill>
                <a:srgbClr val="000000"/>
              </a:solidFill>
              <a:effectLst/>
              <a:uFillTx/>
              <a:latin typeface="Times New Roman"/>
            </a:endParaRPr>
          </a:p>
        </p:txBody>
      </p:sp>
      <p:sp>
        <p:nvSpPr>
          <p:cNvPr id="668" name="CuadroTexto 667"/>
          <p:cNvSpPr txBox="1"/>
          <p:nvPr/>
        </p:nvSpPr>
        <p:spPr>
          <a:xfrm>
            <a:off x="3178800" y="4017240"/>
            <a:ext cx="1530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Times New Roman"/>
                <a:ea typeface="Times New Roman"/>
              </a:rPr>
              <a:t>→</a:t>
            </a:r>
            <a:endParaRPr lang="en-US" sz="1200" b="0" u="none" strike="noStrike">
              <a:solidFill>
                <a:srgbClr val="000000"/>
              </a:solidFill>
              <a:effectLst/>
              <a:uFillTx/>
              <a:latin typeface="Times New Roman"/>
            </a:endParaRPr>
          </a:p>
        </p:txBody>
      </p:sp>
      <p:sp>
        <p:nvSpPr>
          <p:cNvPr id="669" name="CuadroTexto 668"/>
          <p:cNvSpPr txBox="1"/>
          <p:nvPr/>
        </p:nvSpPr>
        <p:spPr>
          <a:xfrm>
            <a:off x="3331080" y="4016520"/>
            <a:ext cx="9554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 Salida: "Lunes"</a:t>
            </a:r>
            <a:endParaRPr lang="en-US" sz="1200" b="0" u="none" strike="noStrike">
              <a:solidFill>
                <a:srgbClr val="000000"/>
              </a:solidFill>
              <a:effectLst/>
              <a:uFillTx/>
              <a:latin typeface="Times New Roman"/>
            </a:endParaRPr>
          </a:p>
        </p:txBody>
      </p:sp>
      <p:sp>
        <p:nvSpPr>
          <p:cNvPr id="670" name="CuadroTexto 669"/>
          <p:cNvSpPr txBox="1"/>
          <p:nvPr/>
        </p:nvSpPr>
        <p:spPr>
          <a:xfrm>
            <a:off x="2457360" y="4321080"/>
            <a:ext cx="7470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 Entrada: 2 </a:t>
            </a:r>
            <a:endParaRPr lang="en-US" sz="1200" b="0" u="none" strike="noStrike">
              <a:solidFill>
                <a:srgbClr val="000000"/>
              </a:solidFill>
              <a:effectLst/>
              <a:uFillTx/>
              <a:latin typeface="Times New Roman"/>
            </a:endParaRPr>
          </a:p>
        </p:txBody>
      </p:sp>
      <p:sp>
        <p:nvSpPr>
          <p:cNvPr id="671" name="CuadroTexto 670"/>
          <p:cNvSpPr txBox="1"/>
          <p:nvPr/>
        </p:nvSpPr>
        <p:spPr>
          <a:xfrm>
            <a:off x="3200760" y="4321800"/>
            <a:ext cx="1530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Times New Roman"/>
                <a:ea typeface="Times New Roman"/>
              </a:rPr>
              <a:t>→</a:t>
            </a:r>
            <a:endParaRPr lang="en-US" sz="1200" b="0" u="none" strike="noStrike">
              <a:solidFill>
                <a:srgbClr val="000000"/>
              </a:solidFill>
              <a:effectLst/>
              <a:uFillTx/>
              <a:latin typeface="Times New Roman"/>
            </a:endParaRPr>
          </a:p>
        </p:txBody>
      </p:sp>
      <p:sp>
        <p:nvSpPr>
          <p:cNvPr id="672" name="CuadroTexto 671"/>
          <p:cNvSpPr txBox="1"/>
          <p:nvPr/>
        </p:nvSpPr>
        <p:spPr>
          <a:xfrm>
            <a:off x="3353040" y="4321080"/>
            <a:ext cx="10184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 Salida: "Martes"</a:t>
            </a:r>
            <a:endParaRPr lang="en-US" sz="1200" b="0" u="none" strike="noStrike">
              <a:solidFill>
                <a:srgbClr val="000000"/>
              </a:solidFill>
              <a:effectLst/>
              <a:uFillTx/>
              <a:latin typeface="Times New Roman"/>
            </a:endParaRPr>
          </a:p>
        </p:txBody>
      </p:sp>
      <p:sp>
        <p:nvSpPr>
          <p:cNvPr id="673" name="CuadroTexto 672"/>
          <p:cNvSpPr txBox="1"/>
          <p:nvPr/>
        </p:nvSpPr>
        <p:spPr>
          <a:xfrm>
            <a:off x="2457360" y="4626000"/>
            <a:ext cx="74448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 Entrada: 7 </a:t>
            </a:r>
            <a:endParaRPr lang="en-US" sz="1200" b="0" u="none" strike="noStrike">
              <a:solidFill>
                <a:srgbClr val="000000"/>
              </a:solidFill>
              <a:effectLst/>
              <a:uFillTx/>
              <a:latin typeface="Times New Roman"/>
            </a:endParaRPr>
          </a:p>
        </p:txBody>
      </p:sp>
      <p:sp>
        <p:nvSpPr>
          <p:cNvPr id="674" name="CuadroTexto 673"/>
          <p:cNvSpPr txBox="1"/>
          <p:nvPr/>
        </p:nvSpPr>
        <p:spPr>
          <a:xfrm>
            <a:off x="3198240" y="4626720"/>
            <a:ext cx="1530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Times New Roman"/>
                <a:ea typeface="Times New Roman"/>
              </a:rPr>
              <a:t>→</a:t>
            </a:r>
            <a:endParaRPr lang="en-US" sz="1200" b="0" u="none" strike="noStrike">
              <a:solidFill>
                <a:srgbClr val="000000"/>
              </a:solidFill>
              <a:effectLst/>
              <a:uFillTx/>
              <a:latin typeface="Times New Roman"/>
            </a:endParaRPr>
          </a:p>
        </p:txBody>
      </p:sp>
      <p:sp>
        <p:nvSpPr>
          <p:cNvPr id="675" name="CuadroTexto 674"/>
          <p:cNvSpPr txBox="1"/>
          <p:nvPr/>
        </p:nvSpPr>
        <p:spPr>
          <a:xfrm>
            <a:off x="3350880" y="4626000"/>
            <a:ext cx="11606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 Salida: "Domingo"</a:t>
            </a:r>
            <a:endParaRPr lang="en-US" sz="1200" b="0" u="none" strike="noStrike">
              <a:solidFill>
                <a:srgbClr val="000000"/>
              </a:solidFill>
              <a:effectLst/>
              <a:uFillTx/>
              <a:latin typeface="Times New Roman"/>
            </a:endParaRPr>
          </a:p>
        </p:txBody>
      </p:sp>
      <p:sp>
        <p:nvSpPr>
          <p:cNvPr id="676" name="Forma libre: forma 675"/>
          <p:cNvSpPr/>
          <p:nvPr/>
        </p:nvSpPr>
        <p:spPr>
          <a:xfrm>
            <a:off x="571320" y="5933880"/>
            <a:ext cx="11049480" cy="9720"/>
          </a:xfrm>
          <a:custGeom>
            <a:avLst/>
            <a:gdLst/>
            <a:ahLst/>
            <a:cxnLst/>
            <a:rect l="0" t="0" r="r" b="b"/>
            <a:pathLst>
              <a:path w="30693" h="27">
                <a:moveTo>
                  <a:pt x="0" y="0"/>
                </a:moveTo>
                <a:lnTo>
                  <a:pt x="30693" y="0"/>
                </a:lnTo>
                <a:lnTo>
                  <a:pt x="30693"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77" name="CuadroTexto 676"/>
          <p:cNvSpPr txBox="1"/>
          <p:nvPr/>
        </p:nvSpPr>
        <p:spPr>
          <a:xfrm>
            <a:off x="5138280" y="5690880"/>
            <a:ext cx="191520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campusmvp.es</a:t>
            </a:r>
            <a:endParaRPr lang="en-US" sz="1050" b="0" u="none" strike="noStrike">
              <a:solidFill>
                <a:srgbClr val="000000"/>
              </a:solidFill>
              <a:effectLst/>
              <a:uFillTx/>
              <a:latin typeface="Times New Roman"/>
            </a:endParaRPr>
          </a:p>
        </p:txBody>
      </p:sp>
      <p:sp>
        <p:nvSpPr>
          <p:cNvPr id="678" name="CuadroTexto 677"/>
          <p:cNvSpPr txBox="1"/>
          <p:nvPr/>
        </p:nvSpPr>
        <p:spPr>
          <a:xfrm>
            <a:off x="571320" y="612144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679" name="CuadroTexto 678"/>
          <p:cNvSpPr txBox="1"/>
          <p:nvPr/>
        </p:nvSpPr>
        <p:spPr>
          <a:xfrm>
            <a:off x="11479680" y="612144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27</a:t>
            </a:r>
            <a:endParaRPr lang="en-US" sz="1200" b="0" u="none" strike="noStrike">
              <a:solidFill>
                <a:srgbClr val="000000"/>
              </a:solidFill>
              <a:effectLst/>
              <a:uFillTx/>
              <a:latin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Forma libre: forma 681"/>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83" name="Forma libre: forma 682"/>
          <p:cNvSpPr/>
          <p:nvPr/>
        </p:nvSpPr>
        <p:spPr>
          <a:xfrm>
            <a:off x="1352520" y="1390320"/>
            <a:ext cx="9506160" cy="1686600"/>
          </a:xfrm>
          <a:custGeom>
            <a:avLst/>
            <a:gdLst/>
            <a:ahLst/>
            <a:cxnLst/>
            <a:rect l="0" t="0" r="r" b="b"/>
            <a:pathLst>
              <a:path w="26406" h="4685">
                <a:moveTo>
                  <a:pt x="0" y="4367"/>
                </a:moveTo>
                <a:lnTo>
                  <a:pt x="0" y="318"/>
                </a:lnTo>
                <a:cubicBezTo>
                  <a:pt x="0" y="297"/>
                  <a:pt x="1" y="276"/>
                  <a:pt x="5" y="256"/>
                </a:cubicBezTo>
                <a:cubicBezTo>
                  <a:pt x="8" y="236"/>
                  <a:pt x="13" y="216"/>
                  <a:pt x="20" y="196"/>
                </a:cubicBezTo>
                <a:cubicBezTo>
                  <a:pt x="26" y="177"/>
                  <a:pt x="35" y="159"/>
                  <a:pt x="44" y="142"/>
                </a:cubicBezTo>
                <a:cubicBezTo>
                  <a:pt x="54" y="124"/>
                  <a:pt x="65" y="108"/>
                  <a:pt x="77" y="93"/>
                </a:cubicBezTo>
                <a:cubicBezTo>
                  <a:pt x="89" y="79"/>
                  <a:pt x="103" y="66"/>
                  <a:pt x="117" y="54"/>
                </a:cubicBezTo>
                <a:cubicBezTo>
                  <a:pt x="132" y="42"/>
                  <a:pt x="147" y="33"/>
                  <a:pt x="163" y="25"/>
                </a:cubicBezTo>
                <a:cubicBezTo>
                  <a:pt x="179" y="17"/>
                  <a:pt x="196" y="11"/>
                  <a:pt x="213" y="7"/>
                </a:cubicBezTo>
                <a:cubicBezTo>
                  <a:pt x="230" y="2"/>
                  <a:pt x="247" y="0"/>
                  <a:pt x="264" y="0"/>
                </a:cubicBezTo>
                <a:lnTo>
                  <a:pt x="26088" y="0"/>
                </a:lnTo>
                <a:cubicBezTo>
                  <a:pt x="26109" y="0"/>
                  <a:pt x="26130" y="2"/>
                  <a:pt x="26150" y="7"/>
                </a:cubicBezTo>
                <a:cubicBezTo>
                  <a:pt x="26171" y="11"/>
                  <a:pt x="26191" y="17"/>
                  <a:pt x="26210" y="25"/>
                </a:cubicBezTo>
                <a:cubicBezTo>
                  <a:pt x="26229" y="33"/>
                  <a:pt x="26248" y="42"/>
                  <a:pt x="26265" y="54"/>
                </a:cubicBezTo>
                <a:cubicBezTo>
                  <a:pt x="26282" y="66"/>
                  <a:pt x="26298" y="79"/>
                  <a:pt x="26313" y="93"/>
                </a:cubicBezTo>
                <a:cubicBezTo>
                  <a:pt x="26328" y="108"/>
                  <a:pt x="26341" y="124"/>
                  <a:pt x="26352" y="142"/>
                </a:cubicBezTo>
                <a:cubicBezTo>
                  <a:pt x="26364" y="159"/>
                  <a:pt x="26374" y="177"/>
                  <a:pt x="26382" y="196"/>
                </a:cubicBezTo>
                <a:cubicBezTo>
                  <a:pt x="26390" y="216"/>
                  <a:pt x="26396" y="236"/>
                  <a:pt x="26400" y="256"/>
                </a:cubicBezTo>
                <a:cubicBezTo>
                  <a:pt x="26404" y="276"/>
                  <a:pt x="26406" y="297"/>
                  <a:pt x="26406" y="318"/>
                </a:cubicBezTo>
                <a:lnTo>
                  <a:pt x="26406" y="4367"/>
                </a:lnTo>
                <a:cubicBezTo>
                  <a:pt x="26406" y="4388"/>
                  <a:pt x="26404" y="4409"/>
                  <a:pt x="26400" y="4429"/>
                </a:cubicBezTo>
                <a:cubicBezTo>
                  <a:pt x="26396" y="4449"/>
                  <a:pt x="26390" y="4469"/>
                  <a:pt x="26382" y="4489"/>
                </a:cubicBezTo>
                <a:cubicBezTo>
                  <a:pt x="26374" y="4508"/>
                  <a:pt x="26364" y="4526"/>
                  <a:pt x="26352" y="4543"/>
                </a:cubicBezTo>
                <a:cubicBezTo>
                  <a:pt x="26341" y="4561"/>
                  <a:pt x="26328" y="4577"/>
                  <a:pt x="26313" y="4592"/>
                </a:cubicBezTo>
                <a:cubicBezTo>
                  <a:pt x="26298" y="4606"/>
                  <a:pt x="26282" y="4619"/>
                  <a:pt x="26265" y="4631"/>
                </a:cubicBezTo>
                <a:cubicBezTo>
                  <a:pt x="26248" y="4643"/>
                  <a:pt x="26229" y="4652"/>
                  <a:pt x="26210" y="4660"/>
                </a:cubicBezTo>
                <a:cubicBezTo>
                  <a:pt x="26191" y="4668"/>
                  <a:pt x="26171" y="4674"/>
                  <a:pt x="26150" y="4678"/>
                </a:cubicBezTo>
                <a:cubicBezTo>
                  <a:pt x="26130" y="4683"/>
                  <a:pt x="26109" y="4685"/>
                  <a:pt x="26088" y="4685"/>
                </a:cubicBezTo>
                <a:lnTo>
                  <a:pt x="264" y="4685"/>
                </a:lnTo>
                <a:cubicBezTo>
                  <a:pt x="247" y="4685"/>
                  <a:pt x="230" y="4683"/>
                  <a:pt x="213" y="4678"/>
                </a:cubicBezTo>
                <a:cubicBezTo>
                  <a:pt x="196" y="4674"/>
                  <a:pt x="179" y="4668"/>
                  <a:pt x="163" y="4660"/>
                </a:cubicBezTo>
                <a:cubicBezTo>
                  <a:pt x="147" y="4652"/>
                  <a:pt x="132" y="4643"/>
                  <a:pt x="117" y="4631"/>
                </a:cubicBezTo>
                <a:cubicBezTo>
                  <a:pt x="103" y="4619"/>
                  <a:pt x="89" y="4606"/>
                  <a:pt x="77" y="4592"/>
                </a:cubicBezTo>
                <a:cubicBezTo>
                  <a:pt x="65" y="4577"/>
                  <a:pt x="54" y="4561"/>
                  <a:pt x="44" y="4543"/>
                </a:cubicBezTo>
                <a:cubicBezTo>
                  <a:pt x="35" y="4526"/>
                  <a:pt x="26" y="4508"/>
                  <a:pt x="20" y="4489"/>
                </a:cubicBezTo>
                <a:cubicBezTo>
                  <a:pt x="13" y="4469"/>
                  <a:pt x="8" y="4449"/>
                  <a:pt x="5" y="4429"/>
                </a:cubicBezTo>
                <a:cubicBezTo>
                  <a:pt x="1" y="4409"/>
                  <a:pt x="0" y="4388"/>
                  <a:pt x="0" y="4367"/>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84" name="Forma libre: forma 683"/>
          <p:cNvSpPr/>
          <p:nvPr/>
        </p:nvSpPr>
        <p:spPr>
          <a:xfrm>
            <a:off x="1333440" y="1390320"/>
            <a:ext cx="114480" cy="1686600"/>
          </a:xfrm>
          <a:custGeom>
            <a:avLst/>
            <a:gdLst/>
            <a:ahLst/>
            <a:cxnLst/>
            <a:rect l="0" t="0" r="r" b="b"/>
            <a:pathLst>
              <a:path w="318" h="4685">
                <a:moveTo>
                  <a:pt x="0" y="0"/>
                </a:moveTo>
                <a:lnTo>
                  <a:pt x="318" y="0"/>
                </a:lnTo>
                <a:lnTo>
                  <a:pt x="318" y="4685"/>
                </a:lnTo>
                <a:lnTo>
                  <a:pt x="0" y="4685"/>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85" name="CuadroTexto 684"/>
          <p:cNvSpPr txBox="1"/>
          <p:nvPr/>
        </p:nvSpPr>
        <p:spPr>
          <a:xfrm>
            <a:off x="571320" y="569160"/>
            <a:ext cx="21081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¿Qué es equals?</a:t>
            </a:r>
            <a:endParaRPr lang="en-US" sz="2700" b="0" u="none" strike="noStrike">
              <a:solidFill>
                <a:srgbClr val="000000"/>
              </a:solidFill>
              <a:effectLst/>
              <a:uFillTx/>
              <a:latin typeface="Times New Roman"/>
            </a:endParaRPr>
          </a:p>
        </p:txBody>
      </p:sp>
      <p:sp>
        <p:nvSpPr>
          <p:cNvPr id="686" name="CuadroTexto 685"/>
          <p:cNvSpPr txBox="1"/>
          <p:nvPr/>
        </p:nvSpPr>
        <p:spPr>
          <a:xfrm>
            <a:off x="1676520" y="1719360"/>
            <a:ext cx="948960" cy="253440"/>
          </a:xfrm>
          <a:prstGeom prst="rect">
            <a:avLst/>
          </a:prstGeom>
          <a:noFill/>
          <a:ln w="0">
            <a:noFill/>
          </a:ln>
        </p:spPr>
        <p:txBody>
          <a:bodyPr wrap="none" lIns="0" tIns="0" rIns="0" bIns="0" anchor="t">
            <a:spAutoFit/>
          </a:bodyPr>
          <a:lstStyle/>
          <a:p>
            <a:r>
              <a:rPr lang="en-US" sz="1800" b="0" u="none" strike="noStrike">
                <a:solidFill>
                  <a:srgbClr val="000000"/>
                </a:solidFill>
                <a:effectLst/>
                <a:uFillTx/>
                <a:latin typeface="CrimsonPro"/>
                <a:ea typeface="CrimsonPro"/>
              </a:rPr>
              <a:t>Definición</a:t>
            </a:r>
            <a:endParaRPr lang="en-US" sz="1800" b="0" u="none" strike="noStrike">
              <a:solidFill>
                <a:srgbClr val="000000"/>
              </a:solidFill>
              <a:effectLst/>
              <a:uFillTx/>
              <a:latin typeface="Times New Roman"/>
            </a:endParaRPr>
          </a:p>
        </p:txBody>
      </p:sp>
      <p:sp>
        <p:nvSpPr>
          <p:cNvPr id="687" name="CuadroTexto 686"/>
          <p:cNvSpPr txBox="1"/>
          <p:nvPr/>
        </p:nvSpPr>
        <p:spPr>
          <a:xfrm>
            <a:off x="1676520" y="2201040"/>
            <a:ext cx="8583120" cy="212040"/>
          </a:xfrm>
          <a:prstGeom prst="rect">
            <a:avLst/>
          </a:prstGeom>
          <a:noFill/>
          <a:ln w="0">
            <a:noFill/>
          </a:ln>
        </p:spPr>
        <p:txBody>
          <a:bodyPr wrap="none" lIns="0" tIns="0" rIns="0" bIns="0" anchor="t">
            <a:spAutoFit/>
          </a:bodyPr>
          <a:lstStyle/>
          <a:p>
            <a:r>
              <a:rPr lang="en-US" sz="1500" b="0" u="none" strike="noStrike" dirty="0">
                <a:solidFill>
                  <a:srgbClr val="666666"/>
                </a:solidFill>
                <a:effectLst/>
                <a:uFillTx/>
                <a:latin typeface="CrimsonPro"/>
                <a:ea typeface="CrimsonPro"/>
              </a:rPr>
              <a:t>Se </a:t>
            </a:r>
            <a:r>
              <a:rPr lang="en-US" sz="1500" b="0" u="none" strike="noStrike" dirty="0" err="1">
                <a:solidFill>
                  <a:srgbClr val="666666"/>
                </a:solidFill>
                <a:effectLst/>
                <a:uFillTx/>
                <a:latin typeface="CrimsonPro"/>
                <a:ea typeface="CrimsonPro"/>
              </a:rPr>
              <a:t>encarga</a:t>
            </a:r>
            <a:r>
              <a:rPr lang="en-US" sz="1500" b="0" u="none" strike="noStrike" dirty="0">
                <a:solidFill>
                  <a:srgbClr val="666666"/>
                </a:solidFill>
                <a:effectLst/>
                <a:uFillTx/>
                <a:latin typeface="CrimsonPro"/>
                <a:ea typeface="CrimsonPro"/>
              </a:rPr>
              <a:t> de </a:t>
            </a:r>
            <a:r>
              <a:rPr lang="en-US" sz="1500" b="0" u="none" strike="noStrike" dirty="0" err="1">
                <a:solidFill>
                  <a:srgbClr val="DA7756"/>
                </a:solidFill>
                <a:effectLst/>
                <a:uFillTx/>
                <a:latin typeface="CrimsonPro"/>
                <a:ea typeface="CrimsonPro"/>
              </a:rPr>
              <a:t>comparar</a:t>
            </a:r>
            <a:r>
              <a:rPr lang="en-US" sz="1500" b="0" u="none" strike="noStrike" dirty="0">
                <a:solidFill>
                  <a:srgbClr val="DA7756"/>
                </a:solidFill>
                <a:effectLst/>
                <a:uFillTx/>
                <a:latin typeface="CrimsonPro"/>
                <a:ea typeface="CrimsonPro"/>
              </a:rPr>
              <a:t> la </a:t>
            </a:r>
            <a:r>
              <a:rPr lang="en-US" sz="1500" b="0" u="none" strike="noStrike" dirty="0" err="1">
                <a:solidFill>
                  <a:srgbClr val="DA7756"/>
                </a:solidFill>
                <a:effectLst/>
                <a:uFillTx/>
                <a:latin typeface="CrimsonPro"/>
                <a:ea typeface="CrimsonPro"/>
              </a:rPr>
              <a:t>cadena</a:t>
            </a:r>
            <a:r>
              <a:rPr lang="en-US" sz="1500" b="0" u="none" strike="noStrike" dirty="0">
                <a:solidFill>
                  <a:srgbClr val="DA7756"/>
                </a:solidFill>
                <a:effectLst/>
                <a:uFillTx/>
                <a:latin typeface="CrimsonPro"/>
                <a:ea typeface="CrimsonPro"/>
              </a:rPr>
              <a:t> de </a:t>
            </a:r>
            <a:r>
              <a:rPr lang="en-US" sz="1500" b="0" u="none" strike="noStrike" dirty="0" err="1">
                <a:solidFill>
                  <a:srgbClr val="DA7756"/>
                </a:solidFill>
                <a:effectLst/>
                <a:uFillTx/>
                <a:latin typeface="CrimsonPro"/>
                <a:ea typeface="CrimsonPro"/>
              </a:rPr>
              <a:t>texto</a:t>
            </a:r>
            <a:r>
              <a:rPr lang="en-US" sz="1500" b="0" u="none" strike="noStrike" dirty="0">
                <a:solidFill>
                  <a:srgbClr val="DA7756"/>
                </a:solidFill>
                <a:effectLst/>
                <a:uFillTx/>
                <a:latin typeface="CrimsonPro"/>
                <a:ea typeface="CrimsonPro"/>
              </a:rPr>
              <a:t> contra un </a:t>
            </a:r>
            <a:r>
              <a:rPr lang="en-US" sz="1500" b="0" u="none" strike="noStrike" dirty="0" err="1">
                <a:solidFill>
                  <a:srgbClr val="DA7756"/>
                </a:solidFill>
                <a:effectLst/>
                <a:uFillTx/>
                <a:latin typeface="CrimsonPro"/>
                <a:ea typeface="CrimsonPro"/>
              </a:rPr>
              <a:t>objeto</a:t>
            </a:r>
            <a:r>
              <a:rPr lang="en-US" sz="1500" b="0" u="none" strike="noStrike" dirty="0">
                <a:solidFill>
                  <a:srgbClr val="666666"/>
                </a:solidFill>
                <a:effectLst/>
                <a:uFillTx/>
                <a:latin typeface="CrimsonPro"/>
                <a:ea typeface="CrimsonPro"/>
              </a:rPr>
              <a:t>. </a:t>
            </a:r>
            <a:r>
              <a:rPr lang="en-US" sz="1500" b="0" u="none" strike="noStrike" dirty="0" err="1">
                <a:solidFill>
                  <a:srgbClr val="666666"/>
                </a:solidFill>
                <a:effectLst/>
                <a:uFillTx/>
                <a:latin typeface="CrimsonPro"/>
                <a:ea typeface="CrimsonPro"/>
              </a:rPr>
              <a:t>Devuelve</a:t>
            </a:r>
            <a:r>
              <a:rPr lang="en-US" sz="1500" b="0" u="none" strike="noStrike" dirty="0">
                <a:solidFill>
                  <a:srgbClr val="666666"/>
                </a:solidFill>
                <a:effectLst/>
                <a:uFillTx/>
                <a:latin typeface="CrimsonPro"/>
                <a:ea typeface="CrimsonPro"/>
              </a:rPr>
              <a:t> </a:t>
            </a:r>
            <a:r>
              <a:rPr lang="en-US" sz="1500" b="0" u="none" strike="noStrike" dirty="0">
                <a:solidFill>
                  <a:srgbClr val="000000"/>
                </a:solidFill>
                <a:effectLst/>
                <a:uFillTx/>
                <a:latin typeface="CrimsonPro"/>
                <a:ea typeface="CrimsonPro"/>
              </a:rPr>
              <a:t>true</a:t>
            </a:r>
            <a:r>
              <a:rPr lang="en-US" sz="1500" b="0" u="none" strike="noStrike" dirty="0">
                <a:solidFill>
                  <a:srgbClr val="666666"/>
                </a:solidFill>
                <a:effectLst/>
                <a:uFillTx/>
                <a:latin typeface="CrimsonPro"/>
                <a:ea typeface="CrimsonPro"/>
              </a:rPr>
              <a:t> </a:t>
            </a:r>
            <a:r>
              <a:rPr lang="en-US" sz="1500" b="0" u="none" strike="noStrike" dirty="0" err="1">
                <a:solidFill>
                  <a:srgbClr val="666666"/>
                </a:solidFill>
                <a:effectLst/>
                <a:uFillTx/>
                <a:latin typeface="CrimsonPro"/>
                <a:ea typeface="CrimsonPro"/>
              </a:rPr>
              <a:t>si</a:t>
            </a:r>
            <a:r>
              <a:rPr lang="en-US" sz="1500" b="0" u="none" strike="noStrike" dirty="0">
                <a:solidFill>
                  <a:srgbClr val="666666"/>
                </a:solidFill>
                <a:effectLst/>
                <a:uFillTx/>
                <a:latin typeface="CrimsonPro"/>
                <a:ea typeface="CrimsonPro"/>
              </a:rPr>
              <a:t> las </a:t>
            </a:r>
            <a:r>
              <a:rPr lang="en-US" sz="1500" b="0" u="none" strike="noStrike" dirty="0" err="1">
                <a:solidFill>
                  <a:srgbClr val="666666"/>
                </a:solidFill>
                <a:effectLst/>
                <a:uFillTx/>
                <a:latin typeface="CrimsonPro"/>
                <a:ea typeface="CrimsonPro"/>
              </a:rPr>
              <a:t>cadenas</a:t>
            </a:r>
            <a:r>
              <a:rPr lang="en-US" sz="1500" b="0" u="none" strike="noStrike" dirty="0">
                <a:solidFill>
                  <a:srgbClr val="666666"/>
                </a:solidFill>
                <a:effectLst/>
                <a:uFillTx/>
                <a:latin typeface="CrimsonPro"/>
                <a:ea typeface="CrimsonPro"/>
              </a:rPr>
              <a:t> </a:t>
            </a:r>
            <a:r>
              <a:rPr lang="en-US" sz="1500" b="0" u="none" strike="noStrike" dirty="0" err="1">
                <a:solidFill>
                  <a:srgbClr val="666666"/>
                </a:solidFill>
                <a:effectLst/>
                <a:uFillTx/>
                <a:latin typeface="CrimsonPro"/>
                <a:ea typeface="CrimsonPro"/>
              </a:rPr>
              <a:t>comparadas</a:t>
            </a:r>
            <a:r>
              <a:rPr lang="en-US" sz="1500" b="0" u="none" strike="noStrike" dirty="0">
                <a:solidFill>
                  <a:srgbClr val="666666"/>
                </a:solidFill>
                <a:effectLst/>
                <a:uFillTx/>
                <a:latin typeface="CrimsonPro"/>
                <a:ea typeface="CrimsonPro"/>
              </a:rPr>
              <a:t> son </a:t>
            </a:r>
            <a:r>
              <a:rPr lang="en-US" sz="1500" b="0" u="none" strike="noStrike" dirty="0" err="1">
                <a:solidFill>
                  <a:srgbClr val="666666"/>
                </a:solidFill>
                <a:effectLst/>
                <a:uFillTx/>
                <a:latin typeface="CrimsonPro"/>
                <a:ea typeface="CrimsonPro"/>
              </a:rPr>
              <a:t>iguales</a:t>
            </a:r>
            <a:r>
              <a:rPr lang="en-US" sz="1500" b="0" u="none" strike="noStrike" dirty="0">
                <a:solidFill>
                  <a:srgbClr val="666666"/>
                </a:solidFill>
                <a:effectLst/>
                <a:uFillTx/>
                <a:latin typeface="CrimsonPro"/>
                <a:ea typeface="CrimsonPro"/>
              </a:rPr>
              <a:t>.</a:t>
            </a:r>
            <a:endParaRPr lang="en-US" sz="1500" b="0" u="none" strike="noStrike" dirty="0">
              <a:solidFill>
                <a:srgbClr val="000000"/>
              </a:solidFill>
              <a:effectLst/>
              <a:uFillTx/>
              <a:latin typeface="Times New Roman"/>
            </a:endParaRPr>
          </a:p>
        </p:txBody>
      </p:sp>
      <p:sp>
        <p:nvSpPr>
          <p:cNvPr id="688" name="Forma libre: forma 687"/>
          <p:cNvSpPr/>
          <p:nvPr/>
        </p:nvSpPr>
        <p:spPr>
          <a:xfrm>
            <a:off x="3233520" y="3309840"/>
            <a:ext cx="5725080" cy="3343680"/>
          </a:xfrm>
          <a:custGeom>
            <a:avLst/>
            <a:gdLst/>
            <a:ahLst/>
            <a:cxnLst/>
            <a:rect l="0" t="0" r="r" b="b"/>
            <a:pathLst>
              <a:path w="15903" h="9288" fill="none">
                <a:moveTo>
                  <a:pt x="0" y="9089"/>
                </a:moveTo>
                <a:lnTo>
                  <a:pt x="0" y="198"/>
                </a:lnTo>
                <a:cubicBezTo>
                  <a:pt x="0" y="185"/>
                  <a:pt x="1" y="172"/>
                  <a:pt x="4" y="159"/>
                </a:cubicBezTo>
                <a:cubicBezTo>
                  <a:pt x="6" y="147"/>
                  <a:pt x="10" y="134"/>
                  <a:pt x="15" y="122"/>
                </a:cubicBezTo>
                <a:cubicBezTo>
                  <a:pt x="20" y="110"/>
                  <a:pt x="26" y="99"/>
                  <a:pt x="34" y="88"/>
                </a:cubicBezTo>
                <a:cubicBezTo>
                  <a:pt x="41" y="77"/>
                  <a:pt x="49" y="67"/>
                  <a:pt x="58" y="58"/>
                </a:cubicBezTo>
                <a:cubicBezTo>
                  <a:pt x="67" y="49"/>
                  <a:pt x="77" y="40"/>
                  <a:pt x="88" y="33"/>
                </a:cubicBezTo>
                <a:cubicBezTo>
                  <a:pt x="99" y="26"/>
                  <a:pt x="111" y="20"/>
                  <a:pt x="123" y="15"/>
                </a:cubicBezTo>
                <a:cubicBezTo>
                  <a:pt x="135" y="10"/>
                  <a:pt x="147" y="6"/>
                  <a:pt x="160" y="4"/>
                </a:cubicBezTo>
                <a:cubicBezTo>
                  <a:pt x="173" y="1"/>
                  <a:pt x="186" y="0"/>
                  <a:pt x="199" y="0"/>
                </a:cubicBezTo>
                <a:lnTo>
                  <a:pt x="15704" y="0"/>
                </a:lnTo>
                <a:cubicBezTo>
                  <a:pt x="15717" y="0"/>
                  <a:pt x="15730" y="1"/>
                  <a:pt x="15743" y="4"/>
                </a:cubicBezTo>
                <a:cubicBezTo>
                  <a:pt x="15756" y="6"/>
                  <a:pt x="15768" y="10"/>
                  <a:pt x="15780" y="15"/>
                </a:cubicBezTo>
                <a:cubicBezTo>
                  <a:pt x="15792" y="20"/>
                  <a:pt x="15804" y="26"/>
                  <a:pt x="15814" y="33"/>
                </a:cubicBezTo>
                <a:cubicBezTo>
                  <a:pt x="15825" y="40"/>
                  <a:pt x="15835" y="49"/>
                  <a:pt x="15844" y="58"/>
                </a:cubicBezTo>
                <a:cubicBezTo>
                  <a:pt x="15854" y="67"/>
                  <a:pt x="15862" y="77"/>
                  <a:pt x="15869" y="88"/>
                </a:cubicBezTo>
                <a:cubicBezTo>
                  <a:pt x="15876" y="99"/>
                  <a:pt x="15882" y="110"/>
                  <a:pt x="15887" y="122"/>
                </a:cubicBezTo>
                <a:cubicBezTo>
                  <a:pt x="15892" y="134"/>
                  <a:pt x="15896" y="147"/>
                  <a:pt x="15899" y="159"/>
                </a:cubicBezTo>
                <a:cubicBezTo>
                  <a:pt x="15901" y="172"/>
                  <a:pt x="15903" y="185"/>
                  <a:pt x="15903" y="198"/>
                </a:cubicBezTo>
                <a:lnTo>
                  <a:pt x="15903" y="9089"/>
                </a:lnTo>
                <a:cubicBezTo>
                  <a:pt x="15903" y="9102"/>
                  <a:pt x="15901" y="9115"/>
                  <a:pt x="15899" y="9128"/>
                </a:cubicBezTo>
                <a:cubicBezTo>
                  <a:pt x="15896" y="9141"/>
                  <a:pt x="15892" y="9153"/>
                  <a:pt x="15887" y="9165"/>
                </a:cubicBezTo>
                <a:cubicBezTo>
                  <a:pt x="15882" y="9177"/>
                  <a:pt x="15876" y="9189"/>
                  <a:pt x="15869" y="9199"/>
                </a:cubicBezTo>
                <a:cubicBezTo>
                  <a:pt x="15862" y="9210"/>
                  <a:pt x="15854" y="9220"/>
                  <a:pt x="15844" y="9230"/>
                </a:cubicBezTo>
                <a:cubicBezTo>
                  <a:pt x="15835" y="9239"/>
                  <a:pt x="15825" y="9247"/>
                  <a:pt x="15814" y="9254"/>
                </a:cubicBezTo>
                <a:cubicBezTo>
                  <a:pt x="15804" y="9261"/>
                  <a:pt x="15792" y="9268"/>
                  <a:pt x="15780" y="9273"/>
                </a:cubicBezTo>
                <a:cubicBezTo>
                  <a:pt x="15768" y="9278"/>
                  <a:pt x="15756" y="9281"/>
                  <a:pt x="15743" y="9284"/>
                </a:cubicBezTo>
                <a:cubicBezTo>
                  <a:pt x="15730" y="9286"/>
                  <a:pt x="15717" y="9288"/>
                  <a:pt x="15704" y="9288"/>
                </a:cubicBezTo>
                <a:lnTo>
                  <a:pt x="199" y="9288"/>
                </a:lnTo>
                <a:cubicBezTo>
                  <a:pt x="186" y="9288"/>
                  <a:pt x="173" y="9286"/>
                  <a:pt x="160" y="9284"/>
                </a:cubicBezTo>
                <a:cubicBezTo>
                  <a:pt x="147" y="9281"/>
                  <a:pt x="135" y="9278"/>
                  <a:pt x="123" y="9273"/>
                </a:cubicBezTo>
                <a:cubicBezTo>
                  <a:pt x="111" y="9268"/>
                  <a:pt x="99" y="9261"/>
                  <a:pt x="88" y="9254"/>
                </a:cubicBezTo>
                <a:cubicBezTo>
                  <a:pt x="77" y="9247"/>
                  <a:pt x="67" y="9239"/>
                  <a:pt x="58" y="9230"/>
                </a:cubicBezTo>
                <a:cubicBezTo>
                  <a:pt x="49" y="9220"/>
                  <a:pt x="41" y="9210"/>
                  <a:pt x="34" y="9199"/>
                </a:cubicBezTo>
                <a:cubicBezTo>
                  <a:pt x="26" y="9189"/>
                  <a:pt x="20" y="9177"/>
                  <a:pt x="15" y="9165"/>
                </a:cubicBezTo>
                <a:cubicBezTo>
                  <a:pt x="10" y="9153"/>
                  <a:pt x="6" y="9141"/>
                  <a:pt x="4" y="9128"/>
                </a:cubicBezTo>
                <a:cubicBezTo>
                  <a:pt x="1" y="9115"/>
                  <a:pt x="0" y="9102"/>
                  <a:pt x="0" y="9089"/>
                </a:cubicBezTo>
              </a:path>
            </a:pathLst>
          </a:custGeom>
          <a:ln w="9360">
            <a:solidFill>
              <a:srgbClr val="E0E0E0"/>
            </a:solidFill>
            <a:miter/>
          </a:ln>
        </p:spPr>
        <p:txBody>
          <a:bodyPr lIns="4680" tIns="4680" rIns="4680" bIns="4680" anchor="t">
            <a:noAutofit/>
          </a:bodyPr>
          <a:lstStyle/>
          <a:p>
            <a:endParaRPr lang="en-US" sz="2400" b="0" u="none" strike="noStrike">
              <a:solidFill>
                <a:srgbClr val="000000"/>
              </a:solidFill>
              <a:effectLst/>
              <a:uFillTx/>
              <a:latin typeface="Times New Roman"/>
            </a:endParaRPr>
          </a:p>
        </p:txBody>
      </p:sp>
      <p:sp>
        <p:nvSpPr>
          <p:cNvPr id="689" name="Forma libre: forma 688"/>
          <p:cNvSpPr/>
          <p:nvPr/>
        </p:nvSpPr>
        <p:spPr>
          <a:xfrm>
            <a:off x="3238200" y="3429000"/>
            <a:ext cx="5715360" cy="3029857"/>
          </a:xfrm>
          <a:custGeom>
            <a:avLst/>
            <a:gdLst/>
            <a:ahLst/>
            <a:cxnLst/>
            <a:rect l="0" t="0" r="r" b="b"/>
            <a:pathLst>
              <a:path w="15876" h="9261">
                <a:moveTo>
                  <a:pt x="14" y="114"/>
                </a:moveTo>
                <a:cubicBezTo>
                  <a:pt x="24" y="92"/>
                  <a:pt x="37" y="72"/>
                  <a:pt x="55" y="54"/>
                </a:cubicBezTo>
                <a:cubicBezTo>
                  <a:pt x="72" y="37"/>
                  <a:pt x="92" y="23"/>
                  <a:pt x="115" y="14"/>
                </a:cubicBezTo>
                <a:cubicBezTo>
                  <a:pt x="137" y="5"/>
                  <a:pt x="161" y="0"/>
                  <a:pt x="186" y="0"/>
                </a:cubicBezTo>
                <a:lnTo>
                  <a:pt x="15691" y="0"/>
                </a:lnTo>
                <a:cubicBezTo>
                  <a:pt x="15716" y="0"/>
                  <a:pt x="15739" y="5"/>
                  <a:pt x="15762" y="14"/>
                </a:cubicBezTo>
                <a:cubicBezTo>
                  <a:pt x="15785" y="23"/>
                  <a:pt x="15805" y="37"/>
                  <a:pt x="15822" y="54"/>
                </a:cubicBezTo>
                <a:cubicBezTo>
                  <a:pt x="15839" y="72"/>
                  <a:pt x="15853" y="92"/>
                  <a:pt x="15862" y="114"/>
                </a:cubicBezTo>
                <a:cubicBezTo>
                  <a:pt x="15872" y="137"/>
                  <a:pt x="15876" y="161"/>
                  <a:pt x="15876" y="185"/>
                </a:cubicBezTo>
                <a:lnTo>
                  <a:pt x="15876" y="9076"/>
                </a:lnTo>
                <a:cubicBezTo>
                  <a:pt x="15876" y="9101"/>
                  <a:pt x="15872" y="9124"/>
                  <a:pt x="15862" y="9147"/>
                </a:cubicBezTo>
                <a:cubicBezTo>
                  <a:pt x="15853" y="9170"/>
                  <a:pt x="15839" y="9190"/>
                  <a:pt x="15822" y="9207"/>
                </a:cubicBezTo>
                <a:cubicBezTo>
                  <a:pt x="15805" y="9225"/>
                  <a:pt x="15785" y="9238"/>
                  <a:pt x="15762" y="9247"/>
                </a:cubicBezTo>
                <a:cubicBezTo>
                  <a:pt x="15739" y="9257"/>
                  <a:pt x="15716" y="9261"/>
                  <a:pt x="15691" y="9261"/>
                </a:cubicBezTo>
                <a:lnTo>
                  <a:pt x="186" y="9261"/>
                </a:lnTo>
                <a:cubicBezTo>
                  <a:pt x="161" y="9261"/>
                  <a:pt x="137" y="9257"/>
                  <a:pt x="115" y="9247"/>
                </a:cubicBezTo>
                <a:cubicBezTo>
                  <a:pt x="92" y="9238"/>
                  <a:pt x="72" y="9225"/>
                  <a:pt x="55" y="9207"/>
                </a:cubicBezTo>
                <a:cubicBezTo>
                  <a:pt x="37" y="9190"/>
                  <a:pt x="24" y="9170"/>
                  <a:pt x="14" y="9147"/>
                </a:cubicBezTo>
                <a:cubicBezTo>
                  <a:pt x="5" y="9124"/>
                  <a:pt x="0" y="9101"/>
                  <a:pt x="0" y="9076"/>
                </a:cubicBezTo>
                <a:lnTo>
                  <a:pt x="0" y="185"/>
                </a:lnTo>
                <a:cubicBezTo>
                  <a:pt x="0" y="161"/>
                  <a:pt x="5" y="137"/>
                  <a:pt x="14" y="114"/>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pic>
        <p:nvPicPr>
          <p:cNvPr id="690" name="Imagen 689"/>
          <p:cNvPicPr/>
          <p:nvPr/>
        </p:nvPicPr>
        <p:blipFill>
          <a:blip r:embed="rId3"/>
          <a:stretch/>
        </p:blipFill>
        <p:spPr>
          <a:xfrm>
            <a:off x="3425370" y="3743280"/>
            <a:ext cx="5384801" cy="2476080"/>
          </a:xfrm>
          <a:prstGeom prst="rect">
            <a:avLst/>
          </a:prstGeom>
          <a:noFill/>
          <a:ln w="0">
            <a:noFill/>
          </a:ln>
        </p:spPr>
      </p:pic>
      <p:sp>
        <p:nvSpPr>
          <p:cNvPr id="691" name="CuadroTexto 690"/>
          <p:cNvSpPr txBox="1"/>
          <p:nvPr/>
        </p:nvSpPr>
        <p:spPr>
          <a:xfrm>
            <a:off x="1676520" y="2515320"/>
            <a:ext cx="253332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En caso contrario devolverá </a:t>
            </a:r>
            <a:r>
              <a:rPr lang="en-US" sz="1500" b="0" u="none" strike="noStrike">
                <a:solidFill>
                  <a:srgbClr val="000000"/>
                </a:solidFill>
                <a:effectLst/>
                <a:uFillTx/>
                <a:latin typeface="CrimsonPro"/>
                <a:ea typeface="CrimsonPro"/>
              </a:rPr>
              <a:t>false</a:t>
            </a:r>
            <a:r>
              <a:rPr lang="en-US" sz="1500" b="0" u="none" strike="noStrike">
                <a:solidFill>
                  <a:srgbClr val="666666"/>
                </a:solidFill>
                <a:effectLst/>
                <a:uFillTx/>
                <a:latin typeface="CrimsonPro"/>
                <a:ea typeface="CrimsonPro"/>
              </a:rPr>
              <a:t>.</a:t>
            </a:r>
            <a:endParaRPr lang="en-US" sz="1500" b="0" u="none" strike="noStrike">
              <a:solidFill>
                <a:srgbClr val="000000"/>
              </a:solidFill>
              <a:effectLst/>
              <a:uFillTx/>
              <a:latin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 name="Forma libre: forma 693"/>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95" name="Forma libre: forma 694"/>
          <p:cNvSpPr/>
          <p:nvPr/>
        </p:nvSpPr>
        <p:spPr>
          <a:xfrm>
            <a:off x="1590480" y="2419200"/>
            <a:ext cx="9030240" cy="1009800"/>
          </a:xfrm>
          <a:custGeom>
            <a:avLst/>
            <a:gdLst/>
            <a:ahLst/>
            <a:cxnLst/>
            <a:rect l="0" t="0" r="r" b="b"/>
            <a:pathLst>
              <a:path w="25084" h="2805">
                <a:moveTo>
                  <a:pt x="0" y="2594"/>
                </a:moveTo>
                <a:lnTo>
                  <a:pt x="0" y="212"/>
                </a:lnTo>
                <a:cubicBezTo>
                  <a:pt x="0" y="198"/>
                  <a:pt x="1" y="184"/>
                  <a:pt x="3" y="170"/>
                </a:cubicBezTo>
                <a:cubicBezTo>
                  <a:pt x="5" y="157"/>
                  <a:pt x="8" y="143"/>
                  <a:pt x="12" y="131"/>
                </a:cubicBezTo>
                <a:cubicBezTo>
                  <a:pt x="16" y="118"/>
                  <a:pt x="21" y="106"/>
                  <a:pt x="27" y="94"/>
                </a:cubicBezTo>
                <a:cubicBezTo>
                  <a:pt x="33" y="82"/>
                  <a:pt x="39" y="72"/>
                  <a:pt x="47" y="62"/>
                </a:cubicBezTo>
                <a:cubicBezTo>
                  <a:pt x="54" y="52"/>
                  <a:pt x="62" y="43"/>
                  <a:pt x="71" y="36"/>
                </a:cubicBezTo>
                <a:cubicBezTo>
                  <a:pt x="79" y="28"/>
                  <a:pt x="88" y="21"/>
                  <a:pt x="98" y="16"/>
                </a:cubicBezTo>
                <a:cubicBezTo>
                  <a:pt x="108" y="11"/>
                  <a:pt x="118" y="7"/>
                  <a:pt x="128" y="4"/>
                </a:cubicBezTo>
                <a:cubicBezTo>
                  <a:pt x="138" y="1"/>
                  <a:pt x="148" y="0"/>
                  <a:pt x="159" y="0"/>
                </a:cubicBezTo>
                <a:lnTo>
                  <a:pt x="24872" y="0"/>
                </a:lnTo>
                <a:cubicBezTo>
                  <a:pt x="24886" y="0"/>
                  <a:pt x="24900" y="1"/>
                  <a:pt x="24913" y="4"/>
                </a:cubicBezTo>
                <a:cubicBezTo>
                  <a:pt x="24927" y="7"/>
                  <a:pt x="24940" y="11"/>
                  <a:pt x="24953" y="16"/>
                </a:cubicBezTo>
                <a:cubicBezTo>
                  <a:pt x="24966" y="21"/>
                  <a:pt x="24978" y="28"/>
                  <a:pt x="24989" y="36"/>
                </a:cubicBezTo>
                <a:cubicBezTo>
                  <a:pt x="25001" y="43"/>
                  <a:pt x="25012" y="52"/>
                  <a:pt x="25022" y="62"/>
                </a:cubicBezTo>
                <a:cubicBezTo>
                  <a:pt x="25031" y="72"/>
                  <a:pt x="25040" y="82"/>
                  <a:pt x="25048" y="94"/>
                </a:cubicBezTo>
                <a:cubicBezTo>
                  <a:pt x="25056" y="106"/>
                  <a:pt x="25062" y="118"/>
                  <a:pt x="25067" y="131"/>
                </a:cubicBezTo>
                <a:cubicBezTo>
                  <a:pt x="25073" y="143"/>
                  <a:pt x="25077" y="157"/>
                  <a:pt x="25079" y="170"/>
                </a:cubicBezTo>
                <a:cubicBezTo>
                  <a:pt x="25082" y="184"/>
                  <a:pt x="25084" y="198"/>
                  <a:pt x="25084" y="212"/>
                </a:cubicBezTo>
                <a:lnTo>
                  <a:pt x="25084" y="2594"/>
                </a:lnTo>
                <a:cubicBezTo>
                  <a:pt x="25084" y="2608"/>
                  <a:pt x="25082" y="2621"/>
                  <a:pt x="25079" y="2635"/>
                </a:cubicBezTo>
                <a:cubicBezTo>
                  <a:pt x="25077" y="2649"/>
                  <a:pt x="25073" y="2662"/>
                  <a:pt x="25067" y="2675"/>
                </a:cubicBezTo>
                <a:cubicBezTo>
                  <a:pt x="25062" y="2688"/>
                  <a:pt x="25056" y="2700"/>
                  <a:pt x="25048" y="2711"/>
                </a:cubicBezTo>
                <a:cubicBezTo>
                  <a:pt x="25040" y="2723"/>
                  <a:pt x="25031" y="2734"/>
                  <a:pt x="25022" y="2744"/>
                </a:cubicBezTo>
                <a:cubicBezTo>
                  <a:pt x="25012" y="2753"/>
                  <a:pt x="25001" y="2762"/>
                  <a:pt x="24989" y="2770"/>
                </a:cubicBezTo>
                <a:cubicBezTo>
                  <a:pt x="24978" y="2778"/>
                  <a:pt x="24966" y="2784"/>
                  <a:pt x="24953" y="2789"/>
                </a:cubicBezTo>
                <a:cubicBezTo>
                  <a:pt x="24940" y="2795"/>
                  <a:pt x="24927" y="2799"/>
                  <a:pt x="24913" y="2801"/>
                </a:cubicBezTo>
                <a:cubicBezTo>
                  <a:pt x="24900" y="2804"/>
                  <a:pt x="24886" y="2805"/>
                  <a:pt x="24872" y="2805"/>
                </a:cubicBezTo>
                <a:lnTo>
                  <a:pt x="159" y="2805"/>
                </a:lnTo>
                <a:cubicBezTo>
                  <a:pt x="148" y="2805"/>
                  <a:pt x="138" y="2804"/>
                  <a:pt x="128" y="2801"/>
                </a:cubicBezTo>
                <a:cubicBezTo>
                  <a:pt x="118" y="2799"/>
                  <a:pt x="108" y="2795"/>
                  <a:pt x="98" y="2789"/>
                </a:cubicBezTo>
                <a:cubicBezTo>
                  <a:pt x="88" y="2784"/>
                  <a:pt x="79" y="2778"/>
                  <a:pt x="71" y="2770"/>
                </a:cubicBezTo>
                <a:cubicBezTo>
                  <a:pt x="62" y="2762"/>
                  <a:pt x="54" y="2753"/>
                  <a:pt x="47" y="2744"/>
                </a:cubicBezTo>
                <a:cubicBezTo>
                  <a:pt x="39" y="2734"/>
                  <a:pt x="33" y="2723"/>
                  <a:pt x="27" y="2711"/>
                </a:cubicBezTo>
                <a:cubicBezTo>
                  <a:pt x="21" y="2700"/>
                  <a:pt x="16" y="2688"/>
                  <a:pt x="12" y="2675"/>
                </a:cubicBezTo>
                <a:cubicBezTo>
                  <a:pt x="8" y="2662"/>
                  <a:pt x="5" y="2649"/>
                  <a:pt x="3" y="2635"/>
                </a:cubicBezTo>
                <a:cubicBezTo>
                  <a:pt x="1" y="2621"/>
                  <a:pt x="0" y="2608"/>
                  <a:pt x="0" y="2594"/>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96" name="Forma libre: forma 695"/>
          <p:cNvSpPr/>
          <p:nvPr/>
        </p:nvSpPr>
        <p:spPr>
          <a:xfrm>
            <a:off x="1571400" y="2419200"/>
            <a:ext cx="76680" cy="1009800"/>
          </a:xfrm>
          <a:custGeom>
            <a:avLst/>
            <a:gdLst/>
            <a:ahLst/>
            <a:cxnLst/>
            <a:rect l="0" t="0" r="r" b="b"/>
            <a:pathLst>
              <a:path w="213" h="2805">
                <a:moveTo>
                  <a:pt x="0" y="0"/>
                </a:moveTo>
                <a:lnTo>
                  <a:pt x="213" y="0"/>
                </a:lnTo>
                <a:lnTo>
                  <a:pt x="213" y="2805"/>
                </a:lnTo>
                <a:lnTo>
                  <a:pt x="0" y="2805"/>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97" name="Forma libre: forma 696"/>
          <p:cNvSpPr/>
          <p:nvPr/>
        </p:nvSpPr>
        <p:spPr>
          <a:xfrm>
            <a:off x="1590480" y="3657240"/>
            <a:ext cx="9030240" cy="1296000"/>
          </a:xfrm>
          <a:custGeom>
            <a:avLst/>
            <a:gdLst/>
            <a:ahLst/>
            <a:cxnLst/>
            <a:rect l="0" t="0" r="r" b="b"/>
            <a:pathLst>
              <a:path w="25084" h="3600">
                <a:moveTo>
                  <a:pt x="0" y="3388"/>
                </a:moveTo>
                <a:lnTo>
                  <a:pt x="0" y="212"/>
                </a:lnTo>
                <a:cubicBezTo>
                  <a:pt x="0" y="198"/>
                  <a:pt x="1" y="185"/>
                  <a:pt x="3" y="171"/>
                </a:cubicBezTo>
                <a:cubicBezTo>
                  <a:pt x="5" y="157"/>
                  <a:pt x="8" y="144"/>
                  <a:pt x="12" y="131"/>
                </a:cubicBezTo>
                <a:cubicBezTo>
                  <a:pt x="16" y="118"/>
                  <a:pt x="21" y="106"/>
                  <a:pt x="27" y="95"/>
                </a:cubicBezTo>
                <a:cubicBezTo>
                  <a:pt x="33" y="83"/>
                  <a:pt x="39" y="72"/>
                  <a:pt x="47" y="62"/>
                </a:cubicBezTo>
                <a:cubicBezTo>
                  <a:pt x="54" y="53"/>
                  <a:pt x="62" y="44"/>
                  <a:pt x="71" y="36"/>
                </a:cubicBezTo>
                <a:cubicBezTo>
                  <a:pt x="79" y="28"/>
                  <a:pt x="88" y="22"/>
                  <a:pt x="98" y="17"/>
                </a:cubicBezTo>
                <a:cubicBezTo>
                  <a:pt x="108" y="11"/>
                  <a:pt x="118" y="7"/>
                  <a:pt x="128" y="5"/>
                </a:cubicBezTo>
                <a:cubicBezTo>
                  <a:pt x="138" y="2"/>
                  <a:pt x="148" y="0"/>
                  <a:pt x="159" y="0"/>
                </a:cubicBezTo>
                <a:lnTo>
                  <a:pt x="24872" y="0"/>
                </a:lnTo>
                <a:cubicBezTo>
                  <a:pt x="24886" y="0"/>
                  <a:pt x="24900" y="2"/>
                  <a:pt x="24913" y="5"/>
                </a:cubicBezTo>
                <a:cubicBezTo>
                  <a:pt x="24927" y="7"/>
                  <a:pt x="24940" y="11"/>
                  <a:pt x="24953" y="17"/>
                </a:cubicBezTo>
                <a:cubicBezTo>
                  <a:pt x="24966" y="22"/>
                  <a:pt x="24978" y="28"/>
                  <a:pt x="24989" y="36"/>
                </a:cubicBezTo>
                <a:cubicBezTo>
                  <a:pt x="25001" y="44"/>
                  <a:pt x="25012" y="53"/>
                  <a:pt x="25022" y="62"/>
                </a:cubicBezTo>
                <a:cubicBezTo>
                  <a:pt x="25031" y="72"/>
                  <a:pt x="25040" y="83"/>
                  <a:pt x="25048" y="95"/>
                </a:cubicBezTo>
                <a:cubicBezTo>
                  <a:pt x="25056" y="106"/>
                  <a:pt x="25062" y="118"/>
                  <a:pt x="25067" y="131"/>
                </a:cubicBezTo>
                <a:cubicBezTo>
                  <a:pt x="25073" y="144"/>
                  <a:pt x="25077" y="157"/>
                  <a:pt x="25079" y="171"/>
                </a:cubicBezTo>
                <a:cubicBezTo>
                  <a:pt x="25082" y="185"/>
                  <a:pt x="25084" y="198"/>
                  <a:pt x="25084" y="212"/>
                </a:cubicBezTo>
                <a:lnTo>
                  <a:pt x="25084" y="3388"/>
                </a:lnTo>
                <a:cubicBezTo>
                  <a:pt x="25084" y="3402"/>
                  <a:pt x="25082" y="3416"/>
                  <a:pt x="25079" y="3429"/>
                </a:cubicBezTo>
                <a:cubicBezTo>
                  <a:pt x="25077" y="3443"/>
                  <a:pt x="25073" y="3456"/>
                  <a:pt x="25067" y="3469"/>
                </a:cubicBezTo>
                <a:cubicBezTo>
                  <a:pt x="25062" y="3482"/>
                  <a:pt x="25056" y="3494"/>
                  <a:pt x="25048" y="3506"/>
                </a:cubicBezTo>
                <a:cubicBezTo>
                  <a:pt x="25040" y="3517"/>
                  <a:pt x="25031" y="3528"/>
                  <a:pt x="25022" y="3538"/>
                </a:cubicBezTo>
                <a:cubicBezTo>
                  <a:pt x="25012" y="3548"/>
                  <a:pt x="25001" y="3556"/>
                  <a:pt x="24989" y="3564"/>
                </a:cubicBezTo>
                <a:cubicBezTo>
                  <a:pt x="24978" y="3572"/>
                  <a:pt x="24966" y="3578"/>
                  <a:pt x="24953" y="3584"/>
                </a:cubicBezTo>
                <a:cubicBezTo>
                  <a:pt x="24940" y="3589"/>
                  <a:pt x="24927" y="3593"/>
                  <a:pt x="24913" y="3596"/>
                </a:cubicBezTo>
                <a:cubicBezTo>
                  <a:pt x="24900" y="3598"/>
                  <a:pt x="24886" y="3600"/>
                  <a:pt x="24872" y="3600"/>
                </a:cubicBezTo>
                <a:lnTo>
                  <a:pt x="159" y="3600"/>
                </a:lnTo>
                <a:cubicBezTo>
                  <a:pt x="148" y="3600"/>
                  <a:pt x="138" y="3598"/>
                  <a:pt x="128" y="3596"/>
                </a:cubicBezTo>
                <a:cubicBezTo>
                  <a:pt x="118" y="3593"/>
                  <a:pt x="108" y="3589"/>
                  <a:pt x="98" y="3584"/>
                </a:cubicBezTo>
                <a:cubicBezTo>
                  <a:pt x="88" y="3578"/>
                  <a:pt x="79" y="3572"/>
                  <a:pt x="71" y="3564"/>
                </a:cubicBezTo>
                <a:cubicBezTo>
                  <a:pt x="62" y="3556"/>
                  <a:pt x="54" y="3548"/>
                  <a:pt x="47" y="3538"/>
                </a:cubicBezTo>
                <a:cubicBezTo>
                  <a:pt x="39" y="3528"/>
                  <a:pt x="33" y="3517"/>
                  <a:pt x="27" y="3506"/>
                </a:cubicBezTo>
                <a:cubicBezTo>
                  <a:pt x="21" y="3494"/>
                  <a:pt x="16" y="3482"/>
                  <a:pt x="12" y="3469"/>
                </a:cubicBezTo>
                <a:cubicBezTo>
                  <a:pt x="8" y="3456"/>
                  <a:pt x="5" y="3443"/>
                  <a:pt x="3" y="3429"/>
                </a:cubicBezTo>
                <a:cubicBezTo>
                  <a:pt x="1" y="3416"/>
                  <a:pt x="0" y="3402"/>
                  <a:pt x="0" y="3388"/>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698" name="Forma libre: forma 697"/>
          <p:cNvSpPr/>
          <p:nvPr/>
        </p:nvSpPr>
        <p:spPr>
          <a:xfrm>
            <a:off x="1571400" y="3657240"/>
            <a:ext cx="76680" cy="1296000"/>
          </a:xfrm>
          <a:custGeom>
            <a:avLst/>
            <a:gdLst/>
            <a:ahLst/>
            <a:cxnLst/>
            <a:rect l="0" t="0" r="r" b="b"/>
            <a:pathLst>
              <a:path w="213" h="3600">
                <a:moveTo>
                  <a:pt x="0" y="0"/>
                </a:moveTo>
                <a:lnTo>
                  <a:pt x="213" y="0"/>
                </a:lnTo>
                <a:lnTo>
                  <a:pt x="213" y="3600"/>
                </a:lnTo>
                <a:lnTo>
                  <a:pt x="0" y="3600"/>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699" name="CuadroTexto 698"/>
          <p:cNvSpPr txBox="1"/>
          <p:nvPr/>
        </p:nvSpPr>
        <p:spPr>
          <a:xfrm>
            <a:off x="571320" y="569160"/>
            <a:ext cx="408852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Diferencia entre equals y "=="</a:t>
            </a:r>
            <a:endParaRPr lang="en-US" sz="2700" b="0" u="none" strike="noStrike">
              <a:solidFill>
                <a:srgbClr val="000000"/>
              </a:solidFill>
              <a:effectLst/>
              <a:uFillTx/>
              <a:latin typeface="Times New Roman"/>
            </a:endParaRPr>
          </a:p>
        </p:txBody>
      </p:sp>
      <p:sp>
        <p:nvSpPr>
          <p:cNvPr id="700" name="CuadroTexto 699"/>
          <p:cNvSpPr txBox="1"/>
          <p:nvPr/>
        </p:nvSpPr>
        <p:spPr>
          <a:xfrm>
            <a:off x="1704240" y="1620000"/>
            <a:ext cx="881892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En general, los operadores equals() y "==" en Java se usan para comparar objetos para verificar la igualdad, pero aquí</a:t>
            </a:r>
            <a:endParaRPr lang="en-US" sz="1500" b="0" u="none" strike="noStrike">
              <a:solidFill>
                <a:srgbClr val="000000"/>
              </a:solidFill>
              <a:effectLst/>
              <a:uFillTx/>
              <a:latin typeface="Times New Roman"/>
            </a:endParaRPr>
          </a:p>
        </p:txBody>
      </p:sp>
      <p:sp>
        <p:nvSpPr>
          <p:cNvPr id="701" name="Forma libre: forma 700"/>
          <p:cNvSpPr/>
          <p:nvPr/>
        </p:nvSpPr>
        <p:spPr>
          <a:xfrm>
            <a:off x="1838160" y="2647800"/>
            <a:ext cx="457560" cy="457560"/>
          </a:xfrm>
          <a:custGeom>
            <a:avLst/>
            <a:gdLst/>
            <a:ahLst/>
            <a:cxnLst/>
            <a:rect l="0" t="0" r="r" b="b"/>
            <a:pathLst>
              <a:path w="1271" h="1271">
                <a:moveTo>
                  <a:pt x="0" y="1059"/>
                </a:moveTo>
                <a:lnTo>
                  <a:pt x="0" y="212"/>
                </a:lnTo>
                <a:cubicBezTo>
                  <a:pt x="0" y="198"/>
                  <a:pt x="1" y="184"/>
                  <a:pt x="4" y="170"/>
                </a:cubicBezTo>
                <a:cubicBezTo>
                  <a:pt x="7" y="157"/>
                  <a:pt x="11" y="143"/>
                  <a:pt x="16" y="131"/>
                </a:cubicBezTo>
                <a:cubicBezTo>
                  <a:pt x="21" y="118"/>
                  <a:pt x="28" y="106"/>
                  <a:pt x="36" y="94"/>
                </a:cubicBezTo>
                <a:cubicBezTo>
                  <a:pt x="43" y="82"/>
                  <a:pt x="52" y="72"/>
                  <a:pt x="62" y="62"/>
                </a:cubicBezTo>
                <a:cubicBezTo>
                  <a:pt x="72" y="52"/>
                  <a:pt x="82" y="43"/>
                  <a:pt x="94" y="36"/>
                </a:cubicBezTo>
                <a:cubicBezTo>
                  <a:pt x="106" y="28"/>
                  <a:pt x="118" y="21"/>
                  <a:pt x="131" y="16"/>
                </a:cubicBezTo>
                <a:cubicBezTo>
                  <a:pt x="143" y="11"/>
                  <a:pt x="157" y="7"/>
                  <a:pt x="170" y="4"/>
                </a:cubicBezTo>
                <a:cubicBezTo>
                  <a:pt x="184" y="1"/>
                  <a:pt x="198" y="0"/>
                  <a:pt x="212" y="0"/>
                </a:cubicBezTo>
                <a:lnTo>
                  <a:pt x="1059" y="0"/>
                </a:lnTo>
                <a:cubicBezTo>
                  <a:pt x="1073" y="0"/>
                  <a:pt x="1087" y="1"/>
                  <a:pt x="1101" y="4"/>
                </a:cubicBezTo>
                <a:cubicBezTo>
                  <a:pt x="1114" y="7"/>
                  <a:pt x="1127" y="11"/>
                  <a:pt x="1140" y="16"/>
                </a:cubicBezTo>
                <a:cubicBezTo>
                  <a:pt x="1153" y="21"/>
                  <a:pt x="1165" y="28"/>
                  <a:pt x="1177" y="36"/>
                </a:cubicBezTo>
                <a:cubicBezTo>
                  <a:pt x="1188" y="43"/>
                  <a:pt x="1199" y="52"/>
                  <a:pt x="1209" y="62"/>
                </a:cubicBezTo>
                <a:cubicBezTo>
                  <a:pt x="1219" y="72"/>
                  <a:pt x="1228" y="82"/>
                  <a:pt x="1235" y="94"/>
                </a:cubicBezTo>
                <a:cubicBezTo>
                  <a:pt x="1243" y="106"/>
                  <a:pt x="1250" y="118"/>
                  <a:pt x="1255" y="131"/>
                </a:cubicBezTo>
                <a:cubicBezTo>
                  <a:pt x="1260" y="143"/>
                  <a:pt x="1264" y="157"/>
                  <a:pt x="1267" y="170"/>
                </a:cubicBezTo>
                <a:cubicBezTo>
                  <a:pt x="1270" y="184"/>
                  <a:pt x="1271" y="198"/>
                  <a:pt x="1271" y="212"/>
                </a:cubicBezTo>
                <a:lnTo>
                  <a:pt x="1271" y="1059"/>
                </a:lnTo>
                <a:cubicBezTo>
                  <a:pt x="1271" y="1073"/>
                  <a:pt x="1270" y="1087"/>
                  <a:pt x="1267" y="1101"/>
                </a:cubicBezTo>
                <a:cubicBezTo>
                  <a:pt x="1264" y="1114"/>
                  <a:pt x="1260" y="1127"/>
                  <a:pt x="1255" y="1140"/>
                </a:cubicBezTo>
                <a:cubicBezTo>
                  <a:pt x="1250" y="1153"/>
                  <a:pt x="1243" y="1165"/>
                  <a:pt x="1235" y="1177"/>
                </a:cubicBezTo>
                <a:cubicBezTo>
                  <a:pt x="1228" y="1188"/>
                  <a:pt x="1219" y="1199"/>
                  <a:pt x="1209" y="1209"/>
                </a:cubicBezTo>
                <a:cubicBezTo>
                  <a:pt x="1199" y="1219"/>
                  <a:pt x="1188" y="1228"/>
                  <a:pt x="1177" y="1235"/>
                </a:cubicBezTo>
                <a:cubicBezTo>
                  <a:pt x="1165" y="1243"/>
                  <a:pt x="1153" y="1249"/>
                  <a:pt x="1140" y="1255"/>
                </a:cubicBezTo>
                <a:cubicBezTo>
                  <a:pt x="1127" y="1260"/>
                  <a:pt x="1114" y="1264"/>
                  <a:pt x="1101" y="1267"/>
                </a:cubicBezTo>
                <a:cubicBezTo>
                  <a:pt x="1087" y="1270"/>
                  <a:pt x="1073" y="1271"/>
                  <a:pt x="1059" y="1271"/>
                </a:cubicBezTo>
                <a:lnTo>
                  <a:pt x="212" y="1271"/>
                </a:lnTo>
                <a:cubicBezTo>
                  <a:pt x="198" y="1271"/>
                  <a:pt x="184" y="1270"/>
                  <a:pt x="170" y="1267"/>
                </a:cubicBezTo>
                <a:cubicBezTo>
                  <a:pt x="157" y="1264"/>
                  <a:pt x="143" y="1260"/>
                  <a:pt x="131" y="1255"/>
                </a:cubicBezTo>
                <a:cubicBezTo>
                  <a:pt x="118" y="1249"/>
                  <a:pt x="106" y="1243"/>
                  <a:pt x="94" y="1235"/>
                </a:cubicBezTo>
                <a:cubicBezTo>
                  <a:pt x="82" y="1228"/>
                  <a:pt x="72" y="1219"/>
                  <a:pt x="62" y="1209"/>
                </a:cubicBezTo>
                <a:cubicBezTo>
                  <a:pt x="52" y="1199"/>
                  <a:pt x="43" y="1188"/>
                  <a:pt x="36" y="1177"/>
                </a:cubicBezTo>
                <a:cubicBezTo>
                  <a:pt x="28" y="1165"/>
                  <a:pt x="21" y="1153"/>
                  <a:pt x="16" y="1140"/>
                </a:cubicBezTo>
                <a:cubicBezTo>
                  <a:pt x="11" y="1127"/>
                  <a:pt x="7" y="1114"/>
                  <a:pt x="4" y="1101"/>
                </a:cubicBezTo>
                <a:cubicBezTo>
                  <a:pt x="1" y="1087"/>
                  <a:pt x="0" y="1073"/>
                  <a:pt x="0" y="1059"/>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02" name="CuadroTexto 701"/>
          <p:cNvSpPr txBox="1"/>
          <p:nvPr/>
        </p:nvSpPr>
        <p:spPr>
          <a:xfrm>
            <a:off x="4455720" y="1924920"/>
            <a:ext cx="329148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hay algunas de las diferencias entre los dos:</a:t>
            </a:r>
            <a:endParaRPr lang="en-US" sz="1500" b="0" u="none" strike="noStrike">
              <a:solidFill>
                <a:srgbClr val="000000"/>
              </a:solidFill>
              <a:effectLst/>
              <a:uFillTx/>
              <a:latin typeface="Times New Roman"/>
            </a:endParaRPr>
          </a:p>
        </p:txBody>
      </p:sp>
      <p:sp>
        <p:nvSpPr>
          <p:cNvPr id="703" name="CuadroTexto 702"/>
          <p:cNvSpPr txBox="1"/>
          <p:nvPr/>
        </p:nvSpPr>
        <p:spPr>
          <a:xfrm>
            <a:off x="2023920" y="2747880"/>
            <a:ext cx="228240" cy="253440"/>
          </a:xfrm>
          <a:prstGeom prst="rect">
            <a:avLst/>
          </a:prstGeom>
          <a:noFill/>
          <a:ln w="0">
            <a:noFill/>
          </a:ln>
        </p:spPr>
        <p:txBody>
          <a:bodyPr wrap="none" lIns="0" tIns="0" rIns="0" bIns="0" anchor="t">
            <a:spAutoFit/>
          </a:bodyPr>
          <a:lstStyle/>
          <a:p>
            <a:r>
              <a:rPr lang="en-US" sz="1800" b="0" u="none" strike="noStrike">
                <a:solidFill>
                  <a:srgbClr val="FFFFFF"/>
                </a:solidFill>
                <a:effectLst/>
                <a:uFillTx/>
                <a:latin typeface="CrimsonPro"/>
                <a:ea typeface="CrimsonPro"/>
              </a:rPr>
              <a:t>1</a:t>
            </a:r>
            <a:endParaRPr lang="en-US" sz="1800" b="0" u="none" strike="noStrike">
              <a:solidFill>
                <a:srgbClr val="000000"/>
              </a:solidFill>
              <a:effectLst/>
              <a:uFillTx/>
              <a:latin typeface="Times New Roman"/>
            </a:endParaRPr>
          </a:p>
        </p:txBody>
      </p:sp>
      <p:sp>
        <p:nvSpPr>
          <p:cNvPr id="704" name="CuadroTexto 703"/>
          <p:cNvSpPr txBox="1"/>
          <p:nvPr/>
        </p:nvSpPr>
        <p:spPr>
          <a:xfrm>
            <a:off x="2448000" y="2684880"/>
            <a:ext cx="7801920" cy="189360"/>
          </a:xfrm>
          <a:prstGeom prst="rect">
            <a:avLst/>
          </a:prstGeom>
          <a:noFill/>
          <a:ln w="0">
            <a:noFill/>
          </a:ln>
        </p:spPr>
        <p:txBody>
          <a:bodyPr wrap="none" lIns="0" tIns="0" rIns="0" bIns="0" anchor="t">
            <a:spAutoFit/>
          </a:bodyPr>
          <a:lstStyle/>
          <a:p>
            <a:r>
              <a:rPr lang="en-US" sz="1350" b="0" u="none" strike="noStrike" dirty="0">
                <a:solidFill>
                  <a:srgbClr val="666666"/>
                </a:solidFill>
                <a:effectLst/>
                <a:uFillTx/>
                <a:latin typeface="CrimsonPro"/>
                <a:ea typeface="CrimsonPro"/>
              </a:rPr>
              <a:t>La principal </a:t>
            </a:r>
            <a:r>
              <a:rPr lang="en-US" sz="1350" b="0" u="none" strike="noStrike" dirty="0" err="1">
                <a:solidFill>
                  <a:srgbClr val="666666"/>
                </a:solidFill>
                <a:effectLst/>
                <a:uFillTx/>
                <a:latin typeface="CrimsonPro"/>
                <a:ea typeface="CrimsonPro"/>
              </a:rPr>
              <a:t>diferencia</a:t>
            </a:r>
            <a:r>
              <a:rPr lang="en-US" sz="1350" b="0" u="none" strike="noStrike" dirty="0">
                <a:solidFill>
                  <a:srgbClr val="666666"/>
                </a:solidFill>
                <a:effectLst/>
                <a:uFillTx/>
                <a:latin typeface="CrimsonPro"/>
                <a:ea typeface="CrimsonPro"/>
              </a:rPr>
              <a:t> entre </a:t>
            </a:r>
            <a:r>
              <a:rPr lang="en-US" sz="1350" b="0" u="none" strike="noStrike" dirty="0" err="1">
                <a:solidFill>
                  <a:srgbClr val="666666"/>
                </a:solidFill>
                <a:effectLst/>
                <a:uFillTx/>
                <a:latin typeface="CrimsonPro"/>
                <a:ea typeface="CrimsonPro"/>
              </a:rPr>
              <a:t>el</a:t>
            </a:r>
            <a:r>
              <a:rPr lang="en-US" sz="1350" b="0" u="none" strike="noStrike" dirty="0">
                <a:solidFill>
                  <a:srgbClr val="666666"/>
                </a:solidFill>
                <a:effectLst/>
                <a:uFillTx/>
                <a:latin typeface="CrimsonPro"/>
                <a:ea typeface="CrimsonPro"/>
              </a:rPr>
              <a:t> </a:t>
            </a:r>
            <a:r>
              <a:rPr lang="en-US" sz="1350" b="0" u="none" strike="noStrike" dirty="0" err="1">
                <a:solidFill>
                  <a:srgbClr val="666666"/>
                </a:solidFill>
                <a:effectLst/>
                <a:uFillTx/>
                <a:latin typeface="CrimsonPro"/>
                <a:ea typeface="CrimsonPro"/>
              </a:rPr>
              <a:t>método</a:t>
            </a:r>
            <a:r>
              <a:rPr lang="en-US" sz="1350" b="0" u="none" strike="noStrike" dirty="0">
                <a:solidFill>
                  <a:srgbClr val="666666"/>
                </a:solidFill>
                <a:effectLst/>
                <a:uFillTx/>
                <a:latin typeface="CrimsonPro"/>
                <a:ea typeface="CrimsonPro"/>
              </a:rPr>
              <a:t> </a:t>
            </a:r>
            <a:r>
              <a:rPr lang="en-US" sz="1350" b="0" u="none" strike="noStrike" dirty="0">
                <a:solidFill>
                  <a:srgbClr val="000000"/>
                </a:solidFill>
                <a:effectLst/>
                <a:uFillTx/>
                <a:latin typeface="CrimsonPro"/>
                <a:ea typeface="CrimsonPro"/>
              </a:rPr>
              <a:t>.equals()</a:t>
            </a:r>
            <a:r>
              <a:rPr lang="en-US" sz="1350" b="0" u="none" strike="noStrike" dirty="0">
                <a:solidFill>
                  <a:srgbClr val="666666"/>
                </a:solidFill>
                <a:effectLst/>
                <a:uFillTx/>
                <a:latin typeface="CrimsonPro"/>
                <a:ea typeface="CrimsonPro"/>
              </a:rPr>
              <a:t> y </a:t>
            </a:r>
            <a:r>
              <a:rPr lang="en-US" sz="1350" b="0" u="none" strike="noStrike" dirty="0" err="1">
                <a:solidFill>
                  <a:srgbClr val="666666"/>
                </a:solidFill>
                <a:effectLst/>
                <a:uFillTx/>
                <a:latin typeface="CrimsonPro"/>
                <a:ea typeface="CrimsonPro"/>
              </a:rPr>
              <a:t>el</a:t>
            </a:r>
            <a:r>
              <a:rPr lang="en-US" sz="1350" b="0" u="none" strike="noStrike" dirty="0">
                <a:solidFill>
                  <a:srgbClr val="666666"/>
                </a:solidFill>
                <a:effectLst/>
                <a:uFillTx/>
                <a:latin typeface="CrimsonPro"/>
                <a:ea typeface="CrimsonPro"/>
              </a:rPr>
              <a:t> </a:t>
            </a:r>
            <a:r>
              <a:rPr lang="en-US" sz="1350" b="0" u="none" strike="noStrike" dirty="0" err="1">
                <a:solidFill>
                  <a:srgbClr val="666666"/>
                </a:solidFill>
                <a:effectLst/>
                <a:uFillTx/>
                <a:latin typeface="CrimsonPro"/>
                <a:ea typeface="CrimsonPro"/>
              </a:rPr>
              <a:t>operador</a:t>
            </a:r>
            <a:r>
              <a:rPr lang="en-US" sz="1350" b="0" u="none" strike="noStrike" dirty="0">
                <a:solidFill>
                  <a:srgbClr val="666666"/>
                </a:solidFill>
                <a:effectLst/>
                <a:uFillTx/>
                <a:latin typeface="CrimsonPro"/>
                <a:ea typeface="CrimsonPro"/>
              </a:rPr>
              <a:t> </a:t>
            </a:r>
            <a:r>
              <a:rPr lang="en-US" sz="1350" b="0" u="none" strike="noStrike" dirty="0">
                <a:solidFill>
                  <a:srgbClr val="000000"/>
                </a:solidFill>
                <a:effectLst/>
                <a:uFillTx/>
                <a:latin typeface="CrimsonPro"/>
                <a:ea typeface="CrimsonPro"/>
              </a:rPr>
              <a:t>==</a:t>
            </a:r>
            <a:r>
              <a:rPr lang="en-US" sz="1350" b="0" u="none" strike="noStrike" dirty="0">
                <a:solidFill>
                  <a:srgbClr val="666666"/>
                </a:solidFill>
                <a:effectLst/>
                <a:uFillTx/>
                <a:latin typeface="CrimsonPro"/>
                <a:ea typeface="CrimsonPro"/>
              </a:rPr>
              <a:t> es </a:t>
            </a:r>
            <a:r>
              <a:rPr lang="en-US" sz="1350" b="0" u="none" strike="noStrike" dirty="0" err="1">
                <a:solidFill>
                  <a:srgbClr val="666666"/>
                </a:solidFill>
                <a:effectLst/>
                <a:uFillTx/>
                <a:latin typeface="CrimsonPro"/>
                <a:ea typeface="CrimsonPro"/>
              </a:rPr>
              <a:t>que</a:t>
            </a:r>
            <a:r>
              <a:rPr lang="en-US" sz="1350" b="0" u="none" strike="noStrike" dirty="0">
                <a:solidFill>
                  <a:srgbClr val="666666"/>
                </a:solidFill>
                <a:effectLst/>
                <a:uFillTx/>
                <a:latin typeface="CrimsonPro"/>
                <a:ea typeface="CrimsonPro"/>
              </a:rPr>
              <a:t> uno </a:t>
            </a:r>
            <a:r>
              <a:rPr lang="en-US" sz="1350" b="0" u="none" strike="noStrike" dirty="0" err="1">
                <a:solidFill>
                  <a:srgbClr val="666666"/>
                </a:solidFill>
                <a:effectLst/>
                <a:uFillTx/>
                <a:latin typeface="CrimsonPro"/>
                <a:ea typeface="CrimsonPro"/>
              </a:rPr>
              <a:t>aplica</a:t>
            </a:r>
            <a:r>
              <a:rPr lang="en-US" sz="1350" b="0" u="none" strike="noStrike" dirty="0">
                <a:solidFill>
                  <a:srgbClr val="666666"/>
                </a:solidFill>
                <a:effectLst/>
                <a:uFillTx/>
                <a:latin typeface="CrimsonPro"/>
                <a:ea typeface="CrimsonPro"/>
              </a:rPr>
              <a:t> para </a:t>
            </a:r>
            <a:r>
              <a:rPr lang="en-US" sz="1350" b="0" u="none" strike="noStrike" dirty="0" err="1">
                <a:solidFill>
                  <a:srgbClr val="666666"/>
                </a:solidFill>
                <a:effectLst/>
                <a:uFillTx/>
                <a:latin typeface="CrimsonPro"/>
                <a:ea typeface="CrimsonPro"/>
              </a:rPr>
              <a:t>objetos</a:t>
            </a:r>
            <a:r>
              <a:rPr lang="en-US" sz="1350" b="0" u="none" strike="noStrike" dirty="0">
                <a:solidFill>
                  <a:srgbClr val="666666"/>
                </a:solidFill>
                <a:effectLst/>
                <a:uFillTx/>
                <a:latin typeface="CrimsonPro"/>
                <a:ea typeface="CrimsonPro"/>
              </a:rPr>
              <a:t> y variables y </a:t>
            </a:r>
            <a:r>
              <a:rPr lang="en-US" sz="1350" b="0" u="none" strike="noStrike" dirty="0" err="1">
                <a:solidFill>
                  <a:srgbClr val="666666"/>
                </a:solidFill>
                <a:effectLst/>
                <a:uFillTx/>
                <a:latin typeface="CrimsonPro"/>
                <a:ea typeface="CrimsonPro"/>
              </a:rPr>
              <a:t>el</a:t>
            </a:r>
            <a:r>
              <a:rPr lang="en-US" sz="1350" b="0" u="none" strike="noStrike" dirty="0">
                <a:solidFill>
                  <a:srgbClr val="666666"/>
                </a:solidFill>
                <a:effectLst/>
                <a:uFillTx/>
                <a:latin typeface="CrimsonPro"/>
                <a:ea typeface="CrimsonPro"/>
              </a:rPr>
              <a:t> </a:t>
            </a:r>
            <a:r>
              <a:rPr lang="en-US" sz="1350" b="0" u="none" strike="noStrike" dirty="0" err="1">
                <a:solidFill>
                  <a:srgbClr val="666666"/>
                </a:solidFill>
                <a:effectLst/>
                <a:uFillTx/>
                <a:latin typeface="CrimsonPro"/>
                <a:ea typeface="CrimsonPro"/>
              </a:rPr>
              <a:t>otro</a:t>
            </a:r>
            <a:endParaRPr lang="en-US" sz="1350" b="0" u="none" strike="noStrike" dirty="0">
              <a:solidFill>
                <a:srgbClr val="000000"/>
              </a:solidFill>
              <a:effectLst/>
              <a:uFillTx/>
              <a:latin typeface="Times New Roman"/>
            </a:endParaRPr>
          </a:p>
        </p:txBody>
      </p:sp>
      <p:sp>
        <p:nvSpPr>
          <p:cNvPr id="705" name="Forma libre: forma 704"/>
          <p:cNvSpPr/>
          <p:nvPr/>
        </p:nvSpPr>
        <p:spPr>
          <a:xfrm>
            <a:off x="1838160" y="3885840"/>
            <a:ext cx="457560" cy="457560"/>
          </a:xfrm>
          <a:custGeom>
            <a:avLst/>
            <a:gdLst/>
            <a:ahLst/>
            <a:cxnLst/>
            <a:rect l="0" t="0" r="r" b="b"/>
            <a:pathLst>
              <a:path w="1271" h="1271">
                <a:moveTo>
                  <a:pt x="0" y="1059"/>
                </a:moveTo>
                <a:lnTo>
                  <a:pt x="0" y="212"/>
                </a:lnTo>
                <a:cubicBezTo>
                  <a:pt x="0" y="198"/>
                  <a:pt x="1" y="185"/>
                  <a:pt x="4" y="171"/>
                </a:cubicBezTo>
                <a:cubicBezTo>
                  <a:pt x="7" y="157"/>
                  <a:pt x="11" y="144"/>
                  <a:pt x="16" y="131"/>
                </a:cubicBezTo>
                <a:cubicBezTo>
                  <a:pt x="21" y="118"/>
                  <a:pt x="28" y="106"/>
                  <a:pt x="36" y="95"/>
                </a:cubicBezTo>
                <a:cubicBezTo>
                  <a:pt x="43" y="83"/>
                  <a:pt x="52" y="72"/>
                  <a:pt x="62" y="62"/>
                </a:cubicBezTo>
                <a:cubicBezTo>
                  <a:pt x="72" y="53"/>
                  <a:pt x="82" y="44"/>
                  <a:pt x="94" y="36"/>
                </a:cubicBezTo>
                <a:cubicBezTo>
                  <a:pt x="106" y="28"/>
                  <a:pt x="118" y="22"/>
                  <a:pt x="131" y="17"/>
                </a:cubicBezTo>
                <a:cubicBezTo>
                  <a:pt x="143" y="11"/>
                  <a:pt x="157" y="7"/>
                  <a:pt x="170" y="5"/>
                </a:cubicBezTo>
                <a:cubicBezTo>
                  <a:pt x="184" y="2"/>
                  <a:pt x="198" y="0"/>
                  <a:pt x="212" y="0"/>
                </a:cubicBezTo>
                <a:lnTo>
                  <a:pt x="1059" y="0"/>
                </a:lnTo>
                <a:cubicBezTo>
                  <a:pt x="1073" y="0"/>
                  <a:pt x="1087" y="2"/>
                  <a:pt x="1101" y="5"/>
                </a:cubicBezTo>
                <a:cubicBezTo>
                  <a:pt x="1114" y="7"/>
                  <a:pt x="1127" y="11"/>
                  <a:pt x="1140" y="17"/>
                </a:cubicBezTo>
                <a:cubicBezTo>
                  <a:pt x="1153" y="22"/>
                  <a:pt x="1165" y="28"/>
                  <a:pt x="1177" y="36"/>
                </a:cubicBezTo>
                <a:cubicBezTo>
                  <a:pt x="1188" y="44"/>
                  <a:pt x="1199" y="53"/>
                  <a:pt x="1209" y="62"/>
                </a:cubicBezTo>
                <a:cubicBezTo>
                  <a:pt x="1219" y="72"/>
                  <a:pt x="1228" y="83"/>
                  <a:pt x="1235" y="95"/>
                </a:cubicBezTo>
                <a:cubicBezTo>
                  <a:pt x="1243" y="106"/>
                  <a:pt x="1250" y="118"/>
                  <a:pt x="1255" y="131"/>
                </a:cubicBezTo>
                <a:cubicBezTo>
                  <a:pt x="1260" y="144"/>
                  <a:pt x="1264" y="157"/>
                  <a:pt x="1267" y="171"/>
                </a:cubicBezTo>
                <a:cubicBezTo>
                  <a:pt x="1270" y="185"/>
                  <a:pt x="1271" y="198"/>
                  <a:pt x="1271" y="212"/>
                </a:cubicBezTo>
                <a:lnTo>
                  <a:pt x="1271" y="1059"/>
                </a:lnTo>
                <a:cubicBezTo>
                  <a:pt x="1271" y="1073"/>
                  <a:pt x="1270" y="1086"/>
                  <a:pt x="1267" y="1100"/>
                </a:cubicBezTo>
                <a:cubicBezTo>
                  <a:pt x="1264" y="1114"/>
                  <a:pt x="1260" y="1127"/>
                  <a:pt x="1255" y="1140"/>
                </a:cubicBezTo>
                <a:cubicBezTo>
                  <a:pt x="1250" y="1153"/>
                  <a:pt x="1243" y="1165"/>
                  <a:pt x="1235" y="1176"/>
                </a:cubicBezTo>
                <a:cubicBezTo>
                  <a:pt x="1228" y="1188"/>
                  <a:pt x="1219" y="1199"/>
                  <a:pt x="1209" y="1209"/>
                </a:cubicBezTo>
                <a:cubicBezTo>
                  <a:pt x="1199" y="1218"/>
                  <a:pt x="1188" y="1227"/>
                  <a:pt x="1177" y="1235"/>
                </a:cubicBezTo>
                <a:cubicBezTo>
                  <a:pt x="1165" y="1243"/>
                  <a:pt x="1153" y="1249"/>
                  <a:pt x="1140" y="1254"/>
                </a:cubicBezTo>
                <a:cubicBezTo>
                  <a:pt x="1127" y="1260"/>
                  <a:pt x="1114" y="1265"/>
                  <a:pt x="1101" y="1267"/>
                </a:cubicBezTo>
                <a:cubicBezTo>
                  <a:pt x="1087" y="1270"/>
                  <a:pt x="1073" y="1271"/>
                  <a:pt x="1059" y="1271"/>
                </a:cubicBezTo>
                <a:lnTo>
                  <a:pt x="212" y="1271"/>
                </a:lnTo>
                <a:cubicBezTo>
                  <a:pt x="198" y="1271"/>
                  <a:pt x="184" y="1270"/>
                  <a:pt x="170" y="1267"/>
                </a:cubicBezTo>
                <a:cubicBezTo>
                  <a:pt x="157" y="1265"/>
                  <a:pt x="143" y="1260"/>
                  <a:pt x="131" y="1254"/>
                </a:cubicBezTo>
                <a:cubicBezTo>
                  <a:pt x="118" y="1249"/>
                  <a:pt x="106" y="1243"/>
                  <a:pt x="94" y="1235"/>
                </a:cubicBezTo>
                <a:cubicBezTo>
                  <a:pt x="82" y="1227"/>
                  <a:pt x="72" y="1218"/>
                  <a:pt x="62" y="1209"/>
                </a:cubicBezTo>
                <a:cubicBezTo>
                  <a:pt x="52" y="1199"/>
                  <a:pt x="43" y="1188"/>
                  <a:pt x="36" y="1176"/>
                </a:cubicBezTo>
                <a:cubicBezTo>
                  <a:pt x="28" y="1165"/>
                  <a:pt x="21" y="1153"/>
                  <a:pt x="16" y="1140"/>
                </a:cubicBezTo>
                <a:cubicBezTo>
                  <a:pt x="11" y="1127"/>
                  <a:pt x="7" y="1114"/>
                  <a:pt x="4" y="1100"/>
                </a:cubicBezTo>
                <a:cubicBezTo>
                  <a:pt x="1" y="1086"/>
                  <a:pt x="0" y="1073"/>
                  <a:pt x="0" y="1059"/>
                </a:cubicBez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06" name="CuadroTexto 705"/>
          <p:cNvSpPr txBox="1"/>
          <p:nvPr/>
        </p:nvSpPr>
        <p:spPr>
          <a:xfrm>
            <a:off x="2448000" y="2961000"/>
            <a:ext cx="106344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sobre variables.</a:t>
            </a:r>
            <a:endParaRPr lang="en-US" sz="1350" b="0" u="none" strike="noStrike">
              <a:solidFill>
                <a:srgbClr val="000000"/>
              </a:solidFill>
              <a:effectLst/>
              <a:uFillTx/>
              <a:latin typeface="Times New Roman"/>
            </a:endParaRPr>
          </a:p>
        </p:txBody>
      </p:sp>
      <p:sp>
        <p:nvSpPr>
          <p:cNvPr id="707" name="CuadroTexto 706"/>
          <p:cNvSpPr txBox="1"/>
          <p:nvPr/>
        </p:nvSpPr>
        <p:spPr>
          <a:xfrm>
            <a:off x="2008440" y="3986280"/>
            <a:ext cx="228240" cy="253440"/>
          </a:xfrm>
          <a:prstGeom prst="rect">
            <a:avLst/>
          </a:prstGeom>
          <a:noFill/>
          <a:ln w="0">
            <a:noFill/>
          </a:ln>
        </p:spPr>
        <p:txBody>
          <a:bodyPr wrap="none" lIns="0" tIns="0" rIns="0" bIns="0" anchor="t">
            <a:spAutoFit/>
          </a:bodyPr>
          <a:lstStyle/>
          <a:p>
            <a:r>
              <a:rPr lang="en-US" sz="1800" b="0" u="none" strike="noStrike">
                <a:solidFill>
                  <a:srgbClr val="FFFFFF"/>
                </a:solidFill>
                <a:effectLst/>
                <a:uFillTx/>
                <a:latin typeface="CrimsonPro"/>
                <a:ea typeface="CrimsonPro"/>
              </a:rPr>
              <a:t>2</a:t>
            </a:r>
            <a:endParaRPr lang="en-US" sz="1800" b="0" u="none" strike="noStrike">
              <a:solidFill>
                <a:srgbClr val="000000"/>
              </a:solidFill>
              <a:effectLst/>
              <a:uFillTx/>
              <a:latin typeface="Times New Roman"/>
            </a:endParaRPr>
          </a:p>
        </p:txBody>
      </p:sp>
      <p:sp>
        <p:nvSpPr>
          <p:cNvPr id="708" name="CuadroTexto 707"/>
          <p:cNvSpPr txBox="1"/>
          <p:nvPr/>
        </p:nvSpPr>
        <p:spPr>
          <a:xfrm>
            <a:off x="2448000" y="3922920"/>
            <a:ext cx="744624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Se puede usar los operadores </a:t>
            </a:r>
            <a:r>
              <a:rPr lang="en-US" sz="1350" b="0" u="none" strike="noStrike">
                <a:solidFill>
                  <a:srgbClr val="000000"/>
                </a:solidFill>
                <a:effectLst/>
                <a:uFillTx/>
                <a:latin typeface="CrimsonPro"/>
                <a:ea typeface="CrimsonPro"/>
              </a:rPr>
              <a:t>==</a:t>
            </a:r>
            <a:r>
              <a:rPr lang="en-US" sz="1350" b="0" u="none" strike="noStrike">
                <a:solidFill>
                  <a:srgbClr val="666666"/>
                </a:solidFill>
                <a:effectLst/>
                <a:uFillTx/>
                <a:latin typeface="CrimsonPro"/>
                <a:ea typeface="CrimsonPro"/>
              </a:rPr>
              <a:t> para la comparación de referencias (comparación de direcciones) y el método</a:t>
            </a:r>
            <a:endParaRPr lang="en-US" sz="1350" b="0" u="none" strike="noStrike">
              <a:solidFill>
                <a:srgbClr val="000000"/>
              </a:solidFill>
              <a:effectLst/>
              <a:uFillTx/>
              <a:latin typeface="Times New Roman"/>
            </a:endParaRPr>
          </a:p>
        </p:txBody>
      </p:sp>
      <p:sp>
        <p:nvSpPr>
          <p:cNvPr id="709" name="CuadroTexto 708"/>
          <p:cNvSpPr txBox="1"/>
          <p:nvPr/>
        </p:nvSpPr>
        <p:spPr>
          <a:xfrm>
            <a:off x="2448000" y="4208760"/>
            <a:ext cx="746964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.equals()</a:t>
            </a:r>
            <a:r>
              <a:rPr lang="en-US" sz="1350" b="0" u="none" strike="noStrike">
                <a:solidFill>
                  <a:srgbClr val="666666"/>
                </a:solidFill>
                <a:effectLst/>
                <a:uFillTx/>
                <a:latin typeface="CrimsonPro"/>
                <a:ea typeface="CrimsonPro"/>
              </a:rPr>
              <a:t> para la comparación de contenido. En palabras simples, </a:t>
            </a:r>
            <a:r>
              <a:rPr lang="en-US" sz="1350" b="0" u="none" strike="noStrike">
                <a:solidFill>
                  <a:srgbClr val="000000"/>
                </a:solidFill>
                <a:effectLst/>
                <a:uFillTx/>
                <a:latin typeface="CrimsonPro"/>
                <a:ea typeface="CrimsonPro"/>
              </a:rPr>
              <a:t>==</a:t>
            </a:r>
            <a:r>
              <a:rPr lang="en-US" sz="1350" b="0" u="none" strike="noStrike">
                <a:solidFill>
                  <a:srgbClr val="666666"/>
                </a:solidFill>
                <a:effectLst/>
                <a:uFillTx/>
                <a:latin typeface="CrimsonPro"/>
                <a:ea typeface="CrimsonPro"/>
              </a:rPr>
              <a:t> comprueba si ambos objetos apuntan a la</a:t>
            </a:r>
            <a:endParaRPr lang="en-US" sz="1350" b="0" u="none" strike="noStrike">
              <a:solidFill>
                <a:srgbClr val="000000"/>
              </a:solidFill>
              <a:effectLst/>
              <a:uFillTx/>
              <a:latin typeface="Times New Roman"/>
            </a:endParaRPr>
          </a:p>
        </p:txBody>
      </p:sp>
      <p:sp>
        <p:nvSpPr>
          <p:cNvPr id="710" name="CuadroTexto 709"/>
          <p:cNvSpPr txBox="1"/>
          <p:nvPr/>
        </p:nvSpPr>
        <p:spPr>
          <a:xfrm>
            <a:off x="2448000" y="4484880"/>
            <a:ext cx="684756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misma ubicación de memoria, mientras que </a:t>
            </a:r>
            <a:r>
              <a:rPr lang="en-US" sz="1350" b="0" u="none" strike="noStrike">
                <a:solidFill>
                  <a:srgbClr val="000000"/>
                </a:solidFill>
                <a:effectLst/>
                <a:uFillTx/>
                <a:latin typeface="CrimsonPro"/>
                <a:ea typeface="CrimsonPro"/>
              </a:rPr>
              <a:t>equals()</a:t>
            </a:r>
            <a:r>
              <a:rPr lang="en-US" sz="1350" b="0" u="none" strike="noStrike">
                <a:solidFill>
                  <a:srgbClr val="666666"/>
                </a:solidFill>
                <a:effectLst/>
                <a:uFillTx/>
                <a:latin typeface="CrimsonPro"/>
                <a:ea typeface="CrimsonPro"/>
              </a:rPr>
              <a:t> evalúa la comparación de valores en los objetos.</a:t>
            </a:r>
            <a:endParaRPr lang="en-US" sz="1350" b="0" u="none" strike="noStrike">
              <a:solidFill>
                <a:srgbClr val="000000"/>
              </a:solidFill>
              <a:effectLst/>
              <a:uFillTx/>
              <a:latin typeface="Times New Roman"/>
            </a:endParaRPr>
          </a:p>
        </p:txBody>
      </p:sp>
      <p:sp>
        <p:nvSpPr>
          <p:cNvPr id="711" name="Forma libre: forma 710"/>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12" name="CuadroTexto 711"/>
          <p:cNvSpPr txBox="1"/>
          <p:nvPr/>
        </p:nvSpPr>
        <p:spPr>
          <a:xfrm>
            <a:off x="5138280" y="5281200"/>
            <a:ext cx="191520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campusmvp.es</a:t>
            </a:r>
            <a:endParaRPr lang="en-US" sz="1050" b="0" u="none" strike="noStrike">
              <a:solidFill>
                <a:srgbClr val="000000"/>
              </a:solidFill>
              <a:effectLst/>
              <a:uFillTx/>
              <a:latin typeface="Times New Roman"/>
            </a:endParaRPr>
          </a:p>
        </p:txBody>
      </p:sp>
      <p:sp>
        <p:nvSpPr>
          <p:cNvPr id="713" name="CuadroTexto 712"/>
          <p:cNvSpPr txBox="1"/>
          <p:nvPr/>
        </p:nvSpPr>
        <p:spPr>
          <a:xfrm>
            <a:off x="571320" y="60832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714" name="CuadroTexto 713"/>
          <p:cNvSpPr txBox="1"/>
          <p:nvPr/>
        </p:nvSpPr>
        <p:spPr>
          <a:xfrm>
            <a:off x="11470320" y="60832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29</a:t>
            </a:r>
            <a:endParaRPr lang="en-US" sz="1200" b="0" u="none" strike="noStrike">
              <a:solidFill>
                <a:srgbClr val="000000"/>
              </a:solidFill>
              <a:effectLst/>
              <a:uFillTx/>
              <a:latin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 name="Forma libre: forma 716"/>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18" name="CuadroTexto 717"/>
          <p:cNvSpPr txBox="1"/>
          <p:nvPr/>
        </p:nvSpPr>
        <p:spPr>
          <a:xfrm>
            <a:off x="571320" y="569160"/>
            <a:ext cx="408852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Diferencia entre equals y "=="</a:t>
            </a:r>
            <a:endParaRPr lang="en-US" sz="2700" b="0" u="none" strike="noStrike">
              <a:solidFill>
                <a:srgbClr val="000000"/>
              </a:solidFill>
              <a:effectLst/>
              <a:uFillTx/>
              <a:latin typeface="Times New Roman"/>
            </a:endParaRPr>
          </a:p>
        </p:txBody>
      </p:sp>
      <p:pic>
        <p:nvPicPr>
          <p:cNvPr id="719" name="Imagen 718"/>
          <p:cNvPicPr/>
          <p:nvPr/>
        </p:nvPicPr>
        <p:blipFill>
          <a:blip r:embed="rId2"/>
          <a:stretch/>
        </p:blipFill>
        <p:spPr>
          <a:xfrm>
            <a:off x="1809720" y="2809800"/>
            <a:ext cx="8572320" cy="1933200"/>
          </a:xfrm>
          <a:prstGeom prst="rect">
            <a:avLst/>
          </a:prstGeom>
          <a:noFill/>
          <a:ln w="0">
            <a:noFill/>
          </a:ln>
        </p:spPr>
      </p:pic>
      <p:sp>
        <p:nvSpPr>
          <p:cNvPr id="720" name="Forma libre: forma 719"/>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21" name="CuadroTexto 720"/>
          <p:cNvSpPr txBox="1"/>
          <p:nvPr/>
        </p:nvSpPr>
        <p:spPr>
          <a:xfrm>
            <a:off x="4625270" y="2155275"/>
            <a:ext cx="3001399" cy="276999"/>
          </a:xfrm>
          <a:prstGeom prst="rect">
            <a:avLst/>
          </a:prstGeom>
          <a:noFill/>
          <a:ln w="0">
            <a:noFill/>
          </a:ln>
        </p:spPr>
        <p:txBody>
          <a:bodyPr wrap="none" lIns="0" tIns="0" rIns="0" bIns="0" anchor="t">
            <a:spAutoFit/>
          </a:bodyPr>
          <a:lstStyle/>
          <a:p>
            <a:r>
              <a:rPr lang="en-US" b="1" u="none" strike="noStrike" dirty="0" err="1">
                <a:solidFill>
                  <a:srgbClr val="666666"/>
                </a:solidFill>
                <a:effectLst/>
                <a:uFillTx/>
                <a:latin typeface="CrimsonPro"/>
                <a:ea typeface="CrimsonPro"/>
              </a:rPr>
              <a:t>Ejemplo</a:t>
            </a:r>
            <a:r>
              <a:rPr lang="en-US" b="1" u="none" strike="noStrike" dirty="0">
                <a:solidFill>
                  <a:srgbClr val="666666"/>
                </a:solidFill>
                <a:effectLst/>
                <a:uFillTx/>
                <a:latin typeface="CrimsonPro"/>
                <a:ea typeface="CrimsonPro"/>
              </a:rPr>
              <a:t> </a:t>
            </a:r>
            <a:r>
              <a:rPr lang="en-US" b="1" u="none" strike="noStrike" dirty="0" err="1">
                <a:solidFill>
                  <a:srgbClr val="666666"/>
                </a:solidFill>
                <a:effectLst/>
                <a:uFillTx/>
                <a:latin typeface="CrimsonPro"/>
                <a:ea typeface="CrimsonPro"/>
              </a:rPr>
              <a:t>comparativo</a:t>
            </a:r>
            <a:r>
              <a:rPr lang="en-US" b="1" u="none" strike="noStrike" dirty="0">
                <a:solidFill>
                  <a:srgbClr val="666666"/>
                </a:solidFill>
                <a:effectLst/>
                <a:uFillTx/>
                <a:latin typeface="CrimsonPro"/>
                <a:ea typeface="CrimsonPro"/>
              </a:rPr>
              <a:t> de </a:t>
            </a:r>
            <a:r>
              <a:rPr lang="en-US" b="1" u="none" strike="noStrike" dirty="0" err="1">
                <a:solidFill>
                  <a:srgbClr val="666666"/>
                </a:solidFill>
                <a:effectLst/>
                <a:uFillTx/>
                <a:latin typeface="CrimsonPro"/>
                <a:ea typeface="CrimsonPro"/>
              </a:rPr>
              <a:t>código</a:t>
            </a:r>
            <a:endParaRPr lang="en-US" b="1" u="none" strike="noStrike" dirty="0">
              <a:solidFill>
                <a:srgbClr val="000000"/>
              </a:solidFill>
              <a:effectLst/>
              <a:uFillTx/>
              <a:latin typeface="Times New Roman"/>
            </a:endParaRPr>
          </a:p>
        </p:txBody>
      </p:sp>
      <p:sp>
        <p:nvSpPr>
          <p:cNvPr id="722" name="CuadroTexto 721"/>
          <p:cNvSpPr txBox="1"/>
          <p:nvPr/>
        </p:nvSpPr>
        <p:spPr>
          <a:xfrm>
            <a:off x="571320" y="6083280"/>
            <a:ext cx="162360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Tomado de campusmvp.es</a:t>
            </a:r>
            <a:endParaRPr lang="en-US" sz="1200" b="0" u="none" strike="noStrike">
              <a:solidFill>
                <a:srgbClr val="000000"/>
              </a:solidFill>
              <a:effectLst/>
              <a:uFillTx/>
              <a:latin typeface="Times New Roman"/>
            </a:endParaRPr>
          </a:p>
        </p:txBody>
      </p:sp>
      <p:sp>
        <p:nvSpPr>
          <p:cNvPr id="723" name="CuadroTexto 722"/>
          <p:cNvSpPr txBox="1"/>
          <p:nvPr/>
        </p:nvSpPr>
        <p:spPr>
          <a:xfrm>
            <a:off x="11462040" y="6083280"/>
            <a:ext cx="1591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30</a:t>
            </a:r>
            <a:endParaRPr lang="en-US" sz="1200" b="0" u="none" strike="noStrike">
              <a:solidFill>
                <a:srgbClr val="000000"/>
              </a:solidFill>
              <a:effectLst/>
              <a:uFillTx/>
              <a:latin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 name="Forma libre: forma 725"/>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27" name="Forma libre: forma 726"/>
          <p:cNvSpPr/>
          <p:nvPr/>
        </p:nvSpPr>
        <p:spPr>
          <a:xfrm>
            <a:off x="1828440" y="2247840"/>
            <a:ext cx="8553960" cy="2305440"/>
          </a:xfrm>
          <a:custGeom>
            <a:avLst/>
            <a:gdLst/>
            <a:ahLst/>
            <a:cxnLst/>
            <a:rect l="0" t="0" r="r" b="b"/>
            <a:pathLst>
              <a:path w="23761" h="6404">
                <a:moveTo>
                  <a:pt x="0" y="5980"/>
                </a:moveTo>
                <a:lnTo>
                  <a:pt x="0" y="423"/>
                </a:lnTo>
                <a:cubicBezTo>
                  <a:pt x="0" y="395"/>
                  <a:pt x="3" y="368"/>
                  <a:pt x="8" y="340"/>
                </a:cubicBezTo>
                <a:cubicBezTo>
                  <a:pt x="12" y="313"/>
                  <a:pt x="19" y="287"/>
                  <a:pt x="29" y="261"/>
                </a:cubicBezTo>
                <a:cubicBezTo>
                  <a:pt x="38" y="235"/>
                  <a:pt x="49" y="211"/>
                  <a:pt x="63" y="188"/>
                </a:cubicBezTo>
                <a:cubicBezTo>
                  <a:pt x="76" y="165"/>
                  <a:pt x="92" y="143"/>
                  <a:pt x="109" y="124"/>
                </a:cubicBezTo>
                <a:cubicBezTo>
                  <a:pt x="126" y="104"/>
                  <a:pt x="145" y="86"/>
                  <a:pt x="165" y="71"/>
                </a:cubicBezTo>
                <a:cubicBezTo>
                  <a:pt x="185" y="56"/>
                  <a:pt x="207" y="43"/>
                  <a:pt x="229" y="32"/>
                </a:cubicBezTo>
                <a:cubicBezTo>
                  <a:pt x="252" y="21"/>
                  <a:pt x="275" y="13"/>
                  <a:pt x="299" y="8"/>
                </a:cubicBezTo>
                <a:cubicBezTo>
                  <a:pt x="323" y="2"/>
                  <a:pt x="347" y="0"/>
                  <a:pt x="371" y="0"/>
                </a:cubicBezTo>
                <a:lnTo>
                  <a:pt x="23338" y="0"/>
                </a:lnTo>
                <a:cubicBezTo>
                  <a:pt x="23366" y="0"/>
                  <a:pt x="23393" y="2"/>
                  <a:pt x="23420" y="8"/>
                </a:cubicBezTo>
                <a:cubicBezTo>
                  <a:pt x="23448" y="13"/>
                  <a:pt x="23474" y="21"/>
                  <a:pt x="23500" y="32"/>
                </a:cubicBezTo>
                <a:cubicBezTo>
                  <a:pt x="23525" y="43"/>
                  <a:pt x="23550" y="56"/>
                  <a:pt x="23573" y="71"/>
                </a:cubicBezTo>
                <a:cubicBezTo>
                  <a:pt x="23596" y="86"/>
                  <a:pt x="23617" y="104"/>
                  <a:pt x="23637" y="124"/>
                </a:cubicBezTo>
                <a:cubicBezTo>
                  <a:pt x="23657" y="143"/>
                  <a:pt x="23674" y="165"/>
                  <a:pt x="23690" y="188"/>
                </a:cubicBezTo>
                <a:cubicBezTo>
                  <a:pt x="23705" y="211"/>
                  <a:pt x="23718" y="235"/>
                  <a:pt x="23729" y="261"/>
                </a:cubicBezTo>
                <a:cubicBezTo>
                  <a:pt x="23739" y="287"/>
                  <a:pt x="23748" y="313"/>
                  <a:pt x="23753" y="340"/>
                </a:cubicBezTo>
                <a:cubicBezTo>
                  <a:pt x="23758" y="368"/>
                  <a:pt x="23761" y="395"/>
                  <a:pt x="23761" y="423"/>
                </a:cubicBezTo>
                <a:lnTo>
                  <a:pt x="23761" y="5980"/>
                </a:lnTo>
                <a:cubicBezTo>
                  <a:pt x="23761" y="6008"/>
                  <a:pt x="23758" y="6036"/>
                  <a:pt x="23753" y="6063"/>
                </a:cubicBezTo>
                <a:cubicBezTo>
                  <a:pt x="23748" y="6090"/>
                  <a:pt x="23739" y="6117"/>
                  <a:pt x="23729" y="6142"/>
                </a:cubicBezTo>
                <a:cubicBezTo>
                  <a:pt x="23718" y="6168"/>
                  <a:pt x="23705" y="6192"/>
                  <a:pt x="23690" y="6215"/>
                </a:cubicBezTo>
                <a:cubicBezTo>
                  <a:pt x="23674" y="6239"/>
                  <a:pt x="23657" y="6260"/>
                  <a:pt x="23637" y="6280"/>
                </a:cubicBezTo>
                <a:cubicBezTo>
                  <a:pt x="23617" y="6299"/>
                  <a:pt x="23596" y="6317"/>
                  <a:pt x="23573" y="6332"/>
                </a:cubicBezTo>
                <a:cubicBezTo>
                  <a:pt x="23550" y="6348"/>
                  <a:pt x="23525" y="6361"/>
                  <a:pt x="23500" y="6371"/>
                </a:cubicBezTo>
                <a:cubicBezTo>
                  <a:pt x="23474" y="6382"/>
                  <a:pt x="23448" y="6390"/>
                  <a:pt x="23420" y="6395"/>
                </a:cubicBezTo>
                <a:cubicBezTo>
                  <a:pt x="23393" y="6401"/>
                  <a:pt x="23366" y="6404"/>
                  <a:pt x="23338" y="6404"/>
                </a:cubicBezTo>
                <a:lnTo>
                  <a:pt x="371" y="6404"/>
                </a:lnTo>
                <a:cubicBezTo>
                  <a:pt x="347" y="6404"/>
                  <a:pt x="323" y="6401"/>
                  <a:pt x="299" y="6395"/>
                </a:cubicBezTo>
                <a:cubicBezTo>
                  <a:pt x="275" y="6390"/>
                  <a:pt x="252" y="6382"/>
                  <a:pt x="229" y="6371"/>
                </a:cubicBezTo>
                <a:cubicBezTo>
                  <a:pt x="207" y="6361"/>
                  <a:pt x="185" y="6348"/>
                  <a:pt x="165" y="6332"/>
                </a:cubicBezTo>
                <a:cubicBezTo>
                  <a:pt x="145" y="6317"/>
                  <a:pt x="126" y="6299"/>
                  <a:pt x="109" y="6280"/>
                </a:cubicBezTo>
                <a:cubicBezTo>
                  <a:pt x="92" y="6260"/>
                  <a:pt x="76" y="6239"/>
                  <a:pt x="63" y="6215"/>
                </a:cubicBezTo>
                <a:cubicBezTo>
                  <a:pt x="49" y="6192"/>
                  <a:pt x="38" y="6168"/>
                  <a:pt x="29" y="6142"/>
                </a:cubicBezTo>
                <a:cubicBezTo>
                  <a:pt x="19" y="6117"/>
                  <a:pt x="12" y="6090"/>
                  <a:pt x="8" y="6063"/>
                </a:cubicBezTo>
                <a:cubicBezTo>
                  <a:pt x="3" y="6036"/>
                  <a:pt x="0" y="6008"/>
                  <a:pt x="0" y="5980"/>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28" name="Forma libre: forma 727"/>
          <p:cNvSpPr/>
          <p:nvPr/>
        </p:nvSpPr>
        <p:spPr>
          <a:xfrm>
            <a:off x="1809720" y="2247840"/>
            <a:ext cx="152640" cy="2305440"/>
          </a:xfrm>
          <a:custGeom>
            <a:avLst/>
            <a:gdLst/>
            <a:ahLst/>
            <a:cxnLst/>
            <a:rect l="0" t="0" r="r" b="b"/>
            <a:pathLst>
              <a:path w="424" h="6404">
                <a:moveTo>
                  <a:pt x="0" y="0"/>
                </a:moveTo>
                <a:lnTo>
                  <a:pt x="424" y="0"/>
                </a:lnTo>
                <a:lnTo>
                  <a:pt x="424" y="6404"/>
                </a:lnTo>
                <a:lnTo>
                  <a:pt x="0" y="640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29" name="Forma libre: forma 728"/>
          <p:cNvSpPr/>
          <p:nvPr/>
        </p:nvSpPr>
        <p:spPr>
          <a:xfrm>
            <a:off x="1809720" y="4857480"/>
            <a:ext cx="8572680" cy="1333800"/>
          </a:xfrm>
          <a:custGeom>
            <a:avLst/>
            <a:gdLst/>
            <a:ahLst/>
            <a:cxnLst/>
            <a:rect l="0" t="0" r="r" b="b"/>
            <a:pathLst>
              <a:path w="23813" h="3705">
                <a:moveTo>
                  <a:pt x="0" y="3282"/>
                </a:moveTo>
                <a:lnTo>
                  <a:pt x="0" y="424"/>
                </a:lnTo>
                <a:cubicBezTo>
                  <a:pt x="0" y="396"/>
                  <a:pt x="2" y="368"/>
                  <a:pt x="8" y="341"/>
                </a:cubicBezTo>
                <a:cubicBezTo>
                  <a:pt x="13" y="314"/>
                  <a:pt x="21" y="287"/>
                  <a:pt x="32" y="262"/>
                </a:cubicBezTo>
                <a:cubicBezTo>
                  <a:pt x="42" y="236"/>
                  <a:pt x="55" y="212"/>
                  <a:pt x="71" y="188"/>
                </a:cubicBezTo>
                <a:cubicBezTo>
                  <a:pt x="86" y="165"/>
                  <a:pt x="104" y="144"/>
                  <a:pt x="124" y="124"/>
                </a:cubicBezTo>
                <a:cubicBezTo>
                  <a:pt x="143" y="105"/>
                  <a:pt x="165" y="87"/>
                  <a:pt x="188" y="72"/>
                </a:cubicBezTo>
                <a:cubicBezTo>
                  <a:pt x="211" y="56"/>
                  <a:pt x="235" y="43"/>
                  <a:pt x="261" y="32"/>
                </a:cubicBezTo>
                <a:cubicBezTo>
                  <a:pt x="287" y="22"/>
                  <a:pt x="313" y="14"/>
                  <a:pt x="340" y="8"/>
                </a:cubicBezTo>
                <a:cubicBezTo>
                  <a:pt x="368" y="3"/>
                  <a:pt x="395" y="0"/>
                  <a:pt x="423" y="0"/>
                </a:cubicBezTo>
                <a:lnTo>
                  <a:pt x="23390" y="0"/>
                </a:lnTo>
                <a:cubicBezTo>
                  <a:pt x="23418" y="0"/>
                  <a:pt x="23445" y="3"/>
                  <a:pt x="23472" y="8"/>
                </a:cubicBezTo>
                <a:cubicBezTo>
                  <a:pt x="23500" y="14"/>
                  <a:pt x="23526" y="22"/>
                  <a:pt x="23552" y="32"/>
                </a:cubicBezTo>
                <a:cubicBezTo>
                  <a:pt x="23577" y="43"/>
                  <a:pt x="23602" y="56"/>
                  <a:pt x="23625" y="72"/>
                </a:cubicBezTo>
                <a:cubicBezTo>
                  <a:pt x="23648" y="87"/>
                  <a:pt x="23669" y="105"/>
                  <a:pt x="23689" y="124"/>
                </a:cubicBezTo>
                <a:cubicBezTo>
                  <a:pt x="23709" y="144"/>
                  <a:pt x="23726" y="165"/>
                  <a:pt x="23742" y="188"/>
                </a:cubicBezTo>
                <a:cubicBezTo>
                  <a:pt x="23757" y="212"/>
                  <a:pt x="23770" y="236"/>
                  <a:pt x="23781" y="262"/>
                </a:cubicBezTo>
                <a:cubicBezTo>
                  <a:pt x="23791" y="287"/>
                  <a:pt x="23800" y="314"/>
                  <a:pt x="23805" y="341"/>
                </a:cubicBezTo>
                <a:cubicBezTo>
                  <a:pt x="23810" y="368"/>
                  <a:pt x="23813" y="396"/>
                  <a:pt x="23813" y="424"/>
                </a:cubicBezTo>
                <a:lnTo>
                  <a:pt x="23813" y="3282"/>
                </a:lnTo>
                <a:cubicBezTo>
                  <a:pt x="23813" y="3310"/>
                  <a:pt x="23810" y="3337"/>
                  <a:pt x="23805" y="3365"/>
                </a:cubicBezTo>
                <a:cubicBezTo>
                  <a:pt x="23800" y="3392"/>
                  <a:pt x="23791" y="3418"/>
                  <a:pt x="23781" y="3444"/>
                </a:cubicBezTo>
                <a:cubicBezTo>
                  <a:pt x="23770" y="3470"/>
                  <a:pt x="23757" y="3494"/>
                  <a:pt x="23742" y="3517"/>
                </a:cubicBezTo>
                <a:cubicBezTo>
                  <a:pt x="23726" y="3540"/>
                  <a:pt x="23709" y="3562"/>
                  <a:pt x="23689" y="3581"/>
                </a:cubicBezTo>
                <a:cubicBezTo>
                  <a:pt x="23669" y="3601"/>
                  <a:pt x="23648" y="3619"/>
                  <a:pt x="23625" y="3634"/>
                </a:cubicBezTo>
                <a:cubicBezTo>
                  <a:pt x="23602" y="3650"/>
                  <a:pt x="23577" y="3663"/>
                  <a:pt x="23552" y="3673"/>
                </a:cubicBezTo>
                <a:cubicBezTo>
                  <a:pt x="23526" y="3684"/>
                  <a:pt x="23500" y="3692"/>
                  <a:pt x="23472" y="3697"/>
                </a:cubicBezTo>
                <a:cubicBezTo>
                  <a:pt x="23445" y="3703"/>
                  <a:pt x="23418" y="3705"/>
                  <a:pt x="23390" y="3705"/>
                </a:cubicBezTo>
                <a:lnTo>
                  <a:pt x="423" y="3705"/>
                </a:lnTo>
                <a:cubicBezTo>
                  <a:pt x="395" y="3705"/>
                  <a:pt x="368" y="3703"/>
                  <a:pt x="340" y="3697"/>
                </a:cubicBezTo>
                <a:cubicBezTo>
                  <a:pt x="313" y="3692"/>
                  <a:pt x="287" y="3684"/>
                  <a:pt x="261" y="3673"/>
                </a:cubicBezTo>
                <a:cubicBezTo>
                  <a:pt x="235" y="3663"/>
                  <a:pt x="211" y="3650"/>
                  <a:pt x="188" y="3634"/>
                </a:cubicBezTo>
                <a:cubicBezTo>
                  <a:pt x="165" y="3619"/>
                  <a:pt x="143" y="3601"/>
                  <a:pt x="124" y="3581"/>
                </a:cubicBezTo>
                <a:cubicBezTo>
                  <a:pt x="104" y="3562"/>
                  <a:pt x="86" y="3540"/>
                  <a:pt x="71" y="3517"/>
                </a:cubicBezTo>
                <a:cubicBezTo>
                  <a:pt x="55" y="3494"/>
                  <a:pt x="42" y="3470"/>
                  <a:pt x="32" y="3444"/>
                </a:cubicBezTo>
                <a:cubicBezTo>
                  <a:pt x="21" y="3418"/>
                  <a:pt x="13" y="3392"/>
                  <a:pt x="8" y="3365"/>
                </a:cubicBezTo>
                <a:cubicBezTo>
                  <a:pt x="2" y="3337"/>
                  <a:pt x="0" y="3310"/>
                  <a:pt x="0" y="3282"/>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30" name="CuadroTexto 729"/>
          <p:cNvSpPr txBox="1"/>
          <p:nvPr/>
        </p:nvSpPr>
        <p:spPr>
          <a:xfrm>
            <a:off x="571320" y="569160"/>
            <a:ext cx="8877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Bucles</a:t>
            </a:r>
            <a:endParaRPr lang="en-US" sz="2700" b="0" u="none" strike="noStrike">
              <a:solidFill>
                <a:srgbClr val="000000"/>
              </a:solidFill>
              <a:effectLst/>
              <a:uFillTx/>
              <a:latin typeface="Times New Roman"/>
            </a:endParaRPr>
          </a:p>
        </p:txBody>
      </p:sp>
      <p:sp>
        <p:nvSpPr>
          <p:cNvPr id="731" name="CuadroTexto 730"/>
          <p:cNvSpPr txBox="1"/>
          <p:nvPr/>
        </p:nvSpPr>
        <p:spPr>
          <a:xfrm>
            <a:off x="5160600" y="1225440"/>
            <a:ext cx="1742760" cy="169560"/>
          </a:xfrm>
          <a:prstGeom prst="rect">
            <a:avLst/>
          </a:prstGeom>
          <a:noFill/>
          <a:ln w="0">
            <a:noFill/>
          </a:ln>
        </p:spPr>
        <p:txBody>
          <a:bodyPr wrap="none" lIns="0" tIns="0" rIns="0" bIns="0" anchor="t">
            <a:spAutoFit/>
          </a:bodyPr>
          <a:lstStyle/>
          <a:p>
            <a:r>
              <a:rPr lang="en-US" sz="1200" b="0" u="none" strike="noStrike">
                <a:solidFill>
                  <a:srgbClr val="DA7756"/>
                </a:solidFill>
                <a:effectLst/>
                <a:uFillTx/>
                <a:latin typeface="CrimsonPro"/>
                <a:ea typeface="CrimsonPro"/>
              </a:rPr>
              <a:t>ESTRUCTURA DE CONTROL</a:t>
            </a:r>
            <a:endParaRPr lang="en-US" sz="1200" b="0" u="none" strike="noStrike">
              <a:solidFill>
                <a:srgbClr val="000000"/>
              </a:solidFill>
              <a:effectLst/>
              <a:uFillTx/>
              <a:latin typeface="Times New Roman"/>
            </a:endParaRPr>
          </a:p>
        </p:txBody>
      </p:sp>
      <p:sp>
        <p:nvSpPr>
          <p:cNvPr id="732" name="CuadroTexto 731"/>
          <p:cNvSpPr txBox="1"/>
          <p:nvPr/>
        </p:nvSpPr>
        <p:spPr>
          <a:xfrm>
            <a:off x="4878000" y="1601280"/>
            <a:ext cx="2311560" cy="318960"/>
          </a:xfrm>
          <a:prstGeom prst="rect">
            <a:avLst/>
          </a:prstGeom>
          <a:noFill/>
          <a:ln w="0">
            <a:noFill/>
          </a:ln>
        </p:spPr>
        <p:txBody>
          <a:bodyPr wrap="none" lIns="0" tIns="0" rIns="0" bIns="0" anchor="t">
            <a:spAutoFit/>
          </a:bodyPr>
          <a:lstStyle/>
          <a:p>
            <a:r>
              <a:rPr lang="en-US" sz="2250" b="0" u="none" strike="noStrike">
                <a:solidFill>
                  <a:srgbClr val="000000"/>
                </a:solidFill>
                <a:effectLst/>
                <a:uFillTx/>
                <a:latin typeface="CrimsonPro"/>
                <a:ea typeface="CrimsonPro"/>
              </a:rPr>
              <a:t>¿Qué son los Bucles?</a:t>
            </a:r>
            <a:endParaRPr lang="en-US" sz="2250" b="0" u="none" strike="noStrike">
              <a:solidFill>
                <a:srgbClr val="000000"/>
              </a:solidFill>
              <a:effectLst/>
              <a:uFillTx/>
              <a:latin typeface="Times New Roman"/>
            </a:endParaRPr>
          </a:p>
        </p:txBody>
      </p:sp>
      <p:sp>
        <p:nvSpPr>
          <p:cNvPr id="733" name="CuadroTexto 732"/>
          <p:cNvSpPr txBox="1"/>
          <p:nvPr/>
        </p:nvSpPr>
        <p:spPr>
          <a:xfrm>
            <a:off x="2152800" y="2601000"/>
            <a:ext cx="717696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Los bucles son una </a:t>
            </a:r>
            <a:r>
              <a:rPr lang="en-US" sz="1500" b="0" u="none" strike="noStrike">
                <a:solidFill>
                  <a:srgbClr val="000000"/>
                </a:solidFill>
                <a:effectLst/>
                <a:uFillTx/>
                <a:latin typeface="CrimsonPro"/>
                <a:ea typeface="CrimsonPro"/>
              </a:rPr>
              <a:t>estructura de control de total importancia</a:t>
            </a:r>
            <a:r>
              <a:rPr lang="en-US" sz="1500" b="0" u="none" strike="noStrike">
                <a:solidFill>
                  <a:srgbClr val="666666"/>
                </a:solidFill>
                <a:effectLst/>
                <a:uFillTx/>
                <a:latin typeface="CrimsonPro"/>
                <a:ea typeface="CrimsonPro"/>
              </a:rPr>
              <a:t> para el proceso de creación de un</a:t>
            </a:r>
            <a:endParaRPr lang="en-US" sz="1500" b="0" u="none" strike="noStrike">
              <a:solidFill>
                <a:srgbClr val="000000"/>
              </a:solidFill>
              <a:effectLst/>
              <a:uFillTx/>
              <a:latin typeface="Times New Roman"/>
            </a:endParaRPr>
          </a:p>
        </p:txBody>
      </p:sp>
      <p:sp>
        <p:nvSpPr>
          <p:cNvPr id="734" name="CuadroTexto 733"/>
          <p:cNvSpPr txBox="1"/>
          <p:nvPr/>
        </p:nvSpPr>
        <p:spPr>
          <a:xfrm>
            <a:off x="2152800" y="2905920"/>
            <a:ext cx="777672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programa. Java y prácticamente todos los lenguajes más populares de la actualidad permiten hacer uso</a:t>
            </a:r>
            <a:endParaRPr lang="en-US" sz="1500" b="0" u="none" strike="noStrike">
              <a:solidFill>
                <a:srgbClr val="000000"/>
              </a:solidFill>
              <a:effectLst/>
              <a:uFillTx/>
              <a:latin typeface="Times New Roman"/>
            </a:endParaRPr>
          </a:p>
        </p:txBody>
      </p:sp>
      <p:sp>
        <p:nvSpPr>
          <p:cNvPr id="735" name="CuadroTexto 734"/>
          <p:cNvSpPr txBox="1"/>
          <p:nvPr/>
        </p:nvSpPr>
        <p:spPr>
          <a:xfrm>
            <a:off x="2152800" y="3220200"/>
            <a:ext cx="154836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de estas estructuras.</a:t>
            </a:r>
            <a:endParaRPr lang="en-US" sz="1500" b="0" u="none" strike="noStrike">
              <a:solidFill>
                <a:srgbClr val="000000"/>
              </a:solidFill>
              <a:effectLst/>
              <a:uFillTx/>
              <a:latin typeface="Times New Roman"/>
            </a:endParaRPr>
          </a:p>
        </p:txBody>
      </p:sp>
      <p:sp>
        <p:nvSpPr>
          <p:cNvPr id="736" name="CuadroTexto 735"/>
          <p:cNvSpPr txBox="1"/>
          <p:nvPr/>
        </p:nvSpPr>
        <p:spPr>
          <a:xfrm>
            <a:off x="2152800" y="3677400"/>
            <a:ext cx="758376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Un ciclo en Java permite </a:t>
            </a:r>
            <a:r>
              <a:rPr lang="en-US" sz="1500" b="0" u="none" strike="noStrike">
                <a:solidFill>
                  <a:srgbClr val="000000"/>
                </a:solidFill>
                <a:effectLst/>
                <a:uFillTx/>
                <a:latin typeface="CrimsonPro"/>
                <a:ea typeface="CrimsonPro"/>
              </a:rPr>
              <a:t>repetir una o varias instrucciones cuantas veces sea necesario</a:t>
            </a:r>
            <a:r>
              <a:rPr lang="en-US" sz="1500" b="0" u="none" strike="noStrike">
                <a:solidFill>
                  <a:srgbClr val="666666"/>
                </a:solidFill>
                <a:effectLst/>
                <a:uFillTx/>
                <a:latin typeface="CrimsonPro"/>
                <a:ea typeface="CrimsonPro"/>
              </a:rPr>
              <a:t>, facilitando la</a:t>
            </a:r>
            <a:endParaRPr lang="en-US" sz="1500" b="0" u="none" strike="noStrike">
              <a:solidFill>
                <a:srgbClr val="000000"/>
              </a:solidFill>
              <a:effectLst/>
              <a:uFillTx/>
              <a:latin typeface="Times New Roman"/>
            </a:endParaRPr>
          </a:p>
        </p:txBody>
      </p:sp>
      <p:sp>
        <p:nvSpPr>
          <p:cNvPr id="737" name="CuadroTexto 736"/>
          <p:cNvSpPr txBox="1"/>
          <p:nvPr/>
        </p:nvSpPr>
        <p:spPr>
          <a:xfrm>
            <a:off x="2152800" y="3991680"/>
            <a:ext cx="385452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ejecución de tareas repetitivas de manera eficiente.</a:t>
            </a:r>
            <a:endParaRPr lang="en-US" sz="1500" b="0" u="none" strike="noStrike">
              <a:solidFill>
                <a:srgbClr val="000000"/>
              </a:solidFill>
              <a:effectLst/>
              <a:uFillTx/>
              <a:latin typeface="Times New Roman"/>
            </a:endParaRPr>
          </a:p>
        </p:txBody>
      </p:sp>
      <p:sp>
        <p:nvSpPr>
          <p:cNvPr id="738" name="CuadroTexto 737"/>
          <p:cNvSpPr txBox="1"/>
          <p:nvPr/>
        </p:nvSpPr>
        <p:spPr>
          <a:xfrm>
            <a:off x="2038320" y="5123160"/>
            <a:ext cx="1151640" cy="189360"/>
          </a:xfrm>
          <a:prstGeom prst="rect">
            <a:avLst/>
          </a:prstGeom>
          <a:noFill/>
          <a:ln w="0">
            <a:noFill/>
          </a:ln>
        </p:spPr>
        <p:txBody>
          <a:bodyPr wrap="none" lIns="0" tIns="0" rIns="0" bIns="0" anchor="t">
            <a:spAutoFit/>
          </a:bodyPr>
          <a:lstStyle/>
          <a:p>
            <a:r>
              <a:rPr lang="en-US" sz="1350" b="0" u="none" strike="noStrike">
                <a:solidFill>
                  <a:srgbClr val="DA7756"/>
                </a:solidFill>
                <a:effectLst/>
                <a:uFillTx/>
                <a:latin typeface="CrimsonPro"/>
                <a:ea typeface="CrimsonPro"/>
              </a:rPr>
              <a:t>Ejemplo Práctico</a:t>
            </a:r>
            <a:endParaRPr lang="en-US" sz="1350" b="0" u="none" strike="noStrike">
              <a:solidFill>
                <a:srgbClr val="000000"/>
              </a:solidFill>
              <a:effectLst/>
              <a:uFillTx/>
              <a:latin typeface="Times New Roman"/>
            </a:endParaRPr>
          </a:p>
        </p:txBody>
      </p:sp>
      <p:sp>
        <p:nvSpPr>
          <p:cNvPr id="739" name="CuadroTexto 738"/>
          <p:cNvSpPr txBox="1"/>
          <p:nvPr/>
        </p:nvSpPr>
        <p:spPr>
          <a:xfrm>
            <a:off x="2038320" y="5502240"/>
            <a:ext cx="793908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Si se desean escribir los números del </a:t>
            </a:r>
            <a:r>
              <a:rPr lang="en-US" sz="1200" b="0" u="none" strike="noStrike">
                <a:solidFill>
                  <a:srgbClr val="000000"/>
                </a:solidFill>
                <a:effectLst/>
                <a:uFillTx/>
                <a:latin typeface="CrimsonPro"/>
                <a:ea typeface="CrimsonPro"/>
              </a:rPr>
              <a:t>1 al 100</a:t>
            </a:r>
            <a:r>
              <a:rPr lang="en-US" sz="1200" b="0" u="none" strike="noStrike">
                <a:solidFill>
                  <a:srgbClr val="666666"/>
                </a:solidFill>
                <a:effectLst/>
                <a:uFillTx/>
                <a:latin typeface="CrimsonPro"/>
                <a:ea typeface="CrimsonPro"/>
              </a:rPr>
              <a:t>, no tendría sentido escribir cien líneas de código mostrando un número en cada una de</a:t>
            </a:r>
            <a:endParaRPr lang="en-US" sz="1200" b="0" u="none" strike="noStrike">
              <a:solidFill>
                <a:srgbClr val="000000"/>
              </a:solidFill>
              <a:effectLst/>
              <a:uFillTx/>
              <a:latin typeface="Times New Roman"/>
            </a:endParaRPr>
          </a:p>
        </p:txBody>
      </p:sp>
      <p:sp>
        <p:nvSpPr>
          <p:cNvPr id="740" name="Forma libre: forma 739"/>
          <p:cNvSpPr/>
          <p:nvPr/>
        </p:nvSpPr>
        <p:spPr>
          <a:xfrm>
            <a:off x="571320" y="626724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41" name="CuadroTexto 740"/>
          <p:cNvSpPr txBox="1"/>
          <p:nvPr/>
        </p:nvSpPr>
        <p:spPr>
          <a:xfrm>
            <a:off x="2038320" y="5749920"/>
            <a:ext cx="32418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estas. Para eso y para varias cosas más es útil un ciclo.</a:t>
            </a:r>
            <a:endParaRPr lang="en-US" sz="1200" b="0" u="none" strike="noStrike">
              <a:solidFill>
                <a:srgbClr val="000000"/>
              </a:solidFill>
              <a:effectLst/>
              <a:uFillTx/>
              <a:latin typeface="Times New Roman"/>
            </a:endParaRPr>
          </a:p>
        </p:txBody>
      </p:sp>
      <p:sp>
        <p:nvSpPr>
          <p:cNvPr id="742" name="CuadroTexto 741"/>
          <p:cNvSpPr txBox="1"/>
          <p:nvPr/>
        </p:nvSpPr>
        <p:spPr>
          <a:xfrm>
            <a:off x="571320" y="645480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743" name="CuadroTexto 742"/>
          <p:cNvSpPr txBox="1"/>
          <p:nvPr/>
        </p:nvSpPr>
        <p:spPr>
          <a:xfrm>
            <a:off x="11497680" y="645480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31</a:t>
            </a:r>
            <a:endParaRPr lang="en-US" sz="1200" b="0" u="none" strike="noStrike">
              <a:solidFill>
                <a:srgbClr val="000000"/>
              </a:solidFill>
              <a:effectLst/>
              <a:uFillTx/>
              <a:latin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 name="Forma libre: forma 745"/>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47" name="Forma libre: forma 746"/>
          <p:cNvSpPr/>
          <p:nvPr/>
        </p:nvSpPr>
        <p:spPr>
          <a:xfrm>
            <a:off x="1828440" y="2495370"/>
            <a:ext cx="8553960" cy="1114920"/>
          </a:xfrm>
          <a:custGeom>
            <a:avLst/>
            <a:gdLst/>
            <a:ahLst/>
            <a:cxnLst/>
            <a:rect l="0" t="0" r="r" b="b"/>
            <a:pathLst>
              <a:path w="23761" h="3097">
                <a:moveTo>
                  <a:pt x="0" y="2884"/>
                </a:moveTo>
                <a:lnTo>
                  <a:pt x="0" y="212"/>
                </a:lnTo>
                <a:cubicBezTo>
                  <a:pt x="0" y="198"/>
                  <a:pt x="2" y="184"/>
                  <a:pt x="4" y="170"/>
                </a:cubicBezTo>
                <a:cubicBezTo>
                  <a:pt x="6" y="157"/>
                  <a:pt x="9" y="144"/>
                  <a:pt x="13" y="131"/>
                </a:cubicBezTo>
                <a:cubicBezTo>
                  <a:pt x="17" y="118"/>
                  <a:pt x="21" y="106"/>
                  <a:pt x="27" y="94"/>
                </a:cubicBezTo>
                <a:cubicBezTo>
                  <a:pt x="33" y="83"/>
                  <a:pt x="40" y="72"/>
                  <a:pt x="47" y="62"/>
                </a:cubicBezTo>
                <a:cubicBezTo>
                  <a:pt x="54" y="52"/>
                  <a:pt x="62" y="43"/>
                  <a:pt x="71" y="36"/>
                </a:cubicBezTo>
                <a:cubicBezTo>
                  <a:pt x="80" y="28"/>
                  <a:pt x="89" y="21"/>
                  <a:pt x="98" y="16"/>
                </a:cubicBezTo>
                <a:cubicBezTo>
                  <a:pt x="108" y="11"/>
                  <a:pt x="118" y="7"/>
                  <a:pt x="128" y="4"/>
                </a:cubicBezTo>
                <a:cubicBezTo>
                  <a:pt x="139" y="1"/>
                  <a:pt x="149" y="0"/>
                  <a:pt x="159" y="0"/>
                </a:cubicBezTo>
                <a:lnTo>
                  <a:pt x="23549" y="0"/>
                </a:lnTo>
                <a:cubicBezTo>
                  <a:pt x="23563" y="0"/>
                  <a:pt x="23577" y="1"/>
                  <a:pt x="23591" y="4"/>
                </a:cubicBezTo>
                <a:cubicBezTo>
                  <a:pt x="23604" y="7"/>
                  <a:pt x="23618" y="11"/>
                  <a:pt x="23630" y="16"/>
                </a:cubicBezTo>
                <a:cubicBezTo>
                  <a:pt x="23643" y="21"/>
                  <a:pt x="23655" y="28"/>
                  <a:pt x="23667" y="36"/>
                </a:cubicBezTo>
                <a:cubicBezTo>
                  <a:pt x="23679" y="43"/>
                  <a:pt x="23689" y="52"/>
                  <a:pt x="23699" y="62"/>
                </a:cubicBezTo>
                <a:cubicBezTo>
                  <a:pt x="23709" y="72"/>
                  <a:pt x="23718" y="83"/>
                  <a:pt x="23725" y="94"/>
                </a:cubicBezTo>
                <a:cubicBezTo>
                  <a:pt x="23733" y="106"/>
                  <a:pt x="23740" y="118"/>
                  <a:pt x="23745" y="131"/>
                </a:cubicBezTo>
                <a:cubicBezTo>
                  <a:pt x="23750" y="144"/>
                  <a:pt x="23754" y="157"/>
                  <a:pt x="23757" y="170"/>
                </a:cubicBezTo>
                <a:cubicBezTo>
                  <a:pt x="23760" y="184"/>
                  <a:pt x="23761" y="198"/>
                  <a:pt x="23761" y="212"/>
                </a:cubicBezTo>
                <a:lnTo>
                  <a:pt x="23761" y="2884"/>
                </a:lnTo>
                <a:cubicBezTo>
                  <a:pt x="23761" y="2899"/>
                  <a:pt x="23760" y="2913"/>
                  <a:pt x="23757" y="2926"/>
                </a:cubicBezTo>
                <a:cubicBezTo>
                  <a:pt x="23754" y="2940"/>
                  <a:pt x="23750" y="2953"/>
                  <a:pt x="23745" y="2966"/>
                </a:cubicBezTo>
                <a:cubicBezTo>
                  <a:pt x="23740" y="2979"/>
                  <a:pt x="23733" y="2991"/>
                  <a:pt x="23725" y="3003"/>
                </a:cubicBezTo>
                <a:cubicBezTo>
                  <a:pt x="23718" y="3014"/>
                  <a:pt x="23709" y="3025"/>
                  <a:pt x="23699" y="3035"/>
                </a:cubicBezTo>
                <a:cubicBezTo>
                  <a:pt x="23689" y="3044"/>
                  <a:pt x="23679" y="3053"/>
                  <a:pt x="23667" y="3061"/>
                </a:cubicBezTo>
                <a:cubicBezTo>
                  <a:pt x="23655" y="3069"/>
                  <a:pt x="23643" y="3075"/>
                  <a:pt x="23630" y="3081"/>
                </a:cubicBezTo>
                <a:cubicBezTo>
                  <a:pt x="23618" y="3086"/>
                  <a:pt x="23604" y="3090"/>
                  <a:pt x="23591" y="3093"/>
                </a:cubicBezTo>
                <a:cubicBezTo>
                  <a:pt x="23577" y="3095"/>
                  <a:pt x="23563" y="3097"/>
                  <a:pt x="23549" y="3097"/>
                </a:cubicBezTo>
                <a:lnTo>
                  <a:pt x="159" y="3097"/>
                </a:lnTo>
                <a:cubicBezTo>
                  <a:pt x="149" y="3097"/>
                  <a:pt x="139" y="3095"/>
                  <a:pt x="128" y="3093"/>
                </a:cubicBezTo>
                <a:cubicBezTo>
                  <a:pt x="118" y="3090"/>
                  <a:pt x="108" y="3086"/>
                  <a:pt x="98" y="3081"/>
                </a:cubicBezTo>
                <a:cubicBezTo>
                  <a:pt x="89" y="3075"/>
                  <a:pt x="80" y="3069"/>
                  <a:pt x="71" y="3061"/>
                </a:cubicBezTo>
                <a:cubicBezTo>
                  <a:pt x="62" y="3053"/>
                  <a:pt x="54" y="3044"/>
                  <a:pt x="47" y="3035"/>
                </a:cubicBezTo>
                <a:cubicBezTo>
                  <a:pt x="40" y="3025"/>
                  <a:pt x="33" y="3014"/>
                  <a:pt x="27" y="3003"/>
                </a:cubicBezTo>
                <a:cubicBezTo>
                  <a:pt x="21" y="2991"/>
                  <a:pt x="17" y="2979"/>
                  <a:pt x="13" y="2966"/>
                </a:cubicBezTo>
                <a:cubicBezTo>
                  <a:pt x="9" y="2953"/>
                  <a:pt x="6" y="2940"/>
                  <a:pt x="4" y="2926"/>
                </a:cubicBezTo>
                <a:cubicBezTo>
                  <a:pt x="2" y="2913"/>
                  <a:pt x="0" y="2899"/>
                  <a:pt x="0" y="2884"/>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48" name="Forma libre: forma 747"/>
          <p:cNvSpPr/>
          <p:nvPr/>
        </p:nvSpPr>
        <p:spPr>
          <a:xfrm>
            <a:off x="1809720" y="2495370"/>
            <a:ext cx="76320" cy="1114920"/>
          </a:xfrm>
          <a:custGeom>
            <a:avLst/>
            <a:gdLst/>
            <a:ahLst/>
            <a:cxnLst/>
            <a:rect l="0" t="0" r="r" b="b"/>
            <a:pathLst>
              <a:path w="212" h="3097">
                <a:moveTo>
                  <a:pt x="0" y="0"/>
                </a:moveTo>
                <a:lnTo>
                  <a:pt x="212" y="0"/>
                </a:lnTo>
                <a:lnTo>
                  <a:pt x="212" y="3097"/>
                </a:lnTo>
                <a:lnTo>
                  <a:pt x="0" y="3097"/>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49" name="Forma libre: forma 748"/>
          <p:cNvSpPr/>
          <p:nvPr/>
        </p:nvSpPr>
        <p:spPr>
          <a:xfrm>
            <a:off x="1828440" y="3838530"/>
            <a:ext cx="8553960" cy="1124280"/>
          </a:xfrm>
          <a:custGeom>
            <a:avLst/>
            <a:gdLst/>
            <a:ahLst/>
            <a:cxnLst/>
            <a:rect l="0" t="0" r="r" b="b"/>
            <a:pathLst>
              <a:path w="23761" h="3123">
                <a:moveTo>
                  <a:pt x="0" y="2911"/>
                </a:moveTo>
                <a:lnTo>
                  <a:pt x="0" y="211"/>
                </a:lnTo>
                <a:cubicBezTo>
                  <a:pt x="0" y="197"/>
                  <a:pt x="2" y="184"/>
                  <a:pt x="4" y="170"/>
                </a:cubicBezTo>
                <a:cubicBezTo>
                  <a:pt x="6" y="156"/>
                  <a:pt x="9" y="143"/>
                  <a:pt x="13" y="130"/>
                </a:cubicBezTo>
                <a:cubicBezTo>
                  <a:pt x="17" y="117"/>
                  <a:pt x="21" y="105"/>
                  <a:pt x="27" y="94"/>
                </a:cubicBezTo>
                <a:cubicBezTo>
                  <a:pt x="33" y="82"/>
                  <a:pt x="40" y="71"/>
                  <a:pt x="47" y="62"/>
                </a:cubicBezTo>
                <a:cubicBezTo>
                  <a:pt x="54" y="52"/>
                  <a:pt x="62" y="43"/>
                  <a:pt x="71" y="35"/>
                </a:cubicBezTo>
                <a:cubicBezTo>
                  <a:pt x="80" y="28"/>
                  <a:pt x="89" y="21"/>
                  <a:pt x="98" y="16"/>
                </a:cubicBezTo>
                <a:cubicBezTo>
                  <a:pt x="108" y="10"/>
                  <a:pt x="118" y="6"/>
                  <a:pt x="128" y="4"/>
                </a:cubicBezTo>
                <a:cubicBezTo>
                  <a:pt x="139" y="1"/>
                  <a:pt x="149" y="0"/>
                  <a:pt x="159" y="0"/>
                </a:cubicBezTo>
                <a:lnTo>
                  <a:pt x="23549" y="0"/>
                </a:lnTo>
                <a:cubicBezTo>
                  <a:pt x="23563" y="0"/>
                  <a:pt x="23577" y="1"/>
                  <a:pt x="23591" y="4"/>
                </a:cubicBezTo>
                <a:cubicBezTo>
                  <a:pt x="23604" y="6"/>
                  <a:pt x="23618" y="10"/>
                  <a:pt x="23630" y="16"/>
                </a:cubicBezTo>
                <a:cubicBezTo>
                  <a:pt x="23643" y="21"/>
                  <a:pt x="23655" y="28"/>
                  <a:pt x="23667" y="35"/>
                </a:cubicBezTo>
                <a:cubicBezTo>
                  <a:pt x="23679" y="43"/>
                  <a:pt x="23689" y="52"/>
                  <a:pt x="23699" y="62"/>
                </a:cubicBezTo>
                <a:cubicBezTo>
                  <a:pt x="23709" y="71"/>
                  <a:pt x="23718" y="82"/>
                  <a:pt x="23725" y="94"/>
                </a:cubicBezTo>
                <a:cubicBezTo>
                  <a:pt x="23733" y="105"/>
                  <a:pt x="23740" y="117"/>
                  <a:pt x="23745" y="130"/>
                </a:cubicBezTo>
                <a:cubicBezTo>
                  <a:pt x="23750" y="143"/>
                  <a:pt x="23754" y="156"/>
                  <a:pt x="23757" y="170"/>
                </a:cubicBezTo>
                <a:cubicBezTo>
                  <a:pt x="23760" y="184"/>
                  <a:pt x="23761" y="197"/>
                  <a:pt x="23761" y="211"/>
                </a:cubicBezTo>
                <a:lnTo>
                  <a:pt x="23761" y="2911"/>
                </a:lnTo>
                <a:cubicBezTo>
                  <a:pt x="23761" y="2925"/>
                  <a:pt x="23760" y="2939"/>
                  <a:pt x="23757" y="2952"/>
                </a:cubicBezTo>
                <a:cubicBezTo>
                  <a:pt x="23754" y="2966"/>
                  <a:pt x="23750" y="2979"/>
                  <a:pt x="23745" y="2992"/>
                </a:cubicBezTo>
                <a:cubicBezTo>
                  <a:pt x="23740" y="3005"/>
                  <a:pt x="23733" y="3017"/>
                  <a:pt x="23725" y="3029"/>
                </a:cubicBezTo>
                <a:cubicBezTo>
                  <a:pt x="23718" y="3040"/>
                  <a:pt x="23709" y="3051"/>
                  <a:pt x="23699" y="3061"/>
                </a:cubicBezTo>
                <a:cubicBezTo>
                  <a:pt x="23689" y="3071"/>
                  <a:pt x="23679" y="3079"/>
                  <a:pt x="23667" y="3087"/>
                </a:cubicBezTo>
                <a:cubicBezTo>
                  <a:pt x="23655" y="3095"/>
                  <a:pt x="23643" y="3101"/>
                  <a:pt x="23630" y="3107"/>
                </a:cubicBezTo>
                <a:cubicBezTo>
                  <a:pt x="23618" y="3112"/>
                  <a:pt x="23604" y="3116"/>
                  <a:pt x="23591" y="3119"/>
                </a:cubicBezTo>
                <a:cubicBezTo>
                  <a:pt x="23577" y="3121"/>
                  <a:pt x="23563" y="3123"/>
                  <a:pt x="23549" y="3123"/>
                </a:cubicBezTo>
                <a:lnTo>
                  <a:pt x="159" y="3123"/>
                </a:lnTo>
                <a:cubicBezTo>
                  <a:pt x="149" y="3123"/>
                  <a:pt x="139" y="3121"/>
                  <a:pt x="128" y="3119"/>
                </a:cubicBezTo>
                <a:cubicBezTo>
                  <a:pt x="118" y="3116"/>
                  <a:pt x="108" y="3112"/>
                  <a:pt x="98" y="3107"/>
                </a:cubicBezTo>
                <a:cubicBezTo>
                  <a:pt x="89" y="3101"/>
                  <a:pt x="80" y="3095"/>
                  <a:pt x="71" y="3087"/>
                </a:cubicBezTo>
                <a:cubicBezTo>
                  <a:pt x="62" y="3079"/>
                  <a:pt x="54" y="3071"/>
                  <a:pt x="47" y="3061"/>
                </a:cubicBezTo>
                <a:cubicBezTo>
                  <a:pt x="40" y="3051"/>
                  <a:pt x="33" y="3040"/>
                  <a:pt x="27" y="3029"/>
                </a:cubicBezTo>
                <a:cubicBezTo>
                  <a:pt x="21" y="3017"/>
                  <a:pt x="17" y="3005"/>
                  <a:pt x="13" y="2992"/>
                </a:cubicBezTo>
                <a:cubicBezTo>
                  <a:pt x="9" y="2979"/>
                  <a:pt x="6" y="2966"/>
                  <a:pt x="4" y="2952"/>
                </a:cubicBezTo>
                <a:cubicBezTo>
                  <a:pt x="2" y="2939"/>
                  <a:pt x="0" y="2925"/>
                  <a:pt x="0" y="2911"/>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50" name="Forma libre: forma 749"/>
          <p:cNvSpPr/>
          <p:nvPr/>
        </p:nvSpPr>
        <p:spPr>
          <a:xfrm>
            <a:off x="1809720" y="3838530"/>
            <a:ext cx="76320" cy="1124280"/>
          </a:xfrm>
          <a:custGeom>
            <a:avLst/>
            <a:gdLst/>
            <a:ahLst/>
            <a:cxnLst/>
            <a:rect l="0" t="0" r="r" b="b"/>
            <a:pathLst>
              <a:path w="212" h="3123">
                <a:moveTo>
                  <a:pt x="0" y="0"/>
                </a:moveTo>
                <a:lnTo>
                  <a:pt x="212" y="0"/>
                </a:lnTo>
                <a:lnTo>
                  <a:pt x="212" y="3123"/>
                </a:lnTo>
                <a:lnTo>
                  <a:pt x="0" y="3123"/>
                </a:lnTo>
                <a:lnTo>
                  <a:pt x="0" y="0"/>
                </a:ln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51" name="Forma libre: forma 750"/>
          <p:cNvSpPr/>
          <p:nvPr/>
        </p:nvSpPr>
        <p:spPr>
          <a:xfrm>
            <a:off x="1828440" y="5191050"/>
            <a:ext cx="8553960" cy="1114560"/>
          </a:xfrm>
          <a:custGeom>
            <a:avLst/>
            <a:gdLst/>
            <a:ahLst/>
            <a:cxnLst/>
            <a:rect l="0" t="0" r="r" b="b"/>
            <a:pathLst>
              <a:path w="23761" h="3096">
                <a:moveTo>
                  <a:pt x="0" y="2885"/>
                </a:moveTo>
                <a:lnTo>
                  <a:pt x="0" y="211"/>
                </a:lnTo>
                <a:cubicBezTo>
                  <a:pt x="0" y="197"/>
                  <a:pt x="2" y="184"/>
                  <a:pt x="4" y="170"/>
                </a:cubicBezTo>
                <a:cubicBezTo>
                  <a:pt x="6" y="156"/>
                  <a:pt x="9" y="143"/>
                  <a:pt x="13" y="130"/>
                </a:cubicBezTo>
                <a:cubicBezTo>
                  <a:pt x="17" y="118"/>
                  <a:pt x="21" y="105"/>
                  <a:pt x="27" y="94"/>
                </a:cubicBezTo>
                <a:cubicBezTo>
                  <a:pt x="33" y="82"/>
                  <a:pt x="40" y="72"/>
                  <a:pt x="47" y="62"/>
                </a:cubicBezTo>
                <a:cubicBezTo>
                  <a:pt x="54" y="52"/>
                  <a:pt x="62" y="43"/>
                  <a:pt x="71" y="35"/>
                </a:cubicBezTo>
                <a:cubicBezTo>
                  <a:pt x="80" y="28"/>
                  <a:pt x="89" y="21"/>
                  <a:pt x="98" y="16"/>
                </a:cubicBezTo>
                <a:cubicBezTo>
                  <a:pt x="108" y="11"/>
                  <a:pt x="118" y="6"/>
                  <a:pt x="128" y="4"/>
                </a:cubicBezTo>
                <a:cubicBezTo>
                  <a:pt x="139" y="1"/>
                  <a:pt x="149" y="0"/>
                  <a:pt x="159" y="0"/>
                </a:cubicBezTo>
                <a:lnTo>
                  <a:pt x="23549" y="0"/>
                </a:lnTo>
                <a:cubicBezTo>
                  <a:pt x="23563" y="0"/>
                  <a:pt x="23577" y="1"/>
                  <a:pt x="23591" y="4"/>
                </a:cubicBezTo>
                <a:cubicBezTo>
                  <a:pt x="23604" y="6"/>
                  <a:pt x="23618" y="11"/>
                  <a:pt x="23630" y="16"/>
                </a:cubicBezTo>
                <a:cubicBezTo>
                  <a:pt x="23643" y="21"/>
                  <a:pt x="23655" y="28"/>
                  <a:pt x="23667" y="35"/>
                </a:cubicBezTo>
                <a:cubicBezTo>
                  <a:pt x="23679" y="43"/>
                  <a:pt x="23689" y="52"/>
                  <a:pt x="23699" y="62"/>
                </a:cubicBezTo>
                <a:cubicBezTo>
                  <a:pt x="23709" y="72"/>
                  <a:pt x="23718" y="82"/>
                  <a:pt x="23725" y="94"/>
                </a:cubicBezTo>
                <a:cubicBezTo>
                  <a:pt x="23733" y="105"/>
                  <a:pt x="23740" y="118"/>
                  <a:pt x="23745" y="130"/>
                </a:cubicBezTo>
                <a:cubicBezTo>
                  <a:pt x="23750" y="143"/>
                  <a:pt x="23754" y="156"/>
                  <a:pt x="23757" y="170"/>
                </a:cubicBezTo>
                <a:cubicBezTo>
                  <a:pt x="23760" y="184"/>
                  <a:pt x="23761" y="197"/>
                  <a:pt x="23761" y="211"/>
                </a:cubicBezTo>
                <a:lnTo>
                  <a:pt x="23761" y="2885"/>
                </a:lnTo>
                <a:cubicBezTo>
                  <a:pt x="23761" y="2899"/>
                  <a:pt x="23760" y="2912"/>
                  <a:pt x="23757" y="2926"/>
                </a:cubicBezTo>
                <a:cubicBezTo>
                  <a:pt x="23754" y="2940"/>
                  <a:pt x="23750" y="2953"/>
                  <a:pt x="23745" y="2966"/>
                </a:cubicBezTo>
                <a:cubicBezTo>
                  <a:pt x="23740" y="2979"/>
                  <a:pt x="23733" y="2991"/>
                  <a:pt x="23725" y="3002"/>
                </a:cubicBezTo>
                <a:cubicBezTo>
                  <a:pt x="23718" y="3014"/>
                  <a:pt x="23709" y="3025"/>
                  <a:pt x="23699" y="3034"/>
                </a:cubicBezTo>
                <a:cubicBezTo>
                  <a:pt x="23689" y="3044"/>
                  <a:pt x="23679" y="3053"/>
                  <a:pt x="23667" y="3061"/>
                </a:cubicBezTo>
                <a:cubicBezTo>
                  <a:pt x="23655" y="3068"/>
                  <a:pt x="23643" y="3075"/>
                  <a:pt x="23630" y="3080"/>
                </a:cubicBezTo>
                <a:cubicBezTo>
                  <a:pt x="23618" y="3086"/>
                  <a:pt x="23604" y="3090"/>
                  <a:pt x="23591" y="3092"/>
                </a:cubicBezTo>
                <a:cubicBezTo>
                  <a:pt x="23577" y="3095"/>
                  <a:pt x="23563" y="3096"/>
                  <a:pt x="23549" y="3096"/>
                </a:cubicBezTo>
                <a:lnTo>
                  <a:pt x="159" y="3096"/>
                </a:lnTo>
                <a:cubicBezTo>
                  <a:pt x="149" y="3096"/>
                  <a:pt x="139" y="3095"/>
                  <a:pt x="128" y="3092"/>
                </a:cubicBezTo>
                <a:cubicBezTo>
                  <a:pt x="118" y="3090"/>
                  <a:pt x="108" y="3086"/>
                  <a:pt x="98" y="3080"/>
                </a:cubicBezTo>
                <a:cubicBezTo>
                  <a:pt x="89" y="3075"/>
                  <a:pt x="80" y="3068"/>
                  <a:pt x="71" y="3061"/>
                </a:cubicBezTo>
                <a:cubicBezTo>
                  <a:pt x="62" y="3053"/>
                  <a:pt x="54" y="3044"/>
                  <a:pt x="47" y="3034"/>
                </a:cubicBezTo>
                <a:cubicBezTo>
                  <a:pt x="40" y="3025"/>
                  <a:pt x="33" y="3014"/>
                  <a:pt x="27" y="3002"/>
                </a:cubicBezTo>
                <a:cubicBezTo>
                  <a:pt x="21" y="2991"/>
                  <a:pt x="17" y="2979"/>
                  <a:pt x="13" y="2966"/>
                </a:cubicBezTo>
                <a:cubicBezTo>
                  <a:pt x="9" y="2953"/>
                  <a:pt x="6" y="2940"/>
                  <a:pt x="4" y="2926"/>
                </a:cubicBezTo>
                <a:cubicBezTo>
                  <a:pt x="2" y="2912"/>
                  <a:pt x="0" y="2899"/>
                  <a:pt x="0" y="2885"/>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52" name="Forma libre: forma 751"/>
          <p:cNvSpPr/>
          <p:nvPr/>
        </p:nvSpPr>
        <p:spPr>
          <a:xfrm>
            <a:off x="1809720" y="5191050"/>
            <a:ext cx="76320" cy="1114560"/>
          </a:xfrm>
          <a:custGeom>
            <a:avLst/>
            <a:gdLst/>
            <a:ahLst/>
            <a:cxnLst/>
            <a:rect l="0" t="0" r="r" b="b"/>
            <a:pathLst>
              <a:path w="212" h="3096">
                <a:moveTo>
                  <a:pt x="0" y="0"/>
                </a:moveTo>
                <a:lnTo>
                  <a:pt x="212" y="0"/>
                </a:lnTo>
                <a:lnTo>
                  <a:pt x="212" y="3096"/>
                </a:lnTo>
                <a:lnTo>
                  <a:pt x="0" y="3096"/>
                </a:lnTo>
                <a:lnTo>
                  <a:pt x="0" y="0"/>
                </a:lnTo>
                <a:close/>
              </a:path>
            </a:pathLst>
          </a:custGeom>
          <a:solidFill>
            <a:srgbClr val="2E5C8A"/>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53" name="CuadroTexto 752"/>
          <p:cNvSpPr txBox="1"/>
          <p:nvPr/>
        </p:nvSpPr>
        <p:spPr>
          <a:xfrm>
            <a:off x="571320" y="569160"/>
            <a:ext cx="8877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Bucles</a:t>
            </a:r>
            <a:endParaRPr lang="en-US" sz="2700" b="0" u="none" strike="noStrike">
              <a:solidFill>
                <a:srgbClr val="000000"/>
              </a:solidFill>
              <a:effectLst/>
              <a:uFillTx/>
              <a:latin typeface="Times New Roman"/>
            </a:endParaRPr>
          </a:p>
        </p:txBody>
      </p:sp>
      <p:sp>
        <p:nvSpPr>
          <p:cNvPr id="754" name="CuadroTexto 753"/>
          <p:cNvSpPr txBox="1"/>
          <p:nvPr/>
        </p:nvSpPr>
        <p:spPr>
          <a:xfrm>
            <a:off x="4917600" y="1225440"/>
            <a:ext cx="2179440" cy="169560"/>
          </a:xfrm>
          <a:prstGeom prst="rect">
            <a:avLst/>
          </a:prstGeom>
          <a:noFill/>
          <a:ln w="0">
            <a:noFill/>
          </a:ln>
        </p:spPr>
        <p:txBody>
          <a:bodyPr wrap="none" lIns="0" tIns="0" rIns="0" bIns="0" anchor="t">
            <a:spAutoFit/>
          </a:bodyPr>
          <a:lstStyle/>
          <a:p>
            <a:r>
              <a:rPr lang="en-US" sz="1200" b="0" u="none" strike="noStrike">
                <a:solidFill>
                  <a:srgbClr val="DA7756"/>
                </a:solidFill>
                <a:effectLst/>
                <a:uFillTx/>
                <a:latin typeface="CrimsonPro"/>
                <a:ea typeface="CrimsonPro"/>
              </a:rPr>
              <a:t>TIPOS DE ESTRUCTURAS CÍCLICAS</a:t>
            </a:r>
            <a:endParaRPr lang="en-US" sz="1200" b="0" u="none" strike="noStrike">
              <a:solidFill>
                <a:srgbClr val="000000"/>
              </a:solidFill>
              <a:effectLst/>
              <a:uFillTx/>
              <a:latin typeface="Times New Roman"/>
            </a:endParaRPr>
          </a:p>
        </p:txBody>
      </p:sp>
      <p:sp>
        <p:nvSpPr>
          <p:cNvPr id="755" name="CuadroTexto 754"/>
          <p:cNvSpPr txBox="1"/>
          <p:nvPr/>
        </p:nvSpPr>
        <p:spPr>
          <a:xfrm>
            <a:off x="3307680" y="1601280"/>
            <a:ext cx="5282280" cy="318960"/>
          </a:xfrm>
          <a:prstGeom prst="rect">
            <a:avLst/>
          </a:prstGeom>
          <a:noFill/>
          <a:ln w="0">
            <a:noFill/>
          </a:ln>
        </p:spPr>
        <p:txBody>
          <a:bodyPr wrap="none" lIns="0" tIns="0" rIns="0" bIns="0" anchor="t">
            <a:spAutoFit/>
          </a:bodyPr>
          <a:lstStyle/>
          <a:p>
            <a:r>
              <a:rPr lang="en-US" sz="2250" b="0" u="none" strike="noStrike">
                <a:solidFill>
                  <a:srgbClr val="000000"/>
                </a:solidFill>
                <a:effectLst/>
                <a:uFillTx/>
                <a:latin typeface="CrimsonPro"/>
                <a:ea typeface="CrimsonPro"/>
              </a:rPr>
              <a:t>Existen tres tipos principales de bucles en Java</a:t>
            </a:r>
            <a:endParaRPr lang="en-US" sz="2250" b="0" u="none" strike="noStrike">
              <a:solidFill>
                <a:srgbClr val="000000"/>
              </a:solidFill>
              <a:effectLst/>
              <a:uFillTx/>
              <a:latin typeface="Times New Roman"/>
            </a:endParaRPr>
          </a:p>
        </p:txBody>
      </p:sp>
      <p:sp>
        <p:nvSpPr>
          <p:cNvPr id="756" name="Forma libre: forma 755"/>
          <p:cNvSpPr/>
          <p:nvPr/>
        </p:nvSpPr>
        <p:spPr>
          <a:xfrm>
            <a:off x="2076120" y="2723970"/>
            <a:ext cx="457560" cy="457560"/>
          </a:xfrm>
          <a:custGeom>
            <a:avLst/>
            <a:gdLst/>
            <a:ahLst/>
            <a:cxnLst/>
            <a:rect l="0" t="0" r="r" b="b"/>
            <a:pathLst>
              <a:path w="1271" h="1271">
                <a:moveTo>
                  <a:pt x="0" y="1059"/>
                </a:moveTo>
                <a:lnTo>
                  <a:pt x="0" y="212"/>
                </a:lnTo>
                <a:cubicBezTo>
                  <a:pt x="0" y="198"/>
                  <a:pt x="2" y="184"/>
                  <a:pt x="4" y="170"/>
                </a:cubicBezTo>
                <a:cubicBezTo>
                  <a:pt x="7" y="157"/>
                  <a:pt x="11" y="144"/>
                  <a:pt x="17" y="131"/>
                </a:cubicBezTo>
                <a:cubicBezTo>
                  <a:pt x="22" y="118"/>
                  <a:pt x="28" y="106"/>
                  <a:pt x="36" y="94"/>
                </a:cubicBezTo>
                <a:cubicBezTo>
                  <a:pt x="44" y="83"/>
                  <a:pt x="53" y="72"/>
                  <a:pt x="62" y="62"/>
                </a:cubicBezTo>
                <a:cubicBezTo>
                  <a:pt x="72" y="52"/>
                  <a:pt x="83" y="43"/>
                  <a:pt x="94" y="36"/>
                </a:cubicBezTo>
                <a:cubicBezTo>
                  <a:pt x="106" y="28"/>
                  <a:pt x="118" y="21"/>
                  <a:pt x="131" y="16"/>
                </a:cubicBezTo>
                <a:cubicBezTo>
                  <a:pt x="144" y="11"/>
                  <a:pt x="157" y="7"/>
                  <a:pt x="171" y="4"/>
                </a:cubicBezTo>
                <a:cubicBezTo>
                  <a:pt x="184" y="1"/>
                  <a:pt x="198" y="0"/>
                  <a:pt x="212" y="0"/>
                </a:cubicBezTo>
                <a:lnTo>
                  <a:pt x="1059" y="0"/>
                </a:lnTo>
                <a:cubicBezTo>
                  <a:pt x="1073" y="0"/>
                  <a:pt x="1086" y="1"/>
                  <a:pt x="1100" y="4"/>
                </a:cubicBezTo>
                <a:cubicBezTo>
                  <a:pt x="1114" y="7"/>
                  <a:pt x="1127" y="11"/>
                  <a:pt x="1140" y="16"/>
                </a:cubicBezTo>
                <a:cubicBezTo>
                  <a:pt x="1153" y="21"/>
                  <a:pt x="1165" y="28"/>
                  <a:pt x="1176" y="36"/>
                </a:cubicBezTo>
                <a:cubicBezTo>
                  <a:pt x="1188" y="43"/>
                  <a:pt x="1199" y="52"/>
                  <a:pt x="1208" y="62"/>
                </a:cubicBezTo>
                <a:cubicBezTo>
                  <a:pt x="1219" y="72"/>
                  <a:pt x="1228" y="83"/>
                  <a:pt x="1236" y="94"/>
                </a:cubicBezTo>
                <a:cubicBezTo>
                  <a:pt x="1243" y="106"/>
                  <a:pt x="1250" y="118"/>
                  <a:pt x="1255" y="131"/>
                </a:cubicBezTo>
                <a:cubicBezTo>
                  <a:pt x="1261" y="144"/>
                  <a:pt x="1265" y="157"/>
                  <a:pt x="1267" y="170"/>
                </a:cubicBezTo>
                <a:cubicBezTo>
                  <a:pt x="1270" y="184"/>
                  <a:pt x="1271" y="198"/>
                  <a:pt x="1271" y="212"/>
                </a:cubicBezTo>
                <a:lnTo>
                  <a:pt x="1271" y="1059"/>
                </a:lnTo>
                <a:cubicBezTo>
                  <a:pt x="1271" y="1073"/>
                  <a:pt x="1270" y="1087"/>
                  <a:pt x="1267" y="1101"/>
                </a:cubicBezTo>
                <a:cubicBezTo>
                  <a:pt x="1265" y="1114"/>
                  <a:pt x="1261" y="1127"/>
                  <a:pt x="1255" y="1140"/>
                </a:cubicBezTo>
                <a:cubicBezTo>
                  <a:pt x="1250" y="1153"/>
                  <a:pt x="1243" y="1165"/>
                  <a:pt x="1236" y="1177"/>
                </a:cubicBezTo>
                <a:cubicBezTo>
                  <a:pt x="1228" y="1188"/>
                  <a:pt x="1219" y="1199"/>
                  <a:pt x="1208" y="1209"/>
                </a:cubicBezTo>
                <a:cubicBezTo>
                  <a:pt x="1199" y="1219"/>
                  <a:pt x="1188" y="1228"/>
                  <a:pt x="1176" y="1235"/>
                </a:cubicBezTo>
                <a:cubicBezTo>
                  <a:pt x="1165" y="1243"/>
                  <a:pt x="1153" y="1250"/>
                  <a:pt x="1140" y="1255"/>
                </a:cubicBezTo>
                <a:cubicBezTo>
                  <a:pt x="1127" y="1260"/>
                  <a:pt x="1114" y="1264"/>
                  <a:pt x="1100" y="1267"/>
                </a:cubicBezTo>
                <a:cubicBezTo>
                  <a:pt x="1086" y="1270"/>
                  <a:pt x="1073" y="1271"/>
                  <a:pt x="1059" y="1271"/>
                </a:cubicBezTo>
                <a:lnTo>
                  <a:pt x="212" y="1271"/>
                </a:lnTo>
                <a:cubicBezTo>
                  <a:pt x="198" y="1271"/>
                  <a:pt x="184" y="1270"/>
                  <a:pt x="171" y="1267"/>
                </a:cubicBezTo>
                <a:cubicBezTo>
                  <a:pt x="157" y="1264"/>
                  <a:pt x="144" y="1260"/>
                  <a:pt x="131" y="1255"/>
                </a:cubicBezTo>
                <a:cubicBezTo>
                  <a:pt x="118" y="1250"/>
                  <a:pt x="106" y="1243"/>
                  <a:pt x="94" y="1235"/>
                </a:cubicBezTo>
                <a:cubicBezTo>
                  <a:pt x="83" y="1228"/>
                  <a:pt x="72" y="1219"/>
                  <a:pt x="62" y="1209"/>
                </a:cubicBezTo>
                <a:cubicBezTo>
                  <a:pt x="53" y="1199"/>
                  <a:pt x="44" y="1188"/>
                  <a:pt x="36" y="1177"/>
                </a:cubicBezTo>
                <a:cubicBezTo>
                  <a:pt x="28" y="1165"/>
                  <a:pt x="22" y="1153"/>
                  <a:pt x="17" y="1140"/>
                </a:cubicBezTo>
                <a:cubicBezTo>
                  <a:pt x="11" y="1127"/>
                  <a:pt x="7" y="1114"/>
                  <a:pt x="4" y="1101"/>
                </a:cubicBezTo>
                <a:cubicBezTo>
                  <a:pt x="2" y="1087"/>
                  <a:pt x="0" y="1073"/>
                  <a:pt x="0" y="1059"/>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57" name="CuadroTexto 756"/>
          <p:cNvSpPr txBox="1"/>
          <p:nvPr/>
        </p:nvSpPr>
        <p:spPr>
          <a:xfrm>
            <a:off x="4203720" y="2143800"/>
            <a:ext cx="379080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Cada uno tiene una utilidad para casos específicos</a:t>
            </a:r>
            <a:endParaRPr lang="en-US" sz="1500" b="0" u="none" strike="noStrike">
              <a:solidFill>
                <a:srgbClr val="000000"/>
              </a:solidFill>
              <a:effectLst/>
              <a:uFillTx/>
              <a:latin typeface="Times New Roman"/>
            </a:endParaRPr>
          </a:p>
        </p:txBody>
      </p:sp>
      <p:sp>
        <p:nvSpPr>
          <p:cNvPr id="758" name="CuadroTexto 757"/>
          <p:cNvSpPr txBox="1"/>
          <p:nvPr/>
        </p:nvSpPr>
        <p:spPr>
          <a:xfrm>
            <a:off x="2269440" y="2848890"/>
            <a:ext cx="190080" cy="212040"/>
          </a:xfrm>
          <a:prstGeom prst="rect">
            <a:avLst/>
          </a:prstGeom>
          <a:noFill/>
          <a:ln w="0">
            <a:noFill/>
          </a:ln>
        </p:spPr>
        <p:txBody>
          <a:bodyPr wrap="none" lIns="0" tIns="0" rIns="0" bIns="0" anchor="t">
            <a:spAutoFit/>
          </a:bodyPr>
          <a:lstStyle/>
          <a:p>
            <a:r>
              <a:rPr lang="en-US" sz="1500" b="0" u="none" strike="noStrike">
                <a:solidFill>
                  <a:srgbClr val="FFFFFF"/>
                </a:solidFill>
                <a:effectLst/>
                <a:uFillTx/>
                <a:latin typeface="CrimsonPro"/>
                <a:ea typeface="CrimsonPro"/>
              </a:rPr>
              <a:t>1</a:t>
            </a:r>
            <a:endParaRPr lang="en-US" sz="1500" b="0" u="none" strike="noStrike">
              <a:solidFill>
                <a:srgbClr val="000000"/>
              </a:solidFill>
              <a:effectLst/>
              <a:uFillTx/>
              <a:latin typeface="Times New Roman"/>
            </a:endParaRPr>
          </a:p>
        </p:txBody>
      </p:sp>
      <p:sp>
        <p:nvSpPr>
          <p:cNvPr id="759" name="CuadroTexto 758"/>
          <p:cNvSpPr txBox="1"/>
          <p:nvPr/>
        </p:nvSpPr>
        <p:spPr>
          <a:xfrm>
            <a:off x="2685960" y="2748090"/>
            <a:ext cx="903960" cy="253440"/>
          </a:xfrm>
          <a:prstGeom prst="rect">
            <a:avLst/>
          </a:prstGeom>
          <a:noFill/>
          <a:ln w="0">
            <a:noFill/>
          </a:ln>
        </p:spPr>
        <p:txBody>
          <a:bodyPr wrap="none" lIns="0" tIns="0" rIns="0" bIns="0" anchor="t">
            <a:spAutoFit/>
          </a:bodyPr>
          <a:lstStyle/>
          <a:p>
            <a:r>
              <a:rPr lang="en-US" sz="1800" b="0" u="none" strike="noStrike">
                <a:solidFill>
                  <a:srgbClr val="000000"/>
                </a:solidFill>
                <a:effectLst/>
                <a:uFillTx/>
                <a:latin typeface="CrimsonPro"/>
                <a:ea typeface="CrimsonPro"/>
              </a:rPr>
              <a:t>Ciclos For</a:t>
            </a:r>
            <a:endParaRPr lang="en-US" sz="1800" b="0" u="none" strike="noStrike">
              <a:solidFill>
                <a:srgbClr val="000000"/>
              </a:solidFill>
              <a:effectLst/>
              <a:uFillTx/>
              <a:latin typeface="Times New Roman"/>
            </a:endParaRPr>
          </a:p>
        </p:txBody>
      </p:sp>
      <p:sp>
        <p:nvSpPr>
          <p:cNvPr id="760" name="Forma libre: forma 759"/>
          <p:cNvSpPr/>
          <p:nvPr/>
        </p:nvSpPr>
        <p:spPr>
          <a:xfrm>
            <a:off x="2076120" y="4067130"/>
            <a:ext cx="457560" cy="457560"/>
          </a:xfrm>
          <a:custGeom>
            <a:avLst/>
            <a:gdLst/>
            <a:ahLst/>
            <a:cxnLst/>
            <a:rect l="0" t="0" r="r" b="b"/>
            <a:pathLst>
              <a:path w="1271" h="1271">
                <a:moveTo>
                  <a:pt x="0" y="1059"/>
                </a:moveTo>
                <a:lnTo>
                  <a:pt x="0" y="211"/>
                </a:lnTo>
                <a:cubicBezTo>
                  <a:pt x="0" y="197"/>
                  <a:pt x="2" y="184"/>
                  <a:pt x="4" y="170"/>
                </a:cubicBezTo>
                <a:cubicBezTo>
                  <a:pt x="7" y="156"/>
                  <a:pt x="11" y="143"/>
                  <a:pt x="17" y="130"/>
                </a:cubicBezTo>
                <a:cubicBezTo>
                  <a:pt x="22" y="117"/>
                  <a:pt x="28" y="105"/>
                  <a:pt x="36" y="94"/>
                </a:cubicBezTo>
                <a:cubicBezTo>
                  <a:pt x="44" y="82"/>
                  <a:pt x="53" y="71"/>
                  <a:pt x="62" y="62"/>
                </a:cubicBezTo>
                <a:cubicBezTo>
                  <a:pt x="72" y="52"/>
                  <a:pt x="83" y="43"/>
                  <a:pt x="94" y="35"/>
                </a:cubicBezTo>
                <a:cubicBezTo>
                  <a:pt x="106" y="28"/>
                  <a:pt x="118" y="21"/>
                  <a:pt x="131" y="16"/>
                </a:cubicBezTo>
                <a:cubicBezTo>
                  <a:pt x="144" y="10"/>
                  <a:pt x="157" y="6"/>
                  <a:pt x="171" y="4"/>
                </a:cubicBezTo>
                <a:cubicBezTo>
                  <a:pt x="184" y="1"/>
                  <a:pt x="198" y="0"/>
                  <a:pt x="212" y="0"/>
                </a:cubicBezTo>
                <a:lnTo>
                  <a:pt x="1059" y="0"/>
                </a:lnTo>
                <a:cubicBezTo>
                  <a:pt x="1073" y="0"/>
                  <a:pt x="1086" y="1"/>
                  <a:pt x="1100" y="4"/>
                </a:cubicBezTo>
                <a:cubicBezTo>
                  <a:pt x="1114" y="6"/>
                  <a:pt x="1127" y="10"/>
                  <a:pt x="1140" y="16"/>
                </a:cubicBezTo>
                <a:cubicBezTo>
                  <a:pt x="1153" y="21"/>
                  <a:pt x="1165" y="28"/>
                  <a:pt x="1176" y="35"/>
                </a:cubicBezTo>
                <a:cubicBezTo>
                  <a:pt x="1188" y="43"/>
                  <a:pt x="1199" y="52"/>
                  <a:pt x="1208" y="62"/>
                </a:cubicBezTo>
                <a:cubicBezTo>
                  <a:pt x="1219" y="71"/>
                  <a:pt x="1228" y="82"/>
                  <a:pt x="1236" y="94"/>
                </a:cubicBezTo>
                <a:cubicBezTo>
                  <a:pt x="1243" y="105"/>
                  <a:pt x="1250" y="117"/>
                  <a:pt x="1255" y="130"/>
                </a:cubicBezTo>
                <a:cubicBezTo>
                  <a:pt x="1261" y="143"/>
                  <a:pt x="1265" y="156"/>
                  <a:pt x="1267" y="170"/>
                </a:cubicBezTo>
                <a:cubicBezTo>
                  <a:pt x="1270" y="184"/>
                  <a:pt x="1271" y="197"/>
                  <a:pt x="1271" y="211"/>
                </a:cubicBezTo>
                <a:lnTo>
                  <a:pt x="1271" y="1059"/>
                </a:lnTo>
                <a:cubicBezTo>
                  <a:pt x="1271" y="1073"/>
                  <a:pt x="1270" y="1087"/>
                  <a:pt x="1267" y="1100"/>
                </a:cubicBezTo>
                <a:cubicBezTo>
                  <a:pt x="1265" y="1114"/>
                  <a:pt x="1261" y="1127"/>
                  <a:pt x="1255" y="1140"/>
                </a:cubicBezTo>
                <a:cubicBezTo>
                  <a:pt x="1250" y="1153"/>
                  <a:pt x="1243" y="1165"/>
                  <a:pt x="1236" y="1177"/>
                </a:cubicBezTo>
                <a:cubicBezTo>
                  <a:pt x="1228" y="1188"/>
                  <a:pt x="1219" y="1199"/>
                  <a:pt x="1208" y="1209"/>
                </a:cubicBezTo>
                <a:cubicBezTo>
                  <a:pt x="1199" y="1218"/>
                  <a:pt x="1188" y="1227"/>
                  <a:pt x="1176" y="1235"/>
                </a:cubicBezTo>
                <a:cubicBezTo>
                  <a:pt x="1165" y="1243"/>
                  <a:pt x="1153" y="1249"/>
                  <a:pt x="1140" y="1255"/>
                </a:cubicBezTo>
                <a:cubicBezTo>
                  <a:pt x="1127" y="1260"/>
                  <a:pt x="1114" y="1264"/>
                  <a:pt x="1100" y="1267"/>
                </a:cubicBezTo>
                <a:cubicBezTo>
                  <a:pt x="1086" y="1269"/>
                  <a:pt x="1073" y="1271"/>
                  <a:pt x="1059" y="1271"/>
                </a:cubicBezTo>
                <a:lnTo>
                  <a:pt x="212" y="1271"/>
                </a:lnTo>
                <a:cubicBezTo>
                  <a:pt x="198" y="1271"/>
                  <a:pt x="184" y="1269"/>
                  <a:pt x="171" y="1267"/>
                </a:cubicBezTo>
                <a:cubicBezTo>
                  <a:pt x="157" y="1264"/>
                  <a:pt x="144" y="1260"/>
                  <a:pt x="131" y="1255"/>
                </a:cubicBezTo>
                <a:cubicBezTo>
                  <a:pt x="118" y="1249"/>
                  <a:pt x="106" y="1243"/>
                  <a:pt x="94" y="1235"/>
                </a:cubicBezTo>
                <a:cubicBezTo>
                  <a:pt x="83" y="1227"/>
                  <a:pt x="72" y="1218"/>
                  <a:pt x="62" y="1209"/>
                </a:cubicBezTo>
                <a:cubicBezTo>
                  <a:pt x="53" y="1199"/>
                  <a:pt x="44" y="1188"/>
                  <a:pt x="36" y="1177"/>
                </a:cubicBezTo>
                <a:cubicBezTo>
                  <a:pt x="28" y="1165"/>
                  <a:pt x="22" y="1153"/>
                  <a:pt x="17" y="1140"/>
                </a:cubicBezTo>
                <a:cubicBezTo>
                  <a:pt x="11" y="1127"/>
                  <a:pt x="7" y="1114"/>
                  <a:pt x="4" y="1100"/>
                </a:cubicBezTo>
                <a:cubicBezTo>
                  <a:pt x="2" y="1087"/>
                  <a:pt x="0" y="1073"/>
                  <a:pt x="0" y="1059"/>
                </a:cubicBezTo>
                <a:close/>
              </a:path>
            </a:pathLst>
          </a:custGeom>
          <a:solidFill>
            <a:srgbClr val="5B9BD5"/>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61" name="CuadroTexto 760"/>
          <p:cNvSpPr txBox="1"/>
          <p:nvPr/>
        </p:nvSpPr>
        <p:spPr>
          <a:xfrm>
            <a:off x="2685960" y="3141930"/>
            <a:ext cx="438948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Estructura de control cíclica con número de iteraciones conocido</a:t>
            </a:r>
            <a:endParaRPr lang="en-US" sz="1350" b="0" u="none" strike="noStrike">
              <a:solidFill>
                <a:srgbClr val="000000"/>
              </a:solidFill>
              <a:effectLst/>
              <a:uFillTx/>
              <a:latin typeface="Times New Roman"/>
            </a:endParaRPr>
          </a:p>
        </p:txBody>
      </p:sp>
      <p:sp>
        <p:nvSpPr>
          <p:cNvPr id="762" name="CuadroTexto 761"/>
          <p:cNvSpPr txBox="1"/>
          <p:nvPr/>
        </p:nvSpPr>
        <p:spPr>
          <a:xfrm>
            <a:off x="2256480" y="4191690"/>
            <a:ext cx="190080" cy="212040"/>
          </a:xfrm>
          <a:prstGeom prst="rect">
            <a:avLst/>
          </a:prstGeom>
          <a:noFill/>
          <a:ln w="0">
            <a:noFill/>
          </a:ln>
        </p:spPr>
        <p:txBody>
          <a:bodyPr wrap="none" lIns="0" tIns="0" rIns="0" bIns="0" anchor="t">
            <a:spAutoFit/>
          </a:bodyPr>
          <a:lstStyle/>
          <a:p>
            <a:r>
              <a:rPr lang="en-US" sz="1500" b="0" u="none" strike="noStrike">
                <a:solidFill>
                  <a:srgbClr val="FFFFFF"/>
                </a:solidFill>
                <a:effectLst/>
                <a:uFillTx/>
                <a:latin typeface="CrimsonPro"/>
                <a:ea typeface="CrimsonPro"/>
              </a:rPr>
              <a:t>2</a:t>
            </a:r>
            <a:endParaRPr lang="en-US" sz="1500" b="0" u="none" strike="noStrike">
              <a:solidFill>
                <a:srgbClr val="000000"/>
              </a:solidFill>
              <a:effectLst/>
              <a:uFillTx/>
              <a:latin typeface="Times New Roman"/>
            </a:endParaRPr>
          </a:p>
        </p:txBody>
      </p:sp>
      <p:sp>
        <p:nvSpPr>
          <p:cNvPr id="763" name="CuadroTexto 762"/>
          <p:cNvSpPr txBox="1"/>
          <p:nvPr/>
        </p:nvSpPr>
        <p:spPr>
          <a:xfrm>
            <a:off x="2685960" y="4090890"/>
            <a:ext cx="1149480" cy="253440"/>
          </a:xfrm>
          <a:prstGeom prst="rect">
            <a:avLst/>
          </a:prstGeom>
          <a:noFill/>
          <a:ln w="0">
            <a:noFill/>
          </a:ln>
        </p:spPr>
        <p:txBody>
          <a:bodyPr wrap="none" lIns="0" tIns="0" rIns="0" bIns="0" anchor="t">
            <a:spAutoFit/>
          </a:bodyPr>
          <a:lstStyle/>
          <a:p>
            <a:r>
              <a:rPr lang="en-US" sz="1800" b="0" u="none" strike="noStrike">
                <a:solidFill>
                  <a:srgbClr val="000000"/>
                </a:solidFill>
                <a:effectLst/>
                <a:uFillTx/>
                <a:latin typeface="CrimsonPro"/>
                <a:ea typeface="CrimsonPro"/>
              </a:rPr>
              <a:t>Ciclos While</a:t>
            </a:r>
            <a:endParaRPr lang="en-US" sz="1800" b="0" u="none" strike="noStrike">
              <a:solidFill>
                <a:srgbClr val="000000"/>
              </a:solidFill>
              <a:effectLst/>
              <a:uFillTx/>
              <a:latin typeface="Times New Roman"/>
            </a:endParaRPr>
          </a:p>
        </p:txBody>
      </p:sp>
      <p:sp>
        <p:nvSpPr>
          <p:cNvPr id="764" name="Forma libre: forma 763"/>
          <p:cNvSpPr/>
          <p:nvPr/>
        </p:nvSpPr>
        <p:spPr>
          <a:xfrm>
            <a:off x="2076120" y="5419650"/>
            <a:ext cx="457560" cy="457560"/>
          </a:xfrm>
          <a:custGeom>
            <a:avLst/>
            <a:gdLst/>
            <a:ahLst/>
            <a:cxnLst/>
            <a:rect l="0" t="0" r="r" b="b"/>
            <a:pathLst>
              <a:path w="1271" h="1271">
                <a:moveTo>
                  <a:pt x="0" y="1058"/>
                </a:moveTo>
                <a:lnTo>
                  <a:pt x="0" y="211"/>
                </a:lnTo>
                <a:cubicBezTo>
                  <a:pt x="0" y="197"/>
                  <a:pt x="2" y="184"/>
                  <a:pt x="4" y="170"/>
                </a:cubicBezTo>
                <a:cubicBezTo>
                  <a:pt x="7" y="156"/>
                  <a:pt x="11" y="143"/>
                  <a:pt x="17" y="130"/>
                </a:cubicBezTo>
                <a:cubicBezTo>
                  <a:pt x="22" y="118"/>
                  <a:pt x="28" y="105"/>
                  <a:pt x="36" y="94"/>
                </a:cubicBezTo>
                <a:cubicBezTo>
                  <a:pt x="44" y="82"/>
                  <a:pt x="53" y="72"/>
                  <a:pt x="62" y="62"/>
                </a:cubicBezTo>
                <a:cubicBezTo>
                  <a:pt x="72" y="52"/>
                  <a:pt x="83" y="43"/>
                  <a:pt x="94" y="35"/>
                </a:cubicBezTo>
                <a:cubicBezTo>
                  <a:pt x="106" y="28"/>
                  <a:pt x="118" y="21"/>
                  <a:pt x="131" y="16"/>
                </a:cubicBezTo>
                <a:cubicBezTo>
                  <a:pt x="144" y="11"/>
                  <a:pt x="157" y="6"/>
                  <a:pt x="171" y="4"/>
                </a:cubicBezTo>
                <a:cubicBezTo>
                  <a:pt x="184" y="1"/>
                  <a:pt x="198" y="0"/>
                  <a:pt x="212" y="0"/>
                </a:cubicBezTo>
                <a:lnTo>
                  <a:pt x="1059" y="0"/>
                </a:lnTo>
                <a:cubicBezTo>
                  <a:pt x="1073" y="0"/>
                  <a:pt x="1086" y="1"/>
                  <a:pt x="1100" y="4"/>
                </a:cubicBezTo>
                <a:cubicBezTo>
                  <a:pt x="1114" y="6"/>
                  <a:pt x="1127" y="11"/>
                  <a:pt x="1140" y="16"/>
                </a:cubicBezTo>
                <a:cubicBezTo>
                  <a:pt x="1153" y="21"/>
                  <a:pt x="1165" y="28"/>
                  <a:pt x="1176" y="35"/>
                </a:cubicBezTo>
                <a:cubicBezTo>
                  <a:pt x="1188" y="43"/>
                  <a:pt x="1199" y="52"/>
                  <a:pt x="1208" y="62"/>
                </a:cubicBezTo>
                <a:cubicBezTo>
                  <a:pt x="1219" y="72"/>
                  <a:pt x="1228" y="82"/>
                  <a:pt x="1236" y="94"/>
                </a:cubicBezTo>
                <a:cubicBezTo>
                  <a:pt x="1243" y="105"/>
                  <a:pt x="1250" y="118"/>
                  <a:pt x="1255" y="130"/>
                </a:cubicBezTo>
                <a:cubicBezTo>
                  <a:pt x="1261" y="143"/>
                  <a:pt x="1265" y="156"/>
                  <a:pt x="1267" y="170"/>
                </a:cubicBezTo>
                <a:cubicBezTo>
                  <a:pt x="1270" y="184"/>
                  <a:pt x="1271" y="197"/>
                  <a:pt x="1271" y="211"/>
                </a:cubicBezTo>
                <a:lnTo>
                  <a:pt x="1271" y="1058"/>
                </a:lnTo>
                <a:cubicBezTo>
                  <a:pt x="1271" y="1073"/>
                  <a:pt x="1270" y="1087"/>
                  <a:pt x="1267" y="1100"/>
                </a:cubicBezTo>
                <a:cubicBezTo>
                  <a:pt x="1265" y="1114"/>
                  <a:pt x="1261" y="1127"/>
                  <a:pt x="1255" y="1140"/>
                </a:cubicBezTo>
                <a:cubicBezTo>
                  <a:pt x="1250" y="1153"/>
                  <a:pt x="1243" y="1165"/>
                  <a:pt x="1236" y="1177"/>
                </a:cubicBezTo>
                <a:cubicBezTo>
                  <a:pt x="1228" y="1188"/>
                  <a:pt x="1219" y="1199"/>
                  <a:pt x="1208" y="1209"/>
                </a:cubicBezTo>
                <a:cubicBezTo>
                  <a:pt x="1199" y="1219"/>
                  <a:pt x="1188" y="1227"/>
                  <a:pt x="1176" y="1235"/>
                </a:cubicBezTo>
                <a:cubicBezTo>
                  <a:pt x="1165" y="1243"/>
                  <a:pt x="1153" y="1249"/>
                  <a:pt x="1140" y="1255"/>
                </a:cubicBezTo>
                <a:cubicBezTo>
                  <a:pt x="1127" y="1260"/>
                  <a:pt x="1114" y="1264"/>
                  <a:pt x="1100" y="1267"/>
                </a:cubicBezTo>
                <a:cubicBezTo>
                  <a:pt x="1086" y="1269"/>
                  <a:pt x="1073" y="1271"/>
                  <a:pt x="1059" y="1271"/>
                </a:cubicBezTo>
                <a:lnTo>
                  <a:pt x="212" y="1271"/>
                </a:lnTo>
                <a:cubicBezTo>
                  <a:pt x="198" y="1271"/>
                  <a:pt x="184" y="1269"/>
                  <a:pt x="171" y="1267"/>
                </a:cubicBezTo>
                <a:cubicBezTo>
                  <a:pt x="157" y="1264"/>
                  <a:pt x="144" y="1260"/>
                  <a:pt x="131" y="1255"/>
                </a:cubicBezTo>
                <a:cubicBezTo>
                  <a:pt x="118" y="1249"/>
                  <a:pt x="106" y="1243"/>
                  <a:pt x="94" y="1235"/>
                </a:cubicBezTo>
                <a:cubicBezTo>
                  <a:pt x="83" y="1227"/>
                  <a:pt x="72" y="1219"/>
                  <a:pt x="62" y="1209"/>
                </a:cubicBezTo>
                <a:cubicBezTo>
                  <a:pt x="53" y="1199"/>
                  <a:pt x="44" y="1188"/>
                  <a:pt x="36" y="1177"/>
                </a:cubicBezTo>
                <a:cubicBezTo>
                  <a:pt x="28" y="1165"/>
                  <a:pt x="22" y="1153"/>
                  <a:pt x="17" y="1140"/>
                </a:cubicBezTo>
                <a:cubicBezTo>
                  <a:pt x="11" y="1127"/>
                  <a:pt x="7" y="1114"/>
                  <a:pt x="4" y="1100"/>
                </a:cubicBezTo>
                <a:cubicBezTo>
                  <a:pt x="2" y="1087"/>
                  <a:pt x="0" y="1073"/>
                  <a:pt x="0" y="1058"/>
                </a:cubicBezTo>
                <a:close/>
              </a:path>
            </a:pathLst>
          </a:custGeom>
          <a:solidFill>
            <a:srgbClr val="2E5C8A"/>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65" name="CuadroTexto 764"/>
          <p:cNvSpPr txBox="1"/>
          <p:nvPr/>
        </p:nvSpPr>
        <p:spPr>
          <a:xfrm>
            <a:off x="2685960" y="4485090"/>
            <a:ext cx="519948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Estructura iterativa controlada por una condición evaluada antes de ejecutar</a:t>
            </a:r>
            <a:endParaRPr lang="en-US" sz="1350" b="0" u="none" strike="noStrike">
              <a:solidFill>
                <a:srgbClr val="000000"/>
              </a:solidFill>
              <a:effectLst/>
              <a:uFillTx/>
              <a:latin typeface="Times New Roman"/>
            </a:endParaRPr>
          </a:p>
        </p:txBody>
      </p:sp>
      <p:sp>
        <p:nvSpPr>
          <p:cNvPr id="766" name="CuadroTexto 765"/>
          <p:cNvSpPr txBox="1"/>
          <p:nvPr/>
        </p:nvSpPr>
        <p:spPr>
          <a:xfrm>
            <a:off x="2258640" y="5544210"/>
            <a:ext cx="190080" cy="212040"/>
          </a:xfrm>
          <a:prstGeom prst="rect">
            <a:avLst/>
          </a:prstGeom>
          <a:noFill/>
          <a:ln w="0">
            <a:noFill/>
          </a:ln>
        </p:spPr>
        <p:txBody>
          <a:bodyPr wrap="none" lIns="0" tIns="0" rIns="0" bIns="0" anchor="t">
            <a:spAutoFit/>
          </a:bodyPr>
          <a:lstStyle/>
          <a:p>
            <a:r>
              <a:rPr lang="en-US" sz="1500" b="0" u="none" strike="noStrike">
                <a:solidFill>
                  <a:srgbClr val="FFFFFF"/>
                </a:solidFill>
                <a:effectLst/>
                <a:uFillTx/>
                <a:latin typeface="CrimsonPro"/>
                <a:ea typeface="CrimsonPro"/>
              </a:rPr>
              <a:t>3</a:t>
            </a:r>
            <a:endParaRPr lang="en-US" sz="1500" b="0" u="none" strike="noStrike">
              <a:solidFill>
                <a:srgbClr val="000000"/>
              </a:solidFill>
              <a:effectLst/>
              <a:uFillTx/>
              <a:latin typeface="Times New Roman"/>
            </a:endParaRPr>
          </a:p>
        </p:txBody>
      </p:sp>
      <p:sp>
        <p:nvSpPr>
          <p:cNvPr id="767" name="CuadroTexto 766"/>
          <p:cNvSpPr txBox="1"/>
          <p:nvPr/>
        </p:nvSpPr>
        <p:spPr>
          <a:xfrm>
            <a:off x="2685960" y="5443410"/>
            <a:ext cx="1425960" cy="253440"/>
          </a:xfrm>
          <a:prstGeom prst="rect">
            <a:avLst/>
          </a:prstGeom>
          <a:noFill/>
          <a:ln w="0">
            <a:noFill/>
          </a:ln>
        </p:spPr>
        <p:txBody>
          <a:bodyPr wrap="none" lIns="0" tIns="0" rIns="0" bIns="0" anchor="t">
            <a:spAutoFit/>
          </a:bodyPr>
          <a:lstStyle/>
          <a:p>
            <a:r>
              <a:rPr lang="en-US" sz="1800" b="0" u="none" strike="noStrike">
                <a:solidFill>
                  <a:srgbClr val="000000"/>
                </a:solidFill>
                <a:effectLst/>
                <a:uFillTx/>
                <a:latin typeface="CrimsonPro"/>
                <a:ea typeface="CrimsonPro"/>
              </a:rPr>
              <a:t>Ciclos do While</a:t>
            </a:r>
            <a:endParaRPr lang="en-US" sz="1800" b="0" u="none" strike="noStrike">
              <a:solidFill>
                <a:srgbClr val="000000"/>
              </a:solidFill>
              <a:effectLst/>
              <a:uFillTx/>
              <a:latin typeface="Times New Roman"/>
            </a:endParaRPr>
          </a:p>
        </p:txBody>
      </p:sp>
      <p:sp>
        <p:nvSpPr>
          <p:cNvPr id="768" name="Forma libre: forma 767"/>
          <p:cNvSpPr/>
          <p:nvPr/>
        </p:nvSpPr>
        <p:spPr>
          <a:xfrm>
            <a:off x="571320" y="6743520"/>
            <a:ext cx="11049480" cy="9720"/>
          </a:xfrm>
          <a:custGeom>
            <a:avLst/>
            <a:gdLst/>
            <a:ahLst/>
            <a:cxnLst/>
            <a:rect l="0" t="0" r="r" b="b"/>
            <a:pathLst>
              <a:path w="30693" h="27">
                <a:moveTo>
                  <a:pt x="0" y="0"/>
                </a:moveTo>
                <a:lnTo>
                  <a:pt x="30693" y="0"/>
                </a:lnTo>
                <a:lnTo>
                  <a:pt x="30693"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69" name="CuadroTexto 768"/>
          <p:cNvSpPr txBox="1"/>
          <p:nvPr/>
        </p:nvSpPr>
        <p:spPr>
          <a:xfrm>
            <a:off x="2685960" y="5837610"/>
            <a:ext cx="472536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Estructura que ejecuta al menos una vez antes de evaluar la condición</a:t>
            </a:r>
            <a:endParaRPr lang="en-US" sz="1350" b="0" u="none" strike="noStrike">
              <a:solidFill>
                <a:srgbClr val="000000"/>
              </a:solidFill>
              <a:effectLst/>
              <a:uFillTx/>
              <a:latin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 name="Forma libre: forma 771"/>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73" name="Forma libre: forma 772"/>
          <p:cNvSpPr/>
          <p:nvPr/>
        </p:nvSpPr>
        <p:spPr>
          <a:xfrm>
            <a:off x="590400" y="1457280"/>
            <a:ext cx="6077160" cy="1705320"/>
          </a:xfrm>
          <a:custGeom>
            <a:avLst/>
            <a:gdLst/>
            <a:ahLst/>
            <a:cxnLst/>
            <a:rect l="0" t="0" r="r" b="b"/>
            <a:pathLst>
              <a:path w="16881" h="4737">
                <a:moveTo>
                  <a:pt x="0" y="4419"/>
                </a:moveTo>
                <a:lnTo>
                  <a:pt x="0" y="317"/>
                </a:lnTo>
                <a:cubicBezTo>
                  <a:pt x="0" y="296"/>
                  <a:pt x="2" y="276"/>
                  <a:pt x="5" y="255"/>
                </a:cubicBezTo>
                <a:cubicBezTo>
                  <a:pt x="8" y="235"/>
                  <a:pt x="13" y="215"/>
                  <a:pt x="20" y="196"/>
                </a:cubicBezTo>
                <a:cubicBezTo>
                  <a:pt x="27" y="176"/>
                  <a:pt x="35" y="158"/>
                  <a:pt x="45" y="141"/>
                </a:cubicBezTo>
                <a:cubicBezTo>
                  <a:pt x="54" y="123"/>
                  <a:pt x="65" y="107"/>
                  <a:pt x="77" y="93"/>
                </a:cubicBezTo>
                <a:cubicBezTo>
                  <a:pt x="90" y="78"/>
                  <a:pt x="103" y="65"/>
                  <a:pt x="118" y="53"/>
                </a:cubicBezTo>
                <a:cubicBezTo>
                  <a:pt x="132" y="42"/>
                  <a:pt x="147" y="32"/>
                  <a:pt x="163" y="24"/>
                </a:cubicBezTo>
                <a:cubicBezTo>
                  <a:pt x="179" y="16"/>
                  <a:pt x="196" y="10"/>
                  <a:pt x="213" y="6"/>
                </a:cubicBezTo>
                <a:cubicBezTo>
                  <a:pt x="230" y="2"/>
                  <a:pt x="247" y="0"/>
                  <a:pt x="264" y="0"/>
                </a:cubicBezTo>
                <a:lnTo>
                  <a:pt x="16564" y="0"/>
                </a:lnTo>
                <a:cubicBezTo>
                  <a:pt x="16585" y="0"/>
                  <a:pt x="16605" y="2"/>
                  <a:pt x="16626" y="6"/>
                </a:cubicBezTo>
                <a:cubicBezTo>
                  <a:pt x="16646" y="10"/>
                  <a:pt x="16666" y="16"/>
                  <a:pt x="16685" y="24"/>
                </a:cubicBezTo>
                <a:cubicBezTo>
                  <a:pt x="16705" y="32"/>
                  <a:pt x="16723" y="42"/>
                  <a:pt x="16740" y="53"/>
                </a:cubicBezTo>
                <a:cubicBezTo>
                  <a:pt x="16758" y="65"/>
                  <a:pt x="16774" y="78"/>
                  <a:pt x="16788" y="93"/>
                </a:cubicBezTo>
                <a:cubicBezTo>
                  <a:pt x="16803" y="107"/>
                  <a:pt x="16816" y="123"/>
                  <a:pt x="16828" y="141"/>
                </a:cubicBezTo>
                <a:cubicBezTo>
                  <a:pt x="16839" y="158"/>
                  <a:pt x="16849" y="176"/>
                  <a:pt x="16857" y="196"/>
                </a:cubicBezTo>
                <a:cubicBezTo>
                  <a:pt x="16865" y="215"/>
                  <a:pt x="16871" y="235"/>
                  <a:pt x="16875" y="255"/>
                </a:cubicBezTo>
                <a:cubicBezTo>
                  <a:pt x="16879" y="276"/>
                  <a:pt x="16881" y="296"/>
                  <a:pt x="16881" y="317"/>
                </a:cubicBezTo>
                <a:lnTo>
                  <a:pt x="16881" y="4419"/>
                </a:lnTo>
                <a:cubicBezTo>
                  <a:pt x="16881" y="4440"/>
                  <a:pt x="16879" y="4461"/>
                  <a:pt x="16875" y="4481"/>
                </a:cubicBezTo>
                <a:cubicBezTo>
                  <a:pt x="16871" y="4502"/>
                  <a:pt x="16865" y="4521"/>
                  <a:pt x="16857" y="4541"/>
                </a:cubicBezTo>
                <a:cubicBezTo>
                  <a:pt x="16849" y="4560"/>
                  <a:pt x="16839" y="4578"/>
                  <a:pt x="16828" y="4596"/>
                </a:cubicBezTo>
                <a:cubicBezTo>
                  <a:pt x="16816" y="4613"/>
                  <a:pt x="16803" y="4629"/>
                  <a:pt x="16788" y="4644"/>
                </a:cubicBezTo>
                <a:cubicBezTo>
                  <a:pt x="16774" y="4658"/>
                  <a:pt x="16758" y="4672"/>
                  <a:pt x="16740" y="4683"/>
                </a:cubicBezTo>
                <a:cubicBezTo>
                  <a:pt x="16723" y="4695"/>
                  <a:pt x="16705" y="4705"/>
                  <a:pt x="16685" y="4712"/>
                </a:cubicBezTo>
                <a:cubicBezTo>
                  <a:pt x="16666" y="4720"/>
                  <a:pt x="16646" y="4726"/>
                  <a:pt x="16626" y="4731"/>
                </a:cubicBezTo>
                <a:cubicBezTo>
                  <a:pt x="16605" y="4735"/>
                  <a:pt x="16585" y="4737"/>
                  <a:pt x="16564" y="4737"/>
                </a:cubicBezTo>
                <a:lnTo>
                  <a:pt x="264" y="4737"/>
                </a:lnTo>
                <a:cubicBezTo>
                  <a:pt x="247" y="4737"/>
                  <a:pt x="230" y="4735"/>
                  <a:pt x="213" y="4731"/>
                </a:cubicBezTo>
                <a:cubicBezTo>
                  <a:pt x="196" y="4726"/>
                  <a:pt x="179" y="4720"/>
                  <a:pt x="163" y="4712"/>
                </a:cubicBezTo>
                <a:cubicBezTo>
                  <a:pt x="147" y="4705"/>
                  <a:pt x="132" y="4695"/>
                  <a:pt x="118" y="4683"/>
                </a:cubicBezTo>
                <a:cubicBezTo>
                  <a:pt x="103" y="4672"/>
                  <a:pt x="90" y="4658"/>
                  <a:pt x="77" y="4644"/>
                </a:cubicBezTo>
                <a:cubicBezTo>
                  <a:pt x="65" y="4629"/>
                  <a:pt x="54" y="4613"/>
                  <a:pt x="45" y="4596"/>
                </a:cubicBezTo>
                <a:cubicBezTo>
                  <a:pt x="35" y="4578"/>
                  <a:pt x="27" y="4560"/>
                  <a:pt x="20" y="4541"/>
                </a:cubicBezTo>
                <a:cubicBezTo>
                  <a:pt x="13" y="4521"/>
                  <a:pt x="8" y="4502"/>
                  <a:pt x="5" y="4481"/>
                </a:cubicBezTo>
                <a:cubicBezTo>
                  <a:pt x="2" y="4461"/>
                  <a:pt x="0" y="4440"/>
                  <a:pt x="0" y="4419"/>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74" name="Forma libre: forma 773"/>
          <p:cNvSpPr/>
          <p:nvPr/>
        </p:nvSpPr>
        <p:spPr>
          <a:xfrm>
            <a:off x="571320" y="1457280"/>
            <a:ext cx="114480" cy="1705320"/>
          </a:xfrm>
          <a:custGeom>
            <a:avLst/>
            <a:gdLst/>
            <a:ahLst/>
            <a:cxnLst/>
            <a:rect l="0" t="0" r="r" b="b"/>
            <a:pathLst>
              <a:path w="318" h="4737">
                <a:moveTo>
                  <a:pt x="0" y="0"/>
                </a:moveTo>
                <a:lnTo>
                  <a:pt x="318" y="0"/>
                </a:lnTo>
                <a:lnTo>
                  <a:pt x="318" y="4737"/>
                </a:lnTo>
                <a:lnTo>
                  <a:pt x="0" y="4737"/>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75" name="CuadroTexto 774"/>
          <p:cNvSpPr txBox="1"/>
          <p:nvPr/>
        </p:nvSpPr>
        <p:spPr>
          <a:xfrm>
            <a:off x="571320" y="569160"/>
            <a:ext cx="248904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Bucles - Ciclo FOR</a:t>
            </a:r>
            <a:endParaRPr lang="en-US" sz="2700" b="0" u="none" strike="noStrike">
              <a:solidFill>
                <a:srgbClr val="000000"/>
              </a:solidFill>
              <a:effectLst/>
              <a:uFillTx/>
              <a:latin typeface="Times New Roman"/>
            </a:endParaRPr>
          </a:p>
        </p:txBody>
      </p:sp>
      <p:sp>
        <p:nvSpPr>
          <p:cNvPr id="776" name="CuadroTexto 775"/>
          <p:cNvSpPr txBox="1"/>
          <p:nvPr/>
        </p:nvSpPr>
        <p:spPr>
          <a:xfrm>
            <a:off x="838080" y="1709640"/>
            <a:ext cx="94896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Definición</a:t>
            </a:r>
            <a:endParaRPr lang="en-US" sz="1800" b="0" u="none" strike="noStrike">
              <a:solidFill>
                <a:srgbClr val="000000"/>
              </a:solidFill>
              <a:effectLst/>
              <a:uFillTx/>
              <a:latin typeface="Times New Roman"/>
            </a:endParaRPr>
          </a:p>
        </p:txBody>
      </p:sp>
      <p:sp>
        <p:nvSpPr>
          <p:cNvPr id="777" name="CuadroTexto 776"/>
          <p:cNvSpPr txBox="1"/>
          <p:nvPr/>
        </p:nvSpPr>
        <p:spPr>
          <a:xfrm>
            <a:off x="838080" y="2142000"/>
            <a:ext cx="542808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Son una estructura de control cíclica, que permite ejecutar una o varias líneas de</a:t>
            </a:r>
            <a:endParaRPr lang="en-US" sz="1350" b="0" u="none" strike="noStrike">
              <a:solidFill>
                <a:srgbClr val="000000"/>
              </a:solidFill>
              <a:effectLst/>
              <a:uFillTx/>
              <a:latin typeface="Times New Roman"/>
            </a:endParaRPr>
          </a:p>
        </p:txBody>
      </p:sp>
      <p:sp>
        <p:nvSpPr>
          <p:cNvPr id="778" name="CuadroTexto 777"/>
          <p:cNvSpPr txBox="1"/>
          <p:nvPr/>
        </p:nvSpPr>
        <p:spPr>
          <a:xfrm>
            <a:off x="838080" y="2418120"/>
            <a:ext cx="52621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código de forma iterativa (o repetitiva), pero teniendo control y conocimiento</a:t>
            </a:r>
            <a:endParaRPr lang="en-US" sz="1350" b="0" u="none" strike="noStrike">
              <a:solidFill>
                <a:srgbClr val="000000"/>
              </a:solidFill>
              <a:effectLst/>
              <a:uFillTx/>
              <a:latin typeface="Times New Roman"/>
            </a:endParaRPr>
          </a:p>
        </p:txBody>
      </p:sp>
      <p:sp>
        <p:nvSpPr>
          <p:cNvPr id="779" name="Forma libre: forma 778"/>
          <p:cNvSpPr/>
          <p:nvPr/>
        </p:nvSpPr>
        <p:spPr>
          <a:xfrm>
            <a:off x="571320" y="3390840"/>
            <a:ext cx="6096240" cy="2210040"/>
          </a:xfrm>
          <a:custGeom>
            <a:avLst/>
            <a:gdLst/>
            <a:ahLst/>
            <a:cxnLst/>
            <a:rect l="0" t="0" r="r" b="b"/>
            <a:pathLst>
              <a:path w="16934" h="6139">
                <a:moveTo>
                  <a:pt x="0" y="5820"/>
                </a:moveTo>
                <a:lnTo>
                  <a:pt x="0" y="317"/>
                </a:lnTo>
                <a:cubicBezTo>
                  <a:pt x="0" y="296"/>
                  <a:pt x="2" y="276"/>
                  <a:pt x="6" y="255"/>
                </a:cubicBezTo>
                <a:cubicBezTo>
                  <a:pt x="10" y="235"/>
                  <a:pt x="16" y="215"/>
                  <a:pt x="24" y="196"/>
                </a:cubicBezTo>
                <a:cubicBezTo>
                  <a:pt x="32" y="176"/>
                  <a:pt x="42" y="158"/>
                  <a:pt x="54" y="141"/>
                </a:cubicBezTo>
                <a:cubicBezTo>
                  <a:pt x="65" y="123"/>
                  <a:pt x="78" y="107"/>
                  <a:pt x="93" y="93"/>
                </a:cubicBezTo>
                <a:cubicBezTo>
                  <a:pt x="108" y="78"/>
                  <a:pt x="124" y="65"/>
                  <a:pt x="141" y="53"/>
                </a:cubicBezTo>
                <a:cubicBezTo>
                  <a:pt x="158" y="42"/>
                  <a:pt x="177" y="32"/>
                  <a:pt x="196" y="24"/>
                </a:cubicBezTo>
                <a:cubicBezTo>
                  <a:pt x="215" y="16"/>
                  <a:pt x="235" y="10"/>
                  <a:pt x="256" y="6"/>
                </a:cubicBezTo>
                <a:cubicBezTo>
                  <a:pt x="276" y="2"/>
                  <a:pt x="297" y="0"/>
                  <a:pt x="317" y="0"/>
                </a:cubicBezTo>
                <a:lnTo>
                  <a:pt x="16617" y="0"/>
                </a:lnTo>
                <a:cubicBezTo>
                  <a:pt x="16638" y="0"/>
                  <a:pt x="16658" y="2"/>
                  <a:pt x="16679" y="6"/>
                </a:cubicBezTo>
                <a:cubicBezTo>
                  <a:pt x="16699" y="10"/>
                  <a:pt x="16719" y="16"/>
                  <a:pt x="16738" y="24"/>
                </a:cubicBezTo>
                <a:cubicBezTo>
                  <a:pt x="16758" y="32"/>
                  <a:pt x="16776" y="42"/>
                  <a:pt x="16793" y="53"/>
                </a:cubicBezTo>
                <a:cubicBezTo>
                  <a:pt x="16811" y="65"/>
                  <a:pt x="16827" y="78"/>
                  <a:pt x="16841" y="93"/>
                </a:cubicBezTo>
                <a:cubicBezTo>
                  <a:pt x="16856" y="107"/>
                  <a:pt x="16869" y="123"/>
                  <a:pt x="16881" y="141"/>
                </a:cubicBezTo>
                <a:cubicBezTo>
                  <a:pt x="16892" y="158"/>
                  <a:pt x="16902" y="176"/>
                  <a:pt x="16910" y="196"/>
                </a:cubicBezTo>
                <a:cubicBezTo>
                  <a:pt x="16918" y="215"/>
                  <a:pt x="16924" y="235"/>
                  <a:pt x="16928" y="255"/>
                </a:cubicBezTo>
                <a:cubicBezTo>
                  <a:pt x="16932" y="276"/>
                  <a:pt x="16934" y="296"/>
                  <a:pt x="16934" y="317"/>
                </a:cubicBezTo>
                <a:lnTo>
                  <a:pt x="16934" y="5820"/>
                </a:lnTo>
                <a:cubicBezTo>
                  <a:pt x="16934" y="5841"/>
                  <a:pt x="16932" y="5862"/>
                  <a:pt x="16928" y="5882"/>
                </a:cubicBezTo>
                <a:cubicBezTo>
                  <a:pt x="16924" y="5903"/>
                  <a:pt x="16918" y="5923"/>
                  <a:pt x="16910" y="5943"/>
                </a:cubicBezTo>
                <a:cubicBezTo>
                  <a:pt x="16902" y="5962"/>
                  <a:pt x="16892" y="5981"/>
                  <a:pt x="16881" y="5998"/>
                </a:cubicBezTo>
                <a:cubicBezTo>
                  <a:pt x="16869" y="6015"/>
                  <a:pt x="16856" y="6031"/>
                  <a:pt x="16841" y="6046"/>
                </a:cubicBezTo>
                <a:cubicBezTo>
                  <a:pt x="16827" y="6061"/>
                  <a:pt x="16811" y="6074"/>
                  <a:pt x="16793" y="6085"/>
                </a:cubicBezTo>
                <a:cubicBezTo>
                  <a:pt x="16776" y="6097"/>
                  <a:pt x="16758" y="6107"/>
                  <a:pt x="16738" y="6115"/>
                </a:cubicBezTo>
                <a:cubicBezTo>
                  <a:pt x="16719" y="6123"/>
                  <a:pt x="16699" y="6129"/>
                  <a:pt x="16679" y="6133"/>
                </a:cubicBezTo>
                <a:cubicBezTo>
                  <a:pt x="16658" y="6137"/>
                  <a:pt x="16638" y="6139"/>
                  <a:pt x="16617" y="6139"/>
                </a:cubicBezTo>
                <a:lnTo>
                  <a:pt x="317" y="6139"/>
                </a:lnTo>
                <a:cubicBezTo>
                  <a:pt x="297" y="6139"/>
                  <a:pt x="276" y="6137"/>
                  <a:pt x="256" y="6133"/>
                </a:cubicBezTo>
                <a:cubicBezTo>
                  <a:pt x="235" y="6129"/>
                  <a:pt x="215" y="6123"/>
                  <a:pt x="196" y="6115"/>
                </a:cubicBezTo>
                <a:cubicBezTo>
                  <a:pt x="177" y="6107"/>
                  <a:pt x="158" y="6097"/>
                  <a:pt x="141" y="6085"/>
                </a:cubicBezTo>
                <a:cubicBezTo>
                  <a:pt x="124" y="6074"/>
                  <a:pt x="108" y="6061"/>
                  <a:pt x="93" y="6046"/>
                </a:cubicBezTo>
                <a:cubicBezTo>
                  <a:pt x="78" y="6031"/>
                  <a:pt x="65" y="6015"/>
                  <a:pt x="54" y="5998"/>
                </a:cubicBezTo>
                <a:cubicBezTo>
                  <a:pt x="42" y="5981"/>
                  <a:pt x="32" y="5962"/>
                  <a:pt x="24" y="5943"/>
                </a:cubicBezTo>
                <a:cubicBezTo>
                  <a:pt x="16" y="5923"/>
                  <a:pt x="10" y="5903"/>
                  <a:pt x="6" y="5882"/>
                </a:cubicBezTo>
                <a:cubicBezTo>
                  <a:pt x="2" y="5862"/>
                  <a:pt x="0" y="5841"/>
                  <a:pt x="0" y="582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80" name="CuadroTexto 779"/>
          <p:cNvSpPr txBox="1"/>
          <p:nvPr/>
        </p:nvSpPr>
        <p:spPr>
          <a:xfrm>
            <a:off x="838080" y="2694240"/>
            <a:ext cx="141948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sobre las iteraciones.</a:t>
            </a:r>
            <a:endParaRPr lang="en-US" sz="1350" b="0" u="none" strike="noStrike">
              <a:solidFill>
                <a:srgbClr val="000000"/>
              </a:solidFill>
              <a:effectLst/>
              <a:uFillTx/>
              <a:latin typeface="Times New Roman"/>
            </a:endParaRPr>
          </a:p>
        </p:txBody>
      </p:sp>
      <p:sp>
        <p:nvSpPr>
          <p:cNvPr id="781" name="Forma libre: forma 780"/>
          <p:cNvSpPr/>
          <p:nvPr/>
        </p:nvSpPr>
        <p:spPr>
          <a:xfrm>
            <a:off x="799920" y="4114440"/>
            <a:ext cx="76680" cy="76680"/>
          </a:xfrm>
          <a:custGeom>
            <a:avLst/>
            <a:gdLst/>
            <a:ahLst/>
            <a:cxnLst/>
            <a:rect l="0" t="0" r="r" b="b"/>
            <a:pathLst>
              <a:path w="213" h="213">
                <a:moveTo>
                  <a:pt x="213" y="107"/>
                </a:moveTo>
                <a:cubicBezTo>
                  <a:pt x="213" y="121"/>
                  <a:pt x="210" y="135"/>
                  <a:pt x="204" y="148"/>
                </a:cubicBezTo>
                <a:cubicBezTo>
                  <a:pt x="198" y="161"/>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1"/>
                  <a:pt x="8" y="148"/>
                </a:cubicBezTo>
                <a:cubicBezTo>
                  <a:pt x="3" y="135"/>
                  <a:pt x="0" y="121"/>
                  <a:pt x="0" y="107"/>
                </a:cubicBezTo>
                <a:cubicBezTo>
                  <a:pt x="0" y="93"/>
                  <a:pt x="3" y="80"/>
                  <a:pt x="8" y="66"/>
                </a:cubicBezTo>
                <a:cubicBezTo>
                  <a:pt x="13" y="53"/>
                  <a:pt x="21" y="41"/>
                  <a:pt x="31" y="31"/>
                </a:cubicBezTo>
                <a:cubicBezTo>
                  <a:pt x="41" y="22"/>
                  <a:pt x="52" y="14"/>
                  <a:pt x="65" y="9"/>
                </a:cubicBezTo>
                <a:cubicBezTo>
                  <a:pt x="78" y="3"/>
                  <a:pt x="92" y="0"/>
                  <a:pt x="106" y="0"/>
                </a:cubicBezTo>
                <a:cubicBezTo>
                  <a:pt x="120" y="0"/>
                  <a:pt x="133" y="3"/>
                  <a:pt x="146" y="9"/>
                </a:cubicBezTo>
                <a:cubicBezTo>
                  <a:pt x="159" y="14"/>
                  <a:pt x="171" y="22"/>
                  <a:pt x="181" y="31"/>
                </a:cubicBezTo>
                <a:cubicBezTo>
                  <a:pt x="191" y="41"/>
                  <a:pt x="198" y="53"/>
                  <a:pt x="204" y="66"/>
                </a:cubicBezTo>
                <a:cubicBezTo>
                  <a:pt x="210" y="80"/>
                  <a:pt x="213" y="93"/>
                  <a:pt x="213" y="107"/>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82" name="CuadroTexto 781"/>
          <p:cNvSpPr txBox="1"/>
          <p:nvPr/>
        </p:nvSpPr>
        <p:spPr>
          <a:xfrm>
            <a:off x="799920" y="3648960"/>
            <a:ext cx="211356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Características del Ciclo For</a:t>
            </a:r>
            <a:endParaRPr lang="en-US" sz="1500" b="0" u="none" strike="noStrike">
              <a:solidFill>
                <a:srgbClr val="000000"/>
              </a:solidFill>
              <a:effectLst/>
              <a:uFillTx/>
              <a:latin typeface="Times New Roman"/>
            </a:endParaRPr>
          </a:p>
        </p:txBody>
      </p:sp>
      <p:sp>
        <p:nvSpPr>
          <p:cNvPr id="783" name="Forma libre: forma 782"/>
          <p:cNvSpPr/>
          <p:nvPr/>
        </p:nvSpPr>
        <p:spPr>
          <a:xfrm>
            <a:off x="799920" y="4476600"/>
            <a:ext cx="76680" cy="76680"/>
          </a:xfrm>
          <a:custGeom>
            <a:avLst/>
            <a:gdLst/>
            <a:ahLst/>
            <a:cxnLst/>
            <a:rect l="0" t="0" r="r" b="b"/>
            <a:pathLst>
              <a:path w="213" h="213">
                <a:moveTo>
                  <a:pt x="213" y="106"/>
                </a:moveTo>
                <a:cubicBezTo>
                  <a:pt x="213" y="121"/>
                  <a:pt x="210" y="134"/>
                  <a:pt x="204"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6"/>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4" y="65"/>
                </a:cubicBezTo>
                <a:cubicBezTo>
                  <a:pt x="210" y="78"/>
                  <a:pt x="213" y="92"/>
                  <a:pt x="213"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84" name="CuadroTexto 783"/>
          <p:cNvSpPr txBox="1"/>
          <p:nvPr/>
        </p:nvSpPr>
        <p:spPr>
          <a:xfrm>
            <a:off x="990720" y="4073400"/>
            <a:ext cx="20343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Es necesario tener un </a:t>
            </a:r>
            <a:r>
              <a:rPr lang="en-US" sz="1200" b="0" u="none" strike="noStrike">
                <a:solidFill>
                  <a:srgbClr val="000000"/>
                </a:solidFill>
                <a:effectLst/>
                <a:uFillTx/>
                <a:latin typeface="CrimsonPro"/>
                <a:ea typeface="CrimsonPro"/>
              </a:rPr>
              <a:t>valor inicial</a:t>
            </a:r>
            <a:endParaRPr lang="en-US" sz="1200" b="0" u="none" strike="noStrike">
              <a:solidFill>
                <a:srgbClr val="000000"/>
              </a:solidFill>
              <a:effectLst/>
              <a:uFillTx/>
              <a:latin typeface="Times New Roman"/>
            </a:endParaRPr>
          </a:p>
        </p:txBody>
      </p:sp>
      <p:sp>
        <p:nvSpPr>
          <p:cNvPr id="785" name="Forma libre: forma 784"/>
          <p:cNvSpPr/>
          <p:nvPr/>
        </p:nvSpPr>
        <p:spPr>
          <a:xfrm>
            <a:off x="799920" y="4838400"/>
            <a:ext cx="76680" cy="76680"/>
          </a:xfrm>
          <a:custGeom>
            <a:avLst/>
            <a:gdLst/>
            <a:ahLst/>
            <a:cxnLst/>
            <a:rect l="0" t="0" r="r" b="b"/>
            <a:pathLst>
              <a:path w="213" h="213">
                <a:moveTo>
                  <a:pt x="213" y="106"/>
                </a:moveTo>
                <a:cubicBezTo>
                  <a:pt x="213" y="120"/>
                  <a:pt x="210" y="134"/>
                  <a:pt x="204" y="147"/>
                </a:cubicBezTo>
                <a:cubicBezTo>
                  <a:pt x="198" y="160"/>
                  <a:pt x="191" y="172"/>
                  <a:pt x="181" y="182"/>
                </a:cubicBezTo>
                <a:cubicBezTo>
                  <a:pt x="171" y="192"/>
                  <a:pt x="159" y="200"/>
                  <a:pt x="146" y="205"/>
                </a:cubicBezTo>
                <a:cubicBezTo>
                  <a:pt x="133" y="210"/>
                  <a:pt x="120" y="213"/>
                  <a:pt x="106" y="213"/>
                </a:cubicBezTo>
                <a:cubicBezTo>
                  <a:pt x="92" y="213"/>
                  <a:pt x="78" y="210"/>
                  <a:pt x="65" y="205"/>
                </a:cubicBezTo>
                <a:cubicBezTo>
                  <a:pt x="52" y="200"/>
                  <a:pt x="41" y="192"/>
                  <a:pt x="31" y="182"/>
                </a:cubicBezTo>
                <a:cubicBezTo>
                  <a:pt x="21" y="172"/>
                  <a:pt x="13" y="160"/>
                  <a:pt x="8" y="147"/>
                </a:cubicBezTo>
                <a:cubicBezTo>
                  <a:pt x="3" y="134"/>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4" y="66"/>
                </a:cubicBezTo>
                <a:cubicBezTo>
                  <a:pt x="210" y="79"/>
                  <a:pt x="213" y="92"/>
                  <a:pt x="213"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86" name="CuadroTexto 785"/>
          <p:cNvSpPr txBox="1"/>
          <p:nvPr/>
        </p:nvSpPr>
        <p:spPr>
          <a:xfrm>
            <a:off x="990720" y="4435560"/>
            <a:ext cx="207612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Requiere una </a:t>
            </a:r>
            <a:r>
              <a:rPr lang="en-US" sz="1200" b="0" u="none" strike="noStrike">
                <a:solidFill>
                  <a:srgbClr val="000000"/>
                </a:solidFill>
                <a:effectLst/>
                <a:uFillTx/>
                <a:latin typeface="CrimsonPro"/>
                <a:ea typeface="CrimsonPro"/>
              </a:rPr>
              <a:t>condición</a:t>
            </a:r>
            <a:r>
              <a:rPr lang="en-US" sz="1200" b="0" u="none" strike="noStrike">
                <a:solidFill>
                  <a:srgbClr val="666666"/>
                </a:solidFill>
                <a:effectLst/>
                <a:uFillTx/>
                <a:latin typeface="CrimsonPro"/>
                <a:ea typeface="CrimsonPro"/>
              </a:rPr>
              <a:t> de control</a:t>
            </a:r>
            <a:endParaRPr lang="en-US" sz="1200" b="0" u="none" strike="noStrike">
              <a:solidFill>
                <a:srgbClr val="000000"/>
              </a:solidFill>
              <a:effectLst/>
              <a:uFillTx/>
              <a:latin typeface="Times New Roman"/>
            </a:endParaRPr>
          </a:p>
        </p:txBody>
      </p:sp>
      <p:sp>
        <p:nvSpPr>
          <p:cNvPr id="787" name="Forma libre: forma 786"/>
          <p:cNvSpPr/>
          <p:nvPr/>
        </p:nvSpPr>
        <p:spPr>
          <a:xfrm>
            <a:off x="799920" y="5200560"/>
            <a:ext cx="76680" cy="76320"/>
          </a:xfrm>
          <a:custGeom>
            <a:avLst/>
            <a:gdLst/>
            <a:ahLst/>
            <a:cxnLst/>
            <a:rect l="0" t="0" r="r" b="b"/>
            <a:pathLst>
              <a:path w="213" h="212">
                <a:moveTo>
                  <a:pt x="213" y="107"/>
                </a:moveTo>
                <a:cubicBezTo>
                  <a:pt x="213" y="121"/>
                  <a:pt x="210" y="134"/>
                  <a:pt x="204"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3"/>
                  <a:pt x="3" y="79"/>
                  <a:pt x="8" y="66"/>
                </a:cubicBezTo>
                <a:cubicBezTo>
                  <a:pt x="13" y="53"/>
                  <a:pt x="21" y="42"/>
                  <a:pt x="31" y="32"/>
                </a:cubicBezTo>
                <a:cubicBezTo>
                  <a:pt x="41" y="22"/>
                  <a:pt x="52" y="14"/>
                  <a:pt x="65" y="9"/>
                </a:cubicBezTo>
                <a:cubicBezTo>
                  <a:pt x="78" y="2"/>
                  <a:pt x="92" y="0"/>
                  <a:pt x="106" y="0"/>
                </a:cubicBezTo>
                <a:cubicBezTo>
                  <a:pt x="120" y="0"/>
                  <a:pt x="133" y="2"/>
                  <a:pt x="146" y="9"/>
                </a:cubicBezTo>
                <a:cubicBezTo>
                  <a:pt x="159" y="14"/>
                  <a:pt x="171" y="22"/>
                  <a:pt x="181" y="32"/>
                </a:cubicBezTo>
                <a:cubicBezTo>
                  <a:pt x="191" y="42"/>
                  <a:pt x="198" y="53"/>
                  <a:pt x="204" y="66"/>
                </a:cubicBezTo>
                <a:cubicBezTo>
                  <a:pt x="210" y="79"/>
                  <a:pt x="213" y="93"/>
                  <a:pt x="213" y="107"/>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788" name="CuadroTexto 787"/>
          <p:cNvSpPr txBox="1"/>
          <p:nvPr/>
        </p:nvSpPr>
        <p:spPr>
          <a:xfrm>
            <a:off x="990720" y="4797360"/>
            <a:ext cx="149652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Debe tener un </a:t>
            </a:r>
            <a:r>
              <a:rPr lang="en-US" sz="1200" b="0" u="none" strike="noStrike">
                <a:solidFill>
                  <a:srgbClr val="000000"/>
                </a:solidFill>
                <a:effectLst/>
                <a:uFillTx/>
                <a:latin typeface="CrimsonPro"/>
                <a:ea typeface="CrimsonPro"/>
              </a:rPr>
              <a:t>valor final</a:t>
            </a:r>
            <a:endParaRPr lang="en-US" sz="1200" b="0" u="none" strike="noStrike">
              <a:solidFill>
                <a:srgbClr val="000000"/>
              </a:solidFill>
              <a:effectLst/>
              <a:uFillTx/>
              <a:latin typeface="Times New Roman"/>
            </a:endParaRPr>
          </a:p>
        </p:txBody>
      </p:sp>
      <p:sp>
        <p:nvSpPr>
          <p:cNvPr id="789" name="Forma libre: forma 788"/>
          <p:cNvSpPr/>
          <p:nvPr/>
        </p:nvSpPr>
        <p:spPr>
          <a:xfrm>
            <a:off x="7053120" y="2681280"/>
            <a:ext cx="4562640" cy="1695600"/>
          </a:xfrm>
          <a:custGeom>
            <a:avLst/>
            <a:gdLst/>
            <a:ahLst/>
            <a:cxnLst/>
            <a:rect l="0" t="0" r="r" b="b"/>
            <a:pathLst>
              <a:path w="12674" h="4710">
                <a:moveTo>
                  <a:pt x="0" y="4406"/>
                </a:moveTo>
                <a:lnTo>
                  <a:pt x="0" y="304"/>
                </a:lnTo>
                <a:cubicBezTo>
                  <a:pt x="0" y="284"/>
                  <a:pt x="2" y="264"/>
                  <a:pt x="6" y="244"/>
                </a:cubicBezTo>
                <a:cubicBezTo>
                  <a:pt x="10" y="225"/>
                  <a:pt x="15" y="206"/>
                  <a:pt x="23" y="187"/>
                </a:cubicBezTo>
                <a:cubicBezTo>
                  <a:pt x="31" y="169"/>
                  <a:pt x="40" y="151"/>
                  <a:pt x="51" y="135"/>
                </a:cubicBezTo>
                <a:cubicBezTo>
                  <a:pt x="62" y="118"/>
                  <a:pt x="75" y="103"/>
                  <a:pt x="89" y="89"/>
                </a:cubicBezTo>
                <a:cubicBezTo>
                  <a:pt x="103" y="75"/>
                  <a:pt x="119" y="62"/>
                  <a:pt x="135" y="51"/>
                </a:cubicBezTo>
                <a:cubicBezTo>
                  <a:pt x="152" y="40"/>
                  <a:pt x="169" y="30"/>
                  <a:pt x="188" y="23"/>
                </a:cubicBezTo>
                <a:cubicBezTo>
                  <a:pt x="206" y="15"/>
                  <a:pt x="225" y="9"/>
                  <a:pt x="245" y="5"/>
                </a:cubicBezTo>
                <a:cubicBezTo>
                  <a:pt x="264" y="1"/>
                  <a:pt x="284" y="0"/>
                  <a:pt x="304" y="0"/>
                </a:cubicBezTo>
                <a:lnTo>
                  <a:pt x="12370" y="0"/>
                </a:lnTo>
                <a:cubicBezTo>
                  <a:pt x="12390" y="0"/>
                  <a:pt x="12410" y="1"/>
                  <a:pt x="12430" y="5"/>
                </a:cubicBezTo>
                <a:cubicBezTo>
                  <a:pt x="12449" y="9"/>
                  <a:pt x="12468" y="15"/>
                  <a:pt x="12487" y="23"/>
                </a:cubicBezTo>
                <a:cubicBezTo>
                  <a:pt x="12505" y="30"/>
                  <a:pt x="12523" y="40"/>
                  <a:pt x="12539" y="51"/>
                </a:cubicBezTo>
                <a:cubicBezTo>
                  <a:pt x="12556" y="62"/>
                  <a:pt x="12571" y="75"/>
                  <a:pt x="12585" y="89"/>
                </a:cubicBezTo>
                <a:cubicBezTo>
                  <a:pt x="12599" y="103"/>
                  <a:pt x="12612" y="118"/>
                  <a:pt x="12623" y="135"/>
                </a:cubicBezTo>
                <a:cubicBezTo>
                  <a:pt x="12634" y="151"/>
                  <a:pt x="12644" y="169"/>
                  <a:pt x="12651" y="187"/>
                </a:cubicBezTo>
                <a:cubicBezTo>
                  <a:pt x="12659" y="206"/>
                  <a:pt x="12665" y="225"/>
                  <a:pt x="12669" y="244"/>
                </a:cubicBezTo>
                <a:cubicBezTo>
                  <a:pt x="12672" y="264"/>
                  <a:pt x="12674" y="284"/>
                  <a:pt x="12674" y="304"/>
                </a:cubicBezTo>
                <a:lnTo>
                  <a:pt x="12674" y="4406"/>
                </a:lnTo>
                <a:cubicBezTo>
                  <a:pt x="12674" y="4426"/>
                  <a:pt x="12672" y="4446"/>
                  <a:pt x="12669" y="4465"/>
                </a:cubicBezTo>
                <a:cubicBezTo>
                  <a:pt x="12665" y="4485"/>
                  <a:pt x="12659" y="4504"/>
                  <a:pt x="12651" y="4522"/>
                </a:cubicBezTo>
                <a:cubicBezTo>
                  <a:pt x="12644" y="4541"/>
                  <a:pt x="12634" y="4558"/>
                  <a:pt x="12623" y="4575"/>
                </a:cubicBezTo>
                <a:cubicBezTo>
                  <a:pt x="12612" y="4591"/>
                  <a:pt x="12599" y="4607"/>
                  <a:pt x="12585" y="4621"/>
                </a:cubicBezTo>
                <a:cubicBezTo>
                  <a:pt x="12571" y="4635"/>
                  <a:pt x="12556" y="4648"/>
                  <a:pt x="12539" y="4659"/>
                </a:cubicBezTo>
                <a:cubicBezTo>
                  <a:pt x="12523" y="4670"/>
                  <a:pt x="12505" y="4679"/>
                  <a:pt x="12487" y="4687"/>
                </a:cubicBezTo>
                <a:cubicBezTo>
                  <a:pt x="12468" y="4695"/>
                  <a:pt x="12449" y="4700"/>
                  <a:pt x="12430" y="4704"/>
                </a:cubicBezTo>
                <a:cubicBezTo>
                  <a:pt x="12410" y="4708"/>
                  <a:pt x="12390" y="4710"/>
                  <a:pt x="12370" y="4710"/>
                </a:cubicBezTo>
                <a:lnTo>
                  <a:pt x="304" y="4710"/>
                </a:lnTo>
                <a:cubicBezTo>
                  <a:pt x="284" y="4710"/>
                  <a:pt x="264" y="4708"/>
                  <a:pt x="245" y="4704"/>
                </a:cubicBezTo>
                <a:cubicBezTo>
                  <a:pt x="225" y="4700"/>
                  <a:pt x="206" y="4695"/>
                  <a:pt x="188" y="4687"/>
                </a:cubicBezTo>
                <a:cubicBezTo>
                  <a:pt x="169" y="4679"/>
                  <a:pt x="152" y="4670"/>
                  <a:pt x="135" y="4659"/>
                </a:cubicBezTo>
                <a:cubicBezTo>
                  <a:pt x="119" y="4648"/>
                  <a:pt x="103" y="4635"/>
                  <a:pt x="89" y="4621"/>
                </a:cubicBezTo>
                <a:cubicBezTo>
                  <a:pt x="75" y="4607"/>
                  <a:pt x="62" y="4591"/>
                  <a:pt x="51" y="4575"/>
                </a:cubicBezTo>
                <a:cubicBezTo>
                  <a:pt x="40" y="4558"/>
                  <a:pt x="31" y="4541"/>
                  <a:pt x="23" y="4522"/>
                </a:cubicBezTo>
                <a:cubicBezTo>
                  <a:pt x="15" y="4504"/>
                  <a:pt x="10" y="4485"/>
                  <a:pt x="6" y="4465"/>
                </a:cubicBezTo>
                <a:cubicBezTo>
                  <a:pt x="2" y="4446"/>
                  <a:pt x="0" y="4426"/>
                  <a:pt x="0" y="4406"/>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90" name="Forma libre: forma 789"/>
          <p:cNvSpPr/>
          <p:nvPr/>
        </p:nvSpPr>
        <p:spPr>
          <a:xfrm>
            <a:off x="7053120" y="2681280"/>
            <a:ext cx="4562640" cy="1695600"/>
          </a:xfrm>
          <a:custGeom>
            <a:avLst/>
            <a:gdLst/>
            <a:ahLst/>
            <a:cxnLst/>
            <a:rect l="0" t="0" r="r" b="b"/>
            <a:pathLst>
              <a:path w="12674" h="4710" fill="none">
                <a:moveTo>
                  <a:pt x="0" y="4406"/>
                </a:moveTo>
                <a:lnTo>
                  <a:pt x="0" y="304"/>
                </a:lnTo>
                <a:cubicBezTo>
                  <a:pt x="0" y="284"/>
                  <a:pt x="2" y="264"/>
                  <a:pt x="6" y="244"/>
                </a:cubicBezTo>
                <a:cubicBezTo>
                  <a:pt x="10" y="225"/>
                  <a:pt x="15" y="206"/>
                  <a:pt x="23" y="187"/>
                </a:cubicBezTo>
                <a:cubicBezTo>
                  <a:pt x="31" y="169"/>
                  <a:pt x="40" y="151"/>
                  <a:pt x="51" y="135"/>
                </a:cubicBezTo>
                <a:cubicBezTo>
                  <a:pt x="62" y="118"/>
                  <a:pt x="75" y="103"/>
                  <a:pt x="89" y="89"/>
                </a:cubicBezTo>
                <a:cubicBezTo>
                  <a:pt x="103" y="75"/>
                  <a:pt x="119" y="62"/>
                  <a:pt x="135" y="51"/>
                </a:cubicBezTo>
                <a:cubicBezTo>
                  <a:pt x="152" y="40"/>
                  <a:pt x="169" y="30"/>
                  <a:pt x="188" y="23"/>
                </a:cubicBezTo>
                <a:cubicBezTo>
                  <a:pt x="206" y="15"/>
                  <a:pt x="225" y="9"/>
                  <a:pt x="245" y="5"/>
                </a:cubicBezTo>
                <a:cubicBezTo>
                  <a:pt x="264" y="1"/>
                  <a:pt x="284" y="0"/>
                  <a:pt x="304" y="0"/>
                </a:cubicBezTo>
                <a:lnTo>
                  <a:pt x="12370" y="0"/>
                </a:lnTo>
                <a:cubicBezTo>
                  <a:pt x="12390" y="0"/>
                  <a:pt x="12410" y="1"/>
                  <a:pt x="12430" y="5"/>
                </a:cubicBezTo>
                <a:cubicBezTo>
                  <a:pt x="12449" y="9"/>
                  <a:pt x="12468" y="15"/>
                  <a:pt x="12487" y="23"/>
                </a:cubicBezTo>
                <a:cubicBezTo>
                  <a:pt x="12505" y="30"/>
                  <a:pt x="12523" y="40"/>
                  <a:pt x="12539" y="51"/>
                </a:cubicBezTo>
                <a:cubicBezTo>
                  <a:pt x="12556" y="62"/>
                  <a:pt x="12571" y="75"/>
                  <a:pt x="12585" y="89"/>
                </a:cubicBezTo>
                <a:cubicBezTo>
                  <a:pt x="12599" y="103"/>
                  <a:pt x="12612" y="118"/>
                  <a:pt x="12623" y="135"/>
                </a:cubicBezTo>
                <a:cubicBezTo>
                  <a:pt x="12634" y="151"/>
                  <a:pt x="12644" y="169"/>
                  <a:pt x="12651" y="187"/>
                </a:cubicBezTo>
                <a:cubicBezTo>
                  <a:pt x="12659" y="206"/>
                  <a:pt x="12665" y="225"/>
                  <a:pt x="12669" y="244"/>
                </a:cubicBezTo>
                <a:cubicBezTo>
                  <a:pt x="12672" y="264"/>
                  <a:pt x="12674" y="284"/>
                  <a:pt x="12674" y="304"/>
                </a:cubicBezTo>
                <a:lnTo>
                  <a:pt x="12674" y="4406"/>
                </a:lnTo>
                <a:cubicBezTo>
                  <a:pt x="12674" y="4426"/>
                  <a:pt x="12672" y="4446"/>
                  <a:pt x="12669" y="4465"/>
                </a:cubicBezTo>
                <a:cubicBezTo>
                  <a:pt x="12665" y="4485"/>
                  <a:pt x="12659" y="4504"/>
                  <a:pt x="12651" y="4522"/>
                </a:cubicBezTo>
                <a:cubicBezTo>
                  <a:pt x="12644" y="4541"/>
                  <a:pt x="12634" y="4558"/>
                  <a:pt x="12623" y="4575"/>
                </a:cubicBezTo>
                <a:cubicBezTo>
                  <a:pt x="12612" y="4591"/>
                  <a:pt x="12599" y="4607"/>
                  <a:pt x="12585" y="4621"/>
                </a:cubicBezTo>
                <a:cubicBezTo>
                  <a:pt x="12571" y="4635"/>
                  <a:pt x="12556" y="4648"/>
                  <a:pt x="12539" y="4659"/>
                </a:cubicBezTo>
                <a:cubicBezTo>
                  <a:pt x="12523" y="4670"/>
                  <a:pt x="12505" y="4679"/>
                  <a:pt x="12487" y="4687"/>
                </a:cubicBezTo>
                <a:cubicBezTo>
                  <a:pt x="12468" y="4695"/>
                  <a:pt x="12449" y="4700"/>
                  <a:pt x="12430" y="4704"/>
                </a:cubicBezTo>
                <a:cubicBezTo>
                  <a:pt x="12410" y="4708"/>
                  <a:pt x="12390" y="4710"/>
                  <a:pt x="12370" y="4710"/>
                </a:cubicBezTo>
                <a:lnTo>
                  <a:pt x="304" y="4710"/>
                </a:lnTo>
                <a:cubicBezTo>
                  <a:pt x="284" y="4710"/>
                  <a:pt x="264" y="4708"/>
                  <a:pt x="245" y="4704"/>
                </a:cubicBezTo>
                <a:cubicBezTo>
                  <a:pt x="225" y="4700"/>
                  <a:pt x="206" y="4695"/>
                  <a:pt x="188" y="4687"/>
                </a:cubicBezTo>
                <a:cubicBezTo>
                  <a:pt x="169" y="4679"/>
                  <a:pt x="152" y="4670"/>
                  <a:pt x="135" y="4659"/>
                </a:cubicBezTo>
                <a:cubicBezTo>
                  <a:pt x="119" y="4648"/>
                  <a:pt x="103" y="4635"/>
                  <a:pt x="89" y="4621"/>
                </a:cubicBezTo>
                <a:cubicBezTo>
                  <a:pt x="75" y="4607"/>
                  <a:pt x="62" y="4591"/>
                  <a:pt x="51" y="4575"/>
                </a:cubicBezTo>
                <a:cubicBezTo>
                  <a:pt x="40" y="4558"/>
                  <a:pt x="31" y="4541"/>
                  <a:pt x="23" y="4522"/>
                </a:cubicBezTo>
                <a:cubicBezTo>
                  <a:pt x="15" y="4504"/>
                  <a:pt x="10" y="4485"/>
                  <a:pt x="6" y="4465"/>
                </a:cubicBezTo>
                <a:cubicBezTo>
                  <a:pt x="2" y="4446"/>
                  <a:pt x="0" y="4426"/>
                  <a:pt x="0" y="4406"/>
                </a:cubicBezTo>
              </a:path>
            </a:pathLst>
          </a:custGeom>
          <a:ln w="9360">
            <a:solidFill>
              <a:srgbClr val="E0E0E0"/>
            </a:solidFill>
            <a:miter/>
          </a:ln>
        </p:spPr>
        <p:txBody>
          <a:bodyPr lIns="4680" tIns="4680" rIns="4680" bIns="4680" anchor="t">
            <a:noAutofit/>
          </a:bodyPr>
          <a:lstStyle/>
          <a:p>
            <a:endParaRPr lang="en-US" sz="2400" b="0" u="none" strike="noStrike">
              <a:solidFill>
                <a:srgbClr val="000000"/>
              </a:solidFill>
              <a:effectLst/>
              <a:uFillTx/>
              <a:latin typeface="Times New Roman"/>
            </a:endParaRPr>
          </a:p>
        </p:txBody>
      </p:sp>
      <p:pic>
        <p:nvPicPr>
          <p:cNvPr id="791" name="Imagen 790"/>
          <p:cNvPicPr/>
          <p:nvPr/>
        </p:nvPicPr>
        <p:blipFill>
          <a:blip r:embed="rId2"/>
          <a:stretch/>
        </p:blipFill>
        <p:spPr>
          <a:xfrm>
            <a:off x="7210440" y="2838600"/>
            <a:ext cx="4247640" cy="1076040"/>
          </a:xfrm>
          <a:prstGeom prst="rect">
            <a:avLst/>
          </a:prstGeom>
          <a:noFill/>
          <a:ln w="0">
            <a:noFill/>
          </a:ln>
        </p:spPr>
      </p:pic>
      <p:sp>
        <p:nvSpPr>
          <p:cNvPr id="792" name="CuadroTexto 791"/>
          <p:cNvSpPr txBox="1"/>
          <p:nvPr/>
        </p:nvSpPr>
        <p:spPr>
          <a:xfrm>
            <a:off x="990720" y="5159520"/>
            <a:ext cx="39920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Opcionalmente puede definir el </a:t>
            </a:r>
            <a:r>
              <a:rPr lang="en-US" sz="1200" b="0" u="none" strike="noStrike">
                <a:solidFill>
                  <a:srgbClr val="000000"/>
                </a:solidFill>
                <a:effectLst/>
                <a:uFillTx/>
                <a:latin typeface="CrimsonPro"/>
                <a:ea typeface="CrimsonPro"/>
              </a:rPr>
              <a:t>tamaño del paso</a:t>
            </a:r>
            <a:r>
              <a:rPr lang="en-US" sz="1200" b="0" u="none" strike="noStrike">
                <a:solidFill>
                  <a:srgbClr val="666666"/>
                </a:solidFill>
                <a:effectLst/>
                <a:uFillTx/>
                <a:latin typeface="CrimsonPro"/>
                <a:ea typeface="CrimsonPro"/>
              </a:rPr>
              <a:t> entre iteraciones</a:t>
            </a:r>
            <a:endParaRPr lang="en-US" sz="1200" b="0" u="none" strike="noStrike">
              <a:solidFill>
                <a:srgbClr val="000000"/>
              </a:solidFill>
              <a:effectLst/>
              <a:uFillTx/>
              <a:latin typeface="Times New Roman"/>
            </a:endParaRPr>
          </a:p>
        </p:txBody>
      </p:sp>
      <p:sp>
        <p:nvSpPr>
          <p:cNvPr id="793" name="Forma libre: forma 792"/>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794" name="CuadroTexto 793"/>
          <p:cNvSpPr txBox="1"/>
          <p:nvPr/>
        </p:nvSpPr>
        <p:spPr>
          <a:xfrm>
            <a:off x="8629200" y="4052520"/>
            <a:ext cx="1412640" cy="148320"/>
          </a:xfrm>
          <a:prstGeom prst="rect">
            <a:avLst/>
          </a:prstGeom>
          <a:noFill/>
          <a:ln w="0">
            <a:noFill/>
          </a:ln>
        </p:spPr>
        <p:txBody>
          <a:bodyPr wrap="none" lIns="0" tIns="0" rIns="0" bIns="0" anchor="t">
            <a:spAutoFit/>
          </a:bodyPr>
          <a:lstStyle/>
          <a:p>
            <a:r>
              <a:rPr lang="en-US" sz="1050" b="0" u="none" strike="noStrike">
                <a:solidFill>
                  <a:srgbClr val="999999"/>
                </a:solidFill>
                <a:effectLst/>
                <a:uFillTx/>
                <a:latin typeface="CrimsonPro"/>
                <a:ea typeface="CrimsonPro"/>
              </a:rPr>
              <a:t>Tomado de campusmvp.es</a:t>
            </a:r>
            <a:endParaRPr lang="en-US" sz="1050" b="0" u="none" strike="noStrike">
              <a:solidFill>
                <a:srgbClr val="000000"/>
              </a:solidFill>
              <a:effectLst/>
              <a:uFillTx/>
              <a:latin typeface="Times New Roman"/>
            </a:endParaRPr>
          </a:p>
        </p:txBody>
      </p:sp>
      <p:sp>
        <p:nvSpPr>
          <p:cNvPr id="795" name="CuadroTexto 794"/>
          <p:cNvSpPr txBox="1"/>
          <p:nvPr/>
        </p:nvSpPr>
        <p:spPr>
          <a:xfrm>
            <a:off x="571320" y="60832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796" name="CuadroTexto 795"/>
          <p:cNvSpPr txBox="1"/>
          <p:nvPr/>
        </p:nvSpPr>
        <p:spPr>
          <a:xfrm>
            <a:off x="11476440" y="60832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33</a:t>
            </a:r>
            <a:endParaRPr lang="en-US" sz="1200" b="0" u="none" strike="noStrike">
              <a:solidFill>
                <a:srgbClr val="000000"/>
              </a:solidFill>
              <a:effectLst/>
              <a:uFillTx/>
              <a:latin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 name="Forma libre: forma 798"/>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00" name="Forma libre: forma 799"/>
          <p:cNvSpPr/>
          <p:nvPr/>
        </p:nvSpPr>
        <p:spPr>
          <a:xfrm>
            <a:off x="1333440" y="1390320"/>
            <a:ext cx="9525240" cy="1114920"/>
          </a:xfrm>
          <a:custGeom>
            <a:avLst/>
            <a:gdLst/>
            <a:ahLst/>
            <a:cxnLst/>
            <a:rect l="0" t="0" r="r" b="b"/>
            <a:pathLst>
              <a:path w="26459" h="3097">
                <a:moveTo>
                  <a:pt x="0" y="2780"/>
                </a:moveTo>
                <a:lnTo>
                  <a:pt x="0" y="318"/>
                </a:lnTo>
                <a:cubicBezTo>
                  <a:pt x="0" y="297"/>
                  <a:pt x="2" y="276"/>
                  <a:pt x="6" y="256"/>
                </a:cubicBezTo>
                <a:cubicBezTo>
                  <a:pt x="10" y="236"/>
                  <a:pt x="16" y="216"/>
                  <a:pt x="24" y="196"/>
                </a:cubicBezTo>
                <a:cubicBezTo>
                  <a:pt x="32" y="177"/>
                  <a:pt x="42" y="159"/>
                  <a:pt x="53" y="142"/>
                </a:cubicBezTo>
                <a:cubicBezTo>
                  <a:pt x="65" y="124"/>
                  <a:pt x="78" y="108"/>
                  <a:pt x="93" y="93"/>
                </a:cubicBezTo>
                <a:cubicBezTo>
                  <a:pt x="107" y="79"/>
                  <a:pt x="123" y="66"/>
                  <a:pt x="141" y="54"/>
                </a:cubicBezTo>
                <a:cubicBezTo>
                  <a:pt x="158" y="42"/>
                  <a:pt x="176" y="33"/>
                  <a:pt x="196" y="25"/>
                </a:cubicBezTo>
                <a:cubicBezTo>
                  <a:pt x="215" y="17"/>
                  <a:pt x="235" y="11"/>
                  <a:pt x="255" y="7"/>
                </a:cubicBezTo>
                <a:cubicBezTo>
                  <a:pt x="276" y="2"/>
                  <a:pt x="296" y="0"/>
                  <a:pt x="317" y="0"/>
                </a:cubicBezTo>
                <a:lnTo>
                  <a:pt x="26141" y="0"/>
                </a:lnTo>
                <a:cubicBezTo>
                  <a:pt x="26162" y="0"/>
                  <a:pt x="26183" y="2"/>
                  <a:pt x="26203" y="7"/>
                </a:cubicBezTo>
                <a:cubicBezTo>
                  <a:pt x="26224" y="11"/>
                  <a:pt x="26244" y="17"/>
                  <a:pt x="26263" y="25"/>
                </a:cubicBezTo>
                <a:cubicBezTo>
                  <a:pt x="26282" y="33"/>
                  <a:pt x="26301" y="42"/>
                  <a:pt x="26318" y="54"/>
                </a:cubicBezTo>
                <a:cubicBezTo>
                  <a:pt x="26335" y="66"/>
                  <a:pt x="26351" y="79"/>
                  <a:pt x="26366" y="93"/>
                </a:cubicBezTo>
                <a:cubicBezTo>
                  <a:pt x="26381" y="108"/>
                  <a:pt x="26394" y="124"/>
                  <a:pt x="26405" y="142"/>
                </a:cubicBezTo>
                <a:cubicBezTo>
                  <a:pt x="26417" y="159"/>
                  <a:pt x="26427" y="177"/>
                  <a:pt x="26435" y="196"/>
                </a:cubicBezTo>
                <a:cubicBezTo>
                  <a:pt x="26443" y="216"/>
                  <a:pt x="26449" y="236"/>
                  <a:pt x="26453" y="256"/>
                </a:cubicBezTo>
                <a:cubicBezTo>
                  <a:pt x="26457" y="276"/>
                  <a:pt x="26459" y="297"/>
                  <a:pt x="26459" y="318"/>
                </a:cubicBezTo>
                <a:lnTo>
                  <a:pt x="26459" y="2780"/>
                </a:lnTo>
                <a:cubicBezTo>
                  <a:pt x="26459" y="2800"/>
                  <a:pt x="26457" y="2821"/>
                  <a:pt x="26453" y="2841"/>
                </a:cubicBezTo>
                <a:cubicBezTo>
                  <a:pt x="26449" y="2862"/>
                  <a:pt x="26443" y="2882"/>
                  <a:pt x="26435" y="2901"/>
                </a:cubicBezTo>
                <a:cubicBezTo>
                  <a:pt x="26427" y="2920"/>
                  <a:pt x="26417" y="2939"/>
                  <a:pt x="26405" y="2956"/>
                </a:cubicBezTo>
                <a:cubicBezTo>
                  <a:pt x="26394" y="2973"/>
                  <a:pt x="26381" y="2989"/>
                  <a:pt x="26366" y="3004"/>
                </a:cubicBezTo>
                <a:cubicBezTo>
                  <a:pt x="26351" y="3019"/>
                  <a:pt x="26335" y="3032"/>
                  <a:pt x="26318" y="3044"/>
                </a:cubicBezTo>
                <a:cubicBezTo>
                  <a:pt x="26301" y="3055"/>
                  <a:pt x="26282" y="3065"/>
                  <a:pt x="26263" y="3073"/>
                </a:cubicBezTo>
                <a:cubicBezTo>
                  <a:pt x="26244" y="3081"/>
                  <a:pt x="26224" y="3087"/>
                  <a:pt x="26203" y="3091"/>
                </a:cubicBezTo>
                <a:cubicBezTo>
                  <a:pt x="26183" y="3095"/>
                  <a:pt x="26162" y="3097"/>
                  <a:pt x="26141" y="3097"/>
                </a:cubicBezTo>
                <a:lnTo>
                  <a:pt x="317" y="3097"/>
                </a:lnTo>
                <a:cubicBezTo>
                  <a:pt x="296" y="3097"/>
                  <a:pt x="276" y="3095"/>
                  <a:pt x="255" y="3091"/>
                </a:cubicBezTo>
                <a:cubicBezTo>
                  <a:pt x="235" y="3087"/>
                  <a:pt x="215" y="3081"/>
                  <a:pt x="196" y="3073"/>
                </a:cubicBezTo>
                <a:cubicBezTo>
                  <a:pt x="176" y="3065"/>
                  <a:pt x="158" y="3055"/>
                  <a:pt x="141" y="3044"/>
                </a:cubicBezTo>
                <a:cubicBezTo>
                  <a:pt x="123" y="3032"/>
                  <a:pt x="107" y="3019"/>
                  <a:pt x="93" y="3004"/>
                </a:cubicBezTo>
                <a:cubicBezTo>
                  <a:pt x="78" y="2989"/>
                  <a:pt x="65" y="2973"/>
                  <a:pt x="53" y="2956"/>
                </a:cubicBezTo>
                <a:cubicBezTo>
                  <a:pt x="42" y="2939"/>
                  <a:pt x="32" y="2920"/>
                  <a:pt x="24" y="2901"/>
                </a:cubicBezTo>
                <a:cubicBezTo>
                  <a:pt x="16" y="2882"/>
                  <a:pt x="10" y="2862"/>
                  <a:pt x="6" y="2841"/>
                </a:cubicBezTo>
                <a:cubicBezTo>
                  <a:pt x="2" y="2821"/>
                  <a:pt x="0" y="2800"/>
                  <a:pt x="0" y="278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01" name="CuadroTexto 800"/>
          <p:cNvSpPr txBox="1"/>
          <p:nvPr/>
        </p:nvSpPr>
        <p:spPr>
          <a:xfrm>
            <a:off x="571320" y="569160"/>
            <a:ext cx="379080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Ciclo FOR - Ejercicio guiado</a:t>
            </a:r>
            <a:endParaRPr lang="en-US" sz="2700" b="0" u="none" strike="noStrike">
              <a:solidFill>
                <a:srgbClr val="000000"/>
              </a:solidFill>
              <a:effectLst/>
              <a:uFillTx/>
              <a:latin typeface="Times New Roman"/>
            </a:endParaRPr>
          </a:p>
        </p:txBody>
      </p:sp>
      <p:sp>
        <p:nvSpPr>
          <p:cNvPr id="802" name="CuadroTexto 801"/>
          <p:cNvSpPr txBox="1"/>
          <p:nvPr/>
        </p:nvSpPr>
        <p:spPr>
          <a:xfrm>
            <a:off x="1562040" y="1648440"/>
            <a:ext cx="654840" cy="212040"/>
          </a:xfrm>
          <a:prstGeom prst="rect">
            <a:avLst/>
          </a:prstGeom>
          <a:noFill/>
          <a:ln w="0">
            <a:noFill/>
          </a:ln>
        </p:spPr>
        <p:txBody>
          <a:bodyPr wrap="none" lIns="0" tIns="0" rIns="0" bIns="0" anchor="t">
            <a:spAutoFit/>
          </a:bodyPr>
          <a:lstStyle/>
          <a:p>
            <a:r>
              <a:rPr lang="en-US" sz="1500" b="0" u="none" strike="noStrike">
                <a:solidFill>
                  <a:srgbClr val="DA7756"/>
                </a:solidFill>
                <a:effectLst/>
                <a:uFillTx/>
                <a:latin typeface="CrimsonPro"/>
                <a:ea typeface="CrimsonPro"/>
              </a:rPr>
              <a:t>Ejercicio</a:t>
            </a:r>
            <a:endParaRPr lang="en-US" sz="1500" b="0" u="none" strike="noStrike">
              <a:solidFill>
                <a:srgbClr val="000000"/>
              </a:solidFill>
              <a:effectLst/>
              <a:uFillTx/>
              <a:latin typeface="Times New Roman"/>
            </a:endParaRPr>
          </a:p>
        </p:txBody>
      </p:sp>
      <p:sp>
        <p:nvSpPr>
          <p:cNvPr id="803" name="Forma libre: forma 802"/>
          <p:cNvSpPr/>
          <p:nvPr/>
        </p:nvSpPr>
        <p:spPr>
          <a:xfrm>
            <a:off x="1814400" y="3166920"/>
            <a:ext cx="8563320" cy="1724400"/>
          </a:xfrm>
          <a:custGeom>
            <a:avLst/>
            <a:gdLst/>
            <a:ahLst/>
            <a:cxnLst/>
            <a:rect l="0" t="0" r="r" b="b"/>
            <a:pathLst>
              <a:path w="23787" h="4790">
                <a:moveTo>
                  <a:pt x="0" y="4591"/>
                </a:moveTo>
                <a:lnTo>
                  <a:pt x="0" y="198"/>
                </a:lnTo>
                <a:cubicBezTo>
                  <a:pt x="0" y="185"/>
                  <a:pt x="1" y="172"/>
                  <a:pt x="4" y="160"/>
                </a:cubicBezTo>
                <a:cubicBezTo>
                  <a:pt x="6" y="147"/>
                  <a:pt x="10" y="134"/>
                  <a:pt x="15" y="122"/>
                </a:cubicBezTo>
                <a:cubicBezTo>
                  <a:pt x="20" y="110"/>
                  <a:pt x="26" y="99"/>
                  <a:pt x="33" y="88"/>
                </a:cubicBezTo>
                <a:cubicBezTo>
                  <a:pt x="40" y="77"/>
                  <a:pt x="49" y="67"/>
                  <a:pt x="58" y="58"/>
                </a:cubicBezTo>
                <a:cubicBezTo>
                  <a:pt x="67" y="49"/>
                  <a:pt x="77" y="41"/>
                  <a:pt x="88" y="33"/>
                </a:cubicBezTo>
                <a:cubicBezTo>
                  <a:pt x="99" y="26"/>
                  <a:pt x="110" y="20"/>
                  <a:pt x="122" y="15"/>
                </a:cubicBezTo>
                <a:cubicBezTo>
                  <a:pt x="134" y="10"/>
                  <a:pt x="147" y="6"/>
                  <a:pt x="160" y="4"/>
                </a:cubicBezTo>
                <a:cubicBezTo>
                  <a:pt x="172" y="1"/>
                  <a:pt x="185" y="0"/>
                  <a:pt x="198" y="0"/>
                </a:cubicBezTo>
                <a:lnTo>
                  <a:pt x="23588" y="0"/>
                </a:lnTo>
                <a:cubicBezTo>
                  <a:pt x="23601" y="0"/>
                  <a:pt x="23614" y="1"/>
                  <a:pt x="23627" y="4"/>
                </a:cubicBezTo>
                <a:cubicBezTo>
                  <a:pt x="23640" y="6"/>
                  <a:pt x="23652" y="10"/>
                  <a:pt x="23664" y="15"/>
                </a:cubicBezTo>
                <a:cubicBezTo>
                  <a:pt x="23676" y="20"/>
                  <a:pt x="23688" y="26"/>
                  <a:pt x="23699" y="33"/>
                </a:cubicBezTo>
                <a:cubicBezTo>
                  <a:pt x="23709" y="41"/>
                  <a:pt x="23720" y="49"/>
                  <a:pt x="23729" y="58"/>
                </a:cubicBezTo>
                <a:cubicBezTo>
                  <a:pt x="23738" y="67"/>
                  <a:pt x="23746" y="77"/>
                  <a:pt x="23753" y="88"/>
                </a:cubicBezTo>
                <a:cubicBezTo>
                  <a:pt x="23761" y="99"/>
                  <a:pt x="23767" y="110"/>
                  <a:pt x="23772" y="122"/>
                </a:cubicBezTo>
                <a:cubicBezTo>
                  <a:pt x="23777" y="134"/>
                  <a:pt x="23780" y="147"/>
                  <a:pt x="23783" y="160"/>
                </a:cubicBezTo>
                <a:cubicBezTo>
                  <a:pt x="23786" y="172"/>
                  <a:pt x="23787" y="185"/>
                  <a:pt x="23787" y="198"/>
                </a:cubicBezTo>
                <a:lnTo>
                  <a:pt x="23787" y="4591"/>
                </a:lnTo>
                <a:cubicBezTo>
                  <a:pt x="23787" y="4604"/>
                  <a:pt x="23786" y="4617"/>
                  <a:pt x="23783" y="4630"/>
                </a:cubicBezTo>
                <a:cubicBezTo>
                  <a:pt x="23780" y="4643"/>
                  <a:pt x="23777" y="4655"/>
                  <a:pt x="23772" y="4667"/>
                </a:cubicBezTo>
                <a:cubicBezTo>
                  <a:pt x="23767" y="4679"/>
                  <a:pt x="23761" y="4691"/>
                  <a:pt x="23753" y="4702"/>
                </a:cubicBezTo>
                <a:cubicBezTo>
                  <a:pt x="23746" y="4712"/>
                  <a:pt x="23738" y="4723"/>
                  <a:pt x="23729" y="4732"/>
                </a:cubicBezTo>
                <a:cubicBezTo>
                  <a:pt x="23720" y="4741"/>
                  <a:pt x="23709" y="4749"/>
                  <a:pt x="23699" y="4756"/>
                </a:cubicBezTo>
                <a:cubicBezTo>
                  <a:pt x="23688" y="4764"/>
                  <a:pt x="23676" y="4770"/>
                  <a:pt x="23664" y="4775"/>
                </a:cubicBezTo>
                <a:cubicBezTo>
                  <a:pt x="23652" y="4780"/>
                  <a:pt x="23640" y="4783"/>
                  <a:pt x="23627" y="4786"/>
                </a:cubicBezTo>
                <a:cubicBezTo>
                  <a:pt x="23614" y="4789"/>
                  <a:pt x="23601" y="4790"/>
                  <a:pt x="23588" y="4790"/>
                </a:cubicBezTo>
                <a:lnTo>
                  <a:pt x="198" y="4790"/>
                </a:lnTo>
                <a:cubicBezTo>
                  <a:pt x="185" y="4790"/>
                  <a:pt x="172" y="4789"/>
                  <a:pt x="160" y="4786"/>
                </a:cubicBezTo>
                <a:cubicBezTo>
                  <a:pt x="147" y="4783"/>
                  <a:pt x="134" y="4780"/>
                  <a:pt x="122" y="4775"/>
                </a:cubicBezTo>
                <a:cubicBezTo>
                  <a:pt x="110" y="4770"/>
                  <a:pt x="99" y="4764"/>
                  <a:pt x="88" y="4756"/>
                </a:cubicBezTo>
                <a:cubicBezTo>
                  <a:pt x="77" y="4749"/>
                  <a:pt x="67" y="4741"/>
                  <a:pt x="58" y="4732"/>
                </a:cubicBezTo>
                <a:cubicBezTo>
                  <a:pt x="49" y="4723"/>
                  <a:pt x="40" y="4712"/>
                  <a:pt x="33" y="4702"/>
                </a:cubicBezTo>
                <a:cubicBezTo>
                  <a:pt x="26" y="4691"/>
                  <a:pt x="20" y="4679"/>
                  <a:pt x="15" y="4667"/>
                </a:cubicBezTo>
                <a:cubicBezTo>
                  <a:pt x="10" y="4655"/>
                  <a:pt x="6" y="4643"/>
                  <a:pt x="4" y="4630"/>
                </a:cubicBezTo>
                <a:cubicBezTo>
                  <a:pt x="1" y="4617"/>
                  <a:pt x="0" y="4604"/>
                  <a:pt x="0" y="4591"/>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04" name="Forma libre: forma 803"/>
          <p:cNvSpPr/>
          <p:nvPr/>
        </p:nvSpPr>
        <p:spPr>
          <a:xfrm>
            <a:off x="1814400" y="3166920"/>
            <a:ext cx="8563320" cy="1724400"/>
          </a:xfrm>
          <a:custGeom>
            <a:avLst/>
            <a:gdLst/>
            <a:ahLst/>
            <a:cxnLst/>
            <a:rect l="0" t="0" r="r" b="b"/>
            <a:pathLst>
              <a:path w="23787" h="4790" fill="none">
                <a:moveTo>
                  <a:pt x="0" y="4591"/>
                </a:moveTo>
                <a:lnTo>
                  <a:pt x="0" y="198"/>
                </a:lnTo>
                <a:cubicBezTo>
                  <a:pt x="0" y="185"/>
                  <a:pt x="1" y="172"/>
                  <a:pt x="4" y="160"/>
                </a:cubicBezTo>
                <a:cubicBezTo>
                  <a:pt x="6" y="147"/>
                  <a:pt x="10" y="134"/>
                  <a:pt x="15" y="122"/>
                </a:cubicBezTo>
                <a:cubicBezTo>
                  <a:pt x="20" y="110"/>
                  <a:pt x="26" y="99"/>
                  <a:pt x="33" y="88"/>
                </a:cubicBezTo>
                <a:cubicBezTo>
                  <a:pt x="40" y="77"/>
                  <a:pt x="49" y="67"/>
                  <a:pt x="58" y="58"/>
                </a:cubicBezTo>
                <a:cubicBezTo>
                  <a:pt x="67" y="49"/>
                  <a:pt x="77" y="41"/>
                  <a:pt x="88" y="33"/>
                </a:cubicBezTo>
                <a:cubicBezTo>
                  <a:pt x="99" y="26"/>
                  <a:pt x="110" y="20"/>
                  <a:pt x="122" y="15"/>
                </a:cubicBezTo>
                <a:cubicBezTo>
                  <a:pt x="134" y="10"/>
                  <a:pt x="147" y="6"/>
                  <a:pt x="160" y="4"/>
                </a:cubicBezTo>
                <a:cubicBezTo>
                  <a:pt x="172" y="1"/>
                  <a:pt x="185" y="0"/>
                  <a:pt x="198" y="0"/>
                </a:cubicBezTo>
                <a:lnTo>
                  <a:pt x="23588" y="0"/>
                </a:lnTo>
                <a:cubicBezTo>
                  <a:pt x="23601" y="0"/>
                  <a:pt x="23614" y="1"/>
                  <a:pt x="23627" y="4"/>
                </a:cubicBezTo>
                <a:cubicBezTo>
                  <a:pt x="23640" y="6"/>
                  <a:pt x="23652" y="10"/>
                  <a:pt x="23664" y="15"/>
                </a:cubicBezTo>
                <a:cubicBezTo>
                  <a:pt x="23676" y="20"/>
                  <a:pt x="23688" y="26"/>
                  <a:pt x="23699" y="33"/>
                </a:cubicBezTo>
                <a:cubicBezTo>
                  <a:pt x="23709" y="41"/>
                  <a:pt x="23720" y="49"/>
                  <a:pt x="23729" y="58"/>
                </a:cubicBezTo>
                <a:cubicBezTo>
                  <a:pt x="23738" y="67"/>
                  <a:pt x="23746" y="77"/>
                  <a:pt x="23753" y="88"/>
                </a:cubicBezTo>
                <a:cubicBezTo>
                  <a:pt x="23761" y="99"/>
                  <a:pt x="23767" y="110"/>
                  <a:pt x="23772" y="122"/>
                </a:cubicBezTo>
                <a:cubicBezTo>
                  <a:pt x="23777" y="134"/>
                  <a:pt x="23780" y="147"/>
                  <a:pt x="23783" y="160"/>
                </a:cubicBezTo>
                <a:cubicBezTo>
                  <a:pt x="23786" y="172"/>
                  <a:pt x="23787" y="185"/>
                  <a:pt x="23787" y="198"/>
                </a:cubicBezTo>
                <a:lnTo>
                  <a:pt x="23787" y="4591"/>
                </a:lnTo>
                <a:cubicBezTo>
                  <a:pt x="23787" y="4604"/>
                  <a:pt x="23786" y="4617"/>
                  <a:pt x="23783" y="4630"/>
                </a:cubicBezTo>
                <a:cubicBezTo>
                  <a:pt x="23780" y="4643"/>
                  <a:pt x="23777" y="4655"/>
                  <a:pt x="23772" y="4667"/>
                </a:cubicBezTo>
                <a:cubicBezTo>
                  <a:pt x="23767" y="4679"/>
                  <a:pt x="23761" y="4691"/>
                  <a:pt x="23753" y="4702"/>
                </a:cubicBezTo>
                <a:cubicBezTo>
                  <a:pt x="23746" y="4712"/>
                  <a:pt x="23738" y="4723"/>
                  <a:pt x="23729" y="4732"/>
                </a:cubicBezTo>
                <a:cubicBezTo>
                  <a:pt x="23720" y="4741"/>
                  <a:pt x="23709" y="4749"/>
                  <a:pt x="23699" y="4756"/>
                </a:cubicBezTo>
                <a:cubicBezTo>
                  <a:pt x="23688" y="4764"/>
                  <a:pt x="23676" y="4770"/>
                  <a:pt x="23664" y="4775"/>
                </a:cubicBezTo>
                <a:cubicBezTo>
                  <a:pt x="23652" y="4780"/>
                  <a:pt x="23640" y="4783"/>
                  <a:pt x="23627" y="4786"/>
                </a:cubicBezTo>
                <a:cubicBezTo>
                  <a:pt x="23614" y="4789"/>
                  <a:pt x="23601" y="4790"/>
                  <a:pt x="23588" y="4790"/>
                </a:cubicBezTo>
                <a:lnTo>
                  <a:pt x="198" y="4790"/>
                </a:lnTo>
                <a:cubicBezTo>
                  <a:pt x="185" y="4790"/>
                  <a:pt x="172" y="4789"/>
                  <a:pt x="160" y="4786"/>
                </a:cubicBezTo>
                <a:cubicBezTo>
                  <a:pt x="147" y="4783"/>
                  <a:pt x="134" y="4780"/>
                  <a:pt x="122" y="4775"/>
                </a:cubicBezTo>
                <a:cubicBezTo>
                  <a:pt x="110" y="4770"/>
                  <a:pt x="99" y="4764"/>
                  <a:pt x="88" y="4756"/>
                </a:cubicBezTo>
                <a:cubicBezTo>
                  <a:pt x="77" y="4749"/>
                  <a:pt x="67" y="4741"/>
                  <a:pt x="58" y="4732"/>
                </a:cubicBezTo>
                <a:cubicBezTo>
                  <a:pt x="49" y="4723"/>
                  <a:pt x="40" y="4712"/>
                  <a:pt x="33" y="4702"/>
                </a:cubicBezTo>
                <a:cubicBezTo>
                  <a:pt x="26" y="4691"/>
                  <a:pt x="20" y="4679"/>
                  <a:pt x="15" y="4667"/>
                </a:cubicBezTo>
                <a:cubicBezTo>
                  <a:pt x="10" y="4655"/>
                  <a:pt x="6" y="4643"/>
                  <a:pt x="4" y="4630"/>
                </a:cubicBezTo>
                <a:cubicBezTo>
                  <a:pt x="1" y="4617"/>
                  <a:pt x="0" y="4604"/>
                  <a:pt x="0" y="4591"/>
                </a:cubicBezTo>
              </a:path>
            </a:pathLst>
          </a:custGeom>
          <a:ln w="9360">
            <a:solidFill>
              <a:schemeClr val="tx1"/>
            </a:solidFill>
            <a:miter/>
          </a:ln>
        </p:spPr>
        <p:txBody>
          <a:bodyPr lIns="4680" tIns="4680" rIns="4680" bIns="4680" anchor="t">
            <a:noAutofit/>
          </a:bodyPr>
          <a:lstStyle/>
          <a:p>
            <a:endParaRPr lang="en-US" sz="2400" b="0" u="none" strike="noStrike">
              <a:solidFill>
                <a:srgbClr val="000000"/>
              </a:solidFill>
              <a:effectLst/>
              <a:uFillTx/>
              <a:latin typeface="Times New Roman"/>
            </a:endParaRPr>
          </a:p>
        </p:txBody>
      </p:sp>
      <p:pic>
        <p:nvPicPr>
          <p:cNvPr id="805" name="Imagen 804"/>
          <p:cNvPicPr/>
          <p:nvPr/>
        </p:nvPicPr>
        <p:blipFill>
          <a:blip r:embed="rId2"/>
          <a:stretch/>
        </p:blipFill>
        <p:spPr>
          <a:xfrm>
            <a:off x="1971720" y="3324240"/>
            <a:ext cx="8248320" cy="1409400"/>
          </a:xfrm>
          <a:prstGeom prst="rect">
            <a:avLst/>
          </a:prstGeom>
          <a:noFill/>
          <a:ln w="0">
            <a:noFill/>
          </a:ln>
        </p:spPr>
      </p:pic>
      <p:sp>
        <p:nvSpPr>
          <p:cNvPr id="806" name="CuadroTexto 805"/>
          <p:cNvSpPr txBox="1"/>
          <p:nvPr/>
        </p:nvSpPr>
        <p:spPr>
          <a:xfrm>
            <a:off x="1562040" y="2037240"/>
            <a:ext cx="616284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Desarrollar un programa que muestre los números pares entre 0 y 20 de forma ascendente.</a:t>
            </a:r>
            <a:endParaRPr lang="en-US" sz="1350" b="0" u="none" strike="noStrike">
              <a:solidFill>
                <a:srgbClr val="000000"/>
              </a:solidFill>
              <a:effectLst/>
              <a:uFillTx/>
              <a:latin typeface="Times New Roman"/>
            </a:endParaRPr>
          </a:p>
        </p:txBody>
      </p:sp>
      <p:sp>
        <p:nvSpPr>
          <p:cNvPr id="807" name="Forma libre: forma 806"/>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08" name="CuadroTexto 807"/>
          <p:cNvSpPr txBox="1"/>
          <p:nvPr/>
        </p:nvSpPr>
        <p:spPr>
          <a:xfrm>
            <a:off x="5138280" y="5500440"/>
            <a:ext cx="191520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campusmvp.es</a:t>
            </a:r>
            <a:endParaRPr lang="en-US" sz="1050" b="0" u="none" strike="noStrike">
              <a:solidFill>
                <a:srgbClr val="000000"/>
              </a:solidFill>
              <a:effectLst/>
              <a:uFillTx/>
              <a:latin typeface="Times New Roman"/>
            </a:endParaRPr>
          </a:p>
        </p:txBody>
      </p:sp>
      <p:sp>
        <p:nvSpPr>
          <p:cNvPr id="809" name="CuadroTexto 808"/>
          <p:cNvSpPr txBox="1"/>
          <p:nvPr/>
        </p:nvSpPr>
        <p:spPr>
          <a:xfrm>
            <a:off x="571320" y="60832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810" name="CuadroTexto 809"/>
          <p:cNvSpPr txBox="1"/>
          <p:nvPr/>
        </p:nvSpPr>
        <p:spPr>
          <a:xfrm>
            <a:off x="11470320" y="60832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34</a:t>
            </a:r>
            <a:endParaRPr lang="en-US" sz="1200" b="0" u="none" strike="noStrike">
              <a:solidFill>
                <a:srgbClr val="000000"/>
              </a:solidFill>
              <a:effectLst/>
              <a:uFillTx/>
              <a:latin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Forma libre: forma 812"/>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14" name="Forma libre: forma 813"/>
          <p:cNvSpPr/>
          <p:nvPr/>
        </p:nvSpPr>
        <p:spPr>
          <a:xfrm>
            <a:off x="1814400" y="1814400"/>
            <a:ext cx="8563320" cy="4153320"/>
          </a:xfrm>
          <a:custGeom>
            <a:avLst/>
            <a:gdLst/>
            <a:ahLst/>
            <a:cxnLst/>
            <a:rect l="0" t="0" r="r" b="b"/>
            <a:pathLst>
              <a:path w="23787" h="11537">
                <a:moveTo>
                  <a:pt x="0" y="11127"/>
                </a:moveTo>
                <a:lnTo>
                  <a:pt x="0" y="410"/>
                </a:lnTo>
                <a:cubicBezTo>
                  <a:pt x="0" y="383"/>
                  <a:pt x="2" y="356"/>
                  <a:pt x="8" y="330"/>
                </a:cubicBezTo>
                <a:cubicBezTo>
                  <a:pt x="13" y="303"/>
                  <a:pt x="21" y="278"/>
                  <a:pt x="31" y="253"/>
                </a:cubicBezTo>
                <a:cubicBezTo>
                  <a:pt x="41" y="228"/>
                  <a:pt x="54" y="204"/>
                  <a:pt x="69" y="182"/>
                </a:cubicBezTo>
                <a:cubicBezTo>
                  <a:pt x="84" y="160"/>
                  <a:pt x="101" y="139"/>
                  <a:pt x="120" y="120"/>
                </a:cubicBezTo>
                <a:cubicBezTo>
                  <a:pt x="139" y="101"/>
                  <a:pt x="160" y="84"/>
                  <a:pt x="182" y="69"/>
                </a:cubicBezTo>
                <a:cubicBezTo>
                  <a:pt x="204" y="54"/>
                  <a:pt x="228" y="41"/>
                  <a:pt x="253" y="31"/>
                </a:cubicBezTo>
                <a:cubicBezTo>
                  <a:pt x="278" y="21"/>
                  <a:pt x="303" y="13"/>
                  <a:pt x="330" y="8"/>
                </a:cubicBezTo>
                <a:cubicBezTo>
                  <a:pt x="356" y="2"/>
                  <a:pt x="383" y="0"/>
                  <a:pt x="410" y="0"/>
                </a:cubicBezTo>
                <a:lnTo>
                  <a:pt x="23377" y="0"/>
                </a:lnTo>
                <a:cubicBezTo>
                  <a:pt x="23404" y="0"/>
                  <a:pt x="23430" y="2"/>
                  <a:pt x="23457" y="8"/>
                </a:cubicBezTo>
                <a:cubicBezTo>
                  <a:pt x="23483" y="13"/>
                  <a:pt x="23509" y="21"/>
                  <a:pt x="23534" y="31"/>
                </a:cubicBezTo>
                <a:cubicBezTo>
                  <a:pt x="23559" y="41"/>
                  <a:pt x="23582" y="54"/>
                  <a:pt x="23605" y="69"/>
                </a:cubicBezTo>
                <a:cubicBezTo>
                  <a:pt x="23627" y="84"/>
                  <a:pt x="23648" y="101"/>
                  <a:pt x="23667" y="120"/>
                </a:cubicBezTo>
                <a:cubicBezTo>
                  <a:pt x="23686" y="139"/>
                  <a:pt x="23703" y="160"/>
                  <a:pt x="23718" y="182"/>
                </a:cubicBezTo>
                <a:cubicBezTo>
                  <a:pt x="23733" y="204"/>
                  <a:pt x="23745" y="228"/>
                  <a:pt x="23756" y="253"/>
                </a:cubicBezTo>
                <a:cubicBezTo>
                  <a:pt x="23766" y="278"/>
                  <a:pt x="23774" y="303"/>
                  <a:pt x="23779" y="330"/>
                </a:cubicBezTo>
                <a:cubicBezTo>
                  <a:pt x="23784" y="356"/>
                  <a:pt x="23787" y="383"/>
                  <a:pt x="23787" y="410"/>
                </a:cubicBezTo>
                <a:lnTo>
                  <a:pt x="23787" y="11127"/>
                </a:lnTo>
                <a:cubicBezTo>
                  <a:pt x="23787" y="11153"/>
                  <a:pt x="23784" y="11180"/>
                  <a:pt x="23779" y="11207"/>
                </a:cubicBezTo>
                <a:cubicBezTo>
                  <a:pt x="23774" y="11233"/>
                  <a:pt x="23766" y="11259"/>
                  <a:pt x="23756" y="11283"/>
                </a:cubicBezTo>
                <a:cubicBezTo>
                  <a:pt x="23745" y="11308"/>
                  <a:pt x="23733" y="11332"/>
                  <a:pt x="23718" y="11354"/>
                </a:cubicBezTo>
                <a:cubicBezTo>
                  <a:pt x="23703" y="11377"/>
                  <a:pt x="23686" y="11397"/>
                  <a:pt x="23667" y="11417"/>
                </a:cubicBezTo>
                <a:cubicBezTo>
                  <a:pt x="23648" y="11436"/>
                  <a:pt x="23627" y="11453"/>
                  <a:pt x="23605" y="11468"/>
                </a:cubicBezTo>
                <a:cubicBezTo>
                  <a:pt x="23582" y="11482"/>
                  <a:pt x="23559" y="11495"/>
                  <a:pt x="23534" y="11505"/>
                </a:cubicBezTo>
                <a:cubicBezTo>
                  <a:pt x="23509" y="11516"/>
                  <a:pt x="23483" y="11524"/>
                  <a:pt x="23457" y="11529"/>
                </a:cubicBezTo>
                <a:cubicBezTo>
                  <a:pt x="23430" y="11534"/>
                  <a:pt x="23404" y="11537"/>
                  <a:pt x="23377" y="11537"/>
                </a:cubicBezTo>
                <a:lnTo>
                  <a:pt x="410" y="11537"/>
                </a:lnTo>
                <a:cubicBezTo>
                  <a:pt x="383" y="11537"/>
                  <a:pt x="356" y="11534"/>
                  <a:pt x="330" y="11529"/>
                </a:cubicBezTo>
                <a:cubicBezTo>
                  <a:pt x="303" y="11524"/>
                  <a:pt x="278" y="11516"/>
                  <a:pt x="253" y="11505"/>
                </a:cubicBezTo>
                <a:cubicBezTo>
                  <a:pt x="228" y="11495"/>
                  <a:pt x="204" y="11482"/>
                  <a:pt x="182" y="11468"/>
                </a:cubicBezTo>
                <a:cubicBezTo>
                  <a:pt x="160" y="11453"/>
                  <a:pt x="139" y="11436"/>
                  <a:pt x="120" y="11417"/>
                </a:cubicBezTo>
                <a:cubicBezTo>
                  <a:pt x="101" y="11397"/>
                  <a:pt x="84" y="11377"/>
                  <a:pt x="69" y="11354"/>
                </a:cubicBezTo>
                <a:cubicBezTo>
                  <a:pt x="54" y="11332"/>
                  <a:pt x="41" y="11308"/>
                  <a:pt x="31" y="11283"/>
                </a:cubicBezTo>
                <a:cubicBezTo>
                  <a:pt x="21" y="11259"/>
                  <a:pt x="13" y="11233"/>
                  <a:pt x="8" y="11207"/>
                </a:cubicBezTo>
                <a:cubicBezTo>
                  <a:pt x="2" y="11180"/>
                  <a:pt x="0" y="11153"/>
                  <a:pt x="0" y="11127"/>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15" name="Forma libre: forma 814"/>
          <p:cNvSpPr/>
          <p:nvPr/>
        </p:nvSpPr>
        <p:spPr>
          <a:xfrm>
            <a:off x="1814400" y="1814400"/>
            <a:ext cx="8563320" cy="4153320"/>
          </a:xfrm>
          <a:custGeom>
            <a:avLst/>
            <a:gdLst/>
            <a:ahLst/>
            <a:cxnLst/>
            <a:rect l="0" t="0" r="r" b="b"/>
            <a:pathLst>
              <a:path w="23787" h="11537" fill="none">
                <a:moveTo>
                  <a:pt x="0" y="11127"/>
                </a:moveTo>
                <a:lnTo>
                  <a:pt x="0" y="410"/>
                </a:lnTo>
                <a:cubicBezTo>
                  <a:pt x="0" y="383"/>
                  <a:pt x="2" y="356"/>
                  <a:pt x="8" y="330"/>
                </a:cubicBezTo>
                <a:cubicBezTo>
                  <a:pt x="13" y="303"/>
                  <a:pt x="21" y="278"/>
                  <a:pt x="31" y="253"/>
                </a:cubicBezTo>
                <a:cubicBezTo>
                  <a:pt x="41" y="228"/>
                  <a:pt x="54" y="204"/>
                  <a:pt x="69" y="182"/>
                </a:cubicBezTo>
                <a:cubicBezTo>
                  <a:pt x="84" y="160"/>
                  <a:pt x="101" y="139"/>
                  <a:pt x="120" y="120"/>
                </a:cubicBezTo>
                <a:cubicBezTo>
                  <a:pt x="139" y="101"/>
                  <a:pt x="160" y="84"/>
                  <a:pt x="182" y="69"/>
                </a:cubicBezTo>
                <a:cubicBezTo>
                  <a:pt x="204" y="54"/>
                  <a:pt x="228" y="41"/>
                  <a:pt x="253" y="31"/>
                </a:cubicBezTo>
                <a:cubicBezTo>
                  <a:pt x="278" y="21"/>
                  <a:pt x="303" y="13"/>
                  <a:pt x="330" y="8"/>
                </a:cubicBezTo>
                <a:cubicBezTo>
                  <a:pt x="356" y="2"/>
                  <a:pt x="383" y="0"/>
                  <a:pt x="410" y="0"/>
                </a:cubicBezTo>
                <a:lnTo>
                  <a:pt x="23377" y="0"/>
                </a:lnTo>
                <a:cubicBezTo>
                  <a:pt x="23404" y="0"/>
                  <a:pt x="23430" y="2"/>
                  <a:pt x="23457" y="8"/>
                </a:cubicBezTo>
                <a:cubicBezTo>
                  <a:pt x="23483" y="13"/>
                  <a:pt x="23509" y="21"/>
                  <a:pt x="23534" y="31"/>
                </a:cubicBezTo>
                <a:cubicBezTo>
                  <a:pt x="23559" y="41"/>
                  <a:pt x="23582" y="54"/>
                  <a:pt x="23605" y="69"/>
                </a:cubicBezTo>
                <a:cubicBezTo>
                  <a:pt x="23627" y="84"/>
                  <a:pt x="23648" y="101"/>
                  <a:pt x="23667" y="120"/>
                </a:cubicBezTo>
                <a:cubicBezTo>
                  <a:pt x="23686" y="139"/>
                  <a:pt x="23703" y="160"/>
                  <a:pt x="23718" y="182"/>
                </a:cubicBezTo>
                <a:cubicBezTo>
                  <a:pt x="23733" y="204"/>
                  <a:pt x="23745" y="228"/>
                  <a:pt x="23756" y="253"/>
                </a:cubicBezTo>
                <a:cubicBezTo>
                  <a:pt x="23766" y="278"/>
                  <a:pt x="23774" y="303"/>
                  <a:pt x="23779" y="330"/>
                </a:cubicBezTo>
                <a:cubicBezTo>
                  <a:pt x="23784" y="356"/>
                  <a:pt x="23787" y="383"/>
                  <a:pt x="23787" y="410"/>
                </a:cubicBezTo>
                <a:lnTo>
                  <a:pt x="23787" y="11127"/>
                </a:lnTo>
                <a:cubicBezTo>
                  <a:pt x="23787" y="11153"/>
                  <a:pt x="23784" y="11180"/>
                  <a:pt x="23779" y="11207"/>
                </a:cubicBezTo>
                <a:cubicBezTo>
                  <a:pt x="23774" y="11233"/>
                  <a:pt x="23766" y="11259"/>
                  <a:pt x="23756" y="11283"/>
                </a:cubicBezTo>
                <a:cubicBezTo>
                  <a:pt x="23745" y="11308"/>
                  <a:pt x="23733" y="11332"/>
                  <a:pt x="23718" y="11354"/>
                </a:cubicBezTo>
                <a:cubicBezTo>
                  <a:pt x="23703" y="11377"/>
                  <a:pt x="23686" y="11397"/>
                  <a:pt x="23667" y="11417"/>
                </a:cubicBezTo>
                <a:cubicBezTo>
                  <a:pt x="23648" y="11436"/>
                  <a:pt x="23627" y="11453"/>
                  <a:pt x="23605" y="11468"/>
                </a:cubicBezTo>
                <a:cubicBezTo>
                  <a:pt x="23582" y="11482"/>
                  <a:pt x="23559" y="11495"/>
                  <a:pt x="23534" y="11505"/>
                </a:cubicBezTo>
                <a:cubicBezTo>
                  <a:pt x="23509" y="11516"/>
                  <a:pt x="23483" y="11524"/>
                  <a:pt x="23457" y="11529"/>
                </a:cubicBezTo>
                <a:cubicBezTo>
                  <a:pt x="23430" y="11534"/>
                  <a:pt x="23404" y="11537"/>
                  <a:pt x="23377" y="11537"/>
                </a:cubicBezTo>
                <a:lnTo>
                  <a:pt x="410" y="11537"/>
                </a:lnTo>
                <a:cubicBezTo>
                  <a:pt x="383" y="11537"/>
                  <a:pt x="356" y="11534"/>
                  <a:pt x="330" y="11529"/>
                </a:cubicBezTo>
                <a:cubicBezTo>
                  <a:pt x="303" y="11524"/>
                  <a:pt x="278" y="11516"/>
                  <a:pt x="253" y="11505"/>
                </a:cubicBezTo>
                <a:cubicBezTo>
                  <a:pt x="228" y="11495"/>
                  <a:pt x="204" y="11482"/>
                  <a:pt x="182" y="11468"/>
                </a:cubicBezTo>
                <a:cubicBezTo>
                  <a:pt x="160" y="11453"/>
                  <a:pt x="139" y="11436"/>
                  <a:pt x="120" y="11417"/>
                </a:cubicBezTo>
                <a:cubicBezTo>
                  <a:pt x="101" y="11397"/>
                  <a:pt x="84" y="11377"/>
                  <a:pt x="69" y="11354"/>
                </a:cubicBezTo>
                <a:cubicBezTo>
                  <a:pt x="54" y="11332"/>
                  <a:pt x="41" y="11308"/>
                  <a:pt x="31" y="11283"/>
                </a:cubicBezTo>
                <a:cubicBezTo>
                  <a:pt x="21" y="11259"/>
                  <a:pt x="13" y="11233"/>
                  <a:pt x="8" y="11207"/>
                </a:cubicBezTo>
                <a:cubicBezTo>
                  <a:pt x="2" y="11180"/>
                  <a:pt x="0" y="11153"/>
                  <a:pt x="0" y="11127"/>
                </a:cubicBezTo>
              </a:path>
            </a:pathLst>
          </a:custGeom>
          <a:ln w="9360">
            <a:solidFill>
              <a:schemeClr val="tx1"/>
            </a:solidFill>
            <a:miter/>
          </a:ln>
        </p:spPr>
        <p:txBody>
          <a:bodyPr lIns="4680" tIns="4680" rIns="4680" bIns="4680" anchor="t">
            <a:noAutofit/>
          </a:bodyPr>
          <a:lstStyle/>
          <a:p>
            <a:endParaRPr lang="en-US" sz="2400" b="0" u="none" strike="noStrike">
              <a:solidFill>
                <a:srgbClr val="000000"/>
              </a:solidFill>
              <a:effectLst/>
              <a:uFillTx/>
              <a:latin typeface="Times New Roman"/>
            </a:endParaRPr>
          </a:p>
        </p:txBody>
      </p:sp>
      <p:sp>
        <p:nvSpPr>
          <p:cNvPr id="816" name="Forma libre: forma 815"/>
          <p:cNvSpPr/>
          <p:nvPr/>
        </p:nvSpPr>
        <p:spPr>
          <a:xfrm>
            <a:off x="5714640" y="2790720"/>
            <a:ext cx="762480" cy="38520"/>
          </a:xfrm>
          <a:custGeom>
            <a:avLst/>
            <a:gdLst/>
            <a:ahLst/>
            <a:cxnLst/>
            <a:rect l="0" t="0" r="r" b="b"/>
            <a:pathLst>
              <a:path w="2118" h="107">
                <a:moveTo>
                  <a:pt x="0" y="0"/>
                </a:moveTo>
                <a:lnTo>
                  <a:pt x="2118" y="0"/>
                </a:lnTo>
                <a:lnTo>
                  <a:pt x="2118" y="107"/>
                </a:lnTo>
                <a:lnTo>
                  <a:pt x="0" y="107"/>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17" name="Forma libre: forma 816"/>
          <p:cNvSpPr/>
          <p:nvPr/>
        </p:nvSpPr>
        <p:spPr>
          <a:xfrm>
            <a:off x="2199960" y="3666960"/>
            <a:ext cx="7791840" cy="1914840"/>
          </a:xfrm>
          <a:custGeom>
            <a:avLst/>
            <a:gdLst/>
            <a:ahLst/>
            <a:cxnLst/>
            <a:rect l="0" t="0" r="r" b="b"/>
            <a:pathLst>
              <a:path w="21644" h="5319">
                <a:moveTo>
                  <a:pt x="0" y="5002"/>
                </a:moveTo>
                <a:lnTo>
                  <a:pt x="0" y="317"/>
                </a:lnTo>
                <a:cubicBezTo>
                  <a:pt x="0" y="297"/>
                  <a:pt x="2" y="276"/>
                  <a:pt x="6" y="256"/>
                </a:cubicBezTo>
                <a:cubicBezTo>
                  <a:pt x="11" y="235"/>
                  <a:pt x="17" y="215"/>
                  <a:pt x="25" y="196"/>
                </a:cubicBezTo>
                <a:cubicBezTo>
                  <a:pt x="33" y="177"/>
                  <a:pt x="42" y="158"/>
                  <a:pt x="54" y="141"/>
                </a:cubicBezTo>
                <a:cubicBezTo>
                  <a:pt x="65" y="124"/>
                  <a:pt x="79" y="108"/>
                  <a:pt x="93" y="93"/>
                </a:cubicBezTo>
                <a:cubicBezTo>
                  <a:pt x="108" y="78"/>
                  <a:pt x="124" y="65"/>
                  <a:pt x="141" y="53"/>
                </a:cubicBezTo>
                <a:cubicBezTo>
                  <a:pt x="159" y="42"/>
                  <a:pt x="177" y="32"/>
                  <a:pt x="196" y="24"/>
                </a:cubicBezTo>
                <a:cubicBezTo>
                  <a:pt x="216" y="16"/>
                  <a:pt x="235" y="10"/>
                  <a:pt x="256" y="6"/>
                </a:cubicBezTo>
                <a:cubicBezTo>
                  <a:pt x="276" y="2"/>
                  <a:pt x="297" y="0"/>
                  <a:pt x="318" y="0"/>
                </a:cubicBezTo>
                <a:lnTo>
                  <a:pt x="21327" y="0"/>
                </a:lnTo>
                <a:cubicBezTo>
                  <a:pt x="21348" y="0"/>
                  <a:pt x="21368" y="2"/>
                  <a:pt x="21389" y="6"/>
                </a:cubicBezTo>
                <a:cubicBezTo>
                  <a:pt x="21409" y="10"/>
                  <a:pt x="21429" y="16"/>
                  <a:pt x="21448" y="24"/>
                </a:cubicBezTo>
                <a:cubicBezTo>
                  <a:pt x="21468" y="32"/>
                  <a:pt x="21486" y="42"/>
                  <a:pt x="21503" y="53"/>
                </a:cubicBezTo>
                <a:cubicBezTo>
                  <a:pt x="21521" y="65"/>
                  <a:pt x="21537" y="78"/>
                  <a:pt x="21551" y="93"/>
                </a:cubicBezTo>
                <a:cubicBezTo>
                  <a:pt x="21566" y="108"/>
                  <a:pt x="21579" y="124"/>
                  <a:pt x="21591" y="141"/>
                </a:cubicBezTo>
                <a:cubicBezTo>
                  <a:pt x="21602" y="158"/>
                  <a:pt x="21612" y="177"/>
                  <a:pt x="21620" y="196"/>
                </a:cubicBezTo>
                <a:cubicBezTo>
                  <a:pt x="21628" y="215"/>
                  <a:pt x="21634" y="235"/>
                  <a:pt x="21638" y="256"/>
                </a:cubicBezTo>
                <a:cubicBezTo>
                  <a:pt x="21642" y="276"/>
                  <a:pt x="21644" y="297"/>
                  <a:pt x="21644" y="317"/>
                </a:cubicBezTo>
                <a:lnTo>
                  <a:pt x="21644" y="5002"/>
                </a:lnTo>
                <a:cubicBezTo>
                  <a:pt x="21644" y="5022"/>
                  <a:pt x="21642" y="5043"/>
                  <a:pt x="21638" y="5064"/>
                </a:cubicBezTo>
                <a:cubicBezTo>
                  <a:pt x="21634" y="5084"/>
                  <a:pt x="21628" y="5104"/>
                  <a:pt x="21620" y="5123"/>
                </a:cubicBezTo>
                <a:cubicBezTo>
                  <a:pt x="21612" y="5142"/>
                  <a:pt x="21602" y="5161"/>
                  <a:pt x="21591" y="5178"/>
                </a:cubicBezTo>
                <a:cubicBezTo>
                  <a:pt x="21579" y="5195"/>
                  <a:pt x="21566" y="5211"/>
                  <a:pt x="21551" y="5226"/>
                </a:cubicBezTo>
                <a:cubicBezTo>
                  <a:pt x="21537" y="5241"/>
                  <a:pt x="21521" y="5254"/>
                  <a:pt x="21503" y="5266"/>
                </a:cubicBezTo>
                <a:cubicBezTo>
                  <a:pt x="21486" y="5277"/>
                  <a:pt x="21468" y="5287"/>
                  <a:pt x="21448" y="5295"/>
                </a:cubicBezTo>
                <a:cubicBezTo>
                  <a:pt x="21429" y="5303"/>
                  <a:pt x="21409" y="5309"/>
                  <a:pt x="21389" y="5313"/>
                </a:cubicBezTo>
                <a:cubicBezTo>
                  <a:pt x="21368" y="5317"/>
                  <a:pt x="21348" y="5319"/>
                  <a:pt x="21327" y="5319"/>
                </a:cubicBezTo>
                <a:lnTo>
                  <a:pt x="318" y="5319"/>
                </a:lnTo>
                <a:cubicBezTo>
                  <a:pt x="297" y="5319"/>
                  <a:pt x="276" y="5317"/>
                  <a:pt x="256" y="5313"/>
                </a:cubicBezTo>
                <a:cubicBezTo>
                  <a:pt x="235" y="5309"/>
                  <a:pt x="216" y="5303"/>
                  <a:pt x="196" y="5295"/>
                </a:cubicBezTo>
                <a:cubicBezTo>
                  <a:pt x="177" y="5287"/>
                  <a:pt x="159" y="5277"/>
                  <a:pt x="141" y="5266"/>
                </a:cubicBezTo>
                <a:cubicBezTo>
                  <a:pt x="124" y="5254"/>
                  <a:pt x="108" y="5241"/>
                  <a:pt x="93" y="5226"/>
                </a:cubicBezTo>
                <a:cubicBezTo>
                  <a:pt x="79" y="5211"/>
                  <a:pt x="65" y="5195"/>
                  <a:pt x="54" y="5178"/>
                </a:cubicBezTo>
                <a:cubicBezTo>
                  <a:pt x="42" y="5161"/>
                  <a:pt x="33" y="5142"/>
                  <a:pt x="25" y="5123"/>
                </a:cubicBezTo>
                <a:cubicBezTo>
                  <a:pt x="17" y="5104"/>
                  <a:pt x="11" y="5084"/>
                  <a:pt x="6" y="5064"/>
                </a:cubicBezTo>
                <a:cubicBezTo>
                  <a:pt x="2" y="5043"/>
                  <a:pt x="0" y="5022"/>
                  <a:pt x="0" y="5002"/>
                </a:cubicBezTo>
                <a:close/>
              </a:path>
            </a:pathLst>
          </a:custGeom>
          <a:solidFill>
            <a:srgbClr val="FAF9F6"/>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18" name="Forma libre: forma 817"/>
          <p:cNvSpPr/>
          <p:nvPr/>
        </p:nvSpPr>
        <p:spPr>
          <a:xfrm>
            <a:off x="5067000" y="1199880"/>
            <a:ext cx="2057760" cy="381600"/>
          </a:xfrm>
          <a:custGeom>
            <a:avLst/>
            <a:gdLst/>
            <a:ahLst/>
            <a:cxnLst/>
            <a:rect l="0" t="0" r="r" b="b"/>
            <a:pathLst>
              <a:path w="5716" h="1060">
                <a:moveTo>
                  <a:pt x="0" y="530"/>
                </a:moveTo>
                <a:cubicBezTo>
                  <a:pt x="0" y="496"/>
                  <a:pt x="4" y="461"/>
                  <a:pt x="11" y="427"/>
                </a:cubicBezTo>
                <a:cubicBezTo>
                  <a:pt x="17" y="393"/>
                  <a:pt x="27" y="359"/>
                  <a:pt x="41" y="327"/>
                </a:cubicBezTo>
                <a:cubicBezTo>
                  <a:pt x="54" y="295"/>
                  <a:pt x="70" y="264"/>
                  <a:pt x="90" y="235"/>
                </a:cubicBezTo>
                <a:cubicBezTo>
                  <a:pt x="109" y="207"/>
                  <a:pt x="131" y="180"/>
                  <a:pt x="155" y="155"/>
                </a:cubicBezTo>
                <a:cubicBezTo>
                  <a:pt x="180" y="131"/>
                  <a:pt x="207" y="109"/>
                  <a:pt x="237" y="89"/>
                </a:cubicBezTo>
                <a:cubicBezTo>
                  <a:pt x="265" y="70"/>
                  <a:pt x="296" y="54"/>
                  <a:pt x="328" y="41"/>
                </a:cubicBezTo>
                <a:cubicBezTo>
                  <a:pt x="360" y="27"/>
                  <a:pt x="393" y="17"/>
                  <a:pt x="427" y="10"/>
                </a:cubicBezTo>
                <a:cubicBezTo>
                  <a:pt x="461" y="4"/>
                  <a:pt x="496" y="0"/>
                  <a:pt x="530" y="0"/>
                </a:cubicBezTo>
                <a:lnTo>
                  <a:pt x="5187" y="0"/>
                </a:lnTo>
                <a:cubicBezTo>
                  <a:pt x="5222" y="0"/>
                  <a:pt x="5256" y="4"/>
                  <a:pt x="5290" y="10"/>
                </a:cubicBezTo>
                <a:cubicBezTo>
                  <a:pt x="5324" y="17"/>
                  <a:pt x="5358" y="27"/>
                  <a:pt x="5390" y="41"/>
                </a:cubicBezTo>
                <a:cubicBezTo>
                  <a:pt x="5422" y="54"/>
                  <a:pt x="5452" y="70"/>
                  <a:pt x="5481" y="89"/>
                </a:cubicBezTo>
                <a:cubicBezTo>
                  <a:pt x="5510" y="109"/>
                  <a:pt x="5537" y="131"/>
                  <a:pt x="5561" y="155"/>
                </a:cubicBezTo>
                <a:cubicBezTo>
                  <a:pt x="5586" y="180"/>
                  <a:pt x="5608" y="207"/>
                  <a:pt x="5627" y="235"/>
                </a:cubicBezTo>
                <a:cubicBezTo>
                  <a:pt x="5646" y="264"/>
                  <a:pt x="5663" y="295"/>
                  <a:pt x="5676" y="327"/>
                </a:cubicBezTo>
                <a:cubicBezTo>
                  <a:pt x="5689" y="359"/>
                  <a:pt x="5699" y="393"/>
                  <a:pt x="5706" y="427"/>
                </a:cubicBezTo>
                <a:cubicBezTo>
                  <a:pt x="5713" y="461"/>
                  <a:pt x="5716" y="496"/>
                  <a:pt x="5716" y="530"/>
                </a:cubicBezTo>
                <a:cubicBezTo>
                  <a:pt x="5716" y="565"/>
                  <a:pt x="5713" y="600"/>
                  <a:pt x="5706" y="634"/>
                </a:cubicBezTo>
                <a:cubicBezTo>
                  <a:pt x="5699" y="668"/>
                  <a:pt x="5689" y="701"/>
                  <a:pt x="5676" y="733"/>
                </a:cubicBezTo>
                <a:cubicBezTo>
                  <a:pt x="5663" y="765"/>
                  <a:pt x="5646" y="796"/>
                  <a:pt x="5627" y="824"/>
                </a:cubicBezTo>
                <a:cubicBezTo>
                  <a:pt x="5608" y="853"/>
                  <a:pt x="5586" y="880"/>
                  <a:pt x="5561" y="905"/>
                </a:cubicBezTo>
                <a:cubicBezTo>
                  <a:pt x="5537" y="929"/>
                  <a:pt x="5510" y="951"/>
                  <a:pt x="5481" y="970"/>
                </a:cubicBezTo>
                <a:cubicBezTo>
                  <a:pt x="5452" y="990"/>
                  <a:pt x="5422" y="1006"/>
                  <a:pt x="5390" y="1019"/>
                </a:cubicBezTo>
                <a:cubicBezTo>
                  <a:pt x="5358" y="1033"/>
                  <a:pt x="5324" y="1043"/>
                  <a:pt x="5290" y="1049"/>
                </a:cubicBezTo>
                <a:cubicBezTo>
                  <a:pt x="5256" y="1056"/>
                  <a:pt x="5222" y="1060"/>
                  <a:pt x="5187" y="1060"/>
                </a:cubicBezTo>
                <a:lnTo>
                  <a:pt x="530" y="1060"/>
                </a:lnTo>
                <a:cubicBezTo>
                  <a:pt x="496" y="1060"/>
                  <a:pt x="461" y="1056"/>
                  <a:pt x="427" y="1049"/>
                </a:cubicBezTo>
                <a:cubicBezTo>
                  <a:pt x="393" y="1043"/>
                  <a:pt x="360" y="1033"/>
                  <a:pt x="328" y="1019"/>
                </a:cubicBezTo>
                <a:cubicBezTo>
                  <a:pt x="296" y="1006"/>
                  <a:pt x="265" y="990"/>
                  <a:pt x="237" y="970"/>
                </a:cubicBezTo>
                <a:cubicBezTo>
                  <a:pt x="207" y="951"/>
                  <a:pt x="180" y="929"/>
                  <a:pt x="155" y="905"/>
                </a:cubicBezTo>
                <a:cubicBezTo>
                  <a:pt x="131" y="880"/>
                  <a:pt x="109" y="853"/>
                  <a:pt x="90" y="824"/>
                </a:cubicBezTo>
                <a:cubicBezTo>
                  <a:pt x="70" y="796"/>
                  <a:pt x="54" y="765"/>
                  <a:pt x="41" y="733"/>
                </a:cubicBezTo>
                <a:cubicBezTo>
                  <a:pt x="27" y="701"/>
                  <a:pt x="17" y="668"/>
                  <a:pt x="11" y="634"/>
                </a:cubicBezTo>
                <a:cubicBezTo>
                  <a:pt x="4" y="600"/>
                  <a:pt x="0" y="565"/>
                  <a:pt x="0" y="53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19" name="CuadroTexto 818"/>
          <p:cNvSpPr txBox="1"/>
          <p:nvPr/>
        </p:nvSpPr>
        <p:spPr>
          <a:xfrm>
            <a:off x="571320" y="569160"/>
            <a:ext cx="42465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Ciclo FOR - Ejercicio propuesto</a:t>
            </a:r>
            <a:endParaRPr lang="en-US" sz="2700" b="0" u="none" strike="noStrike">
              <a:solidFill>
                <a:srgbClr val="000000"/>
              </a:solidFill>
              <a:effectLst/>
              <a:uFillTx/>
              <a:latin typeface="Times New Roman"/>
            </a:endParaRPr>
          </a:p>
        </p:txBody>
      </p:sp>
      <p:sp>
        <p:nvSpPr>
          <p:cNvPr id="820" name="CuadroTexto 819"/>
          <p:cNvSpPr txBox="1"/>
          <p:nvPr/>
        </p:nvSpPr>
        <p:spPr>
          <a:xfrm>
            <a:off x="5297400" y="1301760"/>
            <a:ext cx="1476720" cy="169560"/>
          </a:xfrm>
          <a:prstGeom prst="rect">
            <a:avLst/>
          </a:prstGeom>
          <a:noFill/>
          <a:ln w="0">
            <a:noFill/>
          </a:ln>
        </p:spPr>
        <p:txBody>
          <a:bodyPr wrap="none" lIns="0" tIns="0" rIns="0" bIns="0" anchor="t">
            <a:spAutoFit/>
          </a:bodyPr>
          <a:lstStyle/>
          <a:p>
            <a:r>
              <a:rPr lang="en-US" sz="1200" b="0" u="none" strike="noStrike">
                <a:solidFill>
                  <a:srgbClr val="DA7756"/>
                </a:solidFill>
                <a:effectLst/>
                <a:uFillTx/>
                <a:latin typeface="CrimsonPro"/>
                <a:ea typeface="CrimsonPro"/>
              </a:rPr>
              <a:t>EJERCICIO PROPUESTO</a:t>
            </a:r>
            <a:endParaRPr lang="en-US" sz="1200" b="0" u="none" strike="noStrike">
              <a:solidFill>
                <a:srgbClr val="000000"/>
              </a:solidFill>
              <a:effectLst/>
              <a:uFillTx/>
              <a:latin typeface="Times New Roman"/>
            </a:endParaRPr>
          </a:p>
        </p:txBody>
      </p:sp>
      <p:sp>
        <p:nvSpPr>
          <p:cNvPr id="821" name="CuadroTexto 820"/>
          <p:cNvSpPr txBox="1"/>
          <p:nvPr/>
        </p:nvSpPr>
        <p:spPr>
          <a:xfrm>
            <a:off x="4896000" y="2220480"/>
            <a:ext cx="2317320" cy="318960"/>
          </a:xfrm>
          <a:prstGeom prst="rect">
            <a:avLst/>
          </a:prstGeom>
          <a:noFill/>
          <a:ln w="0">
            <a:noFill/>
          </a:ln>
        </p:spPr>
        <p:txBody>
          <a:bodyPr wrap="none" lIns="0" tIns="0" rIns="0" bIns="0" anchor="t">
            <a:spAutoFit/>
          </a:bodyPr>
          <a:lstStyle/>
          <a:p>
            <a:r>
              <a:rPr lang="en-US" sz="2250" b="0" u="none" strike="noStrike">
                <a:solidFill>
                  <a:srgbClr val="000000"/>
                </a:solidFill>
                <a:effectLst/>
                <a:uFillTx/>
                <a:latin typeface="CrimsonPro"/>
                <a:ea typeface="CrimsonPro"/>
              </a:rPr>
              <a:t>Tabla de Multiplicar</a:t>
            </a:r>
            <a:endParaRPr lang="en-US" sz="2250" b="0" u="none" strike="noStrike">
              <a:solidFill>
                <a:srgbClr val="000000"/>
              </a:solidFill>
              <a:effectLst/>
              <a:uFillTx/>
              <a:latin typeface="Times New Roman"/>
            </a:endParaRPr>
          </a:p>
        </p:txBody>
      </p:sp>
      <p:sp>
        <p:nvSpPr>
          <p:cNvPr id="822" name="CuadroTexto 821"/>
          <p:cNvSpPr txBox="1"/>
          <p:nvPr/>
        </p:nvSpPr>
        <p:spPr>
          <a:xfrm>
            <a:off x="2671200" y="3106080"/>
            <a:ext cx="688212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Crear un programa que al proporcionar un valor muestre la tabla de multiplicar hasta el 10.</a:t>
            </a:r>
            <a:endParaRPr lang="en-US" sz="1500" b="0" u="none" strike="noStrike">
              <a:solidFill>
                <a:srgbClr val="000000"/>
              </a:solidFill>
              <a:effectLst/>
              <a:uFillTx/>
              <a:latin typeface="Times New Roman"/>
            </a:endParaRPr>
          </a:p>
        </p:txBody>
      </p:sp>
      <p:sp>
        <p:nvSpPr>
          <p:cNvPr id="823" name="CuadroTexto 822"/>
          <p:cNvSpPr txBox="1"/>
          <p:nvPr/>
        </p:nvSpPr>
        <p:spPr>
          <a:xfrm>
            <a:off x="2428920" y="3932640"/>
            <a:ext cx="470448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Ejemplo:</a:t>
            </a:r>
            <a:r>
              <a:rPr lang="en-US" sz="1350" b="0" u="none" strike="noStrike">
                <a:solidFill>
                  <a:srgbClr val="666666"/>
                </a:solidFill>
                <a:effectLst/>
                <a:uFillTx/>
                <a:latin typeface="CrimsonPro"/>
                <a:ea typeface="CrimsonPro"/>
              </a:rPr>
              <a:t> Si el usuario ingresa el número 5, el programa debe mostrar:</a:t>
            </a:r>
            <a:endParaRPr lang="en-US" sz="1350" b="0" u="none" strike="noStrike">
              <a:solidFill>
                <a:srgbClr val="000000"/>
              </a:solidFill>
              <a:effectLst/>
              <a:uFillTx/>
              <a:latin typeface="Times New Roman"/>
            </a:endParaRPr>
          </a:p>
        </p:txBody>
      </p:sp>
      <p:sp>
        <p:nvSpPr>
          <p:cNvPr id="824" name="CuadroTexto 823"/>
          <p:cNvSpPr txBox="1"/>
          <p:nvPr/>
        </p:nvSpPr>
        <p:spPr>
          <a:xfrm>
            <a:off x="2657520" y="4349880"/>
            <a:ext cx="823680" cy="17244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ourier New"/>
                <a:ea typeface="Courier New"/>
              </a:rPr>
              <a:t>5 x 1 = 5</a:t>
            </a:r>
            <a:endParaRPr lang="en-US" sz="1200" b="0" u="none" strike="noStrike">
              <a:solidFill>
                <a:srgbClr val="000000"/>
              </a:solidFill>
              <a:effectLst/>
              <a:uFillTx/>
              <a:latin typeface="Times New Roman"/>
            </a:endParaRPr>
          </a:p>
        </p:txBody>
      </p:sp>
      <p:sp>
        <p:nvSpPr>
          <p:cNvPr id="825" name="CuadroTexto 824"/>
          <p:cNvSpPr txBox="1"/>
          <p:nvPr/>
        </p:nvSpPr>
        <p:spPr>
          <a:xfrm>
            <a:off x="2657520" y="4616640"/>
            <a:ext cx="915120" cy="17244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ourier New"/>
                <a:ea typeface="Courier New"/>
              </a:rPr>
              <a:t>5 x 2 = 10</a:t>
            </a:r>
            <a:endParaRPr lang="en-US" sz="1200" b="0" u="none" strike="noStrike">
              <a:solidFill>
                <a:srgbClr val="000000"/>
              </a:solidFill>
              <a:effectLst/>
              <a:uFillTx/>
              <a:latin typeface="Times New Roman"/>
            </a:endParaRPr>
          </a:p>
        </p:txBody>
      </p:sp>
      <p:sp>
        <p:nvSpPr>
          <p:cNvPr id="826" name="CuadroTexto 825"/>
          <p:cNvSpPr txBox="1"/>
          <p:nvPr/>
        </p:nvSpPr>
        <p:spPr>
          <a:xfrm>
            <a:off x="2657520" y="4883040"/>
            <a:ext cx="275040" cy="17244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ourier New"/>
                <a:ea typeface="Courier New"/>
              </a:rPr>
              <a:t>...</a:t>
            </a:r>
            <a:endParaRPr lang="en-US" sz="1200" b="0" u="none" strike="noStrike">
              <a:solidFill>
                <a:srgbClr val="000000"/>
              </a:solidFill>
              <a:effectLst/>
              <a:uFillTx/>
              <a:latin typeface="Times New Roman"/>
            </a:endParaRPr>
          </a:p>
        </p:txBody>
      </p:sp>
      <p:sp>
        <p:nvSpPr>
          <p:cNvPr id="827" name="CuadroTexto 826"/>
          <p:cNvSpPr txBox="1"/>
          <p:nvPr/>
        </p:nvSpPr>
        <p:spPr>
          <a:xfrm>
            <a:off x="2657520" y="5149800"/>
            <a:ext cx="1006560" cy="17244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ourier New"/>
                <a:ea typeface="Courier New"/>
              </a:rPr>
              <a:t>5 x 10 = 50</a:t>
            </a:r>
            <a:endParaRPr lang="en-US" sz="1200" b="0" u="none" strike="noStrike">
              <a:solidFill>
                <a:srgbClr val="000000"/>
              </a:solidFill>
              <a:effectLst/>
              <a:uFillTx/>
              <a:latin typeface="Times New Roman"/>
            </a:endParaRPr>
          </a:p>
        </p:txBody>
      </p:sp>
      <p:sp>
        <p:nvSpPr>
          <p:cNvPr id="828" name="Forma libre: forma 827"/>
          <p:cNvSpPr/>
          <p:nvPr/>
        </p:nvSpPr>
        <p:spPr>
          <a:xfrm>
            <a:off x="571320" y="654336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29" name="CuadroTexto 828"/>
          <p:cNvSpPr txBox="1"/>
          <p:nvPr/>
        </p:nvSpPr>
        <p:spPr>
          <a:xfrm>
            <a:off x="5456160" y="6300360"/>
            <a:ext cx="128340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campusmvp.es</a:t>
            </a:r>
            <a:endParaRPr lang="en-US" sz="1050" b="0" u="none" strike="noStrike">
              <a:solidFill>
                <a:srgbClr val="000000"/>
              </a:solidFill>
              <a:effectLst/>
              <a:uFillTx/>
              <a:latin typeface="Times New Roman"/>
            </a:endParaRPr>
          </a:p>
        </p:txBody>
      </p:sp>
      <p:sp>
        <p:nvSpPr>
          <p:cNvPr id="830" name="CuadroTexto 829"/>
          <p:cNvSpPr txBox="1"/>
          <p:nvPr/>
        </p:nvSpPr>
        <p:spPr>
          <a:xfrm>
            <a:off x="571320" y="673092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831" name="CuadroTexto 830"/>
          <p:cNvSpPr txBox="1"/>
          <p:nvPr/>
        </p:nvSpPr>
        <p:spPr>
          <a:xfrm>
            <a:off x="11476440" y="673092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35</a:t>
            </a:r>
            <a:endParaRPr lang="en-US" sz="1200" b="0" u="none" strike="noStrike">
              <a:solidFill>
                <a:srgbClr val="000000"/>
              </a:solidFill>
              <a:effectLst/>
              <a:uFillTx/>
              <a:latin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 name="Forma libre: forma 833"/>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35" name="CuadroTexto 834"/>
          <p:cNvSpPr txBox="1"/>
          <p:nvPr/>
        </p:nvSpPr>
        <p:spPr>
          <a:xfrm>
            <a:off x="571320" y="569160"/>
            <a:ext cx="290124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Bucles - Ciclo WHILE</a:t>
            </a:r>
            <a:endParaRPr lang="en-US" sz="2700" b="0" u="none" strike="noStrike">
              <a:solidFill>
                <a:srgbClr val="000000"/>
              </a:solidFill>
              <a:effectLst/>
              <a:uFillTx/>
              <a:latin typeface="Times New Roman"/>
            </a:endParaRPr>
          </a:p>
        </p:txBody>
      </p:sp>
      <p:sp>
        <p:nvSpPr>
          <p:cNvPr id="836" name="CuadroTexto 835"/>
          <p:cNvSpPr txBox="1"/>
          <p:nvPr/>
        </p:nvSpPr>
        <p:spPr>
          <a:xfrm>
            <a:off x="571320" y="1747800"/>
            <a:ext cx="94896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Definición</a:t>
            </a:r>
            <a:endParaRPr lang="en-US" sz="1800" b="0" u="none" strike="noStrike">
              <a:solidFill>
                <a:srgbClr val="000000"/>
              </a:solidFill>
              <a:effectLst/>
              <a:uFillTx/>
              <a:latin typeface="Times New Roman"/>
            </a:endParaRPr>
          </a:p>
        </p:txBody>
      </p:sp>
      <p:sp>
        <p:nvSpPr>
          <p:cNvPr id="837" name="CuadroTexto 836"/>
          <p:cNvSpPr txBox="1"/>
          <p:nvPr/>
        </p:nvSpPr>
        <p:spPr>
          <a:xfrm>
            <a:off x="571320" y="2217960"/>
            <a:ext cx="579456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Permite ejecutar una o varias líneas de código de forma iterativa (o repetitiva) al igual</a:t>
            </a:r>
            <a:endParaRPr lang="en-US" sz="1350" b="0" u="none" strike="noStrike">
              <a:solidFill>
                <a:srgbClr val="000000"/>
              </a:solidFill>
              <a:effectLst/>
              <a:uFillTx/>
              <a:latin typeface="Times New Roman"/>
            </a:endParaRPr>
          </a:p>
        </p:txBody>
      </p:sp>
      <p:sp>
        <p:nvSpPr>
          <p:cNvPr id="838" name="CuadroTexto 837"/>
          <p:cNvSpPr txBox="1"/>
          <p:nvPr/>
        </p:nvSpPr>
        <p:spPr>
          <a:xfrm>
            <a:off x="571320" y="2494440"/>
            <a:ext cx="505944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que el ciclo for, pero teniendo control y conocimiento sobre las iteraciones.</a:t>
            </a:r>
            <a:endParaRPr lang="en-US" sz="1350" b="0" u="none" strike="noStrike">
              <a:solidFill>
                <a:srgbClr val="000000"/>
              </a:solidFill>
              <a:effectLst/>
              <a:uFillTx/>
              <a:latin typeface="Times New Roman"/>
            </a:endParaRPr>
          </a:p>
        </p:txBody>
      </p:sp>
      <p:sp>
        <p:nvSpPr>
          <p:cNvPr id="839" name="Forma libre: forma 838"/>
          <p:cNvSpPr/>
          <p:nvPr/>
        </p:nvSpPr>
        <p:spPr>
          <a:xfrm>
            <a:off x="571320" y="3495600"/>
            <a:ext cx="76680" cy="76320"/>
          </a:xfrm>
          <a:custGeom>
            <a:avLst/>
            <a:gdLst/>
            <a:ahLst/>
            <a:cxnLst/>
            <a:rect l="0" t="0" r="r" b="b"/>
            <a:pathLst>
              <a:path w="213" h="212">
                <a:moveTo>
                  <a:pt x="213" y="107"/>
                </a:moveTo>
                <a:cubicBezTo>
                  <a:pt x="213" y="121"/>
                  <a:pt x="210" y="134"/>
                  <a:pt x="204" y="147"/>
                </a:cubicBezTo>
                <a:cubicBezTo>
                  <a:pt x="198" y="160"/>
                  <a:pt x="191" y="171"/>
                  <a:pt x="181" y="181"/>
                </a:cubicBezTo>
                <a:cubicBezTo>
                  <a:pt x="171" y="191"/>
                  <a:pt x="159" y="199"/>
                  <a:pt x="146" y="204"/>
                </a:cubicBezTo>
                <a:cubicBezTo>
                  <a:pt x="133" y="210"/>
                  <a:pt x="120" y="212"/>
                  <a:pt x="106" y="212"/>
                </a:cubicBezTo>
                <a:cubicBezTo>
                  <a:pt x="92" y="212"/>
                  <a:pt x="78" y="210"/>
                  <a:pt x="65" y="204"/>
                </a:cubicBezTo>
                <a:cubicBezTo>
                  <a:pt x="52" y="199"/>
                  <a:pt x="41" y="191"/>
                  <a:pt x="31" y="181"/>
                </a:cubicBezTo>
                <a:cubicBezTo>
                  <a:pt x="21" y="171"/>
                  <a:pt x="13" y="160"/>
                  <a:pt x="8" y="147"/>
                </a:cubicBezTo>
                <a:cubicBezTo>
                  <a:pt x="3" y="134"/>
                  <a:pt x="0" y="121"/>
                  <a:pt x="0" y="107"/>
                </a:cubicBezTo>
                <a:cubicBezTo>
                  <a:pt x="0" y="92"/>
                  <a:pt x="3" y="78"/>
                  <a:pt x="8" y="65"/>
                </a:cubicBezTo>
                <a:cubicBezTo>
                  <a:pt x="13" y="52"/>
                  <a:pt x="21" y="41"/>
                  <a:pt x="31" y="31"/>
                </a:cubicBezTo>
                <a:cubicBezTo>
                  <a:pt x="41" y="21"/>
                  <a:pt x="52" y="13"/>
                  <a:pt x="65" y="8"/>
                </a:cubicBezTo>
                <a:cubicBezTo>
                  <a:pt x="78" y="2"/>
                  <a:pt x="92" y="0"/>
                  <a:pt x="106" y="0"/>
                </a:cubicBezTo>
                <a:cubicBezTo>
                  <a:pt x="120" y="0"/>
                  <a:pt x="133" y="2"/>
                  <a:pt x="146" y="8"/>
                </a:cubicBezTo>
                <a:cubicBezTo>
                  <a:pt x="159" y="13"/>
                  <a:pt x="171" y="21"/>
                  <a:pt x="181" y="31"/>
                </a:cubicBezTo>
                <a:cubicBezTo>
                  <a:pt x="191" y="41"/>
                  <a:pt x="198" y="52"/>
                  <a:pt x="204" y="65"/>
                </a:cubicBezTo>
                <a:cubicBezTo>
                  <a:pt x="210" y="78"/>
                  <a:pt x="213" y="92"/>
                  <a:pt x="213" y="107"/>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40" name="CuadroTexto 839"/>
          <p:cNvSpPr txBox="1"/>
          <p:nvPr/>
        </p:nvSpPr>
        <p:spPr>
          <a:xfrm>
            <a:off x="571320" y="2986200"/>
            <a:ext cx="135612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Características</a:t>
            </a:r>
            <a:endParaRPr lang="en-US" sz="1800" b="0" u="none" strike="noStrike">
              <a:solidFill>
                <a:srgbClr val="000000"/>
              </a:solidFill>
              <a:effectLst/>
              <a:uFillTx/>
              <a:latin typeface="Times New Roman"/>
            </a:endParaRPr>
          </a:p>
        </p:txBody>
      </p:sp>
      <p:sp>
        <p:nvSpPr>
          <p:cNvPr id="841" name="CuadroTexto 840"/>
          <p:cNvSpPr txBox="1"/>
          <p:nvPr/>
        </p:nvSpPr>
        <p:spPr>
          <a:xfrm>
            <a:off x="762120" y="3456360"/>
            <a:ext cx="56635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Control del ciclo por medio de una condicional en la declaración que determina si el</a:t>
            </a:r>
            <a:endParaRPr lang="en-US" sz="1350" b="0" u="none" strike="noStrike">
              <a:solidFill>
                <a:srgbClr val="000000"/>
              </a:solidFill>
              <a:effectLst/>
              <a:uFillTx/>
              <a:latin typeface="Times New Roman"/>
            </a:endParaRPr>
          </a:p>
        </p:txBody>
      </p:sp>
      <p:sp>
        <p:nvSpPr>
          <p:cNvPr id="842" name="Forma libre: forma 841"/>
          <p:cNvSpPr/>
          <p:nvPr/>
        </p:nvSpPr>
        <p:spPr>
          <a:xfrm>
            <a:off x="571320" y="4171680"/>
            <a:ext cx="76680" cy="76680"/>
          </a:xfrm>
          <a:custGeom>
            <a:avLst/>
            <a:gdLst/>
            <a:ahLst/>
            <a:cxnLst/>
            <a:rect l="0" t="0" r="r" b="b"/>
            <a:pathLst>
              <a:path w="213" h="213">
                <a:moveTo>
                  <a:pt x="213" y="106"/>
                </a:moveTo>
                <a:cubicBezTo>
                  <a:pt x="213" y="120"/>
                  <a:pt x="210" y="135"/>
                  <a:pt x="204" y="148"/>
                </a:cubicBezTo>
                <a:cubicBezTo>
                  <a:pt x="198" y="161"/>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1"/>
                  <a:pt x="8" y="148"/>
                </a:cubicBezTo>
                <a:cubicBezTo>
                  <a:pt x="3" y="135"/>
                  <a:pt x="0" y="120"/>
                  <a:pt x="0" y="106"/>
                </a:cubicBezTo>
                <a:cubicBezTo>
                  <a:pt x="0" y="92"/>
                  <a:pt x="3" y="79"/>
                  <a:pt x="8" y="66"/>
                </a:cubicBezTo>
                <a:cubicBezTo>
                  <a:pt x="13" y="53"/>
                  <a:pt x="21" y="41"/>
                  <a:pt x="31" y="31"/>
                </a:cubicBezTo>
                <a:cubicBezTo>
                  <a:pt x="41" y="21"/>
                  <a:pt x="52" y="14"/>
                  <a:pt x="65" y="8"/>
                </a:cubicBezTo>
                <a:cubicBezTo>
                  <a:pt x="78" y="3"/>
                  <a:pt x="92" y="0"/>
                  <a:pt x="106" y="0"/>
                </a:cubicBezTo>
                <a:cubicBezTo>
                  <a:pt x="120" y="0"/>
                  <a:pt x="133" y="3"/>
                  <a:pt x="146" y="8"/>
                </a:cubicBezTo>
                <a:cubicBezTo>
                  <a:pt x="159" y="14"/>
                  <a:pt x="171" y="21"/>
                  <a:pt x="181" y="31"/>
                </a:cubicBezTo>
                <a:cubicBezTo>
                  <a:pt x="191" y="41"/>
                  <a:pt x="198" y="53"/>
                  <a:pt x="204" y="66"/>
                </a:cubicBezTo>
                <a:cubicBezTo>
                  <a:pt x="210" y="79"/>
                  <a:pt x="213" y="92"/>
                  <a:pt x="213"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43" name="CuadroTexto 842"/>
          <p:cNvSpPr txBox="1"/>
          <p:nvPr/>
        </p:nvSpPr>
        <p:spPr>
          <a:xfrm>
            <a:off x="762120" y="3742200"/>
            <a:ext cx="178848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ciclo continúa o se detiene</a:t>
            </a:r>
            <a:endParaRPr lang="en-US" sz="1350" b="0" u="none" strike="noStrike">
              <a:solidFill>
                <a:srgbClr val="000000"/>
              </a:solidFill>
              <a:effectLst/>
              <a:uFillTx/>
              <a:latin typeface="Times New Roman"/>
            </a:endParaRPr>
          </a:p>
        </p:txBody>
      </p:sp>
      <p:sp>
        <p:nvSpPr>
          <p:cNvPr id="844" name="Forma libre: forma 843"/>
          <p:cNvSpPr/>
          <p:nvPr/>
        </p:nvSpPr>
        <p:spPr>
          <a:xfrm>
            <a:off x="571320" y="4562280"/>
            <a:ext cx="76680" cy="76680"/>
          </a:xfrm>
          <a:custGeom>
            <a:avLst/>
            <a:gdLst/>
            <a:ahLst/>
            <a:cxnLst/>
            <a:rect l="0" t="0" r="r" b="b"/>
            <a:pathLst>
              <a:path w="213" h="213">
                <a:moveTo>
                  <a:pt x="213" y="107"/>
                </a:moveTo>
                <a:cubicBezTo>
                  <a:pt x="213" y="121"/>
                  <a:pt x="210" y="134"/>
                  <a:pt x="204" y="147"/>
                </a:cubicBezTo>
                <a:cubicBezTo>
                  <a:pt x="198" y="160"/>
                  <a:pt x="191" y="172"/>
                  <a:pt x="181" y="182"/>
                </a:cubicBezTo>
                <a:cubicBezTo>
                  <a:pt x="171" y="192"/>
                  <a:pt x="159" y="199"/>
                  <a:pt x="146" y="205"/>
                </a:cubicBezTo>
                <a:cubicBezTo>
                  <a:pt x="133" y="210"/>
                  <a:pt x="120" y="213"/>
                  <a:pt x="106" y="213"/>
                </a:cubicBezTo>
                <a:cubicBezTo>
                  <a:pt x="92" y="213"/>
                  <a:pt x="78" y="210"/>
                  <a:pt x="65" y="205"/>
                </a:cubicBezTo>
                <a:cubicBezTo>
                  <a:pt x="52" y="199"/>
                  <a:pt x="41" y="192"/>
                  <a:pt x="31" y="182"/>
                </a:cubicBezTo>
                <a:cubicBezTo>
                  <a:pt x="21" y="172"/>
                  <a:pt x="13" y="160"/>
                  <a:pt x="8" y="147"/>
                </a:cubicBezTo>
                <a:cubicBezTo>
                  <a:pt x="3" y="134"/>
                  <a:pt x="0" y="121"/>
                  <a:pt x="0" y="107"/>
                </a:cubicBezTo>
                <a:cubicBezTo>
                  <a:pt x="0" y="92"/>
                  <a:pt x="3" y="78"/>
                  <a:pt x="8" y="65"/>
                </a:cubicBezTo>
                <a:cubicBezTo>
                  <a:pt x="13" y="52"/>
                  <a:pt x="21" y="41"/>
                  <a:pt x="31" y="31"/>
                </a:cubicBezTo>
                <a:cubicBezTo>
                  <a:pt x="41" y="21"/>
                  <a:pt x="52" y="13"/>
                  <a:pt x="65" y="8"/>
                </a:cubicBezTo>
                <a:cubicBezTo>
                  <a:pt x="78" y="3"/>
                  <a:pt x="92" y="0"/>
                  <a:pt x="106" y="0"/>
                </a:cubicBezTo>
                <a:cubicBezTo>
                  <a:pt x="120" y="0"/>
                  <a:pt x="133" y="3"/>
                  <a:pt x="146" y="8"/>
                </a:cubicBezTo>
                <a:cubicBezTo>
                  <a:pt x="159" y="13"/>
                  <a:pt x="171" y="21"/>
                  <a:pt x="181" y="31"/>
                </a:cubicBezTo>
                <a:cubicBezTo>
                  <a:pt x="191" y="41"/>
                  <a:pt x="198" y="52"/>
                  <a:pt x="204" y="65"/>
                </a:cubicBezTo>
                <a:cubicBezTo>
                  <a:pt x="210" y="78"/>
                  <a:pt x="213" y="92"/>
                  <a:pt x="213" y="107"/>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45" name="CuadroTexto 844"/>
          <p:cNvSpPr txBox="1"/>
          <p:nvPr/>
        </p:nvSpPr>
        <p:spPr>
          <a:xfrm>
            <a:off x="762120" y="4132800"/>
            <a:ext cx="239616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Sintaxis más simple que el ciclo For</a:t>
            </a:r>
            <a:endParaRPr lang="en-US" sz="1350" b="0" u="none" strike="noStrike">
              <a:solidFill>
                <a:srgbClr val="000000"/>
              </a:solidFill>
              <a:effectLst/>
              <a:uFillTx/>
              <a:latin typeface="Times New Roman"/>
            </a:endParaRPr>
          </a:p>
        </p:txBody>
      </p:sp>
      <p:sp>
        <p:nvSpPr>
          <p:cNvPr id="846" name="CuadroTexto 845"/>
          <p:cNvSpPr txBox="1"/>
          <p:nvPr/>
        </p:nvSpPr>
        <p:spPr>
          <a:xfrm>
            <a:off x="762120" y="4523040"/>
            <a:ext cx="454716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Únicamente se tiene control del ciclo por medio de una condicional</a:t>
            </a:r>
            <a:endParaRPr lang="en-US" sz="1350" b="0" u="none" strike="noStrike">
              <a:solidFill>
                <a:srgbClr val="000000"/>
              </a:solidFill>
              <a:effectLst/>
              <a:uFillTx/>
              <a:latin typeface="Times New Roman"/>
            </a:endParaRPr>
          </a:p>
        </p:txBody>
      </p:sp>
      <p:sp>
        <p:nvSpPr>
          <p:cNvPr id="847" name="Forma libre: forma 846"/>
          <p:cNvSpPr/>
          <p:nvPr/>
        </p:nvSpPr>
        <p:spPr>
          <a:xfrm>
            <a:off x="7053120" y="1719000"/>
            <a:ext cx="4562640" cy="3619800"/>
          </a:xfrm>
          <a:custGeom>
            <a:avLst/>
            <a:gdLst/>
            <a:ahLst/>
            <a:cxnLst/>
            <a:rect l="0" t="0" r="r" b="b"/>
            <a:pathLst>
              <a:path w="12674" h="10055">
                <a:moveTo>
                  <a:pt x="0" y="9751"/>
                </a:moveTo>
                <a:lnTo>
                  <a:pt x="0" y="305"/>
                </a:lnTo>
                <a:cubicBezTo>
                  <a:pt x="0" y="286"/>
                  <a:pt x="2" y="266"/>
                  <a:pt x="6" y="245"/>
                </a:cubicBezTo>
                <a:cubicBezTo>
                  <a:pt x="10" y="226"/>
                  <a:pt x="15" y="207"/>
                  <a:pt x="23" y="188"/>
                </a:cubicBezTo>
                <a:cubicBezTo>
                  <a:pt x="31" y="170"/>
                  <a:pt x="40" y="152"/>
                  <a:pt x="51" y="135"/>
                </a:cubicBezTo>
                <a:cubicBezTo>
                  <a:pt x="62" y="119"/>
                  <a:pt x="75" y="103"/>
                  <a:pt x="89" y="89"/>
                </a:cubicBezTo>
                <a:cubicBezTo>
                  <a:pt x="103" y="75"/>
                  <a:pt x="119" y="63"/>
                  <a:pt x="135" y="52"/>
                </a:cubicBezTo>
                <a:cubicBezTo>
                  <a:pt x="152" y="40"/>
                  <a:pt x="169" y="31"/>
                  <a:pt x="188" y="23"/>
                </a:cubicBezTo>
                <a:cubicBezTo>
                  <a:pt x="206" y="16"/>
                  <a:pt x="225" y="10"/>
                  <a:pt x="245" y="6"/>
                </a:cubicBezTo>
                <a:cubicBezTo>
                  <a:pt x="264" y="2"/>
                  <a:pt x="284" y="0"/>
                  <a:pt x="304" y="0"/>
                </a:cubicBezTo>
                <a:lnTo>
                  <a:pt x="12370" y="0"/>
                </a:lnTo>
                <a:cubicBezTo>
                  <a:pt x="12390" y="0"/>
                  <a:pt x="12410" y="2"/>
                  <a:pt x="12430" y="6"/>
                </a:cubicBezTo>
                <a:cubicBezTo>
                  <a:pt x="12449" y="10"/>
                  <a:pt x="12468" y="16"/>
                  <a:pt x="12487" y="23"/>
                </a:cubicBezTo>
                <a:cubicBezTo>
                  <a:pt x="12505" y="31"/>
                  <a:pt x="12523" y="40"/>
                  <a:pt x="12539" y="52"/>
                </a:cubicBezTo>
                <a:cubicBezTo>
                  <a:pt x="12556" y="63"/>
                  <a:pt x="12571" y="75"/>
                  <a:pt x="12585" y="89"/>
                </a:cubicBezTo>
                <a:cubicBezTo>
                  <a:pt x="12599" y="103"/>
                  <a:pt x="12612" y="119"/>
                  <a:pt x="12623" y="135"/>
                </a:cubicBezTo>
                <a:cubicBezTo>
                  <a:pt x="12634" y="152"/>
                  <a:pt x="12644" y="170"/>
                  <a:pt x="12651" y="188"/>
                </a:cubicBezTo>
                <a:cubicBezTo>
                  <a:pt x="12659" y="207"/>
                  <a:pt x="12665" y="226"/>
                  <a:pt x="12669" y="245"/>
                </a:cubicBezTo>
                <a:cubicBezTo>
                  <a:pt x="12672" y="266"/>
                  <a:pt x="12674" y="286"/>
                  <a:pt x="12674" y="305"/>
                </a:cubicBezTo>
                <a:lnTo>
                  <a:pt x="12674" y="9751"/>
                </a:lnTo>
                <a:cubicBezTo>
                  <a:pt x="12674" y="9771"/>
                  <a:pt x="12672" y="9791"/>
                  <a:pt x="12669" y="9810"/>
                </a:cubicBezTo>
                <a:cubicBezTo>
                  <a:pt x="12665" y="9830"/>
                  <a:pt x="12659" y="9849"/>
                  <a:pt x="12651" y="9868"/>
                </a:cubicBezTo>
                <a:cubicBezTo>
                  <a:pt x="12644" y="9886"/>
                  <a:pt x="12634" y="9904"/>
                  <a:pt x="12623" y="9920"/>
                </a:cubicBezTo>
                <a:cubicBezTo>
                  <a:pt x="12612" y="9937"/>
                  <a:pt x="12599" y="9952"/>
                  <a:pt x="12585" y="9966"/>
                </a:cubicBezTo>
                <a:cubicBezTo>
                  <a:pt x="12571" y="9980"/>
                  <a:pt x="12556" y="9993"/>
                  <a:pt x="12539" y="10004"/>
                </a:cubicBezTo>
                <a:cubicBezTo>
                  <a:pt x="12523" y="10015"/>
                  <a:pt x="12505" y="10025"/>
                  <a:pt x="12487" y="10032"/>
                </a:cubicBezTo>
                <a:cubicBezTo>
                  <a:pt x="12468" y="10040"/>
                  <a:pt x="12449" y="10046"/>
                  <a:pt x="12430" y="10050"/>
                </a:cubicBezTo>
                <a:cubicBezTo>
                  <a:pt x="12410" y="10053"/>
                  <a:pt x="12390" y="10055"/>
                  <a:pt x="12370" y="10055"/>
                </a:cubicBezTo>
                <a:lnTo>
                  <a:pt x="304" y="10055"/>
                </a:lnTo>
                <a:cubicBezTo>
                  <a:pt x="284" y="10055"/>
                  <a:pt x="264" y="10053"/>
                  <a:pt x="245" y="10050"/>
                </a:cubicBezTo>
                <a:cubicBezTo>
                  <a:pt x="225" y="10046"/>
                  <a:pt x="206" y="10040"/>
                  <a:pt x="188" y="10032"/>
                </a:cubicBezTo>
                <a:cubicBezTo>
                  <a:pt x="169" y="10025"/>
                  <a:pt x="152" y="10015"/>
                  <a:pt x="135" y="10004"/>
                </a:cubicBezTo>
                <a:cubicBezTo>
                  <a:pt x="119" y="9993"/>
                  <a:pt x="103" y="9980"/>
                  <a:pt x="89" y="9966"/>
                </a:cubicBezTo>
                <a:cubicBezTo>
                  <a:pt x="75" y="9952"/>
                  <a:pt x="62" y="9937"/>
                  <a:pt x="51" y="9920"/>
                </a:cubicBezTo>
                <a:cubicBezTo>
                  <a:pt x="40" y="9904"/>
                  <a:pt x="31" y="9886"/>
                  <a:pt x="23" y="9868"/>
                </a:cubicBezTo>
                <a:cubicBezTo>
                  <a:pt x="15" y="9849"/>
                  <a:pt x="10" y="9830"/>
                  <a:pt x="6" y="9810"/>
                </a:cubicBezTo>
                <a:cubicBezTo>
                  <a:pt x="2" y="9791"/>
                  <a:pt x="0" y="9771"/>
                  <a:pt x="0" y="9751"/>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48" name="Forma libre: forma 847"/>
          <p:cNvSpPr/>
          <p:nvPr/>
        </p:nvSpPr>
        <p:spPr>
          <a:xfrm>
            <a:off x="7053120" y="1719000"/>
            <a:ext cx="4562640" cy="3619800"/>
          </a:xfrm>
          <a:custGeom>
            <a:avLst/>
            <a:gdLst/>
            <a:ahLst/>
            <a:cxnLst/>
            <a:rect l="0" t="0" r="r" b="b"/>
            <a:pathLst>
              <a:path w="12674" h="10055" fill="none">
                <a:moveTo>
                  <a:pt x="0" y="9751"/>
                </a:moveTo>
                <a:lnTo>
                  <a:pt x="0" y="305"/>
                </a:lnTo>
                <a:cubicBezTo>
                  <a:pt x="0" y="286"/>
                  <a:pt x="2" y="266"/>
                  <a:pt x="6" y="245"/>
                </a:cubicBezTo>
                <a:cubicBezTo>
                  <a:pt x="10" y="226"/>
                  <a:pt x="15" y="207"/>
                  <a:pt x="23" y="188"/>
                </a:cubicBezTo>
                <a:cubicBezTo>
                  <a:pt x="31" y="170"/>
                  <a:pt x="40" y="152"/>
                  <a:pt x="51" y="135"/>
                </a:cubicBezTo>
                <a:cubicBezTo>
                  <a:pt x="62" y="119"/>
                  <a:pt x="75" y="103"/>
                  <a:pt x="89" y="89"/>
                </a:cubicBezTo>
                <a:cubicBezTo>
                  <a:pt x="103" y="75"/>
                  <a:pt x="119" y="63"/>
                  <a:pt x="135" y="52"/>
                </a:cubicBezTo>
                <a:cubicBezTo>
                  <a:pt x="152" y="40"/>
                  <a:pt x="169" y="31"/>
                  <a:pt x="188" y="23"/>
                </a:cubicBezTo>
                <a:cubicBezTo>
                  <a:pt x="206" y="16"/>
                  <a:pt x="225" y="10"/>
                  <a:pt x="245" y="6"/>
                </a:cubicBezTo>
                <a:cubicBezTo>
                  <a:pt x="264" y="2"/>
                  <a:pt x="284" y="0"/>
                  <a:pt x="304" y="0"/>
                </a:cubicBezTo>
                <a:lnTo>
                  <a:pt x="12370" y="0"/>
                </a:lnTo>
                <a:cubicBezTo>
                  <a:pt x="12390" y="0"/>
                  <a:pt x="12410" y="2"/>
                  <a:pt x="12430" y="6"/>
                </a:cubicBezTo>
                <a:cubicBezTo>
                  <a:pt x="12449" y="10"/>
                  <a:pt x="12468" y="16"/>
                  <a:pt x="12487" y="23"/>
                </a:cubicBezTo>
                <a:cubicBezTo>
                  <a:pt x="12505" y="31"/>
                  <a:pt x="12523" y="40"/>
                  <a:pt x="12539" y="52"/>
                </a:cubicBezTo>
                <a:cubicBezTo>
                  <a:pt x="12556" y="63"/>
                  <a:pt x="12571" y="75"/>
                  <a:pt x="12585" y="89"/>
                </a:cubicBezTo>
                <a:cubicBezTo>
                  <a:pt x="12599" y="103"/>
                  <a:pt x="12612" y="119"/>
                  <a:pt x="12623" y="135"/>
                </a:cubicBezTo>
                <a:cubicBezTo>
                  <a:pt x="12634" y="152"/>
                  <a:pt x="12644" y="170"/>
                  <a:pt x="12651" y="188"/>
                </a:cubicBezTo>
                <a:cubicBezTo>
                  <a:pt x="12659" y="207"/>
                  <a:pt x="12665" y="226"/>
                  <a:pt x="12669" y="245"/>
                </a:cubicBezTo>
                <a:cubicBezTo>
                  <a:pt x="12672" y="266"/>
                  <a:pt x="12674" y="286"/>
                  <a:pt x="12674" y="305"/>
                </a:cubicBezTo>
                <a:lnTo>
                  <a:pt x="12674" y="9751"/>
                </a:lnTo>
                <a:cubicBezTo>
                  <a:pt x="12674" y="9771"/>
                  <a:pt x="12672" y="9791"/>
                  <a:pt x="12669" y="9810"/>
                </a:cubicBezTo>
                <a:cubicBezTo>
                  <a:pt x="12665" y="9830"/>
                  <a:pt x="12659" y="9849"/>
                  <a:pt x="12651" y="9868"/>
                </a:cubicBezTo>
                <a:cubicBezTo>
                  <a:pt x="12644" y="9886"/>
                  <a:pt x="12634" y="9904"/>
                  <a:pt x="12623" y="9920"/>
                </a:cubicBezTo>
                <a:cubicBezTo>
                  <a:pt x="12612" y="9937"/>
                  <a:pt x="12599" y="9952"/>
                  <a:pt x="12585" y="9966"/>
                </a:cubicBezTo>
                <a:cubicBezTo>
                  <a:pt x="12571" y="9980"/>
                  <a:pt x="12556" y="9993"/>
                  <a:pt x="12539" y="10004"/>
                </a:cubicBezTo>
                <a:cubicBezTo>
                  <a:pt x="12523" y="10015"/>
                  <a:pt x="12505" y="10025"/>
                  <a:pt x="12487" y="10032"/>
                </a:cubicBezTo>
                <a:cubicBezTo>
                  <a:pt x="12468" y="10040"/>
                  <a:pt x="12449" y="10046"/>
                  <a:pt x="12430" y="10050"/>
                </a:cubicBezTo>
                <a:cubicBezTo>
                  <a:pt x="12410" y="10053"/>
                  <a:pt x="12390" y="10055"/>
                  <a:pt x="12370" y="10055"/>
                </a:cubicBezTo>
                <a:lnTo>
                  <a:pt x="304" y="10055"/>
                </a:lnTo>
                <a:cubicBezTo>
                  <a:pt x="284" y="10055"/>
                  <a:pt x="264" y="10053"/>
                  <a:pt x="245" y="10050"/>
                </a:cubicBezTo>
                <a:cubicBezTo>
                  <a:pt x="225" y="10046"/>
                  <a:pt x="206" y="10040"/>
                  <a:pt x="188" y="10032"/>
                </a:cubicBezTo>
                <a:cubicBezTo>
                  <a:pt x="169" y="10025"/>
                  <a:pt x="152" y="10015"/>
                  <a:pt x="135" y="10004"/>
                </a:cubicBezTo>
                <a:cubicBezTo>
                  <a:pt x="119" y="9993"/>
                  <a:pt x="103" y="9980"/>
                  <a:pt x="89" y="9966"/>
                </a:cubicBezTo>
                <a:cubicBezTo>
                  <a:pt x="75" y="9952"/>
                  <a:pt x="62" y="9937"/>
                  <a:pt x="51" y="9920"/>
                </a:cubicBezTo>
                <a:cubicBezTo>
                  <a:pt x="40" y="9904"/>
                  <a:pt x="31" y="9886"/>
                  <a:pt x="23" y="9868"/>
                </a:cubicBezTo>
                <a:cubicBezTo>
                  <a:pt x="15" y="9849"/>
                  <a:pt x="10" y="9830"/>
                  <a:pt x="6" y="9810"/>
                </a:cubicBezTo>
                <a:cubicBezTo>
                  <a:pt x="2" y="9791"/>
                  <a:pt x="0" y="9771"/>
                  <a:pt x="0" y="9751"/>
                </a:cubicBezTo>
              </a:path>
            </a:pathLst>
          </a:custGeom>
          <a:ln w="9360">
            <a:solidFill>
              <a:schemeClr val="tx1"/>
            </a:solidFill>
            <a:miter/>
          </a:ln>
        </p:spPr>
        <p:txBody>
          <a:bodyPr lIns="4680" tIns="4680" rIns="4680" bIns="4680" anchor="t">
            <a:noAutofit/>
          </a:bodyPr>
          <a:lstStyle/>
          <a:p>
            <a:endParaRPr lang="en-US" sz="2400" b="0" u="none" strike="noStrike">
              <a:solidFill>
                <a:srgbClr val="000000"/>
              </a:solidFill>
              <a:effectLst/>
              <a:uFillTx/>
              <a:latin typeface="Times New Roman"/>
            </a:endParaRPr>
          </a:p>
        </p:txBody>
      </p:sp>
      <p:pic>
        <p:nvPicPr>
          <p:cNvPr id="849" name="Imagen 848"/>
          <p:cNvPicPr/>
          <p:nvPr/>
        </p:nvPicPr>
        <p:blipFill>
          <a:blip r:embed="rId2"/>
          <a:stretch/>
        </p:blipFill>
        <p:spPr>
          <a:xfrm>
            <a:off x="7058160" y="1724040"/>
            <a:ext cx="4552560" cy="3609720"/>
          </a:xfrm>
          <a:prstGeom prst="rect">
            <a:avLst/>
          </a:prstGeom>
          <a:noFill/>
          <a:ln w="0">
            <a:noFill/>
          </a:ln>
        </p:spPr>
      </p:pic>
      <p:sp>
        <p:nvSpPr>
          <p:cNvPr id="850" name="Forma libre: forma 849"/>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51" name="CuadroTexto 850"/>
          <p:cNvSpPr txBox="1"/>
          <p:nvPr/>
        </p:nvSpPr>
        <p:spPr>
          <a:xfrm>
            <a:off x="571320" y="5166720"/>
            <a:ext cx="191520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campusmvp.es</a:t>
            </a:r>
            <a:endParaRPr lang="en-US" sz="1050" b="0" u="none" strike="noStrike">
              <a:solidFill>
                <a:srgbClr val="000000"/>
              </a:solidFill>
              <a:effectLst/>
              <a:uFillTx/>
              <a:latin typeface="Times New Roman"/>
            </a:endParaRPr>
          </a:p>
        </p:txBody>
      </p:sp>
      <p:sp>
        <p:nvSpPr>
          <p:cNvPr id="852" name="CuadroTexto 851"/>
          <p:cNvSpPr txBox="1"/>
          <p:nvPr/>
        </p:nvSpPr>
        <p:spPr>
          <a:xfrm>
            <a:off x="571320" y="60832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853" name="CuadroTexto 852"/>
          <p:cNvSpPr txBox="1"/>
          <p:nvPr/>
        </p:nvSpPr>
        <p:spPr>
          <a:xfrm>
            <a:off x="11470680" y="60832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36</a:t>
            </a:r>
            <a:endParaRPr lang="en-US" sz="1200" b="0" u="none" strike="noStrike">
              <a:solidFill>
                <a:srgbClr val="000000"/>
              </a:solidFill>
              <a:effectLst/>
              <a:uFillTx/>
              <a:latin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 name="Forma libre: forma 855"/>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57" name="Forma libre: forma 856"/>
          <p:cNvSpPr/>
          <p:nvPr/>
        </p:nvSpPr>
        <p:spPr>
          <a:xfrm>
            <a:off x="1809720" y="1352520"/>
            <a:ext cx="8572680" cy="1190880"/>
          </a:xfrm>
          <a:custGeom>
            <a:avLst/>
            <a:gdLst/>
            <a:ahLst/>
            <a:cxnLst/>
            <a:rect l="0" t="0" r="r" b="b"/>
            <a:pathLst>
              <a:path w="23813" h="3308">
                <a:moveTo>
                  <a:pt x="0" y="2990"/>
                </a:moveTo>
                <a:lnTo>
                  <a:pt x="0" y="317"/>
                </a:lnTo>
                <a:cubicBezTo>
                  <a:pt x="0" y="296"/>
                  <a:pt x="2" y="276"/>
                  <a:pt x="6" y="255"/>
                </a:cubicBezTo>
                <a:cubicBezTo>
                  <a:pt x="10" y="235"/>
                  <a:pt x="16" y="215"/>
                  <a:pt x="24" y="196"/>
                </a:cubicBezTo>
                <a:cubicBezTo>
                  <a:pt x="32" y="176"/>
                  <a:pt x="42" y="158"/>
                  <a:pt x="53" y="141"/>
                </a:cubicBezTo>
                <a:cubicBezTo>
                  <a:pt x="65" y="123"/>
                  <a:pt x="78" y="107"/>
                  <a:pt x="93" y="93"/>
                </a:cubicBezTo>
                <a:cubicBezTo>
                  <a:pt x="107" y="78"/>
                  <a:pt x="123" y="65"/>
                  <a:pt x="141" y="53"/>
                </a:cubicBezTo>
                <a:cubicBezTo>
                  <a:pt x="158" y="42"/>
                  <a:pt x="176" y="32"/>
                  <a:pt x="196" y="24"/>
                </a:cubicBezTo>
                <a:cubicBezTo>
                  <a:pt x="215" y="16"/>
                  <a:pt x="235" y="10"/>
                  <a:pt x="255" y="6"/>
                </a:cubicBezTo>
                <a:cubicBezTo>
                  <a:pt x="276" y="2"/>
                  <a:pt x="296" y="0"/>
                  <a:pt x="317" y="0"/>
                </a:cubicBezTo>
                <a:lnTo>
                  <a:pt x="23496" y="0"/>
                </a:lnTo>
                <a:cubicBezTo>
                  <a:pt x="23516" y="0"/>
                  <a:pt x="23537" y="2"/>
                  <a:pt x="23558" y="6"/>
                </a:cubicBezTo>
                <a:cubicBezTo>
                  <a:pt x="23578" y="10"/>
                  <a:pt x="23598" y="16"/>
                  <a:pt x="23617" y="24"/>
                </a:cubicBezTo>
                <a:cubicBezTo>
                  <a:pt x="23636" y="32"/>
                  <a:pt x="23655" y="42"/>
                  <a:pt x="23672" y="53"/>
                </a:cubicBezTo>
                <a:cubicBezTo>
                  <a:pt x="23689" y="65"/>
                  <a:pt x="23705" y="78"/>
                  <a:pt x="23720" y="93"/>
                </a:cubicBezTo>
                <a:cubicBezTo>
                  <a:pt x="23735" y="107"/>
                  <a:pt x="23748" y="123"/>
                  <a:pt x="23760" y="141"/>
                </a:cubicBezTo>
                <a:cubicBezTo>
                  <a:pt x="23771" y="158"/>
                  <a:pt x="23781" y="176"/>
                  <a:pt x="23789" y="196"/>
                </a:cubicBezTo>
                <a:cubicBezTo>
                  <a:pt x="23797" y="215"/>
                  <a:pt x="23803" y="235"/>
                  <a:pt x="23807" y="255"/>
                </a:cubicBezTo>
                <a:cubicBezTo>
                  <a:pt x="23811" y="276"/>
                  <a:pt x="23813" y="296"/>
                  <a:pt x="23813" y="317"/>
                </a:cubicBezTo>
                <a:lnTo>
                  <a:pt x="23813" y="2990"/>
                </a:lnTo>
                <a:cubicBezTo>
                  <a:pt x="23813" y="3011"/>
                  <a:pt x="23811" y="3032"/>
                  <a:pt x="23807" y="3052"/>
                </a:cubicBezTo>
                <a:cubicBezTo>
                  <a:pt x="23803" y="3073"/>
                  <a:pt x="23797" y="3093"/>
                  <a:pt x="23789" y="3112"/>
                </a:cubicBezTo>
                <a:cubicBezTo>
                  <a:pt x="23781" y="3131"/>
                  <a:pt x="23771" y="3149"/>
                  <a:pt x="23760" y="3167"/>
                </a:cubicBezTo>
                <a:cubicBezTo>
                  <a:pt x="23748" y="3184"/>
                  <a:pt x="23735" y="3200"/>
                  <a:pt x="23720" y="3215"/>
                </a:cubicBezTo>
                <a:cubicBezTo>
                  <a:pt x="23705" y="3230"/>
                  <a:pt x="23689" y="3243"/>
                  <a:pt x="23672" y="3254"/>
                </a:cubicBezTo>
                <a:cubicBezTo>
                  <a:pt x="23655" y="3266"/>
                  <a:pt x="23636" y="3276"/>
                  <a:pt x="23617" y="3284"/>
                </a:cubicBezTo>
                <a:cubicBezTo>
                  <a:pt x="23598" y="3292"/>
                  <a:pt x="23578" y="3298"/>
                  <a:pt x="23558" y="3302"/>
                </a:cubicBezTo>
                <a:cubicBezTo>
                  <a:pt x="23537" y="3306"/>
                  <a:pt x="23516" y="3308"/>
                  <a:pt x="23496" y="3308"/>
                </a:cubicBezTo>
                <a:lnTo>
                  <a:pt x="317" y="3308"/>
                </a:lnTo>
                <a:cubicBezTo>
                  <a:pt x="296" y="3308"/>
                  <a:pt x="276" y="3306"/>
                  <a:pt x="255" y="3302"/>
                </a:cubicBezTo>
                <a:cubicBezTo>
                  <a:pt x="235" y="3298"/>
                  <a:pt x="215" y="3292"/>
                  <a:pt x="196" y="3284"/>
                </a:cubicBezTo>
                <a:cubicBezTo>
                  <a:pt x="176" y="3276"/>
                  <a:pt x="158" y="3266"/>
                  <a:pt x="141" y="3254"/>
                </a:cubicBezTo>
                <a:cubicBezTo>
                  <a:pt x="123" y="3243"/>
                  <a:pt x="107" y="3230"/>
                  <a:pt x="93" y="3215"/>
                </a:cubicBezTo>
                <a:cubicBezTo>
                  <a:pt x="78" y="3200"/>
                  <a:pt x="65" y="3184"/>
                  <a:pt x="53" y="3167"/>
                </a:cubicBezTo>
                <a:cubicBezTo>
                  <a:pt x="42" y="3149"/>
                  <a:pt x="32" y="3131"/>
                  <a:pt x="24" y="3112"/>
                </a:cubicBezTo>
                <a:cubicBezTo>
                  <a:pt x="16" y="3093"/>
                  <a:pt x="10" y="3073"/>
                  <a:pt x="6" y="3052"/>
                </a:cubicBezTo>
                <a:cubicBezTo>
                  <a:pt x="2" y="3032"/>
                  <a:pt x="0" y="3011"/>
                  <a:pt x="0" y="299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58" name="CuadroTexto 857"/>
          <p:cNvSpPr txBox="1"/>
          <p:nvPr/>
        </p:nvSpPr>
        <p:spPr>
          <a:xfrm>
            <a:off x="571320" y="569160"/>
            <a:ext cx="420300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Ciclo WHILE - Ejercicio guiado</a:t>
            </a:r>
            <a:endParaRPr lang="en-US" sz="2700" b="0" u="none" strike="noStrike">
              <a:solidFill>
                <a:srgbClr val="000000"/>
              </a:solidFill>
              <a:effectLst/>
              <a:uFillTx/>
              <a:latin typeface="Times New Roman"/>
            </a:endParaRPr>
          </a:p>
        </p:txBody>
      </p:sp>
      <p:sp>
        <p:nvSpPr>
          <p:cNvPr id="859" name="CuadroTexto 858"/>
          <p:cNvSpPr txBox="1"/>
          <p:nvPr/>
        </p:nvSpPr>
        <p:spPr>
          <a:xfrm>
            <a:off x="2038320" y="1604880"/>
            <a:ext cx="78588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Ejercicio</a:t>
            </a:r>
            <a:endParaRPr lang="en-US" sz="1800" b="0" u="none" strike="noStrike">
              <a:solidFill>
                <a:srgbClr val="000000"/>
              </a:solidFill>
              <a:effectLst/>
              <a:uFillTx/>
              <a:latin typeface="Times New Roman"/>
            </a:endParaRPr>
          </a:p>
        </p:txBody>
      </p:sp>
      <p:sp>
        <p:nvSpPr>
          <p:cNvPr id="860" name="Forma libre: forma 859"/>
          <p:cNvSpPr/>
          <p:nvPr/>
        </p:nvSpPr>
        <p:spPr>
          <a:xfrm>
            <a:off x="4024080" y="3004920"/>
            <a:ext cx="4143960" cy="3334320"/>
          </a:xfrm>
          <a:custGeom>
            <a:avLst/>
            <a:gdLst/>
            <a:ahLst/>
            <a:cxnLst/>
            <a:rect l="0" t="0" r="r" b="b"/>
            <a:pathLst>
              <a:path w="11511" h="9262">
                <a:moveTo>
                  <a:pt x="0" y="9063"/>
                </a:moveTo>
                <a:lnTo>
                  <a:pt x="0" y="199"/>
                </a:lnTo>
                <a:cubicBezTo>
                  <a:pt x="0" y="186"/>
                  <a:pt x="1" y="173"/>
                  <a:pt x="4" y="160"/>
                </a:cubicBezTo>
                <a:cubicBezTo>
                  <a:pt x="6" y="147"/>
                  <a:pt x="10" y="135"/>
                  <a:pt x="15" y="123"/>
                </a:cubicBezTo>
                <a:cubicBezTo>
                  <a:pt x="20" y="111"/>
                  <a:pt x="26" y="99"/>
                  <a:pt x="34" y="88"/>
                </a:cubicBezTo>
                <a:cubicBezTo>
                  <a:pt x="41" y="77"/>
                  <a:pt x="49" y="67"/>
                  <a:pt x="58" y="58"/>
                </a:cubicBezTo>
                <a:cubicBezTo>
                  <a:pt x="67" y="49"/>
                  <a:pt x="78" y="41"/>
                  <a:pt x="88" y="34"/>
                </a:cubicBezTo>
                <a:cubicBezTo>
                  <a:pt x="99" y="26"/>
                  <a:pt x="111" y="20"/>
                  <a:pt x="123" y="15"/>
                </a:cubicBezTo>
                <a:cubicBezTo>
                  <a:pt x="135" y="10"/>
                  <a:pt x="147" y="6"/>
                  <a:pt x="160" y="4"/>
                </a:cubicBezTo>
                <a:cubicBezTo>
                  <a:pt x="173" y="1"/>
                  <a:pt x="186" y="0"/>
                  <a:pt x="199" y="0"/>
                </a:cubicBezTo>
                <a:lnTo>
                  <a:pt x="11312" y="0"/>
                </a:lnTo>
                <a:cubicBezTo>
                  <a:pt x="11325" y="0"/>
                  <a:pt x="11338" y="1"/>
                  <a:pt x="11351" y="4"/>
                </a:cubicBezTo>
                <a:cubicBezTo>
                  <a:pt x="11364" y="6"/>
                  <a:pt x="11376" y="10"/>
                  <a:pt x="11388" y="15"/>
                </a:cubicBezTo>
                <a:cubicBezTo>
                  <a:pt x="11400" y="20"/>
                  <a:pt x="11411" y="26"/>
                  <a:pt x="11422" y="34"/>
                </a:cubicBezTo>
                <a:cubicBezTo>
                  <a:pt x="11433" y="41"/>
                  <a:pt x="11443" y="49"/>
                  <a:pt x="11452" y="58"/>
                </a:cubicBezTo>
                <a:cubicBezTo>
                  <a:pt x="11462" y="67"/>
                  <a:pt x="11470" y="77"/>
                  <a:pt x="11477" y="88"/>
                </a:cubicBezTo>
                <a:cubicBezTo>
                  <a:pt x="11484" y="99"/>
                  <a:pt x="11490" y="111"/>
                  <a:pt x="11495" y="123"/>
                </a:cubicBezTo>
                <a:cubicBezTo>
                  <a:pt x="11500" y="135"/>
                  <a:pt x="11504" y="147"/>
                  <a:pt x="11507" y="160"/>
                </a:cubicBezTo>
                <a:cubicBezTo>
                  <a:pt x="11509" y="173"/>
                  <a:pt x="11511" y="186"/>
                  <a:pt x="11511" y="199"/>
                </a:cubicBezTo>
                <a:lnTo>
                  <a:pt x="11511" y="9063"/>
                </a:lnTo>
                <a:cubicBezTo>
                  <a:pt x="11511" y="9076"/>
                  <a:pt x="11509" y="9089"/>
                  <a:pt x="11507" y="9102"/>
                </a:cubicBezTo>
                <a:cubicBezTo>
                  <a:pt x="11504" y="9115"/>
                  <a:pt x="11500" y="9127"/>
                  <a:pt x="11495" y="9139"/>
                </a:cubicBezTo>
                <a:cubicBezTo>
                  <a:pt x="11490" y="9151"/>
                  <a:pt x="11484" y="9162"/>
                  <a:pt x="11477" y="9173"/>
                </a:cubicBezTo>
                <a:cubicBezTo>
                  <a:pt x="11470" y="9184"/>
                  <a:pt x="11462" y="9194"/>
                  <a:pt x="11452" y="9203"/>
                </a:cubicBezTo>
                <a:cubicBezTo>
                  <a:pt x="11443" y="9213"/>
                  <a:pt x="11433" y="9221"/>
                  <a:pt x="11422" y="9228"/>
                </a:cubicBezTo>
                <a:cubicBezTo>
                  <a:pt x="11411" y="9235"/>
                  <a:pt x="11400" y="9241"/>
                  <a:pt x="11388" y="9246"/>
                </a:cubicBezTo>
                <a:cubicBezTo>
                  <a:pt x="11376" y="9251"/>
                  <a:pt x="11364" y="9255"/>
                  <a:pt x="11351" y="9258"/>
                </a:cubicBezTo>
                <a:cubicBezTo>
                  <a:pt x="11338" y="9260"/>
                  <a:pt x="11325" y="9262"/>
                  <a:pt x="11312" y="9262"/>
                </a:cubicBezTo>
                <a:lnTo>
                  <a:pt x="199" y="9262"/>
                </a:lnTo>
                <a:cubicBezTo>
                  <a:pt x="186" y="9262"/>
                  <a:pt x="173" y="9260"/>
                  <a:pt x="160" y="9258"/>
                </a:cubicBezTo>
                <a:cubicBezTo>
                  <a:pt x="147" y="9255"/>
                  <a:pt x="135" y="9251"/>
                  <a:pt x="123" y="9246"/>
                </a:cubicBezTo>
                <a:cubicBezTo>
                  <a:pt x="111" y="9241"/>
                  <a:pt x="99" y="9235"/>
                  <a:pt x="88" y="9228"/>
                </a:cubicBezTo>
                <a:cubicBezTo>
                  <a:pt x="78" y="9221"/>
                  <a:pt x="67" y="9213"/>
                  <a:pt x="58" y="9203"/>
                </a:cubicBezTo>
                <a:cubicBezTo>
                  <a:pt x="49" y="9194"/>
                  <a:pt x="41" y="9184"/>
                  <a:pt x="34" y="9173"/>
                </a:cubicBezTo>
                <a:cubicBezTo>
                  <a:pt x="26" y="9162"/>
                  <a:pt x="20" y="9151"/>
                  <a:pt x="15" y="9139"/>
                </a:cubicBezTo>
                <a:cubicBezTo>
                  <a:pt x="10" y="9127"/>
                  <a:pt x="6" y="9115"/>
                  <a:pt x="4" y="9102"/>
                </a:cubicBezTo>
                <a:cubicBezTo>
                  <a:pt x="1" y="9089"/>
                  <a:pt x="0" y="9076"/>
                  <a:pt x="0" y="9063"/>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61" name="Forma libre: forma 860"/>
          <p:cNvSpPr/>
          <p:nvPr/>
        </p:nvSpPr>
        <p:spPr>
          <a:xfrm>
            <a:off x="4024080" y="3004920"/>
            <a:ext cx="4143960" cy="3334320"/>
          </a:xfrm>
          <a:custGeom>
            <a:avLst/>
            <a:gdLst/>
            <a:ahLst/>
            <a:cxnLst/>
            <a:rect l="0" t="0" r="r" b="b"/>
            <a:pathLst>
              <a:path w="11511" h="9262" fill="none">
                <a:moveTo>
                  <a:pt x="0" y="9063"/>
                </a:moveTo>
                <a:lnTo>
                  <a:pt x="0" y="199"/>
                </a:lnTo>
                <a:cubicBezTo>
                  <a:pt x="0" y="186"/>
                  <a:pt x="1" y="173"/>
                  <a:pt x="4" y="160"/>
                </a:cubicBezTo>
                <a:cubicBezTo>
                  <a:pt x="6" y="147"/>
                  <a:pt x="10" y="135"/>
                  <a:pt x="15" y="123"/>
                </a:cubicBezTo>
                <a:cubicBezTo>
                  <a:pt x="20" y="111"/>
                  <a:pt x="26" y="99"/>
                  <a:pt x="34" y="88"/>
                </a:cubicBezTo>
                <a:cubicBezTo>
                  <a:pt x="41" y="77"/>
                  <a:pt x="49" y="67"/>
                  <a:pt x="58" y="58"/>
                </a:cubicBezTo>
                <a:cubicBezTo>
                  <a:pt x="67" y="49"/>
                  <a:pt x="78" y="41"/>
                  <a:pt x="88" y="34"/>
                </a:cubicBezTo>
                <a:cubicBezTo>
                  <a:pt x="99" y="26"/>
                  <a:pt x="111" y="20"/>
                  <a:pt x="123" y="15"/>
                </a:cubicBezTo>
                <a:cubicBezTo>
                  <a:pt x="135" y="10"/>
                  <a:pt x="147" y="6"/>
                  <a:pt x="160" y="4"/>
                </a:cubicBezTo>
                <a:cubicBezTo>
                  <a:pt x="173" y="1"/>
                  <a:pt x="186" y="0"/>
                  <a:pt x="199" y="0"/>
                </a:cubicBezTo>
                <a:lnTo>
                  <a:pt x="11312" y="0"/>
                </a:lnTo>
                <a:cubicBezTo>
                  <a:pt x="11325" y="0"/>
                  <a:pt x="11338" y="1"/>
                  <a:pt x="11351" y="4"/>
                </a:cubicBezTo>
                <a:cubicBezTo>
                  <a:pt x="11364" y="6"/>
                  <a:pt x="11376" y="10"/>
                  <a:pt x="11388" y="15"/>
                </a:cubicBezTo>
                <a:cubicBezTo>
                  <a:pt x="11400" y="20"/>
                  <a:pt x="11411" y="26"/>
                  <a:pt x="11422" y="34"/>
                </a:cubicBezTo>
                <a:cubicBezTo>
                  <a:pt x="11433" y="41"/>
                  <a:pt x="11443" y="49"/>
                  <a:pt x="11452" y="58"/>
                </a:cubicBezTo>
                <a:cubicBezTo>
                  <a:pt x="11462" y="67"/>
                  <a:pt x="11470" y="77"/>
                  <a:pt x="11477" y="88"/>
                </a:cubicBezTo>
                <a:cubicBezTo>
                  <a:pt x="11484" y="99"/>
                  <a:pt x="11490" y="111"/>
                  <a:pt x="11495" y="123"/>
                </a:cubicBezTo>
                <a:cubicBezTo>
                  <a:pt x="11500" y="135"/>
                  <a:pt x="11504" y="147"/>
                  <a:pt x="11507" y="160"/>
                </a:cubicBezTo>
                <a:cubicBezTo>
                  <a:pt x="11509" y="173"/>
                  <a:pt x="11511" y="186"/>
                  <a:pt x="11511" y="199"/>
                </a:cubicBezTo>
                <a:lnTo>
                  <a:pt x="11511" y="9063"/>
                </a:lnTo>
                <a:cubicBezTo>
                  <a:pt x="11511" y="9076"/>
                  <a:pt x="11509" y="9089"/>
                  <a:pt x="11507" y="9102"/>
                </a:cubicBezTo>
                <a:cubicBezTo>
                  <a:pt x="11504" y="9115"/>
                  <a:pt x="11500" y="9127"/>
                  <a:pt x="11495" y="9139"/>
                </a:cubicBezTo>
                <a:cubicBezTo>
                  <a:pt x="11490" y="9151"/>
                  <a:pt x="11484" y="9162"/>
                  <a:pt x="11477" y="9173"/>
                </a:cubicBezTo>
                <a:cubicBezTo>
                  <a:pt x="11470" y="9184"/>
                  <a:pt x="11462" y="9194"/>
                  <a:pt x="11452" y="9203"/>
                </a:cubicBezTo>
                <a:cubicBezTo>
                  <a:pt x="11443" y="9213"/>
                  <a:pt x="11433" y="9221"/>
                  <a:pt x="11422" y="9228"/>
                </a:cubicBezTo>
                <a:cubicBezTo>
                  <a:pt x="11411" y="9235"/>
                  <a:pt x="11400" y="9241"/>
                  <a:pt x="11388" y="9246"/>
                </a:cubicBezTo>
                <a:cubicBezTo>
                  <a:pt x="11376" y="9251"/>
                  <a:pt x="11364" y="9255"/>
                  <a:pt x="11351" y="9258"/>
                </a:cubicBezTo>
                <a:cubicBezTo>
                  <a:pt x="11338" y="9260"/>
                  <a:pt x="11325" y="9262"/>
                  <a:pt x="11312" y="9262"/>
                </a:cubicBezTo>
                <a:lnTo>
                  <a:pt x="199" y="9262"/>
                </a:lnTo>
                <a:cubicBezTo>
                  <a:pt x="186" y="9262"/>
                  <a:pt x="173" y="9260"/>
                  <a:pt x="160" y="9258"/>
                </a:cubicBezTo>
                <a:cubicBezTo>
                  <a:pt x="147" y="9255"/>
                  <a:pt x="135" y="9251"/>
                  <a:pt x="123" y="9246"/>
                </a:cubicBezTo>
                <a:cubicBezTo>
                  <a:pt x="111" y="9241"/>
                  <a:pt x="99" y="9235"/>
                  <a:pt x="88" y="9228"/>
                </a:cubicBezTo>
                <a:cubicBezTo>
                  <a:pt x="78" y="9221"/>
                  <a:pt x="67" y="9213"/>
                  <a:pt x="58" y="9203"/>
                </a:cubicBezTo>
                <a:cubicBezTo>
                  <a:pt x="49" y="9194"/>
                  <a:pt x="41" y="9184"/>
                  <a:pt x="34" y="9173"/>
                </a:cubicBezTo>
                <a:cubicBezTo>
                  <a:pt x="26" y="9162"/>
                  <a:pt x="20" y="9151"/>
                  <a:pt x="15" y="9139"/>
                </a:cubicBezTo>
                <a:cubicBezTo>
                  <a:pt x="10" y="9127"/>
                  <a:pt x="6" y="9115"/>
                  <a:pt x="4" y="9102"/>
                </a:cubicBezTo>
                <a:cubicBezTo>
                  <a:pt x="1" y="9089"/>
                  <a:pt x="0" y="9076"/>
                  <a:pt x="0" y="9063"/>
                </a:cubicBezTo>
              </a:path>
            </a:pathLst>
          </a:custGeom>
          <a:ln w="9360">
            <a:solidFill>
              <a:srgbClr val="E0E0E0"/>
            </a:solidFill>
            <a:miter/>
          </a:ln>
        </p:spPr>
        <p:txBody>
          <a:bodyPr lIns="4680" tIns="4680" rIns="4680" bIns="4680" anchor="t">
            <a:noAutofit/>
          </a:bodyPr>
          <a:lstStyle/>
          <a:p>
            <a:endParaRPr lang="en-US" sz="2400" b="0" u="none" strike="noStrike">
              <a:solidFill>
                <a:srgbClr val="000000"/>
              </a:solidFill>
              <a:effectLst/>
              <a:uFillTx/>
              <a:latin typeface="Times New Roman"/>
            </a:endParaRPr>
          </a:p>
        </p:txBody>
      </p:sp>
      <p:pic>
        <p:nvPicPr>
          <p:cNvPr id="862" name="Imagen 861"/>
          <p:cNvPicPr/>
          <p:nvPr/>
        </p:nvPicPr>
        <p:blipFill>
          <a:blip r:embed="rId2"/>
          <a:stretch/>
        </p:blipFill>
        <p:spPr>
          <a:xfrm>
            <a:off x="4029120" y="3009960"/>
            <a:ext cx="4133520" cy="3323880"/>
          </a:xfrm>
          <a:prstGeom prst="rect">
            <a:avLst/>
          </a:prstGeom>
          <a:noFill/>
          <a:ln w="0">
            <a:noFill/>
          </a:ln>
        </p:spPr>
      </p:pic>
      <p:sp>
        <p:nvSpPr>
          <p:cNvPr id="863" name="CuadroTexto 862"/>
          <p:cNvSpPr txBox="1"/>
          <p:nvPr/>
        </p:nvSpPr>
        <p:spPr>
          <a:xfrm>
            <a:off x="2038320" y="2048760"/>
            <a:ext cx="539784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Desarrollar un programa que imprima los números impares entre 1 y 25</a:t>
            </a:r>
            <a:endParaRPr lang="en-US" sz="1500" b="0" u="none" strike="noStrike">
              <a:solidFill>
                <a:srgbClr val="000000"/>
              </a:solidFill>
              <a:effectLst/>
              <a:uFillTx/>
              <a:latin typeface="Times New Roman"/>
            </a:endParaRPr>
          </a:p>
        </p:txBody>
      </p:sp>
      <p:sp>
        <p:nvSpPr>
          <p:cNvPr id="864" name="CuadroTexto 863"/>
          <p:cNvSpPr txBox="1"/>
          <p:nvPr/>
        </p:nvSpPr>
        <p:spPr>
          <a:xfrm>
            <a:off x="5138280" y="6519600"/>
            <a:ext cx="191520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campusmvp.es</a:t>
            </a:r>
            <a:endParaRPr lang="en-US" sz="1050" b="0" u="none" strike="noStrike">
              <a:solidFill>
                <a:srgbClr val="000000"/>
              </a:solidFill>
              <a:effectLst/>
              <a:uFillTx/>
              <a:latin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 name="Forma libre: forma 866"/>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68" name="Forma libre: forma 867"/>
          <p:cNvSpPr/>
          <p:nvPr/>
        </p:nvSpPr>
        <p:spPr>
          <a:xfrm>
            <a:off x="1819080" y="1209600"/>
            <a:ext cx="8553960" cy="4486680"/>
          </a:xfrm>
          <a:custGeom>
            <a:avLst/>
            <a:gdLst/>
            <a:ahLst/>
            <a:cxnLst/>
            <a:rect l="0" t="0" r="r" b="b"/>
            <a:pathLst>
              <a:path w="23761" h="12463">
                <a:moveTo>
                  <a:pt x="0" y="12066"/>
                </a:moveTo>
                <a:lnTo>
                  <a:pt x="0" y="397"/>
                </a:lnTo>
                <a:cubicBezTo>
                  <a:pt x="0" y="371"/>
                  <a:pt x="3" y="345"/>
                  <a:pt x="8" y="319"/>
                </a:cubicBezTo>
                <a:cubicBezTo>
                  <a:pt x="13" y="294"/>
                  <a:pt x="20" y="269"/>
                  <a:pt x="30" y="245"/>
                </a:cubicBezTo>
                <a:cubicBezTo>
                  <a:pt x="40" y="221"/>
                  <a:pt x="52" y="198"/>
                  <a:pt x="67" y="176"/>
                </a:cubicBezTo>
                <a:cubicBezTo>
                  <a:pt x="81" y="154"/>
                  <a:pt x="98" y="134"/>
                  <a:pt x="116" y="116"/>
                </a:cubicBezTo>
                <a:cubicBezTo>
                  <a:pt x="135" y="98"/>
                  <a:pt x="155" y="81"/>
                  <a:pt x="176" y="67"/>
                </a:cubicBezTo>
                <a:cubicBezTo>
                  <a:pt x="198" y="52"/>
                  <a:pt x="221" y="40"/>
                  <a:pt x="245" y="30"/>
                </a:cubicBezTo>
                <a:cubicBezTo>
                  <a:pt x="269" y="20"/>
                  <a:pt x="294" y="12"/>
                  <a:pt x="319" y="7"/>
                </a:cubicBezTo>
                <a:cubicBezTo>
                  <a:pt x="345" y="2"/>
                  <a:pt x="371" y="0"/>
                  <a:pt x="397" y="0"/>
                </a:cubicBezTo>
                <a:lnTo>
                  <a:pt x="23364" y="0"/>
                </a:lnTo>
                <a:cubicBezTo>
                  <a:pt x="23390" y="0"/>
                  <a:pt x="23416" y="2"/>
                  <a:pt x="23441" y="7"/>
                </a:cubicBezTo>
                <a:cubicBezTo>
                  <a:pt x="23467" y="12"/>
                  <a:pt x="23492" y="20"/>
                  <a:pt x="23516" y="30"/>
                </a:cubicBezTo>
                <a:cubicBezTo>
                  <a:pt x="23540" y="40"/>
                  <a:pt x="23563" y="52"/>
                  <a:pt x="23584" y="67"/>
                </a:cubicBezTo>
                <a:cubicBezTo>
                  <a:pt x="23606" y="81"/>
                  <a:pt x="23626" y="98"/>
                  <a:pt x="23644" y="116"/>
                </a:cubicBezTo>
                <a:cubicBezTo>
                  <a:pt x="23663" y="134"/>
                  <a:pt x="23679" y="154"/>
                  <a:pt x="23694" y="176"/>
                </a:cubicBezTo>
                <a:cubicBezTo>
                  <a:pt x="23708" y="198"/>
                  <a:pt x="23720" y="221"/>
                  <a:pt x="23730" y="245"/>
                </a:cubicBezTo>
                <a:cubicBezTo>
                  <a:pt x="23740" y="269"/>
                  <a:pt x="23748" y="294"/>
                  <a:pt x="23753" y="319"/>
                </a:cubicBezTo>
                <a:cubicBezTo>
                  <a:pt x="23758" y="345"/>
                  <a:pt x="23761" y="371"/>
                  <a:pt x="23761" y="397"/>
                </a:cubicBezTo>
                <a:lnTo>
                  <a:pt x="23761" y="12066"/>
                </a:lnTo>
                <a:cubicBezTo>
                  <a:pt x="23761" y="12092"/>
                  <a:pt x="23758" y="12118"/>
                  <a:pt x="23753" y="12143"/>
                </a:cubicBezTo>
                <a:cubicBezTo>
                  <a:pt x="23748" y="12169"/>
                  <a:pt x="23740" y="12194"/>
                  <a:pt x="23730" y="12218"/>
                </a:cubicBezTo>
                <a:cubicBezTo>
                  <a:pt x="23720" y="12242"/>
                  <a:pt x="23708" y="12265"/>
                  <a:pt x="23694" y="12286"/>
                </a:cubicBezTo>
                <a:cubicBezTo>
                  <a:pt x="23679" y="12308"/>
                  <a:pt x="23663" y="12328"/>
                  <a:pt x="23644" y="12346"/>
                </a:cubicBezTo>
                <a:cubicBezTo>
                  <a:pt x="23626" y="12365"/>
                  <a:pt x="23606" y="12381"/>
                  <a:pt x="23584" y="12396"/>
                </a:cubicBezTo>
                <a:cubicBezTo>
                  <a:pt x="23563" y="12410"/>
                  <a:pt x="23540" y="12422"/>
                  <a:pt x="23516" y="12432"/>
                </a:cubicBezTo>
                <a:cubicBezTo>
                  <a:pt x="23492" y="12442"/>
                  <a:pt x="23467" y="12450"/>
                  <a:pt x="23441" y="12455"/>
                </a:cubicBezTo>
                <a:cubicBezTo>
                  <a:pt x="23416" y="12460"/>
                  <a:pt x="23390" y="12463"/>
                  <a:pt x="23364" y="12463"/>
                </a:cubicBezTo>
                <a:lnTo>
                  <a:pt x="397" y="12463"/>
                </a:lnTo>
                <a:cubicBezTo>
                  <a:pt x="371" y="12463"/>
                  <a:pt x="345" y="12460"/>
                  <a:pt x="319" y="12455"/>
                </a:cubicBezTo>
                <a:cubicBezTo>
                  <a:pt x="294" y="12450"/>
                  <a:pt x="269" y="12442"/>
                  <a:pt x="245" y="12432"/>
                </a:cubicBezTo>
                <a:cubicBezTo>
                  <a:pt x="221" y="12422"/>
                  <a:pt x="198" y="12410"/>
                  <a:pt x="176" y="12396"/>
                </a:cubicBezTo>
                <a:cubicBezTo>
                  <a:pt x="155" y="12381"/>
                  <a:pt x="135" y="12365"/>
                  <a:pt x="116" y="12346"/>
                </a:cubicBezTo>
                <a:cubicBezTo>
                  <a:pt x="98" y="12328"/>
                  <a:pt x="81" y="12308"/>
                  <a:pt x="67" y="12286"/>
                </a:cubicBezTo>
                <a:cubicBezTo>
                  <a:pt x="52" y="12265"/>
                  <a:pt x="40" y="12242"/>
                  <a:pt x="30" y="12218"/>
                </a:cubicBezTo>
                <a:cubicBezTo>
                  <a:pt x="20" y="12194"/>
                  <a:pt x="13" y="12169"/>
                  <a:pt x="8" y="12143"/>
                </a:cubicBezTo>
                <a:cubicBezTo>
                  <a:pt x="3" y="12118"/>
                  <a:pt x="0" y="12092"/>
                  <a:pt x="0" y="12066"/>
                </a:cubicBezTo>
                <a:close/>
              </a:path>
            </a:pathLst>
          </a:custGeom>
          <a:solidFill>
            <a:srgbClr val="FFFFFF"/>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69" name="Forma libre: forma 868"/>
          <p:cNvSpPr/>
          <p:nvPr/>
        </p:nvSpPr>
        <p:spPr>
          <a:xfrm>
            <a:off x="1819080" y="1209600"/>
            <a:ext cx="8553960" cy="4486680"/>
          </a:xfrm>
          <a:custGeom>
            <a:avLst/>
            <a:gdLst/>
            <a:ahLst/>
            <a:cxnLst/>
            <a:rect l="0" t="0" r="r" b="b"/>
            <a:pathLst>
              <a:path w="23761" h="12463" fill="none">
                <a:moveTo>
                  <a:pt x="0" y="12066"/>
                </a:moveTo>
                <a:lnTo>
                  <a:pt x="0" y="397"/>
                </a:lnTo>
                <a:cubicBezTo>
                  <a:pt x="0" y="371"/>
                  <a:pt x="3" y="345"/>
                  <a:pt x="8" y="319"/>
                </a:cubicBezTo>
                <a:cubicBezTo>
                  <a:pt x="13" y="294"/>
                  <a:pt x="20" y="269"/>
                  <a:pt x="30" y="245"/>
                </a:cubicBezTo>
                <a:cubicBezTo>
                  <a:pt x="40" y="221"/>
                  <a:pt x="52" y="198"/>
                  <a:pt x="67" y="176"/>
                </a:cubicBezTo>
                <a:cubicBezTo>
                  <a:pt x="81" y="154"/>
                  <a:pt x="98" y="134"/>
                  <a:pt x="116" y="116"/>
                </a:cubicBezTo>
                <a:cubicBezTo>
                  <a:pt x="135" y="98"/>
                  <a:pt x="155" y="81"/>
                  <a:pt x="176" y="67"/>
                </a:cubicBezTo>
                <a:cubicBezTo>
                  <a:pt x="198" y="52"/>
                  <a:pt x="221" y="40"/>
                  <a:pt x="245" y="30"/>
                </a:cubicBezTo>
                <a:cubicBezTo>
                  <a:pt x="269" y="20"/>
                  <a:pt x="294" y="12"/>
                  <a:pt x="319" y="7"/>
                </a:cubicBezTo>
                <a:cubicBezTo>
                  <a:pt x="345" y="2"/>
                  <a:pt x="371" y="0"/>
                  <a:pt x="397" y="0"/>
                </a:cubicBezTo>
                <a:lnTo>
                  <a:pt x="23364" y="0"/>
                </a:lnTo>
                <a:cubicBezTo>
                  <a:pt x="23390" y="0"/>
                  <a:pt x="23416" y="2"/>
                  <a:pt x="23441" y="7"/>
                </a:cubicBezTo>
                <a:cubicBezTo>
                  <a:pt x="23467" y="12"/>
                  <a:pt x="23492" y="20"/>
                  <a:pt x="23516" y="30"/>
                </a:cubicBezTo>
                <a:cubicBezTo>
                  <a:pt x="23540" y="40"/>
                  <a:pt x="23563" y="52"/>
                  <a:pt x="23584" y="67"/>
                </a:cubicBezTo>
                <a:cubicBezTo>
                  <a:pt x="23606" y="81"/>
                  <a:pt x="23626" y="98"/>
                  <a:pt x="23644" y="116"/>
                </a:cubicBezTo>
                <a:cubicBezTo>
                  <a:pt x="23663" y="134"/>
                  <a:pt x="23679" y="154"/>
                  <a:pt x="23694" y="176"/>
                </a:cubicBezTo>
                <a:cubicBezTo>
                  <a:pt x="23708" y="198"/>
                  <a:pt x="23720" y="221"/>
                  <a:pt x="23730" y="245"/>
                </a:cubicBezTo>
                <a:cubicBezTo>
                  <a:pt x="23740" y="269"/>
                  <a:pt x="23748" y="294"/>
                  <a:pt x="23753" y="319"/>
                </a:cubicBezTo>
                <a:cubicBezTo>
                  <a:pt x="23758" y="345"/>
                  <a:pt x="23761" y="371"/>
                  <a:pt x="23761" y="397"/>
                </a:cubicBezTo>
                <a:lnTo>
                  <a:pt x="23761" y="12066"/>
                </a:lnTo>
                <a:cubicBezTo>
                  <a:pt x="23761" y="12092"/>
                  <a:pt x="23758" y="12118"/>
                  <a:pt x="23753" y="12143"/>
                </a:cubicBezTo>
                <a:cubicBezTo>
                  <a:pt x="23748" y="12169"/>
                  <a:pt x="23740" y="12194"/>
                  <a:pt x="23730" y="12218"/>
                </a:cubicBezTo>
                <a:cubicBezTo>
                  <a:pt x="23720" y="12242"/>
                  <a:pt x="23708" y="12265"/>
                  <a:pt x="23694" y="12286"/>
                </a:cubicBezTo>
                <a:cubicBezTo>
                  <a:pt x="23679" y="12308"/>
                  <a:pt x="23663" y="12328"/>
                  <a:pt x="23644" y="12346"/>
                </a:cubicBezTo>
                <a:cubicBezTo>
                  <a:pt x="23626" y="12365"/>
                  <a:pt x="23606" y="12381"/>
                  <a:pt x="23584" y="12396"/>
                </a:cubicBezTo>
                <a:cubicBezTo>
                  <a:pt x="23563" y="12410"/>
                  <a:pt x="23540" y="12422"/>
                  <a:pt x="23516" y="12432"/>
                </a:cubicBezTo>
                <a:cubicBezTo>
                  <a:pt x="23492" y="12442"/>
                  <a:pt x="23467" y="12450"/>
                  <a:pt x="23441" y="12455"/>
                </a:cubicBezTo>
                <a:cubicBezTo>
                  <a:pt x="23416" y="12460"/>
                  <a:pt x="23390" y="12463"/>
                  <a:pt x="23364" y="12463"/>
                </a:cubicBezTo>
                <a:lnTo>
                  <a:pt x="397" y="12463"/>
                </a:lnTo>
                <a:cubicBezTo>
                  <a:pt x="371" y="12463"/>
                  <a:pt x="345" y="12460"/>
                  <a:pt x="319" y="12455"/>
                </a:cubicBezTo>
                <a:cubicBezTo>
                  <a:pt x="294" y="12450"/>
                  <a:pt x="269" y="12442"/>
                  <a:pt x="245" y="12432"/>
                </a:cubicBezTo>
                <a:cubicBezTo>
                  <a:pt x="221" y="12422"/>
                  <a:pt x="198" y="12410"/>
                  <a:pt x="176" y="12396"/>
                </a:cubicBezTo>
                <a:cubicBezTo>
                  <a:pt x="155" y="12381"/>
                  <a:pt x="135" y="12365"/>
                  <a:pt x="116" y="12346"/>
                </a:cubicBezTo>
                <a:cubicBezTo>
                  <a:pt x="98" y="12328"/>
                  <a:pt x="81" y="12308"/>
                  <a:pt x="67" y="12286"/>
                </a:cubicBezTo>
                <a:cubicBezTo>
                  <a:pt x="52" y="12265"/>
                  <a:pt x="40" y="12242"/>
                  <a:pt x="30" y="12218"/>
                </a:cubicBezTo>
                <a:cubicBezTo>
                  <a:pt x="20" y="12194"/>
                  <a:pt x="13" y="12169"/>
                  <a:pt x="8" y="12143"/>
                </a:cubicBezTo>
                <a:cubicBezTo>
                  <a:pt x="3" y="12118"/>
                  <a:pt x="0" y="12092"/>
                  <a:pt x="0" y="12066"/>
                </a:cubicBezTo>
              </a:path>
            </a:pathLst>
          </a:custGeom>
          <a:ln w="18720">
            <a:solidFill>
              <a:srgbClr val="DA7756"/>
            </a:solidFill>
            <a:miter/>
          </a:ln>
        </p:spPr>
        <p:txBody>
          <a:bodyPr lIns="9360" tIns="9360" rIns="9360" bIns="9360" anchor="t">
            <a:noAutofit/>
          </a:bodyPr>
          <a:lstStyle/>
          <a:p>
            <a:endParaRPr lang="en-US" sz="2400" b="0" u="none" strike="noStrike">
              <a:solidFill>
                <a:srgbClr val="000000"/>
              </a:solidFill>
              <a:effectLst/>
              <a:uFillTx/>
              <a:latin typeface="Times New Roman"/>
            </a:endParaRPr>
          </a:p>
        </p:txBody>
      </p:sp>
      <p:sp>
        <p:nvSpPr>
          <p:cNvPr id="870" name="Forma libre: forma 869"/>
          <p:cNvSpPr/>
          <p:nvPr/>
        </p:nvSpPr>
        <p:spPr>
          <a:xfrm>
            <a:off x="2209680" y="3628800"/>
            <a:ext cx="7772760" cy="1676880"/>
          </a:xfrm>
          <a:custGeom>
            <a:avLst/>
            <a:gdLst/>
            <a:ahLst/>
            <a:cxnLst/>
            <a:rect l="0" t="0" r="r" b="b"/>
            <a:pathLst>
              <a:path w="21591" h="4658">
                <a:moveTo>
                  <a:pt x="0" y="4446"/>
                </a:moveTo>
                <a:lnTo>
                  <a:pt x="0" y="212"/>
                </a:lnTo>
                <a:cubicBezTo>
                  <a:pt x="0" y="198"/>
                  <a:pt x="1" y="184"/>
                  <a:pt x="4" y="170"/>
                </a:cubicBezTo>
                <a:cubicBezTo>
                  <a:pt x="7" y="157"/>
                  <a:pt x="11" y="144"/>
                  <a:pt x="16" y="131"/>
                </a:cubicBezTo>
                <a:cubicBezTo>
                  <a:pt x="21" y="118"/>
                  <a:pt x="28" y="106"/>
                  <a:pt x="36" y="94"/>
                </a:cubicBezTo>
                <a:cubicBezTo>
                  <a:pt x="43" y="83"/>
                  <a:pt x="52" y="72"/>
                  <a:pt x="62" y="62"/>
                </a:cubicBezTo>
                <a:cubicBezTo>
                  <a:pt x="72" y="52"/>
                  <a:pt x="82" y="44"/>
                  <a:pt x="94" y="36"/>
                </a:cubicBezTo>
                <a:cubicBezTo>
                  <a:pt x="105" y="28"/>
                  <a:pt x="118" y="22"/>
                  <a:pt x="130" y="16"/>
                </a:cubicBezTo>
                <a:cubicBezTo>
                  <a:pt x="143" y="11"/>
                  <a:pt x="157" y="7"/>
                  <a:pt x="170" y="4"/>
                </a:cubicBezTo>
                <a:cubicBezTo>
                  <a:pt x="184" y="1"/>
                  <a:pt x="198" y="0"/>
                  <a:pt x="211" y="0"/>
                </a:cubicBezTo>
                <a:lnTo>
                  <a:pt x="21379" y="0"/>
                </a:lnTo>
                <a:cubicBezTo>
                  <a:pt x="21393" y="0"/>
                  <a:pt x="21407" y="1"/>
                  <a:pt x="21420" y="4"/>
                </a:cubicBezTo>
                <a:cubicBezTo>
                  <a:pt x="21434" y="7"/>
                  <a:pt x="21447" y="11"/>
                  <a:pt x="21460" y="16"/>
                </a:cubicBezTo>
                <a:cubicBezTo>
                  <a:pt x="21473" y="22"/>
                  <a:pt x="21485" y="28"/>
                  <a:pt x="21497" y="36"/>
                </a:cubicBezTo>
                <a:cubicBezTo>
                  <a:pt x="21508" y="44"/>
                  <a:pt x="21519" y="52"/>
                  <a:pt x="21529" y="62"/>
                </a:cubicBezTo>
                <a:cubicBezTo>
                  <a:pt x="21539" y="72"/>
                  <a:pt x="21547" y="83"/>
                  <a:pt x="21555" y="94"/>
                </a:cubicBezTo>
                <a:cubicBezTo>
                  <a:pt x="21563" y="106"/>
                  <a:pt x="21569" y="118"/>
                  <a:pt x="21575" y="131"/>
                </a:cubicBezTo>
                <a:cubicBezTo>
                  <a:pt x="21580" y="144"/>
                  <a:pt x="21584" y="157"/>
                  <a:pt x="21587" y="170"/>
                </a:cubicBezTo>
                <a:cubicBezTo>
                  <a:pt x="21589" y="184"/>
                  <a:pt x="21591" y="198"/>
                  <a:pt x="21591" y="212"/>
                </a:cubicBezTo>
                <a:lnTo>
                  <a:pt x="21591" y="4446"/>
                </a:lnTo>
                <a:cubicBezTo>
                  <a:pt x="21591" y="4460"/>
                  <a:pt x="21589" y="4474"/>
                  <a:pt x="21587" y="4487"/>
                </a:cubicBezTo>
                <a:cubicBezTo>
                  <a:pt x="21584" y="4501"/>
                  <a:pt x="21580" y="4514"/>
                  <a:pt x="21575" y="4527"/>
                </a:cubicBezTo>
                <a:cubicBezTo>
                  <a:pt x="21569" y="4540"/>
                  <a:pt x="21563" y="4552"/>
                  <a:pt x="21555" y="4564"/>
                </a:cubicBezTo>
                <a:cubicBezTo>
                  <a:pt x="21547" y="4575"/>
                  <a:pt x="21539" y="4586"/>
                  <a:pt x="21529" y="4596"/>
                </a:cubicBezTo>
                <a:cubicBezTo>
                  <a:pt x="21519" y="4606"/>
                  <a:pt x="21508" y="4614"/>
                  <a:pt x="21497" y="4622"/>
                </a:cubicBezTo>
                <a:cubicBezTo>
                  <a:pt x="21485" y="4630"/>
                  <a:pt x="21473" y="4636"/>
                  <a:pt x="21460" y="4642"/>
                </a:cubicBezTo>
                <a:cubicBezTo>
                  <a:pt x="21447" y="4647"/>
                  <a:pt x="21434" y="4651"/>
                  <a:pt x="21420" y="4654"/>
                </a:cubicBezTo>
                <a:cubicBezTo>
                  <a:pt x="21407" y="4656"/>
                  <a:pt x="21393" y="4658"/>
                  <a:pt x="21379" y="4658"/>
                </a:cubicBezTo>
                <a:lnTo>
                  <a:pt x="211" y="4658"/>
                </a:lnTo>
                <a:cubicBezTo>
                  <a:pt x="198" y="4658"/>
                  <a:pt x="184" y="4656"/>
                  <a:pt x="170" y="4654"/>
                </a:cubicBezTo>
                <a:cubicBezTo>
                  <a:pt x="157" y="4651"/>
                  <a:pt x="143" y="4647"/>
                  <a:pt x="130" y="4642"/>
                </a:cubicBezTo>
                <a:cubicBezTo>
                  <a:pt x="118" y="4636"/>
                  <a:pt x="105" y="4630"/>
                  <a:pt x="94" y="4622"/>
                </a:cubicBezTo>
                <a:cubicBezTo>
                  <a:pt x="82" y="4614"/>
                  <a:pt x="72" y="4606"/>
                  <a:pt x="62" y="4596"/>
                </a:cubicBezTo>
                <a:cubicBezTo>
                  <a:pt x="52" y="4586"/>
                  <a:pt x="43" y="4575"/>
                  <a:pt x="36" y="4564"/>
                </a:cubicBezTo>
                <a:cubicBezTo>
                  <a:pt x="28" y="4552"/>
                  <a:pt x="21" y="4540"/>
                  <a:pt x="16" y="4527"/>
                </a:cubicBezTo>
                <a:cubicBezTo>
                  <a:pt x="11" y="4514"/>
                  <a:pt x="7" y="4501"/>
                  <a:pt x="4" y="4487"/>
                </a:cubicBezTo>
                <a:cubicBezTo>
                  <a:pt x="1" y="4474"/>
                  <a:pt x="0" y="4460"/>
                  <a:pt x="0" y="4446"/>
                </a:cubicBezTo>
                <a:close/>
              </a:path>
            </a:pathLst>
          </a:custGeom>
          <a:solidFill>
            <a:srgbClr val="FAF9F6"/>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71" name="Forma libre: forma 870"/>
          <p:cNvSpPr/>
          <p:nvPr/>
        </p:nvSpPr>
        <p:spPr>
          <a:xfrm>
            <a:off x="2209680" y="1599840"/>
            <a:ext cx="1905120" cy="381600"/>
          </a:xfrm>
          <a:custGeom>
            <a:avLst/>
            <a:gdLst/>
            <a:ahLst/>
            <a:cxnLst/>
            <a:rect l="0" t="0" r="r" b="b"/>
            <a:pathLst>
              <a:path w="5292" h="1060">
                <a:moveTo>
                  <a:pt x="0" y="531"/>
                </a:moveTo>
                <a:cubicBezTo>
                  <a:pt x="0" y="496"/>
                  <a:pt x="3" y="462"/>
                  <a:pt x="10" y="427"/>
                </a:cubicBezTo>
                <a:cubicBezTo>
                  <a:pt x="17" y="393"/>
                  <a:pt x="27" y="360"/>
                  <a:pt x="40" y="328"/>
                </a:cubicBezTo>
                <a:cubicBezTo>
                  <a:pt x="53" y="295"/>
                  <a:pt x="70" y="265"/>
                  <a:pt x="89" y="236"/>
                </a:cubicBezTo>
                <a:cubicBezTo>
                  <a:pt x="108" y="207"/>
                  <a:pt x="130" y="180"/>
                  <a:pt x="155" y="155"/>
                </a:cubicBezTo>
                <a:cubicBezTo>
                  <a:pt x="179" y="131"/>
                  <a:pt x="206" y="109"/>
                  <a:pt x="235" y="90"/>
                </a:cubicBezTo>
                <a:cubicBezTo>
                  <a:pt x="264" y="70"/>
                  <a:pt x="294" y="54"/>
                  <a:pt x="326" y="41"/>
                </a:cubicBezTo>
                <a:cubicBezTo>
                  <a:pt x="359" y="27"/>
                  <a:pt x="392" y="17"/>
                  <a:pt x="426" y="11"/>
                </a:cubicBezTo>
                <a:cubicBezTo>
                  <a:pt x="460" y="4"/>
                  <a:pt x="494" y="0"/>
                  <a:pt x="529" y="0"/>
                </a:cubicBezTo>
                <a:lnTo>
                  <a:pt x="4763" y="0"/>
                </a:lnTo>
                <a:cubicBezTo>
                  <a:pt x="4798" y="0"/>
                  <a:pt x="4832" y="4"/>
                  <a:pt x="4867" y="11"/>
                </a:cubicBezTo>
                <a:cubicBezTo>
                  <a:pt x="4901" y="17"/>
                  <a:pt x="4934" y="27"/>
                  <a:pt x="4966" y="41"/>
                </a:cubicBezTo>
                <a:cubicBezTo>
                  <a:pt x="4998" y="54"/>
                  <a:pt x="5028" y="70"/>
                  <a:pt x="5057" y="90"/>
                </a:cubicBezTo>
                <a:cubicBezTo>
                  <a:pt x="5086" y="109"/>
                  <a:pt x="5113" y="131"/>
                  <a:pt x="5138" y="155"/>
                </a:cubicBezTo>
                <a:cubicBezTo>
                  <a:pt x="5162" y="180"/>
                  <a:pt x="5184" y="207"/>
                  <a:pt x="5203" y="236"/>
                </a:cubicBezTo>
                <a:cubicBezTo>
                  <a:pt x="5223" y="265"/>
                  <a:pt x="5239" y="295"/>
                  <a:pt x="5252" y="328"/>
                </a:cubicBezTo>
                <a:cubicBezTo>
                  <a:pt x="5266" y="360"/>
                  <a:pt x="5276" y="393"/>
                  <a:pt x="5282" y="427"/>
                </a:cubicBezTo>
                <a:cubicBezTo>
                  <a:pt x="5289" y="462"/>
                  <a:pt x="5292" y="496"/>
                  <a:pt x="5292" y="531"/>
                </a:cubicBezTo>
                <a:cubicBezTo>
                  <a:pt x="5292" y="565"/>
                  <a:pt x="5289" y="600"/>
                  <a:pt x="5282" y="634"/>
                </a:cubicBezTo>
                <a:cubicBezTo>
                  <a:pt x="5276" y="668"/>
                  <a:pt x="5266" y="701"/>
                  <a:pt x="5252" y="733"/>
                </a:cubicBezTo>
                <a:cubicBezTo>
                  <a:pt x="5239" y="765"/>
                  <a:pt x="5223" y="796"/>
                  <a:pt x="5203" y="825"/>
                </a:cubicBezTo>
                <a:cubicBezTo>
                  <a:pt x="5184" y="854"/>
                  <a:pt x="5162" y="880"/>
                  <a:pt x="5138" y="905"/>
                </a:cubicBezTo>
                <a:cubicBezTo>
                  <a:pt x="5113" y="929"/>
                  <a:pt x="5086" y="951"/>
                  <a:pt x="5057" y="971"/>
                </a:cubicBezTo>
                <a:cubicBezTo>
                  <a:pt x="5028" y="990"/>
                  <a:pt x="4998" y="1006"/>
                  <a:pt x="4966" y="1020"/>
                </a:cubicBezTo>
                <a:cubicBezTo>
                  <a:pt x="4934" y="1033"/>
                  <a:pt x="4901" y="1043"/>
                  <a:pt x="4867" y="1050"/>
                </a:cubicBezTo>
                <a:cubicBezTo>
                  <a:pt x="4832" y="1056"/>
                  <a:pt x="4798" y="1060"/>
                  <a:pt x="4763" y="1060"/>
                </a:cubicBezTo>
                <a:lnTo>
                  <a:pt x="529" y="1060"/>
                </a:lnTo>
                <a:cubicBezTo>
                  <a:pt x="494" y="1060"/>
                  <a:pt x="460" y="1056"/>
                  <a:pt x="426" y="1050"/>
                </a:cubicBezTo>
                <a:cubicBezTo>
                  <a:pt x="392" y="1043"/>
                  <a:pt x="359" y="1033"/>
                  <a:pt x="326" y="1020"/>
                </a:cubicBezTo>
                <a:cubicBezTo>
                  <a:pt x="294" y="1006"/>
                  <a:pt x="264" y="990"/>
                  <a:pt x="235" y="971"/>
                </a:cubicBezTo>
                <a:cubicBezTo>
                  <a:pt x="206" y="951"/>
                  <a:pt x="179" y="929"/>
                  <a:pt x="155" y="905"/>
                </a:cubicBezTo>
                <a:cubicBezTo>
                  <a:pt x="130" y="880"/>
                  <a:pt x="108" y="854"/>
                  <a:pt x="89" y="825"/>
                </a:cubicBezTo>
                <a:cubicBezTo>
                  <a:pt x="70" y="796"/>
                  <a:pt x="53" y="765"/>
                  <a:pt x="40" y="733"/>
                </a:cubicBezTo>
                <a:cubicBezTo>
                  <a:pt x="27" y="701"/>
                  <a:pt x="17" y="668"/>
                  <a:pt x="10" y="634"/>
                </a:cubicBezTo>
                <a:cubicBezTo>
                  <a:pt x="3" y="600"/>
                  <a:pt x="0" y="565"/>
                  <a:pt x="0" y="531"/>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72" name="CuadroTexto 871"/>
          <p:cNvSpPr txBox="1"/>
          <p:nvPr/>
        </p:nvSpPr>
        <p:spPr>
          <a:xfrm>
            <a:off x="571320" y="569160"/>
            <a:ext cx="46587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Ciclo WHILE - Ejercicio propuesto</a:t>
            </a:r>
            <a:endParaRPr lang="en-US" sz="2700" b="0" u="none" strike="noStrike">
              <a:solidFill>
                <a:srgbClr val="000000"/>
              </a:solidFill>
              <a:effectLst/>
              <a:uFillTx/>
              <a:latin typeface="Times New Roman"/>
            </a:endParaRPr>
          </a:p>
        </p:txBody>
      </p:sp>
      <p:sp>
        <p:nvSpPr>
          <p:cNvPr id="873" name="CuadroTexto 872"/>
          <p:cNvSpPr txBox="1"/>
          <p:nvPr/>
        </p:nvSpPr>
        <p:spPr>
          <a:xfrm>
            <a:off x="2362320" y="1701720"/>
            <a:ext cx="1476720" cy="169560"/>
          </a:xfrm>
          <a:prstGeom prst="rect">
            <a:avLst/>
          </a:prstGeom>
          <a:noFill/>
          <a:ln w="0">
            <a:noFill/>
          </a:ln>
        </p:spPr>
        <p:txBody>
          <a:bodyPr wrap="none" lIns="0" tIns="0" rIns="0" bIns="0" anchor="t">
            <a:spAutoFit/>
          </a:bodyPr>
          <a:lstStyle/>
          <a:p>
            <a:r>
              <a:rPr lang="en-US" sz="1200" b="0" u="none" strike="noStrike" dirty="0">
                <a:solidFill>
                  <a:srgbClr val="DA7756"/>
                </a:solidFill>
                <a:effectLst/>
                <a:uFillTx/>
                <a:latin typeface="CrimsonPro"/>
                <a:ea typeface="CrimsonPro"/>
              </a:rPr>
              <a:t>EJERCICIO PROPUESTO</a:t>
            </a:r>
            <a:endParaRPr lang="en-US" sz="1200" b="0" u="none" strike="noStrike" dirty="0">
              <a:solidFill>
                <a:srgbClr val="000000"/>
              </a:solidFill>
              <a:effectLst/>
              <a:uFillTx/>
              <a:latin typeface="Times New Roman"/>
            </a:endParaRPr>
          </a:p>
        </p:txBody>
      </p:sp>
      <p:sp>
        <p:nvSpPr>
          <p:cNvPr id="874" name="CuadroTexto 873"/>
          <p:cNvSpPr txBox="1"/>
          <p:nvPr/>
        </p:nvSpPr>
        <p:spPr>
          <a:xfrm>
            <a:off x="2209680" y="2220480"/>
            <a:ext cx="3675960" cy="318960"/>
          </a:xfrm>
          <a:prstGeom prst="rect">
            <a:avLst/>
          </a:prstGeom>
          <a:noFill/>
          <a:ln w="0">
            <a:noFill/>
          </a:ln>
        </p:spPr>
        <p:txBody>
          <a:bodyPr wrap="none" lIns="0" tIns="0" rIns="0" bIns="0" anchor="t">
            <a:spAutoFit/>
          </a:bodyPr>
          <a:lstStyle/>
          <a:p>
            <a:r>
              <a:rPr lang="en-US" sz="2250" b="0" u="none" strike="noStrike" dirty="0" err="1">
                <a:solidFill>
                  <a:srgbClr val="000000"/>
                </a:solidFill>
                <a:effectLst/>
                <a:uFillTx/>
                <a:latin typeface="CrimsonPro"/>
                <a:ea typeface="CrimsonPro"/>
              </a:rPr>
              <a:t>Tabla</a:t>
            </a:r>
            <a:r>
              <a:rPr lang="en-US" sz="2250" b="0" u="none" strike="noStrike" dirty="0">
                <a:solidFill>
                  <a:srgbClr val="000000"/>
                </a:solidFill>
                <a:effectLst/>
                <a:uFillTx/>
                <a:latin typeface="CrimsonPro"/>
                <a:ea typeface="CrimsonPro"/>
              </a:rPr>
              <a:t> de </a:t>
            </a:r>
            <a:r>
              <a:rPr lang="en-US" sz="2250" b="0" u="none" strike="noStrike" dirty="0" err="1">
                <a:solidFill>
                  <a:srgbClr val="000000"/>
                </a:solidFill>
                <a:effectLst/>
                <a:uFillTx/>
                <a:latin typeface="CrimsonPro"/>
                <a:ea typeface="CrimsonPro"/>
              </a:rPr>
              <a:t>Multiplicar</a:t>
            </a:r>
            <a:r>
              <a:rPr lang="en-US" sz="2250" b="0" u="none" strike="noStrike" dirty="0">
                <a:solidFill>
                  <a:srgbClr val="000000"/>
                </a:solidFill>
                <a:effectLst/>
                <a:uFillTx/>
                <a:latin typeface="CrimsonPro"/>
                <a:ea typeface="CrimsonPro"/>
              </a:rPr>
              <a:t> con WHILE</a:t>
            </a:r>
            <a:endParaRPr lang="en-US" sz="2250" b="0" u="none" strike="noStrike" dirty="0">
              <a:solidFill>
                <a:srgbClr val="000000"/>
              </a:solidFill>
              <a:effectLst/>
              <a:uFillTx/>
              <a:latin typeface="Times New Roman"/>
            </a:endParaRPr>
          </a:p>
        </p:txBody>
      </p:sp>
      <p:sp>
        <p:nvSpPr>
          <p:cNvPr id="875" name="CuadroTexto 874"/>
          <p:cNvSpPr txBox="1"/>
          <p:nvPr/>
        </p:nvSpPr>
        <p:spPr>
          <a:xfrm>
            <a:off x="2209680" y="2829600"/>
            <a:ext cx="770796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Crear un programa que al proporcionar un valor muestre la tabla de multiplicar hasta el 10 con el ciclo</a:t>
            </a:r>
            <a:endParaRPr lang="en-US" sz="1500" b="0" u="none" strike="noStrike">
              <a:solidFill>
                <a:srgbClr val="000000"/>
              </a:solidFill>
              <a:effectLst/>
              <a:uFillTx/>
              <a:latin typeface="Times New Roman"/>
            </a:endParaRPr>
          </a:p>
        </p:txBody>
      </p:sp>
      <p:sp>
        <p:nvSpPr>
          <p:cNvPr id="876" name="CuadroTexto 875"/>
          <p:cNvSpPr txBox="1"/>
          <p:nvPr/>
        </p:nvSpPr>
        <p:spPr>
          <a:xfrm>
            <a:off x="2209680" y="3143880"/>
            <a:ext cx="600480" cy="212040"/>
          </a:xfrm>
          <a:prstGeom prst="rect">
            <a:avLst/>
          </a:prstGeom>
          <a:noFill/>
          <a:ln w="0">
            <a:noFill/>
          </a:ln>
        </p:spPr>
        <p:txBody>
          <a:bodyPr wrap="none" lIns="0" tIns="0" rIns="0" bIns="0" anchor="t">
            <a:spAutoFit/>
          </a:bodyPr>
          <a:lstStyle/>
          <a:p>
            <a:r>
              <a:rPr lang="en-US" sz="1500" b="0" u="none" strike="noStrike">
                <a:solidFill>
                  <a:srgbClr val="666666"/>
                </a:solidFill>
                <a:effectLst/>
                <a:uFillTx/>
                <a:latin typeface="CrimsonPro"/>
                <a:ea typeface="CrimsonPro"/>
              </a:rPr>
              <a:t>WHILE.</a:t>
            </a:r>
            <a:endParaRPr lang="en-US" sz="1500" b="0" u="none" strike="noStrike">
              <a:solidFill>
                <a:srgbClr val="000000"/>
              </a:solidFill>
              <a:effectLst/>
              <a:uFillTx/>
              <a:latin typeface="Times New Roman"/>
            </a:endParaRPr>
          </a:p>
        </p:txBody>
      </p:sp>
      <p:sp>
        <p:nvSpPr>
          <p:cNvPr id="877" name="Forma libre: forma 876"/>
          <p:cNvSpPr/>
          <p:nvPr/>
        </p:nvSpPr>
        <p:spPr>
          <a:xfrm>
            <a:off x="2438280" y="4314600"/>
            <a:ext cx="76320" cy="76680"/>
          </a:xfrm>
          <a:custGeom>
            <a:avLst/>
            <a:gdLst/>
            <a:ahLst/>
            <a:cxnLst/>
            <a:rect l="0" t="0" r="r" b="b"/>
            <a:pathLst>
              <a:path w="212" h="213">
                <a:moveTo>
                  <a:pt x="212" y="106"/>
                </a:moveTo>
                <a:cubicBezTo>
                  <a:pt x="212" y="120"/>
                  <a:pt x="210" y="133"/>
                  <a:pt x="204" y="146"/>
                </a:cubicBezTo>
                <a:cubicBezTo>
                  <a:pt x="199" y="160"/>
                  <a:pt x="191" y="172"/>
                  <a:pt x="182" y="182"/>
                </a:cubicBezTo>
                <a:cubicBezTo>
                  <a:pt x="172" y="192"/>
                  <a:pt x="160" y="199"/>
                  <a:pt x="147" y="205"/>
                </a:cubicBezTo>
                <a:cubicBezTo>
                  <a:pt x="134" y="210"/>
                  <a:pt x="121" y="213"/>
                  <a:pt x="107" y="213"/>
                </a:cubicBezTo>
                <a:cubicBezTo>
                  <a:pt x="93" y="213"/>
                  <a:pt x="78" y="210"/>
                  <a:pt x="65" y="205"/>
                </a:cubicBezTo>
                <a:cubicBezTo>
                  <a:pt x="52" y="199"/>
                  <a:pt x="41" y="192"/>
                  <a:pt x="31" y="182"/>
                </a:cubicBezTo>
                <a:cubicBezTo>
                  <a:pt x="21" y="172"/>
                  <a:pt x="13" y="160"/>
                  <a:pt x="8" y="146"/>
                </a:cubicBezTo>
                <a:cubicBezTo>
                  <a:pt x="3" y="133"/>
                  <a:pt x="0" y="120"/>
                  <a:pt x="0" y="106"/>
                </a:cubicBezTo>
                <a:cubicBezTo>
                  <a:pt x="0" y="92"/>
                  <a:pt x="3" y="78"/>
                  <a:pt x="8" y="65"/>
                </a:cubicBezTo>
                <a:cubicBezTo>
                  <a:pt x="13" y="52"/>
                  <a:pt x="21" y="41"/>
                  <a:pt x="31" y="31"/>
                </a:cubicBezTo>
                <a:cubicBezTo>
                  <a:pt x="41" y="21"/>
                  <a:pt x="52" y="14"/>
                  <a:pt x="65" y="8"/>
                </a:cubicBezTo>
                <a:cubicBezTo>
                  <a:pt x="78" y="3"/>
                  <a:pt x="93" y="0"/>
                  <a:pt x="107" y="0"/>
                </a:cubicBezTo>
                <a:cubicBezTo>
                  <a:pt x="121" y="0"/>
                  <a:pt x="134" y="3"/>
                  <a:pt x="147" y="8"/>
                </a:cubicBezTo>
                <a:cubicBezTo>
                  <a:pt x="160" y="14"/>
                  <a:pt x="172" y="21"/>
                  <a:pt x="182" y="31"/>
                </a:cubicBezTo>
                <a:cubicBezTo>
                  <a:pt x="191" y="41"/>
                  <a:pt x="199" y="52"/>
                  <a:pt x="204" y="65"/>
                </a:cubicBezTo>
                <a:cubicBezTo>
                  <a:pt x="210" y="78"/>
                  <a:pt x="212" y="92"/>
                  <a:pt x="212"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78" name="CuadroTexto 877"/>
          <p:cNvSpPr txBox="1"/>
          <p:nvPr/>
        </p:nvSpPr>
        <p:spPr>
          <a:xfrm>
            <a:off x="2438280" y="3894480"/>
            <a:ext cx="75168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Requisitos:</a:t>
            </a:r>
            <a:endParaRPr lang="en-US" sz="1350" b="0" u="none" strike="noStrike">
              <a:solidFill>
                <a:srgbClr val="000000"/>
              </a:solidFill>
              <a:effectLst/>
              <a:uFillTx/>
              <a:latin typeface="Times New Roman"/>
            </a:endParaRPr>
          </a:p>
        </p:txBody>
      </p:sp>
      <p:sp>
        <p:nvSpPr>
          <p:cNvPr id="879" name="Forma libre: forma 878"/>
          <p:cNvSpPr/>
          <p:nvPr/>
        </p:nvSpPr>
        <p:spPr>
          <a:xfrm>
            <a:off x="2438280" y="4619520"/>
            <a:ext cx="76320" cy="76320"/>
          </a:xfrm>
          <a:custGeom>
            <a:avLst/>
            <a:gdLst/>
            <a:ahLst/>
            <a:cxnLst/>
            <a:rect l="0" t="0" r="r" b="b"/>
            <a:pathLst>
              <a:path w="212" h="212">
                <a:moveTo>
                  <a:pt x="212" y="106"/>
                </a:moveTo>
                <a:cubicBezTo>
                  <a:pt x="212" y="120"/>
                  <a:pt x="210" y="133"/>
                  <a:pt x="204" y="147"/>
                </a:cubicBezTo>
                <a:cubicBezTo>
                  <a:pt x="199" y="160"/>
                  <a:pt x="191" y="172"/>
                  <a:pt x="182" y="181"/>
                </a:cubicBezTo>
                <a:cubicBezTo>
                  <a:pt x="172" y="191"/>
                  <a:pt x="160" y="199"/>
                  <a:pt x="147" y="204"/>
                </a:cubicBezTo>
                <a:cubicBezTo>
                  <a:pt x="134" y="210"/>
                  <a:pt x="121" y="212"/>
                  <a:pt x="107" y="212"/>
                </a:cubicBezTo>
                <a:cubicBezTo>
                  <a:pt x="93" y="212"/>
                  <a:pt x="78" y="210"/>
                  <a:pt x="65" y="204"/>
                </a:cubicBezTo>
                <a:cubicBezTo>
                  <a:pt x="52" y="199"/>
                  <a:pt x="41" y="191"/>
                  <a:pt x="31" y="181"/>
                </a:cubicBezTo>
                <a:cubicBezTo>
                  <a:pt x="21" y="172"/>
                  <a:pt x="13" y="160"/>
                  <a:pt x="8" y="147"/>
                </a:cubicBezTo>
                <a:cubicBezTo>
                  <a:pt x="3" y="133"/>
                  <a:pt x="0" y="120"/>
                  <a:pt x="0" y="106"/>
                </a:cubicBezTo>
                <a:cubicBezTo>
                  <a:pt x="0" y="92"/>
                  <a:pt x="3" y="78"/>
                  <a:pt x="8" y="65"/>
                </a:cubicBezTo>
                <a:cubicBezTo>
                  <a:pt x="13" y="52"/>
                  <a:pt x="21" y="41"/>
                  <a:pt x="31" y="31"/>
                </a:cubicBezTo>
                <a:cubicBezTo>
                  <a:pt x="41" y="21"/>
                  <a:pt x="52" y="13"/>
                  <a:pt x="65" y="8"/>
                </a:cubicBezTo>
                <a:cubicBezTo>
                  <a:pt x="78" y="2"/>
                  <a:pt x="93" y="0"/>
                  <a:pt x="107" y="0"/>
                </a:cubicBezTo>
                <a:cubicBezTo>
                  <a:pt x="121" y="0"/>
                  <a:pt x="134" y="2"/>
                  <a:pt x="147" y="8"/>
                </a:cubicBezTo>
                <a:cubicBezTo>
                  <a:pt x="160" y="13"/>
                  <a:pt x="172" y="21"/>
                  <a:pt x="182" y="31"/>
                </a:cubicBezTo>
                <a:cubicBezTo>
                  <a:pt x="191" y="41"/>
                  <a:pt x="199" y="52"/>
                  <a:pt x="204" y="65"/>
                </a:cubicBezTo>
                <a:cubicBezTo>
                  <a:pt x="210" y="78"/>
                  <a:pt x="212" y="92"/>
                  <a:pt x="212"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80" name="CuadroTexto 879"/>
          <p:cNvSpPr txBox="1"/>
          <p:nvPr/>
        </p:nvSpPr>
        <p:spPr>
          <a:xfrm>
            <a:off x="2628720" y="4263840"/>
            <a:ext cx="183708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Solicitar al usuario un número</a:t>
            </a:r>
            <a:endParaRPr lang="en-US" sz="1200" b="0" u="none" strike="noStrike">
              <a:solidFill>
                <a:srgbClr val="000000"/>
              </a:solidFill>
              <a:effectLst/>
              <a:uFillTx/>
              <a:latin typeface="Times New Roman"/>
            </a:endParaRPr>
          </a:p>
        </p:txBody>
      </p:sp>
      <p:sp>
        <p:nvSpPr>
          <p:cNvPr id="881" name="Forma libre: forma 880"/>
          <p:cNvSpPr/>
          <p:nvPr/>
        </p:nvSpPr>
        <p:spPr>
          <a:xfrm>
            <a:off x="2438280" y="4924080"/>
            <a:ext cx="76320" cy="76680"/>
          </a:xfrm>
          <a:custGeom>
            <a:avLst/>
            <a:gdLst/>
            <a:ahLst/>
            <a:cxnLst/>
            <a:rect l="0" t="0" r="r" b="b"/>
            <a:pathLst>
              <a:path w="212" h="213">
                <a:moveTo>
                  <a:pt x="212" y="106"/>
                </a:moveTo>
                <a:cubicBezTo>
                  <a:pt x="212" y="120"/>
                  <a:pt x="210" y="134"/>
                  <a:pt x="204" y="148"/>
                </a:cubicBezTo>
                <a:cubicBezTo>
                  <a:pt x="199" y="161"/>
                  <a:pt x="191" y="172"/>
                  <a:pt x="182" y="182"/>
                </a:cubicBezTo>
                <a:cubicBezTo>
                  <a:pt x="172" y="192"/>
                  <a:pt x="160" y="200"/>
                  <a:pt x="147" y="205"/>
                </a:cubicBezTo>
                <a:cubicBezTo>
                  <a:pt x="134" y="210"/>
                  <a:pt x="121" y="213"/>
                  <a:pt x="107" y="213"/>
                </a:cubicBezTo>
                <a:cubicBezTo>
                  <a:pt x="93" y="213"/>
                  <a:pt x="78" y="210"/>
                  <a:pt x="65" y="205"/>
                </a:cubicBezTo>
                <a:cubicBezTo>
                  <a:pt x="52" y="200"/>
                  <a:pt x="41" y="192"/>
                  <a:pt x="31" y="182"/>
                </a:cubicBezTo>
                <a:cubicBezTo>
                  <a:pt x="21" y="172"/>
                  <a:pt x="13" y="161"/>
                  <a:pt x="8" y="148"/>
                </a:cubicBezTo>
                <a:cubicBezTo>
                  <a:pt x="3" y="134"/>
                  <a:pt x="0" y="120"/>
                  <a:pt x="0" y="106"/>
                </a:cubicBezTo>
                <a:cubicBezTo>
                  <a:pt x="0" y="92"/>
                  <a:pt x="3" y="79"/>
                  <a:pt x="8" y="66"/>
                </a:cubicBezTo>
                <a:cubicBezTo>
                  <a:pt x="13" y="53"/>
                  <a:pt x="21" y="41"/>
                  <a:pt x="31" y="31"/>
                </a:cubicBezTo>
                <a:cubicBezTo>
                  <a:pt x="41" y="22"/>
                  <a:pt x="52" y="14"/>
                  <a:pt x="65" y="9"/>
                </a:cubicBezTo>
                <a:cubicBezTo>
                  <a:pt x="78" y="3"/>
                  <a:pt x="93" y="0"/>
                  <a:pt x="107" y="0"/>
                </a:cubicBezTo>
                <a:cubicBezTo>
                  <a:pt x="121" y="0"/>
                  <a:pt x="134" y="3"/>
                  <a:pt x="147" y="9"/>
                </a:cubicBezTo>
                <a:cubicBezTo>
                  <a:pt x="160" y="14"/>
                  <a:pt x="172" y="22"/>
                  <a:pt x="182" y="31"/>
                </a:cubicBezTo>
                <a:cubicBezTo>
                  <a:pt x="191" y="41"/>
                  <a:pt x="199" y="53"/>
                  <a:pt x="204" y="66"/>
                </a:cubicBezTo>
                <a:cubicBezTo>
                  <a:pt x="210" y="79"/>
                  <a:pt x="212" y="92"/>
                  <a:pt x="212" y="106"/>
                </a:cubicBez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82" name="CuadroTexto 881"/>
          <p:cNvSpPr txBox="1"/>
          <p:nvPr/>
        </p:nvSpPr>
        <p:spPr>
          <a:xfrm>
            <a:off x="2628720" y="4568760"/>
            <a:ext cx="264672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Utilizar el ciclo WHILE para iterar del 1 al 10</a:t>
            </a:r>
            <a:endParaRPr lang="en-US" sz="1200" b="0" u="none" strike="noStrike">
              <a:solidFill>
                <a:srgbClr val="000000"/>
              </a:solidFill>
              <a:effectLst/>
              <a:uFillTx/>
              <a:latin typeface="Times New Roman"/>
            </a:endParaRPr>
          </a:p>
        </p:txBody>
      </p:sp>
      <p:sp>
        <p:nvSpPr>
          <p:cNvPr id="883" name="CuadroTexto 882"/>
          <p:cNvSpPr txBox="1"/>
          <p:nvPr/>
        </p:nvSpPr>
        <p:spPr>
          <a:xfrm>
            <a:off x="2628720" y="4873680"/>
            <a:ext cx="26402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Mostrar el resultado de cada multiplicación</a:t>
            </a:r>
            <a:endParaRPr lang="en-US" sz="1200" b="0" u="none" strike="noStrike">
              <a:solidFill>
                <a:srgbClr val="000000"/>
              </a:solidFill>
              <a:effectLst/>
              <a:uFillTx/>
              <a:latin typeface="Times New Roman"/>
            </a:endParaRPr>
          </a:p>
        </p:txBody>
      </p:sp>
      <p:sp>
        <p:nvSpPr>
          <p:cNvPr id="884" name="Forma libre: forma 883"/>
          <p:cNvSpPr/>
          <p:nvPr/>
        </p:nvSpPr>
        <p:spPr>
          <a:xfrm>
            <a:off x="571320" y="6200640"/>
            <a:ext cx="11049480" cy="9720"/>
          </a:xfrm>
          <a:custGeom>
            <a:avLst/>
            <a:gdLst/>
            <a:ahLst/>
            <a:cxnLst/>
            <a:rect l="0" t="0" r="r" b="b"/>
            <a:pathLst>
              <a:path w="30693" h="27">
                <a:moveTo>
                  <a:pt x="0" y="0"/>
                </a:moveTo>
                <a:lnTo>
                  <a:pt x="30693" y="0"/>
                </a:lnTo>
                <a:lnTo>
                  <a:pt x="30693"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85" name="CuadroTexto 884"/>
          <p:cNvSpPr txBox="1"/>
          <p:nvPr/>
        </p:nvSpPr>
        <p:spPr>
          <a:xfrm>
            <a:off x="5390640" y="5957640"/>
            <a:ext cx="1412640" cy="148320"/>
          </a:xfrm>
          <a:prstGeom prst="rect">
            <a:avLst/>
          </a:prstGeom>
          <a:noFill/>
          <a:ln w="0">
            <a:noFill/>
          </a:ln>
        </p:spPr>
        <p:txBody>
          <a:bodyPr wrap="none" lIns="0" tIns="0" rIns="0" bIns="0" anchor="t">
            <a:spAutoFit/>
          </a:bodyPr>
          <a:lstStyle/>
          <a:p>
            <a:r>
              <a:rPr lang="en-US" sz="1050" b="0" u="none" strike="noStrike">
                <a:solidFill>
                  <a:srgbClr val="999999"/>
                </a:solidFill>
                <a:effectLst/>
                <a:uFillTx/>
                <a:latin typeface="CrimsonPro"/>
                <a:ea typeface="CrimsonPro"/>
              </a:rPr>
              <a:t>Tomado de campusmvp.es</a:t>
            </a:r>
            <a:endParaRPr lang="en-US" sz="1050" b="0" u="none" strike="noStrike">
              <a:solidFill>
                <a:srgbClr val="000000"/>
              </a:solidFill>
              <a:effectLst/>
              <a:uFillTx/>
              <a:latin typeface="Times New Roman"/>
            </a:endParaRPr>
          </a:p>
        </p:txBody>
      </p:sp>
      <p:sp>
        <p:nvSpPr>
          <p:cNvPr id="886" name="CuadroTexto 885"/>
          <p:cNvSpPr txBox="1"/>
          <p:nvPr/>
        </p:nvSpPr>
        <p:spPr>
          <a:xfrm>
            <a:off x="571320" y="638820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887" name="CuadroTexto 886"/>
          <p:cNvSpPr txBox="1"/>
          <p:nvPr/>
        </p:nvSpPr>
        <p:spPr>
          <a:xfrm>
            <a:off x="11466000" y="6388200"/>
            <a:ext cx="15516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38</a:t>
            </a:r>
            <a:endParaRPr lang="en-US" sz="1200" b="0" u="none" strike="noStrike">
              <a:solidFill>
                <a:srgbClr val="000000"/>
              </a:solidFill>
              <a:effectLst/>
              <a:uFillTx/>
              <a:latin typeface="Times New Roman"/>
            </a:endParaRPr>
          </a:p>
        </p:txBody>
      </p:sp>
      <p:sp>
        <p:nvSpPr>
          <p:cNvPr id="2" name="Estrella: 5 puntas 1">
            <a:extLst>
              <a:ext uri="{FF2B5EF4-FFF2-40B4-BE49-F238E27FC236}">
                <a16:creationId xmlns:a16="http://schemas.microsoft.com/office/drawing/2014/main" id="{C270F88C-59AC-B2DE-AB7E-E30430652FCB}"/>
              </a:ext>
            </a:extLst>
          </p:cNvPr>
          <p:cNvSpPr/>
          <p:nvPr/>
        </p:nvSpPr>
        <p:spPr>
          <a:xfrm>
            <a:off x="7570569" y="250260"/>
            <a:ext cx="1742271" cy="139704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t>5 m</a:t>
            </a:r>
            <a:endParaRPr lang="es-CO"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 name="Forma libre: forma 889"/>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891" name="CuadroTexto 890"/>
          <p:cNvSpPr txBox="1"/>
          <p:nvPr/>
        </p:nvSpPr>
        <p:spPr>
          <a:xfrm>
            <a:off x="571320" y="569160"/>
            <a:ext cx="342360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Bucles - Ciclo DO WHILE</a:t>
            </a:r>
            <a:endParaRPr lang="en-US" sz="2700" b="0" u="none" strike="noStrike">
              <a:solidFill>
                <a:srgbClr val="000000"/>
              </a:solidFill>
              <a:effectLst/>
              <a:uFillTx/>
              <a:latin typeface="Times New Roman"/>
            </a:endParaRPr>
          </a:p>
        </p:txBody>
      </p:sp>
      <p:sp>
        <p:nvSpPr>
          <p:cNvPr id="892" name="CuadroTexto 891"/>
          <p:cNvSpPr txBox="1"/>
          <p:nvPr/>
        </p:nvSpPr>
        <p:spPr>
          <a:xfrm>
            <a:off x="571320" y="2490840"/>
            <a:ext cx="948960" cy="253440"/>
          </a:xfrm>
          <a:prstGeom prst="rect">
            <a:avLst/>
          </a:prstGeom>
          <a:noFill/>
          <a:ln w="0">
            <a:noFill/>
          </a:ln>
        </p:spPr>
        <p:txBody>
          <a:bodyPr wrap="none" lIns="0" tIns="0" rIns="0" bIns="0" anchor="t">
            <a:spAutoFit/>
          </a:bodyPr>
          <a:lstStyle/>
          <a:p>
            <a:r>
              <a:rPr lang="en-US" sz="1800" b="0" u="none" strike="noStrike">
                <a:solidFill>
                  <a:srgbClr val="DA7756"/>
                </a:solidFill>
                <a:effectLst/>
                <a:uFillTx/>
                <a:latin typeface="CrimsonPro"/>
                <a:ea typeface="CrimsonPro"/>
              </a:rPr>
              <a:t>Definición</a:t>
            </a:r>
            <a:endParaRPr lang="en-US" sz="1800" b="0" u="none" strike="noStrike">
              <a:solidFill>
                <a:srgbClr val="000000"/>
              </a:solidFill>
              <a:effectLst/>
              <a:uFillTx/>
              <a:latin typeface="Times New Roman"/>
            </a:endParaRPr>
          </a:p>
        </p:txBody>
      </p:sp>
      <p:sp>
        <p:nvSpPr>
          <p:cNvPr id="893" name="CuadroTexto 892"/>
          <p:cNvSpPr txBox="1"/>
          <p:nvPr/>
        </p:nvSpPr>
        <p:spPr>
          <a:xfrm>
            <a:off x="571320" y="2961000"/>
            <a:ext cx="400500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Esta estructura de iteración cumple el mismo objetivo de la</a:t>
            </a:r>
            <a:endParaRPr lang="en-US" sz="1350" b="0" u="none" strike="noStrike">
              <a:solidFill>
                <a:srgbClr val="000000"/>
              </a:solidFill>
              <a:effectLst/>
              <a:uFillTx/>
              <a:latin typeface="Times New Roman"/>
            </a:endParaRPr>
          </a:p>
        </p:txBody>
      </p:sp>
      <p:sp>
        <p:nvSpPr>
          <p:cNvPr id="894" name="CuadroTexto 893"/>
          <p:cNvSpPr txBox="1"/>
          <p:nvPr/>
        </p:nvSpPr>
        <p:spPr>
          <a:xfrm>
            <a:off x="571320" y="3237120"/>
            <a:ext cx="41425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estructura While con la variante que el ciclo do While ejecuta</a:t>
            </a:r>
            <a:endParaRPr lang="en-US" sz="1350" b="0" u="none" strike="noStrike">
              <a:solidFill>
                <a:srgbClr val="000000"/>
              </a:solidFill>
              <a:effectLst/>
              <a:uFillTx/>
              <a:latin typeface="Times New Roman"/>
            </a:endParaRPr>
          </a:p>
        </p:txBody>
      </p:sp>
      <p:sp>
        <p:nvSpPr>
          <p:cNvPr id="895" name="Forma libre: forma 894"/>
          <p:cNvSpPr/>
          <p:nvPr/>
        </p:nvSpPr>
        <p:spPr>
          <a:xfrm>
            <a:off x="571320" y="3990960"/>
            <a:ext cx="4420080" cy="1333800"/>
          </a:xfrm>
          <a:custGeom>
            <a:avLst/>
            <a:gdLst/>
            <a:ahLst/>
            <a:cxnLst/>
            <a:rect l="0" t="0" r="r" b="b"/>
            <a:pathLst>
              <a:path w="12278" h="3705">
                <a:moveTo>
                  <a:pt x="0" y="3493"/>
                </a:moveTo>
                <a:lnTo>
                  <a:pt x="0" y="211"/>
                </a:lnTo>
                <a:cubicBezTo>
                  <a:pt x="0" y="197"/>
                  <a:pt x="1" y="184"/>
                  <a:pt x="4" y="170"/>
                </a:cubicBezTo>
                <a:cubicBezTo>
                  <a:pt x="7" y="156"/>
                  <a:pt x="11" y="143"/>
                  <a:pt x="16" y="130"/>
                </a:cubicBezTo>
                <a:cubicBezTo>
                  <a:pt x="21" y="117"/>
                  <a:pt x="28" y="105"/>
                  <a:pt x="36" y="94"/>
                </a:cubicBezTo>
                <a:cubicBezTo>
                  <a:pt x="43" y="82"/>
                  <a:pt x="52" y="71"/>
                  <a:pt x="62" y="62"/>
                </a:cubicBezTo>
                <a:cubicBezTo>
                  <a:pt x="72" y="52"/>
                  <a:pt x="83" y="43"/>
                  <a:pt x="94" y="35"/>
                </a:cubicBezTo>
                <a:cubicBezTo>
                  <a:pt x="106" y="27"/>
                  <a:pt x="118" y="21"/>
                  <a:pt x="131" y="16"/>
                </a:cubicBezTo>
                <a:cubicBezTo>
                  <a:pt x="144" y="10"/>
                  <a:pt x="157" y="6"/>
                  <a:pt x="170" y="4"/>
                </a:cubicBezTo>
                <a:cubicBezTo>
                  <a:pt x="184" y="1"/>
                  <a:pt x="198" y="0"/>
                  <a:pt x="212" y="0"/>
                </a:cubicBezTo>
                <a:lnTo>
                  <a:pt x="12066" y="0"/>
                </a:lnTo>
                <a:cubicBezTo>
                  <a:pt x="12080" y="0"/>
                  <a:pt x="12094" y="1"/>
                  <a:pt x="12107" y="4"/>
                </a:cubicBezTo>
                <a:cubicBezTo>
                  <a:pt x="12121" y="6"/>
                  <a:pt x="12134" y="10"/>
                  <a:pt x="12147" y="16"/>
                </a:cubicBezTo>
                <a:cubicBezTo>
                  <a:pt x="12160" y="21"/>
                  <a:pt x="12172" y="27"/>
                  <a:pt x="12184" y="35"/>
                </a:cubicBezTo>
                <a:cubicBezTo>
                  <a:pt x="12195" y="43"/>
                  <a:pt x="12206" y="52"/>
                  <a:pt x="12216" y="62"/>
                </a:cubicBezTo>
                <a:cubicBezTo>
                  <a:pt x="12225" y="71"/>
                  <a:pt x="12234" y="82"/>
                  <a:pt x="12242" y="94"/>
                </a:cubicBezTo>
                <a:cubicBezTo>
                  <a:pt x="12250" y="105"/>
                  <a:pt x="12256" y="117"/>
                  <a:pt x="12262" y="130"/>
                </a:cubicBezTo>
                <a:cubicBezTo>
                  <a:pt x="12267" y="143"/>
                  <a:pt x="12271" y="156"/>
                  <a:pt x="12274" y="170"/>
                </a:cubicBezTo>
                <a:cubicBezTo>
                  <a:pt x="12276" y="184"/>
                  <a:pt x="12278" y="197"/>
                  <a:pt x="12278" y="211"/>
                </a:cubicBezTo>
                <a:lnTo>
                  <a:pt x="12278" y="3493"/>
                </a:lnTo>
                <a:cubicBezTo>
                  <a:pt x="12278" y="3507"/>
                  <a:pt x="12276" y="3521"/>
                  <a:pt x="12274" y="3534"/>
                </a:cubicBezTo>
                <a:cubicBezTo>
                  <a:pt x="12271" y="3548"/>
                  <a:pt x="12267" y="3561"/>
                  <a:pt x="12262" y="3574"/>
                </a:cubicBezTo>
                <a:cubicBezTo>
                  <a:pt x="12256" y="3587"/>
                  <a:pt x="12250" y="3599"/>
                  <a:pt x="12242" y="3611"/>
                </a:cubicBezTo>
                <a:cubicBezTo>
                  <a:pt x="12234" y="3622"/>
                  <a:pt x="12225" y="3633"/>
                  <a:pt x="12216" y="3643"/>
                </a:cubicBezTo>
                <a:cubicBezTo>
                  <a:pt x="12206" y="3653"/>
                  <a:pt x="12195" y="3661"/>
                  <a:pt x="12184" y="3669"/>
                </a:cubicBezTo>
                <a:cubicBezTo>
                  <a:pt x="12172" y="3677"/>
                  <a:pt x="12160" y="3683"/>
                  <a:pt x="12147" y="3689"/>
                </a:cubicBezTo>
                <a:cubicBezTo>
                  <a:pt x="12134" y="3694"/>
                  <a:pt x="12121" y="3698"/>
                  <a:pt x="12107" y="3701"/>
                </a:cubicBezTo>
                <a:cubicBezTo>
                  <a:pt x="12094" y="3703"/>
                  <a:pt x="12080" y="3705"/>
                  <a:pt x="12066" y="3705"/>
                </a:cubicBezTo>
                <a:lnTo>
                  <a:pt x="212" y="3705"/>
                </a:lnTo>
                <a:cubicBezTo>
                  <a:pt x="198" y="3705"/>
                  <a:pt x="184" y="3703"/>
                  <a:pt x="170" y="3701"/>
                </a:cubicBezTo>
                <a:cubicBezTo>
                  <a:pt x="157" y="3698"/>
                  <a:pt x="144" y="3694"/>
                  <a:pt x="131" y="3689"/>
                </a:cubicBezTo>
                <a:cubicBezTo>
                  <a:pt x="118" y="3683"/>
                  <a:pt x="106" y="3677"/>
                  <a:pt x="94" y="3669"/>
                </a:cubicBezTo>
                <a:cubicBezTo>
                  <a:pt x="83" y="3661"/>
                  <a:pt x="72" y="3653"/>
                  <a:pt x="62" y="3643"/>
                </a:cubicBezTo>
                <a:cubicBezTo>
                  <a:pt x="52" y="3633"/>
                  <a:pt x="43" y="3622"/>
                  <a:pt x="36" y="3611"/>
                </a:cubicBezTo>
                <a:cubicBezTo>
                  <a:pt x="28" y="3599"/>
                  <a:pt x="21" y="3587"/>
                  <a:pt x="16" y="3574"/>
                </a:cubicBezTo>
                <a:cubicBezTo>
                  <a:pt x="11" y="3561"/>
                  <a:pt x="7" y="3548"/>
                  <a:pt x="4" y="3534"/>
                </a:cubicBezTo>
                <a:cubicBezTo>
                  <a:pt x="1" y="3521"/>
                  <a:pt x="0" y="3507"/>
                  <a:pt x="0" y="3493"/>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896" name="CuadroTexto 895"/>
          <p:cNvSpPr txBox="1"/>
          <p:nvPr/>
        </p:nvSpPr>
        <p:spPr>
          <a:xfrm>
            <a:off x="571320" y="3522960"/>
            <a:ext cx="431604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cuando menos una vez antes de evaluarse la condición del ciclo.</a:t>
            </a:r>
            <a:endParaRPr lang="en-US" sz="1350" b="0" u="none" strike="noStrike">
              <a:solidFill>
                <a:srgbClr val="000000"/>
              </a:solidFill>
              <a:effectLst/>
              <a:uFillTx/>
              <a:latin typeface="Times New Roman"/>
            </a:endParaRPr>
          </a:p>
        </p:txBody>
      </p:sp>
      <p:sp>
        <p:nvSpPr>
          <p:cNvPr id="897" name="CuadroTexto 896"/>
          <p:cNvSpPr txBox="1"/>
          <p:nvPr/>
        </p:nvSpPr>
        <p:spPr>
          <a:xfrm>
            <a:off x="799920" y="4249080"/>
            <a:ext cx="177372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Característica Principal</a:t>
            </a:r>
            <a:endParaRPr lang="en-US" sz="1500" b="0" u="none" strike="noStrike">
              <a:solidFill>
                <a:srgbClr val="000000"/>
              </a:solidFill>
              <a:effectLst/>
              <a:uFillTx/>
              <a:latin typeface="Times New Roman"/>
            </a:endParaRPr>
          </a:p>
        </p:txBody>
      </p:sp>
      <p:sp>
        <p:nvSpPr>
          <p:cNvPr id="898" name="CuadroTexto 897"/>
          <p:cNvSpPr txBox="1"/>
          <p:nvPr/>
        </p:nvSpPr>
        <p:spPr>
          <a:xfrm>
            <a:off x="799920" y="4635360"/>
            <a:ext cx="38055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Siempre se tendrá una iteración así el ciclo nunca haya entrado</a:t>
            </a:r>
            <a:endParaRPr lang="en-US" sz="1200" b="0" u="none" strike="noStrike">
              <a:solidFill>
                <a:srgbClr val="000000"/>
              </a:solidFill>
              <a:effectLst/>
              <a:uFillTx/>
              <a:latin typeface="Times New Roman"/>
            </a:endParaRPr>
          </a:p>
        </p:txBody>
      </p:sp>
      <p:sp>
        <p:nvSpPr>
          <p:cNvPr id="899" name="CuadroTexto 898"/>
          <p:cNvSpPr txBox="1"/>
          <p:nvPr/>
        </p:nvSpPr>
        <p:spPr>
          <a:xfrm>
            <a:off x="799920" y="4883040"/>
            <a:ext cx="370548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en ejecución, ya que la condición se evalúa al final del bloque.</a:t>
            </a:r>
            <a:endParaRPr lang="en-US" sz="1200" b="0" u="none" strike="noStrike">
              <a:solidFill>
                <a:srgbClr val="000000"/>
              </a:solidFill>
              <a:effectLst/>
              <a:uFillTx/>
              <a:latin typeface="Times New Roman"/>
            </a:endParaRPr>
          </a:p>
        </p:txBody>
      </p:sp>
      <p:pic>
        <p:nvPicPr>
          <p:cNvPr id="900" name="Imagen 899"/>
          <p:cNvPicPr/>
          <p:nvPr/>
        </p:nvPicPr>
        <p:blipFill>
          <a:blip r:embed="rId2"/>
          <a:stretch/>
        </p:blipFill>
        <p:spPr>
          <a:xfrm>
            <a:off x="6394580" y="1023691"/>
            <a:ext cx="4677434" cy="5187898"/>
          </a:xfrm>
          <a:prstGeom prst="rect">
            <a:avLst/>
          </a:prstGeom>
          <a:noFill/>
          <a:ln w="12700">
            <a:solidFill>
              <a:schemeClr val="tx1"/>
            </a:solidFill>
          </a:ln>
        </p:spPr>
      </p:pic>
      <p:sp>
        <p:nvSpPr>
          <p:cNvPr id="901" name="CuadroTexto 900"/>
          <p:cNvSpPr txBox="1"/>
          <p:nvPr/>
        </p:nvSpPr>
        <p:spPr>
          <a:xfrm>
            <a:off x="571320" y="5576400"/>
            <a:ext cx="191520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campusmvp.es</a:t>
            </a:r>
            <a:endParaRPr lang="en-US" sz="1050" b="0" u="none" strike="noStrike">
              <a:solidFill>
                <a:srgbClr val="000000"/>
              </a:solidFill>
              <a:effectLst/>
              <a:uFillTx/>
              <a:latin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 name="Forma libre: forma 903"/>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905" name="Forma libre: forma 904"/>
          <p:cNvSpPr/>
          <p:nvPr/>
        </p:nvSpPr>
        <p:spPr>
          <a:xfrm>
            <a:off x="1814400" y="1204560"/>
            <a:ext cx="8563320" cy="5210640"/>
          </a:xfrm>
          <a:custGeom>
            <a:avLst/>
            <a:gdLst/>
            <a:ahLst/>
            <a:cxnLst/>
            <a:rect l="0" t="0" r="r" b="b"/>
            <a:pathLst>
              <a:path w="23787" h="14474">
                <a:moveTo>
                  <a:pt x="0" y="14064"/>
                </a:moveTo>
                <a:lnTo>
                  <a:pt x="0" y="411"/>
                </a:lnTo>
                <a:cubicBezTo>
                  <a:pt x="0" y="384"/>
                  <a:pt x="2" y="357"/>
                  <a:pt x="8" y="331"/>
                </a:cubicBezTo>
                <a:cubicBezTo>
                  <a:pt x="13" y="304"/>
                  <a:pt x="21" y="279"/>
                  <a:pt x="31" y="254"/>
                </a:cubicBezTo>
                <a:cubicBezTo>
                  <a:pt x="41" y="229"/>
                  <a:pt x="54" y="205"/>
                  <a:pt x="69" y="183"/>
                </a:cubicBezTo>
                <a:cubicBezTo>
                  <a:pt x="84" y="160"/>
                  <a:pt x="101" y="140"/>
                  <a:pt x="120" y="121"/>
                </a:cubicBezTo>
                <a:cubicBezTo>
                  <a:pt x="139" y="102"/>
                  <a:pt x="160" y="85"/>
                  <a:pt x="182" y="70"/>
                </a:cubicBezTo>
                <a:cubicBezTo>
                  <a:pt x="204" y="55"/>
                  <a:pt x="228" y="42"/>
                  <a:pt x="253" y="32"/>
                </a:cubicBezTo>
                <a:cubicBezTo>
                  <a:pt x="278" y="21"/>
                  <a:pt x="303" y="14"/>
                  <a:pt x="330" y="8"/>
                </a:cubicBezTo>
                <a:cubicBezTo>
                  <a:pt x="356" y="3"/>
                  <a:pt x="383" y="0"/>
                  <a:pt x="410" y="0"/>
                </a:cubicBezTo>
                <a:lnTo>
                  <a:pt x="23377" y="0"/>
                </a:lnTo>
                <a:cubicBezTo>
                  <a:pt x="23404" y="0"/>
                  <a:pt x="23430" y="3"/>
                  <a:pt x="23457" y="8"/>
                </a:cubicBezTo>
                <a:cubicBezTo>
                  <a:pt x="23483" y="14"/>
                  <a:pt x="23509" y="21"/>
                  <a:pt x="23534" y="32"/>
                </a:cubicBezTo>
                <a:cubicBezTo>
                  <a:pt x="23559" y="42"/>
                  <a:pt x="23582" y="55"/>
                  <a:pt x="23605" y="70"/>
                </a:cubicBezTo>
                <a:cubicBezTo>
                  <a:pt x="23627" y="85"/>
                  <a:pt x="23648" y="102"/>
                  <a:pt x="23667" y="121"/>
                </a:cubicBezTo>
                <a:cubicBezTo>
                  <a:pt x="23686" y="140"/>
                  <a:pt x="23703" y="160"/>
                  <a:pt x="23718" y="183"/>
                </a:cubicBezTo>
                <a:cubicBezTo>
                  <a:pt x="23733" y="205"/>
                  <a:pt x="23745" y="229"/>
                  <a:pt x="23756" y="254"/>
                </a:cubicBezTo>
                <a:cubicBezTo>
                  <a:pt x="23766" y="279"/>
                  <a:pt x="23774" y="304"/>
                  <a:pt x="23779" y="331"/>
                </a:cubicBezTo>
                <a:cubicBezTo>
                  <a:pt x="23784" y="357"/>
                  <a:pt x="23787" y="384"/>
                  <a:pt x="23787" y="411"/>
                </a:cubicBezTo>
                <a:lnTo>
                  <a:pt x="23787" y="14064"/>
                </a:lnTo>
                <a:cubicBezTo>
                  <a:pt x="23787" y="14091"/>
                  <a:pt x="23784" y="14118"/>
                  <a:pt x="23779" y="14144"/>
                </a:cubicBezTo>
                <a:cubicBezTo>
                  <a:pt x="23774" y="14170"/>
                  <a:pt x="23766" y="14196"/>
                  <a:pt x="23756" y="14221"/>
                </a:cubicBezTo>
                <a:cubicBezTo>
                  <a:pt x="23745" y="14246"/>
                  <a:pt x="23733" y="14270"/>
                  <a:pt x="23718" y="14292"/>
                </a:cubicBezTo>
                <a:cubicBezTo>
                  <a:pt x="23703" y="14314"/>
                  <a:pt x="23686" y="14335"/>
                  <a:pt x="23667" y="14354"/>
                </a:cubicBezTo>
                <a:cubicBezTo>
                  <a:pt x="23648" y="14373"/>
                  <a:pt x="23627" y="14390"/>
                  <a:pt x="23605" y="14405"/>
                </a:cubicBezTo>
                <a:cubicBezTo>
                  <a:pt x="23582" y="14420"/>
                  <a:pt x="23559" y="14433"/>
                  <a:pt x="23534" y="14443"/>
                </a:cubicBezTo>
                <a:cubicBezTo>
                  <a:pt x="23509" y="14453"/>
                  <a:pt x="23483" y="14461"/>
                  <a:pt x="23457" y="14466"/>
                </a:cubicBezTo>
                <a:cubicBezTo>
                  <a:pt x="23430" y="14472"/>
                  <a:pt x="23404" y="14474"/>
                  <a:pt x="23377" y="14474"/>
                </a:cubicBezTo>
                <a:lnTo>
                  <a:pt x="410" y="14474"/>
                </a:lnTo>
                <a:cubicBezTo>
                  <a:pt x="383" y="14474"/>
                  <a:pt x="356" y="14472"/>
                  <a:pt x="330" y="14466"/>
                </a:cubicBezTo>
                <a:cubicBezTo>
                  <a:pt x="303" y="14461"/>
                  <a:pt x="278" y="14453"/>
                  <a:pt x="253" y="14443"/>
                </a:cubicBezTo>
                <a:cubicBezTo>
                  <a:pt x="228" y="14433"/>
                  <a:pt x="204" y="14420"/>
                  <a:pt x="182" y="14405"/>
                </a:cubicBezTo>
                <a:cubicBezTo>
                  <a:pt x="160" y="14390"/>
                  <a:pt x="139" y="14373"/>
                  <a:pt x="120" y="14354"/>
                </a:cubicBezTo>
                <a:cubicBezTo>
                  <a:pt x="101" y="14335"/>
                  <a:pt x="84" y="14314"/>
                  <a:pt x="69" y="14292"/>
                </a:cubicBezTo>
                <a:cubicBezTo>
                  <a:pt x="54" y="14270"/>
                  <a:pt x="41" y="14246"/>
                  <a:pt x="31" y="14221"/>
                </a:cubicBezTo>
                <a:cubicBezTo>
                  <a:pt x="21" y="14196"/>
                  <a:pt x="13" y="14170"/>
                  <a:pt x="8" y="14144"/>
                </a:cubicBezTo>
                <a:cubicBezTo>
                  <a:pt x="2" y="14118"/>
                  <a:pt x="0" y="14091"/>
                  <a:pt x="0" y="14064"/>
                </a:cubicBezTo>
                <a:close/>
              </a:path>
            </a:pathLst>
          </a:custGeom>
          <a:solidFill>
            <a:srgbClr val="FFFFFF"/>
          </a:solidFill>
          <a:ln w="0">
            <a:solidFill>
              <a:schemeClr val="tx1"/>
            </a:solid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06" name="Forma libre: forma 905"/>
          <p:cNvSpPr/>
          <p:nvPr/>
        </p:nvSpPr>
        <p:spPr>
          <a:xfrm>
            <a:off x="1814400" y="1204560"/>
            <a:ext cx="8563320" cy="5210640"/>
          </a:xfrm>
          <a:custGeom>
            <a:avLst/>
            <a:gdLst/>
            <a:ahLst/>
            <a:cxnLst/>
            <a:rect l="0" t="0" r="r" b="b"/>
            <a:pathLst>
              <a:path w="23787" h="14474" fill="none">
                <a:moveTo>
                  <a:pt x="0" y="14064"/>
                </a:moveTo>
                <a:lnTo>
                  <a:pt x="0" y="411"/>
                </a:lnTo>
                <a:cubicBezTo>
                  <a:pt x="0" y="384"/>
                  <a:pt x="2" y="357"/>
                  <a:pt x="8" y="331"/>
                </a:cubicBezTo>
                <a:cubicBezTo>
                  <a:pt x="13" y="304"/>
                  <a:pt x="21" y="279"/>
                  <a:pt x="31" y="254"/>
                </a:cubicBezTo>
                <a:cubicBezTo>
                  <a:pt x="41" y="229"/>
                  <a:pt x="54" y="205"/>
                  <a:pt x="69" y="183"/>
                </a:cubicBezTo>
                <a:cubicBezTo>
                  <a:pt x="84" y="160"/>
                  <a:pt x="101" y="140"/>
                  <a:pt x="120" y="121"/>
                </a:cubicBezTo>
                <a:cubicBezTo>
                  <a:pt x="139" y="102"/>
                  <a:pt x="160" y="85"/>
                  <a:pt x="182" y="70"/>
                </a:cubicBezTo>
                <a:cubicBezTo>
                  <a:pt x="204" y="55"/>
                  <a:pt x="228" y="42"/>
                  <a:pt x="253" y="32"/>
                </a:cubicBezTo>
                <a:cubicBezTo>
                  <a:pt x="278" y="21"/>
                  <a:pt x="303" y="14"/>
                  <a:pt x="330" y="8"/>
                </a:cubicBezTo>
                <a:cubicBezTo>
                  <a:pt x="356" y="3"/>
                  <a:pt x="383" y="0"/>
                  <a:pt x="410" y="0"/>
                </a:cubicBezTo>
                <a:lnTo>
                  <a:pt x="23377" y="0"/>
                </a:lnTo>
                <a:cubicBezTo>
                  <a:pt x="23404" y="0"/>
                  <a:pt x="23430" y="3"/>
                  <a:pt x="23457" y="8"/>
                </a:cubicBezTo>
                <a:cubicBezTo>
                  <a:pt x="23483" y="14"/>
                  <a:pt x="23509" y="21"/>
                  <a:pt x="23534" y="32"/>
                </a:cubicBezTo>
                <a:cubicBezTo>
                  <a:pt x="23559" y="42"/>
                  <a:pt x="23582" y="55"/>
                  <a:pt x="23605" y="70"/>
                </a:cubicBezTo>
                <a:cubicBezTo>
                  <a:pt x="23627" y="85"/>
                  <a:pt x="23648" y="102"/>
                  <a:pt x="23667" y="121"/>
                </a:cubicBezTo>
                <a:cubicBezTo>
                  <a:pt x="23686" y="140"/>
                  <a:pt x="23703" y="160"/>
                  <a:pt x="23718" y="183"/>
                </a:cubicBezTo>
                <a:cubicBezTo>
                  <a:pt x="23733" y="205"/>
                  <a:pt x="23745" y="229"/>
                  <a:pt x="23756" y="254"/>
                </a:cubicBezTo>
                <a:cubicBezTo>
                  <a:pt x="23766" y="279"/>
                  <a:pt x="23774" y="304"/>
                  <a:pt x="23779" y="331"/>
                </a:cubicBezTo>
                <a:cubicBezTo>
                  <a:pt x="23784" y="357"/>
                  <a:pt x="23787" y="384"/>
                  <a:pt x="23787" y="411"/>
                </a:cubicBezTo>
                <a:lnTo>
                  <a:pt x="23787" y="14064"/>
                </a:lnTo>
                <a:cubicBezTo>
                  <a:pt x="23787" y="14091"/>
                  <a:pt x="23784" y="14118"/>
                  <a:pt x="23779" y="14144"/>
                </a:cubicBezTo>
                <a:cubicBezTo>
                  <a:pt x="23774" y="14170"/>
                  <a:pt x="23766" y="14196"/>
                  <a:pt x="23756" y="14221"/>
                </a:cubicBezTo>
                <a:cubicBezTo>
                  <a:pt x="23745" y="14246"/>
                  <a:pt x="23733" y="14270"/>
                  <a:pt x="23718" y="14292"/>
                </a:cubicBezTo>
                <a:cubicBezTo>
                  <a:pt x="23703" y="14314"/>
                  <a:pt x="23686" y="14335"/>
                  <a:pt x="23667" y="14354"/>
                </a:cubicBezTo>
                <a:cubicBezTo>
                  <a:pt x="23648" y="14373"/>
                  <a:pt x="23627" y="14390"/>
                  <a:pt x="23605" y="14405"/>
                </a:cubicBezTo>
                <a:cubicBezTo>
                  <a:pt x="23582" y="14420"/>
                  <a:pt x="23559" y="14433"/>
                  <a:pt x="23534" y="14443"/>
                </a:cubicBezTo>
                <a:cubicBezTo>
                  <a:pt x="23509" y="14453"/>
                  <a:pt x="23483" y="14461"/>
                  <a:pt x="23457" y="14466"/>
                </a:cubicBezTo>
                <a:cubicBezTo>
                  <a:pt x="23430" y="14472"/>
                  <a:pt x="23404" y="14474"/>
                  <a:pt x="23377" y="14474"/>
                </a:cubicBezTo>
                <a:lnTo>
                  <a:pt x="410" y="14474"/>
                </a:lnTo>
                <a:cubicBezTo>
                  <a:pt x="383" y="14474"/>
                  <a:pt x="356" y="14472"/>
                  <a:pt x="330" y="14466"/>
                </a:cubicBezTo>
                <a:cubicBezTo>
                  <a:pt x="303" y="14461"/>
                  <a:pt x="278" y="14453"/>
                  <a:pt x="253" y="14443"/>
                </a:cubicBezTo>
                <a:cubicBezTo>
                  <a:pt x="228" y="14433"/>
                  <a:pt x="204" y="14420"/>
                  <a:pt x="182" y="14405"/>
                </a:cubicBezTo>
                <a:cubicBezTo>
                  <a:pt x="160" y="14390"/>
                  <a:pt x="139" y="14373"/>
                  <a:pt x="120" y="14354"/>
                </a:cubicBezTo>
                <a:cubicBezTo>
                  <a:pt x="101" y="14335"/>
                  <a:pt x="84" y="14314"/>
                  <a:pt x="69" y="14292"/>
                </a:cubicBezTo>
                <a:cubicBezTo>
                  <a:pt x="54" y="14270"/>
                  <a:pt x="41" y="14246"/>
                  <a:pt x="31" y="14221"/>
                </a:cubicBezTo>
                <a:cubicBezTo>
                  <a:pt x="21" y="14196"/>
                  <a:pt x="13" y="14170"/>
                  <a:pt x="8" y="14144"/>
                </a:cubicBezTo>
                <a:cubicBezTo>
                  <a:pt x="2" y="14118"/>
                  <a:pt x="0" y="14091"/>
                  <a:pt x="0" y="14064"/>
                </a:cubicBezTo>
              </a:path>
            </a:pathLst>
          </a:custGeom>
          <a:ln w="9360">
            <a:solidFill>
              <a:srgbClr val="E0E0E0"/>
            </a:solidFill>
            <a:miter/>
          </a:ln>
        </p:spPr>
        <p:txBody>
          <a:bodyPr lIns="4680" tIns="4680" rIns="4680" bIns="4680" anchor="t">
            <a:noAutofit/>
          </a:bodyPr>
          <a:lstStyle/>
          <a:p>
            <a:endParaRPr lang="en-US" sz="2400" b="0" u="none" strike="noStrike">
              <a:solidFill>
                <a:srgbClr val="000000"/>
              </a:solidFill>
              <a:effectLst/>
              <a:uFillTx/>
              <a:latin typeface="Times New Roman"/>
            </a:endParaRPr>
          </a:p>
        </p:txBody>
      </p:sp>
      <p:sp>
        <p:nvSpPr>
          <p:cNvPr id="907" name="Forma libre: forma 906"/>
          <p:cNvSpPr/>
          <p:nvPr/>
        </p:nvSpPr>
        <p:spPr>
          <a:xfrm>
            <a:off x="2199960" y="3619440"/>
            <a:ext cx="7791840" cy="1676520"/>
          </a:xfrm>
          <a:custGeom>
            <a:avLst/>
            <a:gdLst/>
            <a:ahLst/>
            <a:cxnLst/>
            <a:rect l="0" t="0" r="r" b="b"/>
            <a:pathLst>
              <a:path w="21644" h="4657">
                <a:moveTo>
                  <a:pt x="0" y="4446"/>
                </a:moveTo>
                <a:lnTo>
                  <a:pt x="0" y="211"/>
                </a:lnTo>
                <a:cubicBezTo>
                  <a:pt x="0" y="197"/>
                  <a:pt x="2" y="184"/>
                  <a:pt x="4" y="170"/>
                </a:cubicBezTo>
                <a:cubicBezTo>
                  <a:pt x="7" y="156"/>
                  <a:pt x="11" y="143"/>
                  <a:pt x="16" y="130"/>
                </a:cubicBezTo>
                <a:cubicBezTo>
                  <a:pt x="22" y="117"/>
                  <a:pt x="28" y="105"/>
                  <a:pt x="36" y="94"/>
                </a:cubicBezTo>
                <a:cubicBezTo>
                  <a:pt x="44" y="82"/>
                  <a:pt x="53" y="71"/>
                  <a:pt x="62" y="62"/>
                </a:cubicBezTo>
                <a:cubicBezTo>
                  <a:pt x="72" y="52"/>
                  <a:pt x="83" y="43"/>
                  <a:pt x="94" y="35"/>
                </a:cubicBezTo>
                <a:cubicBezTo>
                  <a:pt x="106" y="28"/>
                  <a:pt x="118" y="21"/>
                  <a:pt x="131" y="16"/>
                </a:cubicBezTo>
                <a:cubicBezTo>
                  <a:pt x="144" y="10"/>
                  <a:pt x="157" y="6"/>
                  <a:pt x="171" y="4"/>
                </a:cubicBezTo>
                <a:cubicBezTo>
                  <a:pt x="184" y="1"/>
                  <a:pt x="198" y="0"/>
                  <a:pt x="212" y="0"/>
                </a:cubicBezTo>
                <a:lnTo>
                  <a:pt x="21433" y="0"/>
                </a:lnTo>
                <a:cubicBezTo>
                  <a:pt x="21447" y="0"/>
                  <a:pt x="21460" y="1"/>
                  <a:pt x="21474" y="4"/>
                </a:cubicBezTo>
                <a:cubicBezTo>
                  <a:pt x="21488" y="6"/>
                  <a:pt x="21501" y="10"/>
                  <a:pt x="21514" y="16"/>
                </a:cubicBezTo>
                <a:cubicBezTo>
                  <a:pt x="21526" y="21"/>
                  <a:pt x="21539" y="28"/>
                  <a:pt x="21550" y="35"/>
                </a:cubicBezTo>
                <a:cubicBezTo>
                  <a:pt x="21562" y="43"/>
                  <a:pt x="21572" y="52"/>
                  <a:pt x="21582" y="62"/>
                </a:cubicBezTo>
                <a:cubicBezTo>
                  <a:pt x="21592" y="71"/>
                  <a:pt x="21601" y="82"/>
                  <a:pt x="21609" y="94"/>
                </a:cubicBezTo>
                <a:cubicBezTo>
                  <a:pt x="21616" y="105"/>
                  <a:pt x="21623" y="117"/>
                  <a:pt x="21628" y="130"/>
                </a:cubicBezTo>
                <a:cubicBezTo>
                  <a:pt x="21633" y="143"/>
                  <a:pt x="21638" y="156"/>
                  <a:pt x="21640" y="170"/>
                </a:cubicBezTo>
                <a:cubicBezTo>
                  <a:pt x="21643" y="184"/>
                  <a:pt x="21644" y="197"/>
                  <a:pt x="21644" y="211"/>
                </a:cubicBezTo>
                <a:lnTo>
                  <a:pt x="21644" y="4446"/>
                </a:lnTo>
                <a:cubicBezTo>
                  <a:pt x="21644" y="4460"/>
                  <a:pt x="21643" y="4473"/>
                  <a:pt x="21640" y="4487"/>
                </a:cubicBezTo>
                <a:cubicBezTo>
                  <a:pt x="21638" y="4501"/>
                  <a:pt x="21633" y="4514"/>
                  <a:pt x="21628" y="4527"/>
                </a:cubicBezTo>
                <a:cubicBezTo>
                  <a:pt x="21623" y="4540"/>
                  <a:pt x="21616" y="4552"/>
                  <a:pt x="21609" y="4563"/>
                </a:cubicBezTo>
                <a:cubicBezTo>
                  <a:pt x="21601" y="4575"/>
                  <a:pt x="21592" y="4586"/>
                  <a:pt x="21582" y="4595"/>
                </a:cubicBezTo>
                <a:cubicBezTo>
                  <a:pt x="21572" y="4605"/>
                  <a:pt x="21562" y="4614"/>
                  <a:pt x="21550" y="4622"/>
                </a:cubicBezTo>
                <a:cubicBezTo>
                  <a:pt x="21539" y="4629"/>
                  <a:pt x="21526" y="4636"/>
                  <a:pt x="21514" y="4641"/>
                </a:cubicBezTo>
                <a:cubicBezTo>
                  <a:pt x="21501" y="4647"/>
                  <a:pt x="21488" y="4651"/>
                  <a:pt x="21474" y="4653"/>
                </a:cubicBezTo>
                <a:cubicBezTo>
                  <a:pt x="21460" y="4656"/>
                  <a:pt x="21447" y="4657"/>
                  <a:pt x="21433" y="4657"/>
                </a:cubicBezTo>
                <a:lnTo>
                  <a:pt x="212" y="4657"/>
                </a:lnTo>
                <a:cubicBezTo>
                  <a:pt x="198" y="4657"/>
                  <a:pt x="184" y="4656"/>
                  <a:pt x="171" y="4653"/>
                </a:cubicBezTo>
                <a:cubicBezTo>
                  <a:pt x="157" y="4651"/>
                  <a:pt x="144" y="4647"/>
                  <a:pt x="131" y="4641"/>
                </a:cubicBezTo>
                <a:cubicBezTo>
                  <a:pt x="118" y="4636"/>
                  <a:pt x="106" y="4629"/>
                  <a:pt x="94" y="4622"/>
                </a:cubicBezTo>
                <a:cubicBezTo>
                  <a:pt x="83" y="4614"/>
                  <a:pt x="72" y="4605"/>
                  <a:pt x="62" y="4595"/>
                </a:cubicBezTo>
                <a:cubicBezTo>
                  <a:pt x="53" y="4586"/>
                  <a:pt x="44" y="4575"/>
                  <a:pt x="36" y="4563"/>
                </a:cubicBezTo>
                <a:cubicBezTo>
                  <a:pt x="28" y="4552"/>
                  <a:pt x="22" y="4540"/>
                  <a:pt x="16" y="4527"/>
                </a:cubicBezTo>
                <a:cubicBezTo>
                  <a:pt x="11" y="4514"/>
                  <a:pt x="7" y="4501"/>
                  <a:pt x="4" y="4487"/>
                </a:cubicBezTo>
                <a:cubicBezTo>
                  <a:pt x="2" y="4473"/>
                  <a:pt x="0" y="4460"/>
                  <a:pt x="0" y="4446"/>
                </a:cubicBezTo>
                <a:close/>
              </a:path>
            </a:pathLst>
          </a:custGeom>
          <a:solidFill>
            <a:srgbClr val="FAF9F6"/>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08" name="Forma libre: forma 907"/>
          <p:cNvSpPr/>
          <p:nvPr/>
        </p:nvSpPr>
        <p:spPr>
          <a:xfrm>
            <a:off x="2199960" y="5600520"/>
            <a:ext cx="7791840" cy="9720"/>
          </a:xfrm>
          <a:custGeom>
            <a:avLst/>
            <a:gdLst/>
            <a:ahLst/>
            <a:cxnLst/>
            <a:rect l="0" t="0" r="r" b="b"/>
            <a:pathLst>
              <a:path w="21644" h="27">
                <a:moveTo>
                  <a:pt x="0" y="0"/>
                </a:moveTo>
                <a:lnTo>
                  <a:pt x="21644" y="0"/>
                </a:lnTo>
                <a:lnTo>
                  <a:pt x="21644"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09" name="Forma libre: forma 908"/>
          <p:cNvSpPr/>
          <p:nvPr/>
        </p:nvSpPr>
        <p:spPr>
          <a:xfrm>
            <a:off x="2199960" y="1590480"/>
            <a:ext cx="1905480" cy="381240"/>
          </a:xfrm>
          <a:custGeom>
            <a:avLst/>
            <a:gdLst/>
            <a:ahLst/>
            <a:cxnLst/>
            <a:rect l="0" t="0" r="r" b="b"/>
            <a:pathLst>
              <a:path w="5293" h="1059">
                <a:moveTo>
                  <a:pt x="0" y="530"/>
                </a:moveTo>
                <a:cubicBezTo>
                  <a:pt x="0" y="495"/>
                  <a:pt x="4" y="461"/>
                  <a:pt x="11" y="427"/>
                </a:cubicBezTo>
                <a:cubicBezTo>
                  <a:pt x="17" y="393"/>
                  <a:pt x="27" y="360"/>
                  <a:pt x="41" y="327"/>
                </a:cubicBezTo>
                <a:cubicBezTo>
                  <a:pt x="54" y="295"/>
                  <a:pt x="70" y="264"/>
                  <a:pt x="90" y="235"/>
                </a:cubicBezTo>
                <a:cubicBezTo>
                  <a:pt x="109" y="206"/>
                  <a:pt x="131" y="180"/>
                  <a:pt x="155" y="155"/>
                </a:cubicBezTo>
                <a:cubicBezTo>
                  <a:pt x="180" y="130"/>
                  <a:pt x="207" y="109"/>
                  <a:pt x="236" y="89"/>
                </a:cubicBezTo>
                <a:cubicBezTo>
                  <a:pt x="264" y="70"/>
                  <a:pt x="295" y="54"/>
                  <a:pt x="327" y="40"/>
                </a:cubicBezTo>
                <a:cubicBezTo>
                  <a:pt x="359" y="27"/>
                  <a:pt x="392" y="17"/>
                  <a:pt x="426" y="10"/>
                </a:cubicBezTo>
                <a:cubicBezTo>
                  <a:pt x="460" y="3"/>
                  <a:pt x="495" y="0"/>
                  <a:pt x="530" y="0"/>
                </a:cubicBezTo>
                <a:lnTo>
                  <a:pt x="4764" y="0"/>
                </a:lnTo>
                <a:cubicBezTo>
                  <a:pt x="4799" y="0"/>
                  <a:pt x="4833" y="3"/>
                  <a:pt x="4867" y="10"/>
                </a:cubicBezTo>
                <a:cubicBezTo>
                  <a:pt x="4901" y="17"/>
                  <a:pt x="4934" y="27"/>
                  <a:pt x="4966" y="40"/>
                </a:cubicBezTo>
                <a:cubicBezTo>
                  <a:pt x="4998" y="54"/>
                  <a:pt x="5029" y="70"/>
                  <a:pt x="5058" y="89"/>
                </a:cubicBezTo>
                <a:cubicBezTo>
                  <a:pt x="5087" y="109"/>
                  <a:pt x="5113" y="130"/>
                  <a:pt x="5138" y="155"/>
                </a:cubicBezTo>
                <a:cubicBezTo>
                  <a:pt x="5163" y="180"/>
                  <a:pt x="5185" y="206"/>
                  <a:pt x="5204" y="235"/>
                </a:cubicBezTo>
                <a:cubicBezTo>
                  <a:pt x="5223" y="264"/>
                  <a:pt x="5239" y="295"/>
                  <a:pt x="5253" y="327"/>
                </a:cubicBezTo>
                <a:cubicBezTo>
                  <a:pt x="5266" y="360"/>
                  <a:pt x="5276" y="393"/>
                  <a:pt x="5283" y="427"/>
                </a:cubicBezTo>
                <a:cubicBezTo>
                  <a:pt x="5290" y="461"/>
                  <a:pt x="5293" y="495"/>
                  <a:pt x="5293" y="530"/>
                </a:cubicBezTo>
                <a:cubicBezTo>
                  <a:pt x="5293" y="565"/>
                  <a:pt x="5290" y="599"/>
                  <a:pt x="5283" y="633"/>
                </a:cubicBezTo>
                <a:cubicBezTo>
                  <a:pt x="5276" y="668"/>
                  <a:pt x="5266" y="701"/>
                  <a:pt x="5253" y="733"/>
                </a:cubicBezTo>
                <a:cubicBezTo>
                  <a:pt x="5239" y="765"/>
                  <a:pt x="5223" y="795"/>
                  <a:pt x="5204" y="824"/>
                </a:cubicBezTo>
                <a:cubicBezTo>
                  <a:pt x="5185" y="853"/>
                  <a:pt x="5163" y="880"/>
                  <a:pt x="5138" y="904"/>
                </a:cubicBezTo>
                <a:cubicBezTo>
                  <a:pt x="5113" y="929"/>
                  <a:pt x="5087" y="951"/>
                  <a:pt x="5058" y="970"/>
                </a:cubicBezTo>
                <a:cubicBezTo>
                  <a:pt x="5029" y="989"/>
                  <a:pt x="4998" y="1006"/>
                  <a:pt x="4966" y="1019"/>
                </a:cubicBezTo>
                <a:cubicBezTo>
                  <a:pt x="4934" y="1032"/>
                  <a:pt x="4901" y="1042"/>
                  <a:pt x="4867" y="1049"/>
                </a:cubicBezTo>
                <a:cubicBezTo>
                  <a:pt x="4833" y="1056"/>
                  <a:pt x="4799" y="1059"/>
                  <a:pt x="4764" y="1059"/>
                </a:cubicBezTo>
                <a:lnTo>
                  <a:pt x="530" y="1059"/>
                </a:lnTo>
                <a:cubicBezTo>
                  <a:pt x="495" y="1059"/>
                  <a:pt x="460" y="1056"/>
                  <a:pt x="426" y="1049"/>
                </a:cubicBezTo>
                <a:cubicBezTo>
                  <a:pt x="392" y="1042"/>
                  <a:pt x="359" y="1032"/>
                  <a:pt x="327" y="1019"/>
                </a:cubicBezTo>
                <a:cubicBezTo>
                  <a:pt x="295" y="1006"/>
                  <a:pt x="264" y="989"/>
                  <a:pt x="236" y="970"/>
                </a:cubicBezTo>
                <a:cubicBezTo>
                  <a:pt x="207" y="951"/>
                  <a:pt x="180" y="929"/>
                  <a:pt x="155" y="904"/>
                </a:cubicBezTo>
                <a:cubicBezTo>
                  <a:pt x="131" y="880"/>
                  <a:pt x="109" y="853"/>
                  <a:pt x="90" y="824"/>
                </a:cubicBezTo>
                <a:cubicBezTo>
                  <a:pt x="70" y="795"/>
                  <a:pt x="54" y="765"/>
                  <a:pt x="41" y="733"/>
                </a:cubicBezTo>
                <a:cubicBezTo>
                  <a:pt x="27" y="701"/>
                  <a:pt x="17" y="668"/>
                  <a:pt x="11" y="633"/>
                </a:cubicBezTo>
                <a:cubicBezTo>
                  <a:pt x="4" y="599"/>
                  <a:pt x="0" y="565"/>
                  <a:pt x="0" y="530"/>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10" name="CuadroTexto 909"/>
          <p:cNvSpPr txBox="1"/>
          <p:nvPr/>
        </p:nvSpPr>
        <p:spPr>
          <a:xfrm>
            <a:off x="571320" y="569160"/>
            <a:ext cx="518112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Ciclo DO WHILE - Ejercicio propuesto</a:t>
            </a:r>
            <a:endParaRPr lang="en-US" sz="2700" b="0" u="none" strike="noStrike">
              <a:solidFill>
                <a:srgbClr val="000000"/>
              </a:solidFill>
              <a:effectLst/>
              <a:uFillTx/>
              <a:latin typeface="Times New Roman"/>
            </a:endParaRPr>
          </a:p>
        </p:txBody>
      </p:sp>
      <p:sp>
        <p:nvSpPr>
          <p:cNvPr id="911" name="CuadroTexto 910"/>
          <p:cNvSpPr txBox="1"/>
          <p:nvPr/>
        </p:nvSpPr>
        <p:spPr>
          <a:xfrm>
            <a:off x="2352600" y="1692360"/>
            <a:ext cx="1476720" cy="169560"/>
          </a:xfrm>
          <a:prstGeom prst="rect">
            <a:avLst/>
          </a:prstGeom>
          <a:noFill/>
          <a:ln w="0">
            <a:noFill/>
          </a:ln>
        </p:spPr>
        <p:txBody>
          <a:bodyPr wrap="none" lIns="0" tIns="0" rIns="0" bIns="0" anchor="t">
            <a:spAutoFit/>
          </a:bodyPr>
          <a:lstStyle/>
          <a:p>
            <a:r>
              <a:rPr lang="en-US" sz="1200" b="0" u="none" strike="noStrike">
                <a:solidFill>
                  <a:srgbClr val="DA7756"/>
                </a:solidFill>
                <a:effectLst/>
                <a:uFillTx/>
                <a:latin typeface="CrimsonPro"/>
                <a:ea typeface="CrimsonPro"/>
              </a:rPr>
              <a:t>EJERCICIO PROPUESTO</a:t>
            </a:r>
            <a:endParaRPr lang="en-US" sz="1200" b="0" u="none" strike="noStrike">
              <a:solidFill>
                <a:srgbClr val="000000"/>
              </a:solidFill>
              <a:effectLst/>
              <a:uFillTx/>
              <a:latin typeface="Times New Roman"/>
            </a:endParaRPr>
          </a:p>
        </p:txBody>
      </p:sp>
      <p:sp>
        <p:nvSpPr>
          <p:cNvPr id="912" name="CuadroTexto 911"/>
          <p:cNvSpPr txBox="1"/>
          <p:nvPr/>
        </p:nvSpPr>
        <p:spPr>
          <a:xfrm>
            <a:off x="2200320" y="2211120"/>
            <a:ext cx="4112640" cy="318960"/>
          </a:xfrm>
          <a:prstGeom prst="rect">
            <a:avLst/>
          </a:prstGeom>
          <a:noFill/>
          <a:ln w="0">
            <a:noFill/>
          </a:ln>
        </p:spPr>
        <p:txBody>
          <a:bodyPr wrap="none" lIns="0" tIns="0" rIns="0" bIns="0" anchor="t">
            <a:spAutoFit/>
          </a:bodyPr>
          <a:lstStyle/>
          <a:p>
            <a:r>
              <a:rPr lang="en-US" sz="2250" b="0" u="none" strike="noStrike">
                <a:solidFill>
                  <a:srgbClr val="DA7756"/>
                </a:solidFill>
                <a:effectLst/>
                <a:uFillTx/>
                <a:latin typeface="CrimsonPro"/>
                <a:ea typeface="CrimsonPro"/>
              </a:rPr>
              <a:t>Tabla de Multiplicar con DO WHILE</a:t>
            </a:r>
            <a:endParaRPr lang="en-US" sz="2250" b="0" u="none" strike="noStrike">
              <a:solidFill>
                <a:srgbClr val="000000"/>
              </a:solidFill>
              <a:effectLst/>
              <a:uFillTx/>
              <a:latin typeface="Times New Roman"/>
            </a:endParaRPr>
          </a:p>
        </p:txBody>
      </p:sp>
      <p:sp>
        <p:nvSpPr>
          <p:cNvPr id="913" name="CuadroTexto 912"/>
          <p:cNvSpPr txBox="1"/>
          <p:nvPr/>
        </p:nvSpPr>
        <p:spPr>
          <a:xfrm>
            <a:off x="2200320" y="2820240"/>
            <a:ext cx="770796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Crear un programa que al proporcionar un valor muestre la tabla de multiplicar hasta el 10 con el ciclo</a:t>
            </a:r>
            <a:endParaRPr lang="en-US" sz="1500" b="0" u="none" strike="noStrike">
              <a:solidFill>
                <a:srgbClr val="000000"/>
              </a:solidFill>
              <a:effectLst/>
              <a:uFillTx/>
              <a:latin typeface="Times New Roman"/>
            </a:endParaRPr>
          </a:p>
        </p:txBody>
      </p:sp>
      <p:sp>
        <p:nvSpPr>
          <p:cNvPr id="914" name="CuadroTexto 913"/>
          <p:cNvSpPr txBox="1"/>
          <p:nvPr/>
        </p:nvSpPr>
        <p:spPr>
          <a:xfrm>
            <a:off x="2200320" y="3134520"/>
            <a:ext cx="890640" cy="212040"/>
          </a:xfrm>
          <a:prstGeom prst="rect">
            <a:avLst/>
          </a:prstGeom>
          <a:noFill/>
          <a:ln w="0">
            <a:noFill/>
          </a:ln>
        </p:spPr>
        <p:txBody>
          <a:bodyPr wrap="none" lIns="0" tIns="0" rIns="0" bIns="0" anchor="t">
            <a:spAutoFit/>
          </a:bodyPr>
          <a:lstStyle/>
          <a:p>
            <a:r>
              <a:rPr lang="en-US" sz="1500" b="0" u="none" strike="noStrike">
                <a:solidFill>
                  <a:srgbClr val="000000"/>
                </a:solidFill>
                <a:effectLst/>
                <a:uFillTx/>
                <a:latin typeface="CrimsonPro"/>
                <a:ea typeface="CrimsonPro"/>
              </a:rPr>
              <a:t>DO WHILE.</a:t>
            </a:r>
            <a:endParaRPr lang="en-US" sz="1500" b="0" u="none" strike="noStrike">
              <a:solidFill>
                <a:srgbClr val="000000"/>
              </a:solidFill>
              <a:effectLst/>
              <a:uFillTx/>
              <a:latin typeface="Times New Roman"/>
            </a:endParaRPr>
          </a:p>
        </p:txBody>
      </p:sp>
      <p:sp>
        <p:nvSpPr>
          <p:cNvPr id="915" name="CuadroTexto 914"/>
          <p:cNvSpPr txBox="1"/>
          <p:nvPr/>
        </p:nvSpPr>
        <p:spPr>
          <a:xfrm>
            <a:off x="2428920" y="3885120"/>
            <a:ext cx="962640" cy="189360"/>
          </a:xfrm>
          <a:prstGeom prst="rect">
            <a:avLst/>
          </a:prstGeom>
          <a:noFill/>
          <a:ln w="0">
            <a:noFill/>
          </a:ln>
        </p:spPr>
        <p:txBody>
          <a:bodyPr wrap="none" lIns="0" tIns="0" rIns="0" bIns="0" anchor="t">
            <a:spAutoFit/>
          </a:bodyPr>
          <a:lstStyle/>
          <a:p>
            <a:r>
              <a:rPr lang="en-US" sz="1350" b="0" u="none" strike="noStrike">
                <a:solidFill>
                  <a:srgbClr val="000000"/>
                </a:solidFill>
                <a:effectLst/>
                <a:uFillTx/>
                <a:latin typeface="CrimsonPro"/>
                <a:ea typeface="CrimsonPro"/>
              </a:rPr>
              <a:t>Instrucciones:</a:t>
            </a:r>
            <a:endParaRPr lang="en-US" sz="1350" b="0" u="none" strike="noStrike">
              <a:solidFill>
                <a:srgbClr val="000000"/>
              </a:solidFill>
              <a:effectLst/>
              <a:uFillTx/>
              <a:latin typeface="Times New Roman"/>
            </a:endParaRPr>
          </a:p>
        </p:txBody>
      </p:sp>
      <p:sp>
        <p:nvSpPr>
          <p:cNvPr id="916" name="CuadroTexto 915"/>
          <p:cNvSpPr txBox="1"/>
          <p:nvPr/>
        </p:nvSpPr>
        <p:spPr>
          <a:xfrm>
            <a:off x="2428920" y="4254480"/>
            <a:ext cx="151920" cy="169560"/>
          </a:xfrm>
          <a:prstGeom prst="rect">
            <a:avLst/>
          </a:prstGeom>
          <a:noFill/>
          <a:ln w="0">
            <a:noFill/>
          </a:ln>
        </p:spPr>
        <p:txBody>
          <a:bodyPr wrap="none" lIns="0" tIns="0" rIns="0" bIns="0" anchor="t">
            <a:spAutoFit/>
          </a:bodyPr>
          <a:lstStyle/>
          <a:p>
            <a:r>
              <a:rPr lang="en-US" sz="1200" b="0" u="none" strike="noStrike">
                <a:solidFill>
                  <a:srgbClr val="DA7756"/>
                </a:solidFill>
                <a:effectLst/>
                <a:uFillTx/>
                <a:latin typeface="CrimsonPro"/>
                <a:ea typeface="CrimsonPro"/>
              </a:rPr>
              <a:t>•</a:t>
            </a:r>
            <a:endParaRPr lang="en-US" sz="1200" b="0" u="none" strike="noStrike">
              <a:solidFill>
                <a:srgbClr val="000000"/>
              </a:solidFill>
              <a:effectLst/>
              <a:uFillTx/>
              <a:latin typeface="Times New Roman"/>
            </a:endParaRPr>
          </a:p>
        </p:txBody>
      </p:sp>
      <p:sp>
        <p:nvSpPr>
          <p:cNvPr id="917" name="CuadroTexto 916"/>
          <p:cNvSpPr txBox="1"/>
          <p:nvPr/>
        </p:nvSpPr>
        <p:spPr>
          <a:xfrm>
            <a:off x="2605680" y="4254480"/>
            <a:ext cx="292752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El programa debe solicitar un número al usuario</a:t>
            </a:r>
            <a:endParaRPr lang="en-US" sz="1200" b="0" u="none" strike="noStrike">
              <a:solidFill>
                <a:srgbClr val="000000"/>
              </a:solidFill>
              <a:effectLst/>
              <a:uFillTx/>
              <a:latin typeface="Times New Roman"/>
            </a:endParaRPr>
          </a:p>
        </p:txBody>
      </p:sp>
      <p:sp>
        <p:nvSpPr>
          <p:cNvPr id="918" name="CuadroTexto 917"/>
          <p:cNvSpPr txBox="1"/>
          <p:nvPr/>
        </p:nvSpPr>
        <p:spPr>
          <a:xfrm>
            <a:off x="2428920" y="4559400"/>
            <a:ext cx="151920" cy="169560"/>
          </a:xfrm>
          <a:prstGeom prst="rect">
            <a:avLst/>
          </a:prstGeom>
          <a:noFill/>
          <a:ln w="0">
            <a:noFill/>
          </a:ln>
        </p:spPr>
        <p:txBody>
          <a:bodyPr wrap="none" lIns="0" tIns="0" rIns="0" bIns="0" anchor="t">
            <a:spAutoFit/>
          </a:bodyPr>
          <a:lstStyle/>
          <a:p>
            <a:r>
              <a:rPr lang="en-US" sz="1200" b="0" u="none" strike="noStrike">
                <a:solidFill>
                  <a:srgbClr val="DA7756"/>
                </a:solidFill>
                <a:effectLst/>
                <a:uFillTx/>
                <a:latin typeface="CrimsonPro"/>
                <a:ea typeface="CrimsonPro"/>
              </a:rPr>
              <a:t>•</a:t>
            </a:r>
            <a:endParaRPr lang="en-US" sz="1200" b="0" u="none" strike="noStrike">
              <a:solidFill>
                <a:srgbClr val="000000"/>
              </a:solidFill>
              <a:effectLst/>
              <a:uFillTx/>
              <a:latin typeface="Times New Roman"/>
            </a:endParaRPr>
          </a:p>
        </p:txBody>
      </p:sp>
      <p:sp>
        <p:nvSpPr>
          <p:cNvPr id="919" name="CuadroTexto 918"/>
          <p:cNvSpPr txBox="1"/>
          <p:nvPr/>
        </p:nvSpPr>
        <p:spPr>
          <a:xfrm>
            <a:off x="2605680" y="4559400"/>
            <a:ext cx="288936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Utilizar el ciclo DO WHILE para generar la tabla</a:t>
            </a:r>
            <a:endParaRPr lang="en-US" sz="1200" b="0" u="none" strike="noStrike">
              <a:solidFill>
                <a:srgbClr val="000000"/>
              </a:solidFill>
              <a:effectLst/>
              <a:uFillTx/>
              <a:latin typeface="Times New Roman"/>
            </a:endParaRPr>
          </a:p>
        </p:txBody>
      </p:sp>
      <p:sp>
        <p:nvSpPr>
          <p:cNvPr id="920" name="CuadroTexto 919"/>
          <p:cNvSpPr txBox="1"/>
          <p:nvPr/>
        </p:nvSpPr>
        <p:spPr>
          <a:xfrm>
            <a:off x="2428920" y="4863960"/>
            <a:ext cx="151920" cy="169560"/>
          </a:xfrm>
          <a:prstGeom prst="rect">
            <a:avLst/>
          </a:prstGeom>
          <a:noFill/>
          <a:ln w="0">
            <a:noFill/>
          </a:ln>
        </p:spPr>
        <p:txBody>
          <a:bodyPr wrap="none" lIns="0" tIns="0" rIns="0" bIns="0" anchor="t">
            <a:spAutoFit/>
          </a:bodyPr>
          <a:lstStyle/>
          <a:p>
            <a:r>
              <a:rPr lang="en-US" sz="1200" b="0" u="none" strike="noStrike">
                <a:solidFill>
                  <a:srgbClr val="DA7756"/>
                </a:solidFill>
                <a:effectLst/>
                <a:uFillTx/>
                <a:latin typeface="CrimsonPro"/>
                <a:ea typeface="CrimsonPro"/>
              </a:rPr>
              <a:t>•</a:t>
            </a:r>
            <a:endParaRPr lang="en-US" sz="1200" b="0" u="none" strike="noStrike">
              <a:solidFill>
                <a:srgbClr val="000000"/>
              </a:solidFill>
              <a:effectLst/>
              <a:uFillTx/>
              <a:latin typeface="Times New Roman"/>
            </a:endParaRPr>
          </a:p>
        </p:txBody>
      </p:sp>
      <p:sp>
        <p:nvSpPr>
          <p:cNvPr id="921" name="CuadroTexto 920"/>
          <p:cNvSpPr txBox="1"/>
          <p:nvPr/>
        </p:nvSpPr>
        <p:spPr>
          <a:xfrm>
            <a:off x="2605680" y="4863960"/>
            <a:ext cx="23522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Mostrar los resultados desde 1 hasta 10</a:t>
            </a:r>
            <a:endParaRPr lang="en-US" sz="1200" b="0" u="none" strike="noStrike">
              <a:solidFill>
                <a:srgbClr val="000000"/>
              </a:solidFill>
              <a:effectLst/>
              <a:uFillTx/>
              <a:latin typeface="Times New Roman"/>
            </a:endParaRPr>
          </a:p>
        </p:txBody>
      </p:sp>
      <p:sp>
        <p:nvSpPr>
          <p:cNvPr id="922" name="Forma libre: forma 921"/>
          <p:cNvSpPr/>
          <p:nvPr/>
        </p:nvSpPr>
        <p:spPr>
          <a:xfrm>
            <a:off x="571320" y="649584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23" name="CuadroTexto 922"/>
          <p:cNvSpPr txBox="1"/>
          <p:nvPr/>
        </p:nvSpPr>
        <p:spPr>
          <a:xfrm>
            <a:off x="2200320" y="5862240"/>
            <a:ext cx="191520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campusmvp.es</a:t>
            </a:r>
            <a:endParaRPr lang="en-US" sz="1050" b="0" u="none" strike="noStrike">
              <a:solidFill>
                <a:srgbClr val="000000"/>
              </a:solidFill>
              <a:effectLst/>
              <a:uFillTx/>
              <a:latin typeface="Times New Roman"/>
            </a:endParaRPr>
          </a:p>
        </p:txBody>
      </p:sp>
      <p:sp>
        <p:nvSpPr>
          <p:cNvPr id="924" name="CuadroTexto 923"/>
          <p:cNvSpPr txBox="1"/>
          <p:nvPr/>
        </p:nvSpPr>
        <p:spPr>
          <a:xfrm>
            <a:off x="571320" y="668340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925" name="CuadroTexto 924"/>
          <p:cNvSpPr txBox="1"/>
          <p:nvPr/>
        </p:nvSpPr>
        <p:spPr>
          <a:xfrm>
            <a:off x="11456640" y="6683400"/>
            <a:ext cx="16488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40</a:t>
            </a:r>
            <a:endParaRPr lang="en-US" sz="1200" b="0" u="none" strike="noStrike">
              <a:solidFill>
                <a:srgbClr val="000000"/>
              </a:solidFill>
              <a:effectLst/>
              <a:uFillTx/>
              <a:latin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 name="Forma libre: forma 927"/>
          <p:cNvSpPr/>
          <p:nvPr/>
        </p:nvSpPr>
        <p:spPr>
          <a:xfrm>
            <a:off x="571320" y="102852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929" name="CuadroTexto 928"/>
          <p:cNvSpPr txBox="1"/>
          <p:nvPr/>
        </p:nvSpPr>
        <p:spPr>
          <a:xfrm>
            <a:off x="571320" y="582120"/>
            <a:ext cx="4081320" cy="318960"/>
          </a:xfrm>
          <a:prstGeom prst="rect">
            <a:avLst/>
          </a:prstGeom>
          <a:noFill/>
          <a:ln w="0">
            <a:noFill/>
          </a:ln>
        </p:spPr>
        <p:txBody>
          <a:bodyPr wrap="none" lIns="0" tIns="0" rIns="0" bIns="0" anchor="t">
            <a:spAutoFit/>
          </a:bodyPr>
          <a:lstStyle/>
          <a:p>
            <a:r>
              <a:rPr lang="en-US" sz="2250" b="0" u="none" strike="noStrike">
                <a:solidFill>
                  <a:srgbClr val="000000"/>
                </a:solidFill>
                <a:effectLst/>
                <a:uFillTx/>
                <a:latin typeface="CrimsonPro"/>
                <a:ea typeface="CrimsonPro"/>
              </a:rPr>
              <a:t>Paquetes en Java - package e import</a:t>
            </a:r>
            <a:endParaRPr lang="en-US" sz="2250" b="0" u="none" strike="noStrike">
              <a:solidFill>
                <a:srgbClr val="000000"/>
              </a:solidFill>
              <a:effectLst/>
              <a:uFillTx/>
              <a:latin typeface="Times New Roman"/>
            </a:endParaRPr>
          </a:p>
        </p:txBody>
      </p:sp>
      <p:sp>
        <p:nvSpPr>
          <p:cNvPr id="930" name="CuadroTexto 929"/>
          <p:cNvSpPr txBox="1"/>
          <p:nvPr/>
        </p:nvSpPr>
        <p:spPr>
          <a:xfrm>
            <a:off x="571320" y="1857960"/>
            <a:ext cx="1645200" cy="212040"/>
          </a:xfrm>
          <a:prstGeom prst="rect">
            <a:avLst/>
          </a:prstGeom>
          <a:noFill/>
          <a:ln w="0">
            <a:noFill/>
          </a:ln>
        </p:spPr>
        <p:txBody>
          <a:bodyPr wrap="none" lIns="0" tIns="0" rIns="0" bIns="0" anchor="t">
            <a:spAutoFit/>
          </a:bodyPr>
          <a:lstStyle/>
          <a:p>
            <a:r>
              <a:rPr lang="en-US" sz="1500" b="0" u="none" strike="noStrike">
                <a:solidFill>
                  <a:srgbClr val="DA7756"/>
                </a:solidFill>
                <a:effectLst/>
                <a:uFillTx/>
                <a:latin typeface="CrimsonPro"/>
                <a:ea typeface="CrimsonPro"/>
              </a:rPr>
              <a:t>Convenciones de Java</a:t>
            </a:r>
            <a:endParaRPr lang="en-US" sz="1500" b="0" u="none" strike="noStrike">
              <a:solidFill>
                <a:srgbClr val="000000"/>
              </a:solidFill>
              <a:effectLst/>
              <a:uFillTx/>
              <a:latin typeface="Times New Roman"/>
            </a:endParaRPr>
          </a:p>
        </p:txBody>
      </p:sp>
      <p:sp>
        <p:nvSpPr>
          <p:cNvPr id="931" name="CuadroTexto 930"/>
          <p:cNvSpPr txBox="1"/>
          <p:nvPr/>
        </p:nvSpPr>
        <p:spPr>
          <a:xfrm>
            <a:off x="571320" y="2244600"/>
            <a:ext cx="40824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Las convenciones del lenguaje Java recomiendan el uso de </a:t>
            </a:r>
            <a:r>
              <a:rPr lang="en-US" sz="1200" b="0" u="none" strike="noStrike">
                <a:solidFill>
                  <a:srgbClr val="000000"/>
                </a:solidFill>
                <a:effectLst/>
                <a:uFillTx/>
                <a:latin typeface="CrimsonPro"/>
                <a:ea typeface="CrimsonPro"/>
              </a:rPr>
              <a:t>paquetes</a:t>
            </a:r>
            <a:endParaRPr lang="en-US" sz="1200" b="0" u="none" strike="noStrike">
              <a:solidFill>
                <a:srgbClr val="000000"/>
              </a:solidFill>
              <a:effectLst/>
              <a:uFillTx/>
              <a:latin typeface="Times New Roman"/>
            </a:endParaRPr>
          </a:p>
        </p:txBody>
      </p:sp>
      <p:sp>
        <p:nvSpPr>
          <p:cNvPr id="932" name="CuadroTexto 931"/>
          <p:cNvSpPr txBox="1"/>
          <p:nvPr/>
        </p:nvSpPr>
        <p:spPr>
          <a:xfrm>
            <a:off x="571320" y="2492280"/>
            <a:ext cx="4271040" cy="169560"/>
          </a:xfrm>
          <a:prstGeom prst="rect">
            <a:avLst/>
          </a:prstGeom>
          <a:noFill/>
          <a:ln w="0">
            <a:noFill/>
          </a:ln>
        </p:spPr>
        <p:txBody>
          <a:bodyPr wrap="none" lIns="0" tIns="0" rIns="0" bIns="0" anchor="t">
            <a:spAutoFit/>
          </a:bodyPr>
          <a:lstStyle/>
          <a:p>
            <a:r>
              <a:rPr lang="en-US" sz="1200" b="0" u="none" strike="noStrike">
                <a:solidFill>
                  <a:srgbClr val="000000"/>
                </a:solidFill>
                <a:effectLst/>
                <a:uFillTx/>
                <a:latin typeface="CrimsonPro"/>
                <a:ea typeface="CrimsonPro"/>
              </a:rPr>
              <a:t>(packages)</a:t>
            </a:r>
            <a:r>
              <a:rPr lang="en-US" sz="1200" b="0" u="none" strike="noStrike">
                <a:solidFill>
                  <a:srgbClr val="666666"/>
                </a:solidFill>
                <a:effectLst/>
                <a:uFillTx/>
                <a:latin typeface="CrimsonPro"/>
                <a:ea typeface="CrimsonPro"/>
              </a:rPr>
              <a:t> para la agrupación y organización de las clases, interfaces y</a:t>
            </a:r>
            <a:endParaRPr lang="en-US" sz="1200" b="0" u="none" strike="noStrike">
              <a:solidFill>
                <a:srgbClr val="000000"/>
              </a:solidFill>
              <a:effectLst/>
              <a:uFillTx/>
              <a:latin typeface="Times New Roman"/>
            </a:endParaRPr>
          </a:p>
        </p:txBody>
      </p:sp>
      <p:sp>
        <p:nvSpPr>
          <p:cNvPr id="933" name="CuadroTexto 932"/>
          <p:cNvSpPr txBox="1"/>
          <p:nvPr/>
        </p:nvSpPr>
        <p:spPr>
          <a:xfrm>
            <a:off x="571320" y="2739960"/>
            <a:ext cx="7718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anotaciones.</a:t>
            </a:r>
            <a:endParaRPr lang="en-US" sz="1200" b="0" u="none" strike="noStrike">
              <a:solidFill>
                <a:srgbClr val="000000"/>
              </a:solidFill>
              <a:effectLst/>
              <a:uFillTx/>
              <a:latin typeface="Times New Roman"/>
            </a:endParaRPr>
          </a:p>
        </p:txBody>
      </p:sp>
      <p:sp>
        <p:nvSpPr>
          <p:cNvPr id="934" name="CuadroTexto 933"/>
          <p:cNvSpPr txBox="1"/>
          <p:nvPr/>
        </p:nvSpPr>
        <p:spPr>
          <a:xfrm>
            <a:off x="571320" y="3172680"/>
            <a:ext cx="1617840" cy="212040"/>
          </a:xfrm>
          <a:prstGeom prst="rect">
            <a:avLst/>
          </a:prstGeom>
          <a:noFill/>
          <a:ln w="0">
            <a:noFill/>
          </a:ln>
        </p:spPr>
        <p:txBody>
          <a:bodyPr wrap="none" lIns="0" tIns="0" rIns="0" bIns="0" anchor="t">
            <a:spAutoFit/>
          </a:bodyPr>
          <a:lstStyle/>
          <a:p>
            <a:r>
              <a:rPr lang="en-US" sz="1500" b="0" u="none" strike="noStrike">
                <a:solidFill>
                  <a:srgbClr val="DA7756"/>
                </a:solidFill>
                <a:effectLst/>
                <a:uFillTx/>
                <a:latin typeface="CrimsonPro"/>
                <a:ea typeface="CrimsonPro"/>
              </a:rPr>
              <a:t>Espacios de Nombres</a:t>
            </a:r>
            <a:endParaRPr lang="en-US" sz="1500" b="0" u="none" strike="noStrike">
              <a:solidFill>
                <a:srgbClr val="000000"/>
              </a:solidFill>
              <a:effectLst/>
              <a:uFillTx/>
              <a:latin typeface="Times New Roman"/>
            </a:endParaRPr>
          </a:p>
        </p:txBody>
      </p:sp>
      <p:sp>
        <p:nvSpPr>
          <p:cNvPr id="935" name="CuadroTexto 934"/>
          <p:cNvSpPr txBox="1"/>
          <p:nvPr/>
        </p:nvSpPr>
        <p:spPr>
          <a:xfrm>
            <a:off x="571320" y="3559320"/>
            <a:ext cx="422568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Estas divisiones se conocen como </a:t>
            </a:r>
            <a:r>
              <a:rPr lang="en-US" sz="1200" b="0" u="none" strike="noStrike">
                <a:solidFill>
                  <a:srgbClr val="000000"/>
                </a:solidFill>
                <a:effectLst/>
                <a:uFillTx/>
                <a:latin typeface="CrimsonPro"/>
                <a:ea typeface="CrimsonPro"/>
              </a:rPr>
              <a:t>espacios de nombres (namespaces)</a:t>
            </a:r>
            <a:r>
              <a:rPr lang="en-US" sz="1200" b="0" u="none" strike="noStrike">
                <a:solidFill>
                  <a:srgbClr val="666666"/>
                </a:solidFill>
                <a:effectLst/>
                <a:uFillTx/>
                <a:latin typeface="CrimsonPro"/>
                <a:ea typeface="CrimsonPro"/>
              </a:rPr>
              <a:t>,</a:t>
            </a:r>
            <a:endParaRPr lang="en-US" sz="1200" b="0" u="none" strike="noStrike">
              <a:solidFill>
                <a:srgbClr val="000000"/>
              </a:solidFill>
              <a:effectLst/>
              <a:uFillTx/>
              <a:latin typeface="Times New Roman"/>
            </a:endParaRPr>
          </a:p>
        </p:txBody>
      </p:sp>
      <p:sp>
        <p:nvSpPr>
          <p:cNvPr id="936" name="CuadroTexto 935"/>
          <p:cNvSpPr txBox="1"/>
          <p:nvPr/>
        </p:nvSpPr>
        <p:spPr>
          <a:xfrm>
            <a:off x="571320" y="3806640"/>
            <a:ext cx="433800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permitiendo una mejor estructura y evitando conflictos entre clases con</a:t>
            </a:r>
            <a:endParaRPr lang="en-US" sz="1200" b="0" u="none" strike="noStrike">
              <a:solidFill>
                <a:srgbClr val="000000"/>
              </a:solidFill>
              <a:effectLst/>
              <a:uFillTx/>
              <a:latin typeface="Times New Roman"/>
            </a:endParaRPr>
          </a:p>
        </p:txBody>
      </p:sp>
      <p:sp>
        <p:nvSpPr>
          <p:cNvPr id="937" name="Forma libre: forma 936"/>
          <p:cNvSpPr/>
          <p:nvPr/>
        </p:nvSpPr>
        <p:spPr>
          <a:xfrm>
            <a:off x="571320" y="4457520"/>
            <a:ext cx="4420080" cy="733680"/>
          </a:xfrm>
          <a:custGeom>
            <a:avLst/>
            <a:gdLst/>
            <a:ahLst/>
            <a:cxnLst/>
            <a:rect l="0" t="0" r="r" b="b"/>
            <a:pathLst>
              <a:path w="12278" h="2038">
                <a:moveTo>
                  <a:pt x="0" y="1827"/>
                </a:moveTo>
                <a:lnTo>
                  <a:pt x="0" y="212"/>
                </a:lnTo>
                <a:cubicBezTo>
                  <a:pt x="0" y="198"/>
                  <a:pt x="1" y="184"/>
                  <a:pt x="4" y="170"/>
                </a:cubicBezTo>
                <a:cubicBezTo>
                  <a:pt x="7" y="157"/>
                  <a:pt x="11" y="144"/>
                  <a:pt x="16" y="131"/>
                </a:cubicBezTo>
                <a:cubicBezTo>
                  <a:pt x="21" y="118"/>
                  <a:pt x="28" y="106"/>
                  <a:pt x="36" y="94"/>
                </a:cubicBezTo>
                <a:cubicBezTo>
                  <a:pt x="43" y="83"/>
                  <a:pt x="52" y="72"/>
                  <a:pt x="62" y="62"/>
                </a:cubicBezTo>
                <a:cubicBezTo>
                  <a:pt x="72" y="52"/>
                  <a:pt x="83" y="43"/>
                  <a:pt x="94" y="36"/>
                </a:cubicBezTo>
                <a:cubicBezTo>
                  <a:pt x="106" y="28"/>
                  <a:pt x="118" y="21"/>
                  <a:pt x="131" y="16"/>
                </a:cubicBezTo>
                <a:cubicBezTo>
                  <a:pt x="144" y="11"/>
                  <a:pt x="157" y="7"/>
                  <a:pt x="170" y="4"/>
                </a:cubicBezTo>
                <a:cubicBezTo>
                  <a:pt x="184" y="1"/>
                  <a:pt x="198" y="0"/>
                  <a:pt x="212" y="0"/>
                </a:cubicBezTo>
                <a:lnTo>
                  <a:pt x="12066" y="0"/>
                </a:lnTo>
                <a:cubicBezTo>
                  <a:pt x="12080" y="0"/>
                  <a:pt x="12094" y="1"/>
                  <a:pt x="12107" y="4"/>
                </a:cubicBezTo>
                <a:cubicBezTo>
                  <a:pt x="12121" y="7"/>
                  <a:pt x="12134" y="11"/>
                  <a:pt x="12147" y="16"/>
                </a:cubicBezTo>
                <a:cubicBezTo>
                  <a:pt x="12160" y="21"/>
                  <a:pt x="12172" y="28"/>
                  <a:pt x="12184" y="36"/>
                </a:cubicBezTo>
                <a:cubicBezTo>
                  <a:pt x="12195" y="43"/>
                  <a:pt x="12206" y="52"/>
                  <a:pt x="12216" y="62"/>
                </a:cubicBezTo>
                <a:cubicBezTo>
                  <a:pt x="12225" y="72"/>
                  <a:pt x="12234" y="83"/>
                  <a:pt x="12242" y="94"/>
                </a:cubicBezTo>
                <a:cubicBezTo>
                  <a:pt x="12250" y="106"/>
                  <a:pt x="12256" y="118"/>
                  <a:pt x="12262" y="131"/>
                </a:cubicBezTo>
                <a:cubicBezTo>
                  <a:pt x="12267" y="144"/>
                  <a:pt x="12271" y="157"/>
                  <a:pt x="12274" y="170"/>
                </a:cubicBezTo>
                <a:cubicBezTo>
                  <a:pt x="12276" y="184"/>
                  <a:pt x="12278" y="198"/>
                  <a:pt x="12278" y="212"/>
                </a:cubicBezTo>
                <a:lnTo>
                  <a:pt x="12278" y="1827"/>
                </a:lnTo>
                <a:cubicBezTo>
                  <a:pt x="12278" y="1841"/>
                  <a:pt x="12276" y="1854"/>
                  <a:pt x="12274" y="1868"/>
                </a:cubicBezTo>
                <a:cubicBezTo>
                  <a:pt x="12271" y="1882"/>
                  <a:pt x="12267" y="1895"/>
                  <a:pt x="12262" y="1908"/>
                </a:cubicBezTo>
                <a:cubicBezTo>
                  <a:pt x="12256" y="1920"/>
                  <a:pt x="12250" y="1933"/>
                  <a:pt x="12242" y="1944"/>
                </a:cubicBezTo>
                <a:cubicBezTo>
                  <a:pt x="12234" y="1956"/>
                  <a:pt x="12225" y="1966"/>
                  <a:pt x="12216" y="1976"/>
                </a:cubicBezTo>
                <a:cubicBezTo>
                  <a:pt x="12206" y="1986"/>
                  <a:pt x="12195" y="1995"/>
                  <a:pt x="12184" y="2003"/>
                </a:cubicBezTo>
                <a:cubicBezTo>
                  <a:pt x="12172" y="2010"/>
                  <a:pt x="12160" y="2017"/>
                  <a:pt x="12147" y="2022"/>
                </a:cubicBezTo>
                <a:cubicBezTo>
                  <a:pt x="12134" y="2027"/>
                  <a:pt x="12121" y="2032"/>
                  <a:pt x="12107" y="2034"/>
                </a:cubicBezTo>
                <a:cubicBezTo>
                  <a:pt x="12094" y="2037"/>
                  <a:pt x="12080" y="2038"/>
                  <a:pt x="12066" y="2038"/>
                </a:cubicBezTo>
                <a:lnTo>
                  <a:pt x="212" y="2038"/>
                </a:lnTo>
                <a:cubicBezTo>
                  <a:pt x="198" y="2038"/>
                  <a:pt x="184" y="2037"/>
                  <a:pt x="170" y="2034"/>
                </a:cubicBezTo>
                <a:cubicBezTo>
                  <a:pt x="157" y="2032"/>
                  <a:pt x="144" y="2027"/>
                  <a:pt x="131" y="2022"/>
                </a:cubicBezTo>
                <a:cubicBezTo>
                  <a:pt x="118" y="2017"/>
                  <a:pt x="106" y="2010"/>
                  <a:pt x="94" y="2003"/>
                </a:cubicBezTo>
                <a:cubicBezTo>
                  <a:pt x="83" y="1995"/>
                  <a:pt x="72" y="1986"/>
                  <a:pt x="62" y="1976"/>
                </a:cubicBezTo>
                <a:cubicBezTo>
                  <a:pt x="52" y="1966"/>
                  <a:pt x="43" y="1956"/>
                  <a:pt x="36" y="1944"/>
                </a:cubicBezTo>
                <a:cubicBezTo>
                  <a:pt x="28" y="1933"/>
                  <a:pt x="21" y="1920"/>
                  <a:pt x="16" y="1908"/>
                </a:cubicBezTo>
                <a:cubicBezTo>
                  <a:pt x="11" y="1895"/>
                  <a:pt x="7" y="1882"/>
                  <a:pt x="4" y="1868"/>
                </a:cubicBezTo>
                <a:cubicBezTo>
                  <a:pt x="1" y="1854"/>
                  <a:pt x="0" y="1841"/>
                  <a:pt x="0" y="1827"/>
                </a:cubicBezTo>
                <a:close/>
              </a:path>
            </a:pathLst>
          </a:custGeom>
          <a:solidFill>
            <a:srgbClr val="F5E6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38" name="CuadroTexto 937"/>
          <p:cNvSpPr txBox="1"/>
          <p:nvPr/>
        </p:nvSpPr>
        <p:spPr>
          <a:xfrm>
            <a:off x="571320" y="4054320"/>
            <a:ext cx="1099440" cy="169560"/>
          </a:xfrm>
          <a:prstGeom prst="rect">
            <a:avLst/>
          </a:prstGeom>
          <a:noFill/>
          <a:ln w="0">
            <a:noFill/>
          </a:ln>
        </p:spPr>
        <p:txBody>
          <a:bodyPr wrap="none" lIns="0" tIns="0" rIns="0" bIns="0" anchor="t">
            <a:spAutoFit/>
          </a:bodyPr>
          <a:lstStyle/>
          <a:p>
            <a:r>
              <a:rPr lang="en-US" sz="1200" b="0" u="none" strike="noStrike">
                <a:solidFill>
                  <a:srgbClr val="666666"/>
                </a:solidFill>
                <a:effectLst/>
                <a:uFillTx/>
                <a:latin typeface="CrimsonPro"/>
                <a:ea typeface="CrimsonPro"/>
              </a:rPr>
              <a:t>el mismo nombre.</a:t>
            </a:r>
            <a:endParaRPr lang="en-US" sz="1200" b="0" u="none" strike="noStrike">
              <a:solidFill>
                <a:srgbClr val="000000"/>
              </a:solidFill>
              <a:effectLst/>
              <a:uFillTx/>
              <a:latin typeface="Times New Roman"/>
            </a:endParaRPr>
          </a:p>
        </p:txBody>
      </p:sp>
      <p:sp>
        <p:nvSpPr>
          <p:cNvPr id="939" name="CuadroTexto 938"/>
          <p:cNvSpPr txBox="1"/>
          <p:nvPr/>
        </p:nvSpPr>
        <p:spPr>
          <a:xfrm>
            <a:off x="723960" y="4642920"/>
            <a:ext cx="4006800" cy="148320"/>
          </a:xfrm>
          <a:prstGeom prst="rect">
            <a:avLst/>
          </a:prstGeom>
          <a:noFill/>
          <a:ln w="0">
            <a:noFill/>
          </a:ln>
        </p:spPr>
        <p:txBody>
          <a:bodyPr wrap="none" lIns="0" tIns="0" rIns="0" bIns="0" anchor="t">
            <a:spAutoFit/>
          </a:bodyPr>
          <a:lstStyle/>
          <a:p>
            <a:r>
              <a:rPr lang="en-US" sz="1050" b="0" u="none" strike="noStrike">
                <a:solidFill>
                  <a:srgbClr val="000000"/>
                </a:solidFill>
                <a:effectLst/>
                <a:uFillTx/>
                <a:latin typeface="CrimsonPro"/>
                <a:ea typeface="CrimsonPro"/>
              </a:rPr>
              <a:t>Beneficios:</a:t>
            </a:r>
            <a:r>
              <a:rPr lang="en-US" sz="1050" b="0" u="none" strike="noStrike">
                <a:solidFill>
                  <a:srgbClr val="666666"/>
                </a:solidFill>
                <a:effectLst/>
                <a:uFillTx/>
                <a:latin typeface="CrimsonPro"/>
                <a:ea typeface="CrimsonPro"/>
              </a:rPr>
              <a:t> Organización modular, reutilización de código, control de acceso</a:t>
            </a:r>
            <a:endParaRPr lang="en-US" sz="1050" b="0" u="none" strike="noStrike">
              <a:solidFill>
                <a:srgbClr val="000000"/>
              </a:solidFill>
              <a:effectLst/>
              <a:uFillTx/>
              <a:latin typeface="Times New Roman"/>
            </a:endParaRPr>
          </a:p>
        </p:txBody>
      </p:sp>
      <p:sp>
        <p:nvSpPr>
          <p:cNvPr id="940" name="Forma libre: forma 939"/>
          <p:cNvSpPr/>
          <p:nvPr/>
        </p:nvSpPr>
        <p:spPr>
          <a:xfrm>
            <a:off x="5609880" y="2124000"/>
            <a:ext cx="5696640" cy="2772000"/>
          </a:xfrm>
          <a:custGeom>
            <a:avLst/>
            <a:gdLst/>
            <a:ahLst/>
            <a:cxnLst/>
            <a:rect l="0" t="0" r="r" b="b"/>
            <a:pathLst>
              <a:path w="15824" h="7700" fill="none">
                <a:moveTo>
                  <a:pt x="0" y="7515"/>
                </a:moveTo>
                <a:lnTo>
                  <a:pt x="0" y="185"/>
                </a:lnTo>
                <a:cubicBezTo>
                  <a:pt x="0" y="173"/>
                  <a:pt x="2" y="161"/>
                  <a:pt x="4" y="149"/>
                </a:cubicBezTo>
                <a:cubicBezTo>
                  <a:pt x="6" y="137"/>
                  <a:pt x="10" y="125"/>
                  <a:pt x="15"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1" y="1"/>
                  <a:pt x="174" y="0"/>
                  <a:pt x="186" y="0"/>
                </a:cubicBezTo>
                <a:lnTo>
                  <a:pt x="15638" y="0"/>
                </a:lnTo>
                <a:cubicBezTo>
                  <a:pt x="15650" y="0"/>
                  <a:pt x="15663" y="1"/>
                  <a:pt x="15674" y="3"/>
                </a:cubicBezTo>
                <a:cubicBezTo>
                  <a:pt x="15686" y="6"/>
                  <a:pt x="15698" y="9"/>
                  <a:pt x="15709" y="14"/>
                </a:cubicBezTo>
                <a:cubicBezTo>
                  <a:pt x="15720" y="18"/>
                  <a:pt x="15731" y="24"/>
                  <a:pt x="15741" y="31"/>
                </a:cubicBezTo>
                <a:cubicBezTo>
                  <a:pt x="15751" y="38"/>
                  <a:pt x="15761" y="45"/>
                  <a:pt x="15769" y="54"/>
                </a:cubicBezTo>
                <a:cubicBezTo>
                  <a:pt x="15778" y="63"/>
                  <a:pt x="15786" y="72"/>
                  <a:pt x="15792" y="82"/>
                </a:cubicBezTo>
                <a:cubicBezTo>
                  <a:pt x="15799" y="92"/>
                  <a:pt x="15805" y="103"/>
                  <a:pt x="15809" y="114"/>
                </a:cubicBezTo>
                <a:cubicBezTo>
                  <a:pt x="15814" y="125"/>
                  <a:pt x="15818" y="137"/>
                  <a:pt x="15820" y="149"/>
                </a:cubicBezTo>
                <a:cubicBezTo>
                  <a:pt x="15822" y="161"/>
                  <a:pt x="15824" y="173"/>
                  <a:pt x="15824" y="185"/>
                </a:cubicBezTo>
                <a:lnTo>
                  <a:pt x="15824" y="7515"/>
                </a:lnTo>
                <a:cubicBezTo>
                  <a:pt x="15824" y="7527"/>
                  <a:pt x="15822" y="7539"/>
                  <a:pt x="15820" y="7551"/>
                </a:cubicBezTo>
                <a:cubicBezTo>
                  <a:pt x="15818" y="7563"/>
                  <a:pt x="15814" y="7575"/>
                  <a:pt x="15809" y="7586"/>
                </a:cubicBezTo>
                <a:cubicBezTo>
                  <a:pt x="15805" y="7597"/>
                  <a:pt x="15799" y="7608"/>
                  <a:pt x="15792" y="7618"/>
                </a:cubicBezTo>
                <a:cubicBezTo>
                  <a:pt x="15786" y="7628"/>
                  <a:pt x="15778" y="7637"/>
                  <a:pt x="15769" y="7646"/>
                </a:cubicBezTo>
                <a:cubicBezTo>
                  <a:pt x="15761" y="7654"/>
                  <a:pt x="15751" y="7662"/>
                  <a:pt x="15741" y="7669"/>
                </a:cubicBezTo>
                <a:cubicBezTo>
                  <a:pt x="15731" y="7676"/>
                  <a:pt x="15720" y="7681"/>
                  <a:pt x="15709" y="7686"/>
                </a:cubicBezTo>
                <a:cubicBezTo>
                  <a:pt x="15698" y="7691"/>
                  <a:pt x="15686" y="7694"/>
                  <a:pt x="15674" y="7697"/>
                </a:cubicBezTo>
                <a:cubicBezTo>
                  <a:pt x="15663" y="7699"/>
                  <a:pt x="15650" y="7700"/>
                  <a:pt x="15638" y="7700"/>
                </a:cubicBezTo>
                <a:lnTo>
                  <a:pt x="186" y="7700"/>
                </a:lnTo>
                <a:cubicBezTo>
                  <a:pt x="174" y="7700"/>
                  <a:pt x="161" y="7699"/>
                  <a:pt x="150" y="7697"/>
                </a:cubicBezTo>
                <a:cubicBezTo>
                  <a:pt x="138" y="7694"/>
                  <a:pt x="126" y="7691"/>
                  <a:pt x="115" y="7686"/>
                </a:cubicBezTo>
                <a:cubicBezTo>
                  <a:pt x="104" y="7681"/>
                  <a:pt x="93" y="7676"/>
                  <a:pt x="83" y="7669"/>
                </a:cubicBezTo>
                <a:cubicBezTo>
                  <a:pt x="73" y="7662"/>
                  <a:pt x="63" y="7654"/>
                  <a:pt x="55" y="7646"/>
                </a:cubicBezTo>
                <a:cubicBezTo>
                  <a:pt x="46" y="7637"/>
                  <a:pt x="38" y="7628"/>
                  <a:pt x="32" y="7618"/>
                </a:cubicBezTo>
                <a:cubicBezTo>
                  <a:pt x="25" y="7608"/>
                  <a:pt x="19" y="7597"/>
                  <a:pt x="15" y="7586"/>
                </a:cubicBezTo>
                <a:cubicBezTo>
                  <a:pt x="10" y="7575"/>
                  <a:pt x="6" y="7563"/>
                  <a:pt x="4" y="7551"/>
                </a:cubicBezTo>
                <a:cubicBezTo>
                  <a:pt x="2" y="7539"/>
                  <a:pt x="0" y="7527"/>
                  <a:pt x="0" y="7515"/>
                </a:cubicBezTo>
              </a:path>
            </a:pathLst>
          </a:custGeom>
          <a:ln w="18720">
            <a:solidFill>
              <a:srgbClr val="E0E0E0"/>
            </a:solidFill>
            <a:miter/>
          </a:ln>
        </p:spPr>
        <p:txBody>
          <a:bodyPr lIns="9360" tIns="9360" rIns="9360" bIns="9360" anchor="t">
            <a:noAutofit/>
          </a:bodyPr>
          <a:lstStyle/>
          <a:p>
            <a:endParaRPr lang="en-US" sz="2400" b="0" u="none" strike="noStrike">
              <a:solidFill>
                <a:srgbClr val="000000"/>
              </a:solidFill>
              <a:effectLst/>
              <a:uFillTx/>
              <a:latin typeface="Times New Roman"/>
            </a:endParaRPr>
          </a:p>
        </p:txBody>
      </p:sp>
      <p:pic>
        <p:nvPicPr>
          <p:cNvPr id="941" name="Imagen 940"/>
          <p:cNvPicPr/>
          <p:nvPr/>
        </p:nvPicPr>
        <p:blipFill>
          <a:blip r:embed="rId2"/>
          <a:stretch/>
        </p:blipFill>
        <p:spPr>
          <a:xfrm>
            <a:off x="5619600" y="2133720"/>
            <a:ext cx="5676480" cy="2752200"/>
          </a:xfrm>
          <a:prstGeom prst="rect">
            <a:avLst/>
          </a:prstGeom>
          <a:noFill/>
          <a:ln w="0">
            <a:noFill/>
          </a:ln>
        </p:spPr>
      </p:pic>
      <p:sp>
        <p:nvSpPr>
          <p:cNvPr id="942" name="Forma libre: forma 941"/>
          <p:cNvSpPr/>
          <p:nvPr/>
        </p:nvSpPr>
        <p:spPr>
          <a:xfrm>
            <a:off x="571320" y="5933880"/>
            <a:ext cx="11049480" cy="9720"/>
          </a:xfrm>
          <a:custGeom>
            <a:avLst/>
            <a:gdLst/>
            <a:ahLst/>
            <a:cxnLst/>
            <a:rect l="0" t="0" r="r" b="b"/>
            <a:pathLst>
              <a:path w="30693" h="27">
                <a:moveTo>
                  <a:pt x="0" y="0"/>
                </a:moveTo>
                <a:lnTo>
                  <a:pt x="30693" y="0"/>
                </a:lnTo>
                <a:lnTo>
                  <a:pt x="30693" y="27"/>
                </a:lnTo>
                <a:lnTo>
                  <a:pt x="0" y="27"/>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43" name="CuadroTexto 942"/>
          <p:cNvSpPr txBox="1"/>
          <p:nvPr/>
        </p:nvSpPr>
        <p:spPr>
          <a:xfrm>
            <a:off x="723960" y="4862160"/>
            <a:ext cx="1624680" cy="148320"/>
          </a:xfrm>
          <a:prstGeom prst="rect">
            <a:avLst/>
          </a:prstGeom>
          <a:noFill/>
          <a:ln w="0">
            <a:noFill/>
          </a:ln>
        </p:spPr>
        <p:txBody>
          <a:bodyPr wrap="none" lIns="0" tIns="0" rIns="0" bIns="0" anchor="t">
            <a:spAutoFit/>
          </a:bodyPr>
          <a:lstStyle/>
          <a:p>
            <a:r>
              <a:rPr lang="en-US" sz="1050" b="0" u="none" strike="noStrike">
                <a:solidFill>
                  <a:srgbClr val="666666"/>
                </a:solidFill>
                <a:effectLst/>
                <a:uFillTx/>
                <a:latin typeface="CrimsonPro"/>
                <a:ea typeface="CrimsonPro"/>
              </a:rPr>
              <a:t>y mantenimiento simplificado.</a:t>
            </a:r>
            <a:endParaRPr lang="en-US" sz="1050" b="0" u="none" strike="noStrike">
              <a:solidFill>
                <a:srgbClr val="000000"/>
              </a:solidFill>
              <a:effectLst/>
              <a:uFillTx/>
              <a:latin typeface="Times New Roman"/>
            </a:endParaRPr>
          </a:p>
        </p:txBody>
      </p:sp>
      <p:sp>
        <p:nvSpPr>
          <p:cNvPr id="944" name="CuadroTexto 943"/>
          <p:cNvSpPr txBox="1"/>
          <p:nvPr/>
        </p:nvSpPr>
        <p:spPr>
          <a:xfrm>
            <a:off x="571320" y="6119280"/>
            <a:ext cx="1412640" cy="148320"/>
          </a:xfrm>
          <a:prstGeom prst="rect">
            <a:avLst/>
          </a:prstGeom>
          <a:noFill/>
          <a:ln w="0">
            <a:noFill/>
          </a:ln>
        </p:spPr>
        <p:txBody>
          <a:bodyPr wrap="none" lIns="0" tIns="0" rIns="0" bIns="0" anchor="t">
            <a:spAutoFit/>
          </a:bodyPr>
          <a:lstStyle/>
          <a:p>
            <a:r>
              <a:rPr lang="en-US" sz="1050" b="0" u="none" strike="noStrike">
                <a:solidFill>
                  <a:srgbClr val="999999"/>
                </a:solidFill>
                <a:effectLst/>
                <a:uFillTx/>
                <a:latin typeface="CrimsonPro"/>
                <a:ea typeface="CrimsonPro"/>
              </a:rPr>
              <a:t>Tomado de campusmvp.es</a:t>
            </a:r>
            <a:endParaRPr lang="en-US" sz="1050" b="0" u="none" strike="noStrike">
              <a:solidFill>
                <a:srgbClr val="000000"/>
              </a:solidFill>
              <a:effectLst/>
              <a:uFillTx/>
              <a:latin typeface="Times New Roman"/>
            </a:endParaRPr>
          </a:p>
        </p:txBody>
      </p:sp>
      <p:sp>
        <p:nvSpPr>
          <p:cNvPr id="945" name="CuadroTexto 944"/>
          <p:cNvSpPr txBox="1"/>
          <p:nvPr/>
        </p:nvSpPr>
        <p:spPr>
          <a:xfrm>
            <a:off x="11508120" y="6119280"/>
            <a:ext cx="132840" cy="148320"/>
          </a:xfrm>
          <a:prstGeom prst="rect">
            <a:avLst/>
          </a:prstGeom>
          <a:noFill/>
          <a:ln w="0">
            <a:noFill/>
          </a:ln>
        </p:spPr>
        <p:txBody>
          <a:bodyPr wrap="none" lIns="0" tIns="0" rIns="0" bIns="0" anchor="t">
            <a:spAutoFit/>
          </a:bodyPr>
          <a:lstStyle/>
          <a:p>
            <a:r>
              <a:rPr lang="en-US" sz="1050" b="0" u="none" strike="noStrike">
                <a:solidFill>
                  <a:srgbClr val="999999"/>
                </a:solidFill>
                <a:effectLst/>
                <a:uFillTx/>
                <a:latin typeface="CrimsonPro"/>
                <a:ea typeface="CrimsonPro"/>
              </a:rPr>
              <a:t>41</a:t>
            </a:r>
            <a:endParaRPr lang="en-US" sz="1050" b="0" u="none" strike="noStrike">
              <a:solidFill>
                <a:srgbClr val="000000"/>
              </a:solidFill>
              <a:effectLst/>
              <a:uFillTx/>
              <a:latin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 name="Forma libre: forma 947"/>
          <p:cNvSpPr/>
          <p:nvPr/>
        </p:nvSpPr>
        <p:spPr>
          <a:xfrm>
            <a:off x="571320" y="1066680"/>
            <a:ext cx="609840" cy="19440"/>
          </a:xfrm>
          <a:custGeom>
            <a:avLst/>
            <a:gdLst/>
            <a:ahLst/>
            <a:cxnLst/>
            <a:rect l="0" t="0" r="r" b="b"/>
            <a:pathLst>
              <a:path w="1694" h="54">
                <a:moveTo>
                  <a:pt x="0" y="0"/>
                </a:moveTo>
                <a:lnTo>
                  <a:pt x="1694" y="0"/>
                </a:lnTo>
                <a:lnTo>
                  <a:pt x="1694" y="54"/>
                </a:lnTo>
                <a:lnTo>
                  <a:pt x="0" y="54"/>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949" name="CuadroTexto 948"/>
          <p:cNvSpPr txBox="1"/>
          <p:nvPr/>
        </p:nvSpPr>
        <p:spPr>
          <a:xfrm>
            <a:off x="571320" y="569160"/>
            <a:ext cx="2603160" cy="381240"/>
          </a:xfrm>
          <a:prstGeom prst="rect">
            <a:avLst/>
          </a:prstGeom>
          <a:noFill/>
          <a:ln w="0">
            <a:noFill/>
          </a:ln>
        </p:spPr>
        <p:txBody>
          <a:bodyPr wrap="none" lIns="0" tIns="0" rIns="0" bIns="0" anchor="t">
            <a:spAutoFit/>
          </a:bodyPr>
          <a:lstStyle/>
          <a:p>
            <a:r>
              <a:rPr lang="en-US" sz="2700" b="0" u="none" strike="noStrike">
                <a:solidFill>
                  <a:srgbClr val="000000"/>
                </a:solidFill>
                <a:effectLst/>
                <a:uFillTx/>
                <a:latin typeface="CrimsonPro"/>
                <a:ea typeface="CrimsonPro"/>
              </a:rPr>
              <a:t>Manejo de cadenas</a:t>
            </a:r>
            <a:endParaRPr lang="en-US" sz="2700" b="0" u="none" strike="noStrike">
              <a:solidFill>
                <a:srgbClr val="000000"/>
              </a:solidFill>
              <a:effectLst/>
              <a:uFillTx/>
              <a:latin typeface="Times New Roman"/>
            </a:endParaRPr>
          </a:p>
        </p:txBody>
      </p:sp>
      <p:sp>
        <p:nvSpPr>
          <p:cNvPr id="950" name="CuadroTexto 949"/>
          <p:cNvSpPr txBox="1"/>
          <p:nvPr/>
        </p:nvSpPr>
        <p:spPr>
          <a:xfrm>
            <a:off x="571320" y="2161080"/>
            <a:ext cx="1067976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Muchos Strings se crean a partir de cadenas literales. Cuando el compilador encuentra una serie de caracteres entre comillas (" y "), crea un objeto String cuyo</a:t>
            </a:r>
            <a:endParaRPr lang="en-US" sz="1350" b="0" u="none" strike="noStrike">
              <a:solidFill>
                <a:srgbClr val="000000"/>
              </a:solidFill>
              <a:effectLst/>
              <a:uFillTx/>
              <a:latin typeface="Times New Roman"/>
            </a:endParaRPr>
          </a:p>
        </p:txBody>
      </p:sp>
      <p:sp>
        <p:nvSpPr>
          <p:cNvPr id="951" name="CuadroTexto 950"/>
          <p:cNvSpPr txBox="1"/>
          <p:nvPr/>
        </p:nvSpPr>
        <p:spPr>
          <a:xfrm>
            <a:off x="571320" y="2437200"/>
            <a:ext cx="1080792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valor es el propio texto. El esquema general es el siguiente: </a:t>
            </a:r>
            <a:r>
              <a:rPr lang="en-US" sz="1350" b="0" u="none" strike="noStrike">
                <a:solidFill>
                  <a:srgbClr val="000000"/>
                </a:solidFill>
                <a:effectLst/>
                <a:uFillTx/>
                <a:latin typeface="CrimsonPro"/>
                <a:ea typeface="CrimsonPro"/>
              </a:rPr>
              <a:t>String nombre="cadena";</a:t>
            </a:r>
            <a:r>
              <a:rPr lang="en-US" sz="1350" b="0" u="none" strike="noStrike">
                <a:solidFill>
                  <a:srgbClr val="666666"/>
                </a:solidFill>
                <a:effectLst/>
                <a:uFillTx/>
                <a:latin typeface="CrimsonPro"/>
                <a:ea typeface="CrimsonPro"/>
              </a:rPr>
              <a:t> Cuando el compilador encuentra la siguiente cadena, crea un objeto String</a:t>
            </a:r>
            <a:endParaRPr lang="en-US" sz="1350" b="0" u="none" strike="noStrike">
              <a:solidFill>
                <a:srgbClr val="000000"/>
              </a:solidFill>
              <a:effectLst/>
              <a:uFillTx/>
              <a:latin typeface="Times New Roman"/>
            </a:endParaRPr>
          </a:p>
        </p:txBody>
      </p:sp>
      <p:sp>
        <p:nvSpPr>
          <p:cNvPr id="952" name="Forma libre: forma 951"/>
          <p:cNvSpPr/>
          <p:nvPr/>
        </p:nvSpPr>
        <p:spPr>
          <a:xfrm>
            <a:off x="585720" y="3409920"/>
            <a:ext cx="3519720" cy="686160"/>
          </a:xfrm>
          <a:custGeom>
            <a:avLst/>
            <a:gdLst/>
            <a:ahLst/>
            <a:cxnLst/>
            <a:rect l="0" t="0" r="r" b="b"/>
            <a:pathLst>
              <a:path w="9777" h="1906">
                <a:moveTo>
                  <a:pt x="0" y="1800"/>
                </a:moveTo>
                <a:lnTo>
                  <a:pt x="0" y="105"/>
                </a:lnTo>
                <a:cubicBezTo>
                  <a:pt x="0" y="91"/>
                  <a:pt x="1" y="78"/>
                  <a:pt x="5" y="65"/>
                </a:cubicBezTo>
                <a:cubicBezTo>
                  <a:pt x="8" y="52"/>
                  <a:pt x="13" y="41"/>
                  <a:pt x="19" y="31"/>
                </a:cubicBezTo>
                <a:cubicBezTo>
                  <a:pt x="25" y="21"/>
                  <a:pt x="32" y="13"/>
                  <a:pt x="41" y="8"/>
                </a:cubicBezTo>
                <a:cubicBezTo>
                  <a:pt x="49" y="2"/>
                  <a:pt x="57" y="0"/>
                  <a:pt x="66" y="0"/>
                </a:cubicBezTo>
                <a:lnTo>
                  <a:pt x="9671" y="0"/>
                </a:lnTo>
                <a:cubicBezTo>
                  <a:pt x="9685" y="0"/>
                  <a:pt x="9699" y="2"/>
                  <a:pt x="9712" y="8"/>
                </a:cubicBezTo>
                <a:cubicBezTo>
                  <a:pt x="9725" y="13"/>
                  <a:pt x="9736" y="21"/>
                  <a:pt x="9746" y="31"/>
                </a:cubicBezTo>
                <a:cubicBezTo>
                  <a:pt x="9756" y="41"/>
                  <a:pt x="9764" y="52"/>
                  <a:pt x="9769" y="65"/>
                </a:cubicBezTo>
                <a:cubicBezTo>
                  <a:pt x="9774" y="78"/>
                  <a:pt x="9777" y="91"/>
                  <a:pt x="9777" y="105"/>
                </a:cubicBezTo>
                <a:lnTo>
                  <a:pt x="9777" y="1800"/>
                </a:lnTo>
                <a:cubicBezTo>
                  <a:pt x="9777" y="1814"/>
                  <a:pt x="9774" y="1827"/>
                  <a:pt x="9769" y="1840"/>
                </a:cubicBezTo>
                <a:cubicBezTo>
                  <a:pt x="9764" y="1853"/>
                  <a:pt x="9756" y="1865"/>
                  <a:pt x="9746" y="1875"/>
                </a:cubicBezTo>
                <a:cubicBezTo>
                  <a:pt x="9736" y="1885"/>
                  <a:pt x="9725" y="1892"/>
                  <a:pt x="9712" y="1898"/>
                </a:cubicBezTo>
                <a:cubicBezTo>
                  <a:pt x="9699" y="1903"/>
                  <a:pt x="9685" y="1906"/>
                  <a:pt x="9671" y="1906"/>
                </a:cubicBezTo>
                <a:lnTo>
                  <a:pt x="66" y="1906"/>
                </a:lnTo>
                <a:cubicBezTo>
                  <a:pt x="57" y="1906"/>
                  <a:pt x="49" y="1903"/>
                  <a:pt x="41" y="1898"/>
                </a:cubicBezTo>
                <a:cubicBezTo>
                  <a:pt x="32" y="1892"/>
                  <a:pt x="25" y="1885"/>
                  <a:pt x="19" y="1875"/>
                </a:cubicBezTo>
                <a:cubicBezTo>
                  <a:pt x="13" y="1865"/>
                  <a:pt x="8" y="1853"/>
                  <a:pt x="5" y="1840"/>
                </a:cubicBezTo>
                <a:cubicBezTo>
                  <a:pt x="1" y="1827"/>
                  <a:pt x="0" y="1814"/>
                  <a:pt x="0" y="1800"/>
                </a:cubicBezTo>
                <a:close/>
              </a:path>
            </a:pathLst>
          </a:custGeom>
          <a:solidFill>
            <a:srgbClr val="F5F5F5"/>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53" name="Forma libre: forma 952"/>
          <p:cNvSpPr/>
          <p:nvPr/>
        </p:nvSpPr>
        <p:spPr>
          <a:xfrm>
            <a:off x="571320" y="3409920"/>
            <a:ext cx="38520" cy="686160"/>
          </a:xfrm>
          <a:custGeom>
            <a:avLst/>
            <a:gdLst/>
            <a:ahLst/>
            <a:cxnLst/>
            <a:rect l="0" t="0" r="r" b="b"/>
            <a:pathLst>
              <a:path w="107" h="1906">
                <a:moveTo>
                  <a:pt x="0" y="0"/>
                </a:moveTo>
                <a:lnTo>
                  <a:pt x="107" y="0"/>
                </a:lnTo>
                <a:lnTo>
                  <a:pt x="107" y="1906"/>
                </a:lnTo>
                <a:lnTo>
                  <a:pt x="0" y="1906"/>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954" name="CuadroTexto 953"/>
          <p:cNvSpPr txBox="1"/>
          <p:nvPr/>
        </p:nvSpPr>
        <p:spPr>
          <a:xfrm>
            <a:off x="571320" y="2713320"/>
            <a:ext cx="1801440" cy="189360"/>
          </a:xfrm>
          <a:prstGeom prst="rect">
            <a:avLst/>
          </a:prstGeom>
          <a:noFill/>
          <a:ln w="0">
            <a:noFill/>
          </a:ln>
        </p:spPr>
        <p:txBody>
          <a:bodyPr wrap="none" lIns="0" tIns="0" rIns="0" bIns="0" anchor="t">
            <a:spAutoFit/>
          </a:bodyPr>
          <a:lstStyle/>
          <a:p>
            <a:r>
              <a:rPr lang="en-US" sz="1350" b="0" u="none" strike="noStrike">
                <a:solidFill>
                  <a:srgbClr val="666666"/>
                </a:solidFill>
                <a:effectLst/>
                <a:uFillTx/>
                <a:latin typeface="CrimsonPro"/>
                <a:ea typeface="CrimsonPro"/>
              </a:rPr>
              <a:t>cuyo valor es Hola Mundo.</a:t>
            </a:r>
            <a:endParaRPr lang="en-US" sz="1350" b="0" u="none" strike="noStrike">
              <a:solidFill>
                <a:srgbClr val="000000"/>
              </a:solidFill>
              <a:effectLst/>
              <a:uFillTx/>
              <a:latin typeface="Times New Roman"/>
            </a:endParaRPr>
          </a:p>
        </p:txBody>
      </p:sp>
      <p:sp>
        <p:nvSpPr>
          <p:cNvPr id="955" name="CuadroTexto 954"/>
          <p:cNvSpPr txBox="1"/>
          <p:nvPr/>
        </p:nvSpPr>
        <p:spPr>
          <a:xfrm>
            <a:off x="571320" y="3058200"/>
            <a:ext cx="1614240" cy="212040"/>
          </a:xfrm>
          <a:prstGeom prst="rect">
            <a:avLst/>
          </a:prstGeom>
          <a:noFill/>
          <a:ln w="0">
            <a:noFill/>
          </a:ln>
        </p:spPr>
        <p:txBody>
          <a:bodyPr wrap="none" lIns="0" tIns="0" rIns="0" bIns="0" anchor="t">
            <a:spAutoFit/>
          </a:bodyPr>
          <a:lstStyle/>
          <a:p>
            <a:r>
              <a:rPr lang="en-US" sz="1500" b="0" u="none" strike="noStrike">
                <a:solidFill>
                  <a:srgbClr val="DA7756"/>
                </a:solidFill>
                <a:effectLst/>
                <a:uFillTx/>
                <a:latin typeface="CrimsonPro"/>
                <a:ea typeface="CrimsonPro"/>
              </a:rPr>
              <a:t>Longitud de cadenas:</a:t>
            </a:r>
            <a:endParaRPr lang="en-US" sz="1500" b="0" u="none" strike="noStrike">
              <a:solidFill>
                <a:srgbClr val="000000"/>
              </a:solidFill>
              <a:effectLst/>
              <a:uFillTx/>
              <a:latin typeface="Times New Roman"/>
            </a:endParaRPr>
          </a:p>
        </p:txBody>
      </p:sp>
      <p:sp>
        <p:nvSpPr>
          <p:cNvPr id="956" name="CuadroTexto 955"/>
          <p:cNvSpPr txBox="1"/>
          <p:nvPr/>
        </p:nvSpPr>
        <p:spPr>
          <a:xfrm>
            <a:off x="752400" y="3548160"/>
            <a:ext cx="1462320" cy="162000"/>
          </a:xfrm>
          <a:prstGeom prst="rect">
            <a:avLst/>
          </a:prstGeom>
          <a:noFill/>
          <a:ln w="0">
            <a:noFill/>
          </a:ln>
        </p:spPr>
        <p:txBody>
          <a:bodyPr wrap="none" lIns="0" tIns="0" rIns="0" bIns="0" anchor="t">
            <a:spAutoFit/>
          </a:bodyPr>
          <a:lstStyle/>
          <a:p>
            <a:r>
              <a:rPr lang="en-US" sz="1130" b="0" u="none" strike="noStrike">
                <a:solidFill>
                  <a:srgbClr val="333333"/>
                </a:solidFill>
                <a:effectLst/>
                <a:uFillTx/>
                <a:latin typeface="Courier New"/>
                <a:ea typeface="Courier New"/>
              </a:rPr>
              <a:t>String s = "abc";</a:t>
            </a:r>
            <a:endParaRPr lang="en-US" sz="1130" b="0" u="none" strike="noStrike">
              <a:solidFill>
                <a:srgbClr val="000000"/>
              </a:solidFill>
              <a:effectLst/>
              <a:uFillTx/>
              <a:latin typeface="Times New Roman"/>
            </a:endParaRPr>
          </a:p>
        </p:txBody>
      </p:sp>
      <p:sp>
        <p:nvSpPr>
          <p:cNvPr id="957" name="CuadroTexto 956"/>
          <p:cNvSpPr txBox="1"/>
          <p:nvPr/>
        </p:nvSpPr>
        <p:spPr>
          <a:xfrm>
            <a:off x="752400" y="3776760"/>
            <a:ext cx="2665800" cy="162000"/>
          </a:xfrm>
          <a:prstGeom prst="rect">
            <a:avLst/>
          </a:prstGeom>
          <a:noFill/>
          <a:ln w="0">
            <a:noFill/>
          </a:ln>
        </p:spPr>
        <p:txBody>
          <a:bodyPr wrap="none" lIns="0" tIns="0" rIns="0" bIns="0" anchor="t">
            <a:spAutoFit/>
          </a:bodyPr>
          <a:lstStyle/>
          <a:p>
            <a:r>
              <a:rPr lang="en-US" sz="1130" b="0" u="none" strike="noStrike">
                <a:solidFill>
                  <a:srgbClr val="333333"/>
                </a:solidFill>
                <a:effectLst/>
                <a:uFillTx/>
                <a:latin typeface="Courier New"/>
                <a:ea typeface="Courier New"/>
              </a:rPr>
              <a:t>System.out.println(s.length());</a:t>
            </a:r>
            <a:endParaRPr lang="en-US" sz="1130" b="0" u="none" strike="noStrike">
              <a:solidFill>
                <a:srgbClr val="000000"/>
              </a:solidFill>
              <a:effectLst/>
              <a:uFillTx/>
              <a:latin typeface="Times New Roman"/>
            </a:endParaRPr>
          </a:p>
        </p:txBody>
      </p:sp>
      <p:sp>
        <p:nvSpPr>
          <p:cNvPr id="958" name="Forma libre: forma 957"/>
          <p:cNvSpPr/>
          <p:nvPr/>
        </p:nvSpPr>
        <p:spPr>
          <a:xfrm>
            <a:off x="4348080" y="3409920"/>
            <a:ext cx="3510360" cy="457560"/>
          </a:xfrm>
          <a:custGeom>
            <a:avLst/>
            <a:gdLst/>
            <a:ahLst/>
            <a:cxnLst/>
            <a:rect l="0" t="0" r="r" b="b"/>
            <a:pathLst>
              <a:path w="9751" h="1271">
                <a:moveTo>
                  <a:pt x="0" y="1165"/>
                </a:moveTo>
                <a:lnTo>
                  <a:pt x="0" y="106"/>
                </a:lnTo>
                <a:cubicBezTo>
                  <a:pt x="0" y="92"/>
                  <a:pt x="1" y="79"/>
                  <a:pt x="5" y="66"/>
                </a:cubicBezTo>
                <a:cubicBezTo>
                  <a:pt x="8" y="53"/>
                  <a:pt x="13" y="41"/>
                  <a:pt x="19" y="31"/>
                </a:cubicBezTo>
                <a:cubicBezTo>
                  <a:pt x="25" y="21"/>
                  <a:pt x="32" y="13"/>
                  <a:pt x="41" y="8"/>
                </a:cubicBezTo>
                <a:cubicBezTo>
                  <a:pt x="49" y="2"/>
                  <a:pt x="57" y="0"/>
                  <a:pt x="66" y="0"/>
                </a:cubicBezTo>
                <a:lnTo>
                  <a:pt x="9645" y="0"/>
                </a:lnTo>
                <a:cubicBezTo>
                  <a:pt x="9659" y="0"/>
                  <a:pt x="9672" y="2"/>
                  <a:pt x="9685" y="8"/>
                </a:cubicBezTo>
                <a:cubicBezTo>
                  <a:pt x="9698" y="13"/>
                  <a:pt x="9710" y="21"/>
                  <a:pt x="9720" y="31"/>
                </a:cubicBezTo>
                <a:cubicBezTo>
                  <a:pt x="9730" y="41"/>
                  <a:pt x="9737" y="53"/>
                  <a:pt x="9743" y="66"/>
                </a:cubicBezTo>
                <a:cubicBezTo>
                  <a:pt x="9748" y="79"/>
                  <a:pt x="9751" y="92"/>
                  <a:pt x="9751" y="106"/>
                </a:cubicBezTo>
                <a:lnTo>
                  <a:pt x="9751" y="1165"/>
                </a:lnTo>
                <a:cubicBezTo>
                  <a:pt x="9751" y="1179"/>
                  <a:pt x="9748" y="1192"/>
                  <a:pt x="9743" y="1205"/>
                </a:cubicBezTo>
                <a:cubicBezTo>
                  <a:pt x="9737" y="1218"/>
                  <a:pt x="9730" y="1230"/>
                  <a:pt x="9720" y="1240"/>
                </a:cubicBezTo>
                <a:cubicBezTo>
                  <a:pt x="9710" y="1250"/>
                  <a:pt x="9698" y="1257"/>
                  <a:pt x="9685" y="1263"/>
                </a:cubicBezTo>
                <a:cubicBezTo>
                  <a:pt x="9672" y="1268"/>
                  <a:pt x="9659" y="1271"/>
                  <a:pt x="9645" y="1271"/>
                </a:cubicBezTo>
                <a:lnTo>
                  <a:pt x="66" y="1271"/>
                </a:lnTo>
                <a:cubicBezTo>
                  <a:pt x="57" y="1271"/>
                  <a:pt x="49" y="1268"/>
                  <a:pt x="41" y="1263"/>
                </a:cubicBezTo>
                <a:cubicBezTo>
                  <a:pt x="32" y="1257"/>
                  <a:pt x="25" y="1250"/>
                  <a:pt x="19" y="1240"/>
                </a:cubicBezTo>
                <a:cubicBezTo>
                  <a:pt x="13" y="1230"/>
                  <a:pt x="8" y="1218"/>
                  <a:pt x="5" y="1205"/>
                </a:cubicBezTo>
                <a:cubicBezTo>
                  <a:pt x="1" y="1192"/>
                  <a:pt x="0" y="1179"/>
                  <a:pt x="0" y="1165"/>
                </a:cubicBezTo>
                <a:close/>
              </a:path>
            </a:pathLst>
          </a:custGeom>
          <a:solidFill>
            <a:srgbClr val="F5F5F5"/>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59" name="Forma libre: forma 958"/>
          <p:cNvSpPr/>
          <p:nvPr/>
        </p:nvSpPr>
        <p:spPr>
          <a:xfrm>
            <a:off x="4333680" y="3409920"/>
            <a:ext cx="38520" cy="457560"/>
          </a:xfrm>
          <a:custGeom>
            <a:avLst/>
            <a:gdLst/>
            <a:ahLst/>
            <a:cxnLst/>
            <a:rect l="0" t="0" r="r" b="b"/>
            <a:pathLst>
              <a:path w="107" h="1271">
                <a:moveTo>
                  <a:pt x="0" y="0"/>
                </a:moveTo>
                <a:lnTo>
                  <a:pt x="107" y="0"/>
                </a:lnTo>
                <a:lnTo>
                  <a:pt x="107" y="1271"/>
                </a:lnTo>
                <a:lnTo>
                  <a:pt x="0" y="1271"/>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960" name="CuadroTexto 959"/>
          <p:cNvSpPr txBox="1"/>
          <p:nvPr/>
        </p:nvSpPr>
        <p:spPr>
          <a:xfrm>
            <a:off x="571320" y="4195440"/>
            <a:ext cx="567000" cy="148320"/>
          </a:xfrm>
          <a:prstGeom prst="rect">
            <a:avLst/>
          </a:prstGeom>
          <a:noFill/>
          <a:ln w="0">
            <a:noFill/>
          </a:ln>
        </p:spPr>
        <p:txBody>
          <a:bodyPr wrap="none" lIns="0" tIns="0" rIns="0" bIns="0" anchor="t">
            <a:spAutoFit/>
          </a:bodyPr>
          <a:lstStyle/>
          <a:p>
            <a:r>
              <a:rPr lang="en-US" sz="1050" b="0" i="1" u="none" strike="noStrike">
                <a:solidFill>
                  <a:srgbClr val="666666"/>
                </a:solidFill>
                <a:effectLst/>
                <a:uFillTx/>
                <a:latin typeface="CrimsonPro"/>
                <a:ea typeface="CrimsonPro"/>
              </a:rPr>
              <a:t>Devuelve: 3</a:t>
            </a:r>
            <a:endParaRPr lang="en-US" sz="1050" b="0" u="none" strike="noStrike">
              <a:solidFill>
                <a:srgbClr val="000000"/>
              </a:solidFill>
              <a:effectLst/>
              <a:uFillTx/>
              <a:latin typeface="Times New Roman"/>
            </a:endParaRPr>
          </a:p>
        </p:txBody>
      </p:sp>
      <p:sp>
        <p:nvSpPr>
          <p:cNvPr id="961" name="CuadroTexto 960"/>
          <p:cNvSpPr txBox="1"/>
          <p:nvPr/>
        </p:nvSpPr>
        <p:spPr>
          <a:xfrm>
            <a:off x="4330440" y="3058200"/>
            <a:ext cx="1891440" cy="212040"/>
          </a:xfrm>
          <a:prstGeom prst="rect">
            <a:avLst/>
          </a:prstGeom>
          <a:noFill/>
          <a:ln w="0">
            <a:noFill/>
          </a:ln>
        </p:spPr>
        <p:txBody>
          <a:bodyPr wrap="none" lIns="0" tIns="0" rIns="0" bIns="0" anchor="t">
            <a:spAutoFit/>
          </a:bodyPr>
          <a:lstStyle/>
          <a:p>
            <a:r>
              <a:rPr lang="en-US" sz="1500" b="0" u="none" strike="noStrike">
                <a:solidFill>
                  <a:srgbClr val="DA7756"/>
                </a:solidFill>
                <a:effectLst/>
                <a:uFillTx/>
                <a:latin typeface="CrimsonPro"/>
                <a:ea typeface="CrimsonPro"/>
              </a:rPr>
              <a:t>Extracción de caracteres:</a:t>
            </a:r>
            <a:endParaRPr lang="en-US" sz="1500" b="0" u="none" strike="noStrike">
              <a:solidFill>
                <a:srgbClr val="000000"/>
              </a:solidFill>
              <a:effectLst/>
              <a:uFillTx/>
              <a:latin typeface="Times New Roman"/>
            </a:endParaRPr>
          </a:p>
        </p:txBody>
      </p:sp>
      <p:sp>
        <p:nvSpPr>
          <p:cNvPr id="962" name="CuadroTexto 961"/>
          <p:cNvSpPr txBox="1"/>
          <p:nvPr/>
        </p:nvSpPr>
        <p:spPr>
          <a:xfrm>
            <a:off x="4511520" y="3548160"/>
            <a:ext cx="1290240" cy="162000"/>
          </a:xfrm>
          <a:prstGeom prst="rect">
            <a:avLst/>
          </a:prstGeom>
          <a:noFill/>
          <a:ln w="0">
            <a:noFill/>
          </a:ln>
        </p:spPr>
        <p:txBody>
          <a:bodyPr wrap="none" lIns="0" tIns="0" rIns="0" bIns="0" anchor="t">
            <a:spAutoFit/>
          </a:bodyPr>
          <a:lstStyle/>
          <a:p>
            <a:r>
              <a:rPr lang="en-US" sz="1130" b="0" u="none" strike="noStrike">
                <a:solidFill>
                  <a:srgbClr val="333333"/>
                </a:solidFill>
                <a:effectLst/>
                <a:uFillTx/>
                <a:latin typeface="Courier New"/>
                <a:ea typeface="Courier New"/>
              </a:rPr>
              <a:t>"abc".charAt(1)</a:t>
            </a:r>
            <a:endParaRPr lang="en-US" sz="1130" b="0" u="none" strike="noStrike">
              <a:solidFill>
                <a:srgbClr val="000000"/>
              </a:solidFill>
              <a:effectLst/>
              <a:uFillTx/>
              <a:latin typeface="Times New Roman"/>
            </a:endParaRPr>
          </a:p>
        </p:txBody>
      </p:sp>
      <p:sp>
        <p:nvSpPr>
          <p:cNvPr id="963" name="Forma libre: forma 962"/>
          <p:cNvSpPr/>
          <p:nvPr/>
        </p:nvSpPr>
        <p:spPr>
          <a:xfrm>
            <a:off x="8100720" y="3409920"/>
            <a:ext cx="3520080" cy="686160"/>
          </a:xfrm>
          <a:custGeom>
            <a:avLst/>
            <a:gdLst/>
            <a:ahLst/>
            <a:cxnLst/>
            <a:rect l="0" t="0" r="r" b="b"/>
            <a:pathLst>
              <a:path w="9778" h="1906">
                <a:moveTo>
                  <a:pt x="0" y="1800"/>
                </a:moveTo>
                <a:lnTo>
                  <a:pt x="0" y="105"/>
                </a:lnTo>
                <a:cubicBezTo>
                  <a:pt x="0" y="91"/>
                  <a:pt x="2" y="78"/>
                  <a:pt x="5" y="65"/>
                </a:cubicBezTo>
                <a:cubicBezTo>
                  <a:pt x="9" y="52"/>
                  <a:pt x="13" y="41"/>
                  <a:pt x="20" y="31"/>
                </a:cubicBezTo>
                <a:cubicBezTo>
                  <a:pt x="26" y="21"/>
                  <a:pt x="33" y="13"/>
                  <a:pt x="41" y="8"/>
                </a:cubicBezTo>
                <a:cubicBezTo>
                  <a:pt x="49" y="2"/>
                  <a:pt x="58" y="0"/>
                  <a:pt x="66" y="0"/>
                </a:cubicBezTo>
                <a:lnTo>
                  <a:pt x="9672" y="0"/>
                </a:lnTo>
                <a:cubicBezTo>
                  <a:pt x="9686" y="0"/>
                  <a:pt x="9699" y="2"/>
                  <a:pt x="9712" y="8"/>
                </a:cubicBezTo>
                <a:cubicBezTo>
                  <a:pt x="9725" y="13"/>
                  <a:pt x="9737" y="21"/>
                  <a:pt x="9747" y="31"/>
                </a:cubicBezTo>
                <a:cubicBezTo>
                  <a:pt x="9757" y="41"/>
                  <a:pt x="9764" y="52"/>
                  <a:pt x="9770" y="65"/>
                </a:cubicBezTo>
                <a:cubicBezTo>
                  <a:pt x="9775" y="78"/>
                  <a:pt x="9778" y="91"/>
                  <a:pt x="9778" y="105"/>
                </a:cubicBezTo>
                <a:lnTo>
                  <a:pt x="9778" y="1800"/>
                </a:lnTo>
                <a:cubicBezTo>
                  <a:pt x="9778" y="1814"/>
                  <a:pt x="9775" y="1827"/>
                  <a:pt x="9770" y="1840"/>
                </a:cubicBezTo>
                <a:cubicBezTo>
                  <a:pt x="9764" y="1853"/>
                  <a:pt x="9757" y="1865"/>
                  <a:pt x="9747" y="1875"/>
                </a:cubicBezTo>
                <a:cubicBezTo>
                  <a:pt x="9737" y="1885"/>
                  <a:pt x="9725" y="1892"/>
                  <a:pt x="9712" y="1898"/>
                </a:cubicBezTo>
                <a:cubicBezTo>
                  <a:pt x="9699" y="1903"/>
                  <a:pt x="9686" y="1906"/>
                  <a:pt x="9672" y="1906"/>
                </a:cubicBezTo>
                <a:lnTo>
                  <a:pt x="66" y="1906"/>
                </a:lnTo>
                <a:cubicBezTo>
                  <a:pt x="58" y="1906"/>
                  <a:pt x="49" y="1903"/>
                  <a:pt x="41" y="1898"/>
                </a:cubicBezTo>
                <a:cubicBezTo>
                  <a:pt x="33" y="1892"/>
                  <a:pt x="26" y="1885"/>
                  <a:pt x="20" y="1875"/>
                </a:cubicBezTo>
                <a:cubicBezTo>
                  <a:pt x="13" y="1865"/>
                  <a:pt x="9" y="1853"/>
                  <a:pt x="5" y="1840"/>
                </a:cubicBezTo>
                <a:cubicBezTo>
                  <a:pt x="2" y="1827"/>
                  <a:pt x="0" y="1814"/>
                  <a:pt x="0" y="1800"/>
                </a:cubicBezTo>
                <a:close/>
              </a:path>
            </a:pathLst>
          </a:custGeom>
          <a:solidFill>
            <a:srgbClr val="F5F5F5"/>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64" name="Forma libre: forma 963"/>
          <p:cNvSpPr/>
          <p:nvPr/>
        </p:nvSpPr>
        <p:spPr>
          <a:xfrm>
            <a:off x="8086680" y="3409920"/>
            <a:ext cx="38160" cy="686160"/>
          </a:xfrm>
          <a:custGeom>
            <a:avLst/>
            <a:gdLst/>
            <a:ahLst/>
            <a:cxnLst/>
            <a:rect l="0" t="0" r="r" b="b"/>
            <a:pathLst>
              <a:path w="106" h="1906">
                <a:moveTo>
                  <a:pt x="0" y="0"/>
                </a:moveTo>
                <a:lnTo>
                  <a:pt x="106" y="0"/>
                </a:lnTo>
                <a:lnTo>
                  <a:pt x="106" y="1906"/>
                </a:lnTo>
                <a:lnTo>
                  <a:pt x="0" y="1906"/>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sp>
        <p:nvSpPr>
          <p:cNvPr id="965" name="CuadroTexto 964"/>
          <p:cNvSpPr txBox="1"/>
          <p:nvPr/>
        </p:nvSpPr>
        <p:spPr>
          <a:xfrm>
            <a:off x="4330440" y="3966840"/>
            <a:ext cx="623160" cy="148320"/>
          </a:xfrm>
          <a:prstGeom prst="rect">
            <a:avLst/>
          </a:prstGeom>
          <a:noFill/>
          <a:ln w="0">
            <a:noFill/>
          </a:ln>
        </p:spPr>
        <p:txBody>
          <a:bodyPr wrap="none" lIns="0" tIns="0" rIns="0" bIns="0" anchor="t">
            <a:spAutoFit/>
          </a:bodyPr>
          <a:lstStyle/>
          <a:p>
            <a:r>
              <a:rPr lang="en-US" sz="1050" b="0" i="1" u="none" strike="noStrike">
                <a:solidFill>
                  <a:srgbClr val="666666"/>
                </a:solidFill>
                <a:effectLst/>
                <a:uFillTx/>
                <a:latin typeface="CrimsonPro"/>
                <a:ea typeface="CrimsonPro"/>
              </a:rPr>
              <a:t>Devuelve: 'b'</a:t>
            </a:r>
            <a:endParaRPr lang="en-US" sz="1050" b="0" u="none" strike="noStrike">
              <a:solidFill>
                <a:srgbClr val="000000"/>
              </a:solidFill>
              <a:effectLst/>
              <a:uFillTx/>
              <a:latin typeface="Times New Roman"/>
            </a:endParaRPr>
          </a:p>
        </p:txBody>
      </p:sp>
      <p:sp>
        <p:nvSpPr>
          <p:cNvPr id="966" name="CuadroTexto 965"/>
          <p:cNvSpPr txBox="1"/>
          <p:nvPr/>
        </p:nvSpPr>
        <p:spPr>
          <a:xfrm>
            <a:off x="8089920" y="3058200"/>
            <a:ext cx="1950840" cy="212040"/>
          </a:xfrm>
          <a:prstGeom prst="rect">
            <a:avLst/>
          </a:prstGeom>
          <a:noFill/>
          <a:ln w="0">
            <a:noFill/>
          </a:ln>
        </p:spPr>
        <p:txBody>
          <a:bodyPr wrap="none" lIns="0" tIns="0" rIns="0" bIns="0" anchor="t">
            <a:spAutoFit/>
          </a:bodyPr>
          <a:lstStyle/>
          <a:p>
            <a:r>
              <a:rPr lang="en-US" sz="1500" b="0" u="none" strike="noStrike">
                <a:solidFill>
                  <a:srgbClr val="DA7756"/>
                </a:solidFill>
                <a:effectLst/>
                <a:uFillTx/>
                <a:latin typeface="CrimsonPro"/>
                <a:ea typeface="CrimsonPro"/>
              </a:rPr>
              <a:t>Métodos con subcadenas:</a:t>
            </a:r>
            <a:endParaRPr lang="en-US" sz="1500" b="0" u="none" strike="noStrike">
              <a:solidFill>
                <a:srgbClr val="000000"/>
              </a:solidFill>
              <a:effectLst/>
              <a:uFillTx/>
              <a:latin typeface="Times New Roman"/>
            </a:endParaRPr>
          </a:p>
        </p:txBody>
      </p:sp>
      <p:sp>
        <p:nvSpPr>
          <p:cNvPr id="967" name="CuadroTexto 966"/>
          <p:cNvSpPr txBox="1"/>
          <p:nvPr/>
        </p:nvSpPr>
        <p:spPr>
          <a:xfrm>
            <a:off x="8271000" y="3548160"/>
            <a:ext cx="2322000" cy="162000"/>
          </a:xfrm>
          <a:prstGeom prst="rect">
            <a:avLst/>
          </a:prstGeom>
          <a:noFill/>
          <a:ln w="0">
            <a:noFill/>
          </a:ln>
        </p:spPr>
        <p:txBody>
          <a:bodyPr wrap="none" lIns="0" tIns="0" rIns="0" bIns="0" anchor="t">
            <a:spAutoFit/>
          </a:bodyPr>
          <a:lstStyle/>
          <a:p>
            <a:r>
              <a:rPr lang="en-US" sz="1130" b="0" u="none" strike="noStrike">
                <a:solidFill>
                  <a:srgbClr val="333333"/>
                </a:solidFill>
                <a:effectLst/>
                <a:uFillTx/>
                <a:latin typeface="Courier New"/>
                <a:ea typeface="Courier New"/>
              </a:rPr>
              <a:t>String s = "Víctor Cuervo";</a:t>
            </a:r>
            <a:endParaRPr lang="en-US" sz="1130" b="0" u="none" strike="noStrike">
              <a:solidFill>
                <a:srgbClr val="000000"/>
              </a:solidFill>
              <a:effectLst/>
              <a:uFillTx/>
              <a:latin typeface="Times New Roman"/>
            </a:endParaRPr>
          </a:p>
        </p:txBody>
      </p:sp>
      <p:sp>
        <p:nvSpPr>
          <p:cNvPr id="968" name="CuadroTexto 967"/>
          <p:cNvSpPr txBox="1"/>
          <p:nvPr/>
        </p:nvSpPr>
        <p:spPr>
          <a:xfrm>
            <a:off x="8271000" y="3776760"/>
            <a:ext cx="1290240" cy="162000"/>
          </a:xfrm>
          <a:prstGeom prst="rect">
            <a:avLst/>
          </a:prstGeom>
          <a:noFill/>
          <a:ln w="0">
            <a:noFill/>
          </a:ln>
        </p:spPr>
        <p:txBody>
          <a:bodyPr wrap="none" lIns="0" tIns="0" rIns="0" bIns="0" anchor="t">
            <a:spAutoFit/>
          </a:bodyPr>
          <a:lstStyle/>
          <a:p>
            <a:r>
              <a:rPr lang="en-US" sz="1130" b="0" u="none" strike="noStrike">
                <a:solidFill>
                  <a:srgbClr val="333333"/>
                </a:solidFill>
                <a:effectLst/>
                <a:uFillTx/>
                <a:latin typeface="Courier New"/>
                <a:ea typeface="Courier New"/>
              </a:rPr>
              <a:t>s.substring(7);</a:t>
            </a:r>
            <a:endParaRPr lang="en-US" sz="1130" b="0" u="none" strike="noStrike">
              <a:solidFill>
                <a:srgbClr val="000000"/>
              </a:solidFill>
              <a:effectLst/>
              <a:uFillTx/>
              <a:latin typeface="Times New Roman"/>
            </a:endParaRPr>
          </a:p>
        </p:txBody>
      </p:sp>
      <p:sp>
        <p:nvSpPr>
          <p:cNvPr id="969" name="CuadroTexto 968"/>
          <p:cNvSpPr txBox="1"/>
          <p:nvPr/>
        </p:nvSpPr>
        <p:spPr>
          <a:xfrm>
            <a:off x="8089920" y="4195440"/>
            <a:ext cx="964440" cy="148320"/>
          </a:xfrm>
          <a:prstGeom prst="rect">
            <a:avLst/>
          </a:prstGeom>
          <a:noFill/>
          <a:ln w="0">
            <a:noFill/>
          </a:ln>
        </p:spPr>
        <p:txBody>
          <a:bodyPr wrap="none" lIns="0" tIns="0" rIns="0" bIns="0" anchor="t">
            <a:spAutoFit/>
          </a:bodyPr>
          <a:lstStyle/>
          <a:p>
            <a:r>
              <a:rPr lang="en-US" sz="1050" b="0" i="1" u="none" strike="noStrike">
                <a:solidFill>
                  <a:srgbClr val="666666"/>
                </a:solidFill>
                <a:effectLst/>
                <a:uFillTx/>
                <a:latin typeface="CrimsonPro"/>
                <a:ea typeface="CrimsonPro"/>
              </a:rPr>
              <a:t>Devuelve: "Cuervo"</a:t>
            </a:r>
            <a:endParaRPr lang="en-US" sz="1050" b="0" u="none" strike="noStrike">
              <a:solidFill>
                <a:srgbClr val="000000"/>
              </a:solidFill>
              <a:effectLst/>
              <a:uFillTx/>
              <a:latin typeface="Times New Roman"/>
            </a:endParaRPr>
          </a:p>
        </p:txBody>
      </p:sp>
      <p:sp>
        <p:nvSpPr>
          <p:cNvPr id="970" name="Forma libre: forma 969"/>
          <p:cNvSpPr/>
          <p:nvPr/>
        </p:nvSpPr>
        <p:spPr>
          <a:xfrm>
            <a:off x="571320" y="5895720"/>
            <a:ext cx="11049480" cy="10080"/>
          </a:xfrm>
          <a:custGeom>
            <a:avLst/>
            <a:gdLst/>
            <a:ahLst/>
            <a:cxnLst/>
            <a:rect l="0" t="0" r="r" b="b"/>
            <a:pathLst>
              <a:path w="30693" h="28">
                <a:moveTo>
                  <a:pt x="0" y="0"/>
                </a:moveTo>
                <a:lnTo>
                  <a:pt x="30693" y="0"/>
                </a:lnTo>
                <a:lnTo>
                  <a:pt x="30693" y="28"/>
                </a:lnTo>
                <a:lnTo>
                  <a:pt x="0" y="28"/>
                </a:lnTo>
                <a:lnTo>
                  <a:pt x="0" y="0"/>
                </a:lnTo>
                <a:close/>
              </a:path>
            </a:pathLst>
          </a:custGeom>
          <a:solidFill>
            <a:srgbClr val="E0E0E0"/>
          </a:solidFill>
          <a:ln w="0">
            <a:noFill/>
          </a:ln>
        </p:spPr>
        <p:txBody>
          <a:bodyPr lIns="0" tIns="0" rIns="0" bIns="0" anchor="t">
            <a:noAutofit/>
          </a:bodyPr>
          <a:lstStyle/>
          <a:p>
            <a:endParaRPr lang="en-US" sz="2400" b="0" u="none" strike="noStrike">
              <a:solidFill>
                <a:srgbClr val="000000"/>
              </a:solidFill>
              <a:effectLst/>
              <a:uFillTx/>
              <a:latin typeface="Times New Roman"/>
            </a:endParaRPr>
          </a:p>
        </p:txBody>
      </p:sp>
      <p:sp>
        <p:nvSpPr>
          <p:cNvPr id="971" name="CuadroTexto 970"/>
          <p:cNvSpPr txBox="1"/>
          <p:nvPr/>
        </p:nvSpPr>
        <p:spPr>
          <a:xfrm>
            <a:off x="571320" y="4766760"/>
            <a:ext cx="1915200" cy="148320"/>
          </a:xfrm>
          <a:prstGeom prst="rect">
            <a:avLst/>
          </a:prstGeom>
          <a:noFill/>
          <a:ln w="0">
            <a:noFill/>
          </a:ln>
        </p:spPr>
        <p:txBody>
          <a:bodyPr wrap="none" lIns="0" tIns="0" rIns="0" bIns="0" anchor="t">
            <a:spAutoFit/>
          </a:bodyPr>
          <a:lstStyle/>
          <a:p>
            <a:r>
              <a:rPr lang="en-US" sz="1050" b="0" i="1" u="none" strike="noStrike">
                <a:solidFill>
                  <a:srgbClr val="999999"/>
                </a:solidFill>
                <a:effectLst/>
                <a:uFillTx/>
                <a:latin typeface="CrimsonPro"/>
                <a:ea typeface="CrimsonPro"/>
              </a:rPr>
              <a:t>Tomado de la página de campusmvp.es</a:t>
            </a:r>
            <a:endParaRPr lang="en-US" sz="1050" b="0" u="none" strike="noStrike">
              <a:solidFill>
                <a:srgbClr val="000000"/>
              </a:solidFill>
              <a:effectLst/>
              <a:uFillTx/>
              <a:latin typeface="Times New Roman"/>
            </a:endParaRPr>
          </a:p>
        </p:txBody>
      </p:sp>
      <p:sp>
        <p:nvSpPr>
          <p:cNvPr id="972" name="CuadroTexto 971"/>
          <p:cNvSpPr txBox="1"/>
          <p:nvPr/>
        </p:nvSpPr>
        <p:spPr>
          <a:xfrm>
            <a:off x="571320" y="6083280"/>
            <a:ext cx="327024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Workshop de Automatización de Pruebas - Nivelación</a:t>
            </a:r>
            <a:endParaRPr lang="en-US" sz="1200" b="0" u="none" strike="noStrike">
              <a:solidFill>
                <a:srgbClr val="000000"/>
              </a:solidFill>
              <a:effectLst/>
              <a:uFillTx/>
              <a:latin typeface="Times New Roman"/>
            </a:endParaRPr>
          </a:p>
        </p:txBody>
      </p:sp>
      <p:sp>
        <p:nvSpPr>
          <p:cNvPr id="973" name="CuadroTexto 972"/>
          <p:cNvSpPr txBox="1"/>
          <p:nvPr/>
        </p:nvSpPr>
        <p:spPr>
          <a:xfrm>
            <a:off x="11471400" y="6083280"/>
            <a:ext cx="151920" cy="169560"/>
          </a:xfrm>
          <a:prstGeom prst="rect">
            <a:avLst/>
          </a:prstGeom>
          <a:noFill/>
          <a:ln w="0">
            <a:noFill/>
          </a:ln>
        </p:spPr>
        <p:txBody>
          <a:bodyPr wrap="none" lIns="0" tIns="0" rIns="0" bIns="0" anchor="t">
            <a:spAutoFit/>
          </a:bodyPr>
          <a:lstStyle/>
          <a:p>
            <a:r>
              <a:rPr lang="en-US" sz="1200" b="0" u="none" strike="noStrike">
                <a:solidFill>
                  <a:srgbClr val="999999"/>
                </a:solidFill>
                <a:effectLst/>
                <a:uFillTx/>
                <a:latin typeface="CrimsonPro"/>
                <a:ea typeface="CrimsonPro"/>
              </a:rPr>
              <a:t>42</a:t>
            </a:r>
            <a:endParaRPr lang="en-US" sz="1200" b="0" u="none" strike="noStrike">
              <a:solidFill>
                <a:srgbClr val="000000"/>
              </a:solidFill>
              <a:effectLst/>
              <a:uFillTx/>
              <a:latin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 name="Forma libre: forma 975"/>
          <p:cNvSpPr/>
          <p:nvPr/>
        </p:nvSpPr>
        <p:spPr>
          <a:xfrm>
            <a:off x="5143320" y="6257880"/>
            <a:ext cx="1905480" cy="28800"/>
          </a:xfrm>
          <a:custGeom>
            <a:avLst/>
            <a:gdLst/>
            <a:ahLst/>
            <a:cxnLst/>
            <a:rect l="0" t="0" r="r" b="b"/>
            <a:pathLst>
              <a:path w="5293" h="80">
                <a:moveTo>
                  <a:pt x="0" y="0"/>
                </a:moveTo>
                <a:lnTo>
                  <a:pt x="5293" y="0"/>
                </a:lnTo>
                <a:lnTo>
                  <a:pt x="5293" y="80"/>
                </a:lnTo>
                <a:lnTo>
                  <a:pt x="0" y="80"/>
                </a:lnTo>
                <a:lnTo>
                  <a:pt x="0" y="0"/>
                </a:lnTo>
                <a:close/>
              </a:path>
            </a:pathLst>
          </a:custGeom>
          <a:solidFill>
            <a:srgbClr val="DA7756"/>
          </a:solidFill>
          <a:ln w="0">
            <a:noFill/>
          </a:ln>
        </p:spPr>
        <p:txBody>
          <a:bodyPr lIns="0" tIns="0" rIns="0" bIns="0" anchor="t">
            <a:noAutofit/>
          </a:bodyPr>
          <a:lstStyle/>
          <a:p>
            <a:endParaRPr lang="en-US" sz="2400" b="0" u="none" strike="noStrike">
              <a:solidFill>
                <a:srgbClr val="FFFFFF"/>
              </a:solidFill>
              <a:effectLst/>
              <a:uFillTx/>
              <a:latin typeface="Times New Roman"/>
            </a:endParaRPr>
          </a:p>
        </p:txBody>
      </p:sp>
      <p:pic>
        <p:nvPicPr>
          <p:cNvPr id="977" name="Imagen 976"/>
          <p:cNvPicPr/>
          <p:nvPr/>
        </p:nvPicPr>
        <p:blipFill>
          <a:blip r:embed="rId2"/>
          <a:srcRect r="1315"/>
          <a:stretch>
            <a:fillRect/>
          </a:stretch>
        </p:blipFill>
        <p:spPr>
          <a:xfrm>
            <a:off x="-1" y="1701"/>
            <a:ext cx="12034685" cy="6856299"/>
          </a:xfrm>
          <a:prstGeom prst="rect">
            <a:avLst/>
          </a:prstGeom>
          <a:noFill/>
          <a:ln w="0">
            <a:noFill/>
          </a:ln>
        </p:spPr>
      </p:pic>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1174</TotalTime>
  <Words>8905</Words>
  <Application>Microsoft Office PowerPoint</Application>
  <PresentationFormat>Panorámica</PresentationFormat>
  <Paragraphs>853</Paragraphs>
  <Slides>43</Slides>
  <Notes>26</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43</vt:i4>
      </vt:variant>
    </vt:vector>
  </HeadingPairs>
  <TitlesOfParts>
    <vt:vector size="51" baseType="lpstr">
      <vt:lpstr>Aptos</vt:lpstr>
      <vt:lpstr>Arial</vt:lpstr>
      <vt:lpstr>Courier New</vt:lpstr>
      <vt:lpstr>CrimsonPro</vt:lpstr>
      <vt:lpstr>Symbol</vt:lpstr>
      <vt:lpstr>Times New Roman</vt:lpstr>
      <vt:lpstr>Wingdings</vt:lpstr>
      <vt:lpstr>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Yeison Ferney Arias Castrillon</dc:creator>
  <cp:lastModifiedBy>Yeison Ferney Arias Castrillon</cp:lastModifiedBy>
  <cp:revision>4</cp:revision>
  <dcterms:modified xsi:type="dcterms:W3CDTF">2025-11-24T16:29:34Z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a18b73-7361-4902-8505-548cb16b22f9_Enabled">
    <vt:lpwstr>true</vt:lpwstr>
  </property>
  <property fmtid="{D5CDD505-2E9C-101B-9397-08002B2CF9AE}" pid="3" name="MSIP_Label_b6a18b73-7361-4902-8505-548cb16b22f9_SetDate">
    <vt:lpwstr>2025-11-23T20:54:55Z</vt:lpwstr>
  </property>
  <property fmtid="{D5CDD505-2E9C-101B-9397-08002B2CF9AE}" pid="4" name="MSIP_Label_b6a18b73-7361-4902-8505-548cb16b22f9_Method">
    <vt:lpwstr>Privileged</vt:lpwstr>
  </property>
  <property fmtid="{D5CDD505-2E9C-101B-9397-08002B2CF9AE}" pid="5" name="MSIP_Label_b6a18b73-7361-4902-8505-548cb16b22f9_Name">
    <vt:lpwstr>Confidential</vt:lpwstr>
  </property>
  <property fmtid="{D5CDD505-2E9C-101B-9397-08002B2CF9AE}" pid="6" name="MSIP_Label_b6a18b73-7361-4902-8505-548cb16b22f9_SiteId">
    <vt:lpwstr>d240b2ce-2fed-49c3-9165-a84265e9cd33</vt:lpwstr>
  </property>
  <property fmtid="{D5CDD505-2E9C-101B-9397-08002B2CF9AE}" pid="7" name="MSIP_Label_b6a18b73-7361-4902-8505-548cb16b22f9_ActionId">
    <vt:lpwstr>ef57463b-c8dc-4196-a19b-e241593010d9</vt:lpwstr>
  </property>
  <property fmtid="{D5CDD505-2E9C-101B-9397-08002B2CF9AE}" pid="8" name="MSIP_Label_b6a18b73-7361-4902-8505-548cb16b22f9_ContentBits">
    <vt:lpwstr>1</vt:lpwstr>
  </property>
  <property fmtid="{D5CDD505-2E9C-101B-9397-08002B2CF9AE}" pid="9" name="MSIP_Label_b6a18b73-7361-4902-8505-548cb16b22f9_Tag">
    <vt:lpwstr>10, 0, 1, 1</vt:lpwstr>
  </property>
  <property fmtid="{D5CDD505-2E9C-101B-9397-08002B2CF9AE}" pid="10" name="ClassificationContentMarkingHeaderLocations">
    <vt:lpwstr>Office:5</vt:lpwstr>
  </property>
  <property fmtid="{D5CDD505-2E9C-101B-9397-08002B2CF9AE}" pid="11" name="ClassificationContentMarkingHeaderText">
    <vt:lpwstr>CONFIDENCIAL</vt:lpwstr>
  </property>
</Properties>
</file>